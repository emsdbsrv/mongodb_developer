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7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155680" cy="6858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Developer Learning Path and Expectations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11064240" cy="5486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700" b="0">
                <a:solidFill>
                  <a:srgbClr val="B9C0C9"/>
                </a:solidFill>
                <a:latin typeface="Aptos"/>
              </a:rPr>
              <a:t>Understand how the learning path is organized, what to practice, and what to expect from the MongoDB Developer journey.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691640"/>
            <a:ext cx="5440680" cy="452628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1755648"/>
            <a:ext cx="5221224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800" b="1">
                <a:solidFill>
                  <a:srgbClr val="FF9E18"/>
                </a:solidFill>
                <a:latin typeface="Aptos"/>
              </a:rPr>
              <a:t>In this lesson, you will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9456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Understand the structure of the learning path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Know how topics build progressively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Use active practice after each lesson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Understand the role of the recurring Order Management example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Know what successful practice looks like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691640"/>
            <a:ext cx="5669280" cy="452628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0488" y="1755648"/>
            <a:ext cx="5449824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800" b="1">
                <a:solidFill>
                  <a:srgbClr val="FF9E18"/>
                </a:solidFill>
                <a:latin typeface="Aptos"/>
              </a:rPr>
              <a:t>Running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48840"/>
            <a:ext cx="512064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2400" b="1">
                <a:solidFill>
                  <a:srgbClr val="FF9E18"/>
                </a:solidFill>
                <a:latin typeface="Aptos"/>
              </a:rPr>
              <a:t>Order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651760"/>
            <a:ext cx="475488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200" b="1">
                <a:solidFill>
                  <a:srgbClr val="F6F7F9"/>
                </a:solidFill>
                <a:latin typeface="Aptos"/>
              </a:rPr>
              <a:t>Application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3246120"/>
            <a:ext cx="1417320" cy="914400"/>
          </a:xfrm>
          <a:prstGeom prst="roundRect">
            <a:avLst/>
          </a:prstGeom>
          <a:solidFill>
            <a:srgbClr val="10253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520440"/>
            <a:ext cx="11430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6F7F9"/>
                </a:solidFill>
                <a:latin typeface="Aptos"/>
              </a:rPr>
              <a:t>Application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246120"/>
            <a:ext cx="1417320" cy="914400"/>
          </a:xfrm>
          <a:prstGeom prst="roundRect">
            <a:avLst/>
          </a:prstGeom>
          <a:solidFill>
            <a:srgbClr val="39230D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520440"/>
            <a:ext cx="11430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6F7F9"/>
                </a:solidFill>
                <a:latin typeface="Aptos"/>
              </a:rPr>
              <a:t>MongoDB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21240" y="3246120"/>
            <a:ext cx="1417320" cy="914400"/>
          </a:xfrm>
          <a:prstGeom prst="roundRect">
            <a:avLst/>
          </a:prstGeom>
          <a:solidFill>
            <a:srgbClr val="201835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3520440"/>
            <a:ext cx="11430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6F7F9"/>
                </a:solidFill>
                <a:latin typeface="Aptos"/>
              </a:rPr>
              <a:t>Document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72000"/>
            <a:ext cx="5120640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0">
                <a:solidFill>
                  <a:srgbClr val="B9C0C9"/>
                </a:solidFill>
                <a:latin typeface="Aptos"/>
              </a:rPr>
              <a:t>The lesson keeps the data shape connected to a real developer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How the learning path is structured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The journey moves from fundamentals to data modeling and developer skills.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Later lessons introduce querying, indexing, aggregation, application work, and production topics.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Each lesson adds one practical building block.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The same mental model should become stronger over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0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42432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EAAFF"/>
                </a:solidFill>
                <a:latin typeface="Aptos"/>
              </a:rPr>
              <a:t>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Understand the idea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39712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12864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F9E18"/>
                </a:solidFill>
                <a:latin typeface="Aptos"/>
              </a:rPr>
              <a:t>PAUSE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2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Run the 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3296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AE5EFF"/>
                </a:solidFill>
                <a:latin typeface="Aptos"/>
              </a:rPr>
              <a:t>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Modify a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0576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3A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3728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AD2DC"/>
                </a:solidFill>
                <a:latin typeface="Aptos"/>
              </a:rPr>
              <a:t>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2015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Verify the result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51007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E95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9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E9502D"/>
                </a:solidFill>
                <a:latin typeface="Aptos"/>
              </a:rPr>
              <a:t>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42447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Build fluency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800600"/>
            <a:ext cx="5760720" cy="6858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Active practice is part of the learning design, not an optional extra.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What you will learn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MongoDB concepts and the document model.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Data modeling, relationships, and validation.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CRUD, querying, arrays, aggregation, and performance.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Application integration, testing, security, and production practices.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0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42432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EAAFF"/>
                </a:solidFill>
                <a:latin typeface="Aptos"/>
              </a:rPr>
              <a:t>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Understand the idea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39712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12864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F9E18"/>
                </a:solidFill>
                <a:latin typeface="Aptos"/>
              </a:rPr>
              <a:t>PAUSE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2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Run the 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3296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AE5EFF"/>
                </a:solidFill>
                <a:latin typeface="Aptos"/>
              </a:rPr>
              <a:t>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Modify a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0576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3A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3728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AD2DC"/>
                </a:solidFill>
                <a:latin typeface="Aptos"/>
              </a:rPr>
              <a:t>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2015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Verify the result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51007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E95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9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E9502D"/>
                </a:solidFill>
                <a:latin typeface="Aptos"/>
              </a:rPr>
              <a:t>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42447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Build fluency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800600"/>
            <a:ext cx="5760720" cy="6858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Active practice is part of the learning design, not an optional extra.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The practice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Watch the explanation.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Pause and run the demo yourself.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Change a safe value and rerun it.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Check the result and explain what happened.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Repeat until the operation feels natural.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0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42432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EAAFF"/>
                </a:solidFill>
                <a:latin typeface="Aptos"/>
              </a:rPr>
              <a:t>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Understand the idea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39712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12864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F9E18"/>
                </a:solidFill>
                <a:latin typeface="Aptos"/>
              </a:rPr>
              <a:t>PAUSE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2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Run the 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3296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AE5EFF"/>
                </a:solidFill>
                <a:latin typeface="Aptos"/>
              </a:rPr>
              <a:t>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Modify a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0576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3A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3728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AD2DC"/>
                </a:solidFill>
                <a:latin typeface="Aptos"/>
              </a:rPr>
              <a:t>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2015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Verify the result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51007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E95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9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E9502D"/>
                </a:solidFill>
                <a:latin typeface="Aptos"/>
              </a:rPr>
              <a:t>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42447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Build fluency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800600"/>
            <a:ext cx="5760720" cy="6858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Active practice is part of the learning design, not an optional extra.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What to expect from the lessons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Short, focused explanations.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Hands-on examples with real MongoDB commands.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A recurring Order Management scenario.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Progressive complexity rather than a jump straight to advanced topics.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0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42432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EAAFF"/>
                </a:solidFill>
                <a:latin typeface="Aptos"/>
              </a:rPr>
              <a:t>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Understand the idea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39712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12864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F9E18"/>
                </a:solidFill>
                <a:latin typeface="Aptos"/>
              </a:rPr>
              <a:t>PAUSE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2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Run the 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3296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AE5EFF"/>
                </a:solidFill>
                <a:latin typeface="Aptos"/>
              </a:rPr>
              <a:t>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Modify a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0576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3A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3728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AD2DC"/>
                </a:solidFill>
                <a:latin typeface="Aptos"/>
              </a:rPr>
              <a:t>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2015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Verify the result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51007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E95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9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E9502D"/>
                </a:solidFill>
                <a:latin typeface="Aptos"/>
              </a:rPr>
              <a:t>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42447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Build fluency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800600"/>
            <a:ext cx="5760720" cy="6858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Active practice is part of the learning design, not an optional extra.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Developer habits to build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Read the data shape before writing the query.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Start from requirements and access patterns.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Use the shell to verify assumptions.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Keep examples reproducible and change small values deliberately.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0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42432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EAAFF"/>
                </a:solidFill>
                <a:latin typeface="Aptos"/>
              </a:rPr>
              <a:t>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Understand the idea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39712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12864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F9E18"/>
                </a:solidFill>
                <a:latin typeface="Aptos"/>
              </a:rPr>
              <a:t>PAUSE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2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Run the 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3296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AE5EFF"/>
                </a:solidFill>
                <a:latin typeface="Aptos"/>
              </a:rPr>
              <a:t>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Modify a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0576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3A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3728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AD2DC"/>
                </a:solidFill>
                <a:latin typeface="Aptos"/>
              </a:rPr>
              <a:t>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2015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Verify the result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51007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E95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9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E9502D"/>
                </a:solidFill>
                <a:latin typeface="Aptos"/>
              </a:rPr>
              <a:t>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42447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Build fluency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800600"/>
            <a:ext cx="5760720" cy="6858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Active practice is part of the learning design, not an optional extra.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From concept to real application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Understand the MongoDB concept.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Shape the data.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Practice the operation.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Translate the idea into application code.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Connect the pieces into a real project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0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42432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EAAFF"/>
                </a:solidFill>
                <a:latin typeface="Aptos"/>
              </a:rPr>
              <a:t>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Understand the idea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39712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12864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F9E18"/>
                </a:solidFill>
                <a:latin typeface="Aptos"/>
              </a:rPr>
              <a:t>PAUSE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2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Run the 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3296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AE5EFF"/>
                </a:solidFill>
                <a:latin typeface="Aptos"/>
              </a:rPr>
              <a:t>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Modify a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0576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3A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3728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AD2DC"/>
                </a:solidFill>
                <a:latin typeface="Aptos"/>
              </a:rPr>
              <a:t>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2015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Verify the result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51007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E95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9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E9502D"/>
                </a:solidFill>
                <a:latin typeface="Aptos"/>
              </a:rPr>
              <a:t>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42447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Build fluency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800600"/>
            <a:ext cx="5760720" cy="6858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Active practice is part of the learning design, not an optional extra.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Hands-on checkpoint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Open mongosh and connect to MongoDB.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Create or use the application database.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Insert a simple order document.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Explain the document shape and how the shell accessed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23560" y="1600200"/>
            <a:ext cx="5852160" cy="3749039"/>
          </a:xfrm>
          <a:prstGeom prst="roundRect">
            <a:avLst/>
          </a:prstGeom>
          <a:solidFill>
            <a:srgbClr val="0A10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33288" y="1691640"/>
            <a:ext cx="5632704" cy="256032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4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3288" y="1984248"/>
            <a:ext cx="5632704" cy="3291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6F7F9"/>
                </a:solidFill>
                <a:latin typeface="Consolas"/>
              </a:rPr>
              <a:t>use orderdb
db.orders.insertOne({
  orderId: "ORD-1001",
  status: "CONFIRMED",
  shippingAddress: { city: "Chennai" },
  items: [{ sku: "KB-101", qty: 2, price: 1499.00 }]
})
db.orders.findOne({ orderId: "ORD-1001" })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5486400"/>
            <a:ext cx="5669280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AD2DC"/>
                </a:solidFill>
                <a:latin typeface="Aptos"/>
              </a:rPr>
              <a:t>Run the demo, then change one value and rerun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What success looks like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You can explain MongoDB concepts in your own words.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You can reproduce and modify the demos.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You can connect a data-model decision to an application requirement.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You can move from interactive shell work toward application development.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0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42432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EAAFF"/>
                </a:solidFill>
                <a:latin typeface="Aptos"/>
              </a:rPr>
              <a:t>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Understand the idea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39712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12864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F9E18"/>
                </a:solidFill>
                <a:latin typeface="Aptos"/>
              </a:rPr>
              <a:t>PAUSE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2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Run the 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3296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AE5EFF"/>
                </a:solidFill>
                <a:latin typeface="Aptos"/>
              </a:rPr>
              <a:t>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Modify a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0576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3A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3728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AD2DC"/>
                </a:solidFill>
                <a:latin typeface="Aptos"/>
              </a:rPr>
              <a:t>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2015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Verify the result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51007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E95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9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E9502D"/>
                </a:solidFill>
                <a:latin typeface="Aptos"/>
              </a:rPr>
              <a:t>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42447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Build fluency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800600"/>
            <a:ext cx="5760720" cy="6858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Active practice is part of the learning design, not an optional extra.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Ready for the next section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The foundation is now complete.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The next stage moves into the development environment and MongoDB tooling.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0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42432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EAAFF"/>
                </a:solidFill>
                <a:latin typeface="Aptos"/>
              </a:rPr>
              <a:t>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Understand the idea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39712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12864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F9E18"/>
                </a:solidFill>
                <a:latin typeface="Aptos"/>
              </a:rPr>
              <a:t>PAUSE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2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Run the 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3296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AE5EFF"/>
                </a:solidFill>
                <a:latin typeface="Aptos"/>
              </a:rPr>
              <a:t>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Modify a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0576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3A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3728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AD2DC"/>
                </a:solidFill>
                <a:latin typeface="Aptos"/>
              </a:rPr>
              <a:t>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2015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Verify the result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51007" y="1965960"/>
            <a:ext cx="1097280" cy="2194560"/>
          </a:xfrm>
          <a:prstGeom prst="roundRect">
            <a:avLst/>
          </a:prstGeom>
          <a:solidFill>
            <a:srgbClr val="10161D"/>
          </a:solidFill>
          <a:ln w="19050">
            <a:solidFill>
              <a:srgbClr val="E95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9" y="2267712"/>
            <a:ext cx="950976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E9502D"/>
                </a:solidFill>
                <a:latin typeface="Aptos"/>
              </a:rPr>
              <a:t>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42447" y="3063240"/>
            <a:ext cx="914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Build fluency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800600"/>
            <a:ext cx="5760720" cy="6858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Active practice is part of the learning design, not an optional extra.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3000" b="1">
                <a:solidFill>
                  <a:srgbClr val="F6F7F9"/>
                </a:solidFill>
                <a:latin typeface="Aptos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27080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0">
                <a:solidFill>
                  <a:srgbClr val="B9C0C9"/>
                </a:solidFill>
                <a:latin typeface="Aptos"/>
              </a:rPr>
              <a:t>Understand how the learning path is organized, what to practice, and what to expect from the MongoDB Developer journey.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240280" cy="3108960"/>
          </a:xfrm>
          <a:prstGeom prst="roundRect">
            <a:avLst/>
          </a:prstGeom>
          <a:solidFill>
            <a:srgbClr val="0E141B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57400"/>
            <a:ext cx="20574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3EAAF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1874519" cy="1371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700" b="1">
                <a:solidFill>
                  <a:srgbClr val="F6F7F9"/>
                </a:solidFill>
                <a:latin typeface="Aptos"/>
              </a:rPr>
              <a:t>Understand the structure of the learning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39" y="1828800"/>
            <a:ext cx="2240280" cy="3108960"/>
          </a:xfrm>
          <a:prstGeom prst="roundRect">
            <a:avLst/>
          </a:prstGeom>
          <a:solidFill>
            <a:srgbClr val="0E141B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79" y="2057400"/>
            <a:ext cx="20574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FF9E18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743200"/>
            <a:ext cx="1874519" cy="1371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700" b="1">
                <a:solidFill>
                  <a:srgbClr val="F6F7F9"/>
                </a:solidFill>
                <a:latin typeface="Aptos"/>
              </a:rPr>
              <a:t>Know how topics build progressively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59" y="1828800"/>
            <a:ext cx="2240280" cy="3108960"/>
          </a:xfrm>
          <a:prstGeom prst="roundRect">
            <a:avLst/>
          </a:prstGeom>
          <a:solidFill>
            <a:srgbClr val="0E141B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799" y="2057400"/>
            <a:ext cx="20574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AE5EFF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743200"/>
            <a:ext cx="1874519" cy="1371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700" b="1">
                <a:solidFill>
                  <a:srgbClr val="F6F7F9"/>
                </a:solidFill>
                <a:latin typeface="Aptos"/>
              </a:rPr>
              <a:t>Use active practice after each lesson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828800"/>
            <a:ext cx="2240280" cy="3108960"/>
          </a:xfrm>
          <a:prstGeom prst="roundRect">
            <a:avLst/>
          </a:prstGeom>
          <a:solidFill>
            <a:srgbClr val="0E141B"/>
          </a:solidFill>
          <a:ln w="19050">
            <a:solidFill>
              <a:srgbClr val="3A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2057400"/>
            <a:ext cx="20574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3AD2DC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59" y="2743200"/>
            <a:ext cx="1874519" cy="1371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700" b="1">
                <a:solidFill>
                  <a:srgbClr val="F6F7F9"/>
                </a:solidFill>
                <a:latin typeface="Aptos"/>
              </a:rPr>
              <a:t>Understand the role of the recurring Order Management example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1828800"/>
            <a:ext cx="2240280" cy="3108960"/>
          </a:xfrm>
          <a:prstGeom prst="roundRect">
            <a:avLst/>
          </a:prstGeom>
          <a:solidFill>
            <a:srgbClr val="0E141B"/>
          </a:solidFill>
          <a:ln w="19050">
            <a:solidFill>
              <a:srgbClr val="E95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2057400"/>
            <a:ext cx="20574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E9502D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2743200"/>
            <a:ext cx="1874519" cy="1371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700" b="1">
                <a:solidFill>
                  <a:srgbClr val="F6F7F9"/>
                </a:solidFill>
                <a:latin typeface="Aptos"/>
              </a:rPr>
              <a:t>Know what successful practice looks like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One concept at a time • one real example • repeat the practice loop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