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7601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507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B84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B84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wide_high_contrast_infographic_slide_style_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B84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Welcome — Start With the Big Picture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338328" y="749808"/>
            <a:ext cx="8458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commands and syntax, understand the application journey.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234440"/>
            <a:ext cx="11539728" cy="5166360"/>
          </a:xfrm>
          <a:prstGeom prst="roundRect">
            <a:avLst>
              <a:gd name="adj" fmla="val 2124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420624" cy="420624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66928" y="1545336"/>
            <a:ext cx="420624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0704" y="1499616"/>
            <a:ext cx="2834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98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start here?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58368" y="2039112"/>
            <a:ext cx="82296" cy="82296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1965960"/>
            <a:ext cx="4590288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a clear mental model before memorizing commands.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58368" y="2459736"/>
            <a:ext cx="82296" cy="82296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2386584"/>
            <a:ext cx="4590288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MongoDB concepts to real application requirements.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58368" y="2880360"/>
            <a:ext cx="82296" cy="82296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2960" y="2807208"/>
            <a:ext cx="4590288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 through practical examples and repeatable developer habits.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58368" y="3300984"/>
            <a:ext cx="82296" cy="82296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2960" y="3227832"/>
            <a:ext cx="4590288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foundation for data modeling, querying and application development.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623560" y="1508760"/>
            <a:ext cx="5833872" cy="1874520"/>
          </a:xfrm>
          <a:prstGeom prst="roundRect">
            <a:avLst>
              <a:gd name="adj" fmla="val 5854"/>
            </a:avLst>
          </a:prstGeom>
          <a:solidFill>
            <a:srgbClr val="101824"/>
          </a:solidFill>
          <a:ln w="13970">
            <a:solidFill>
              <a:srgbClr val="00D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852160" y="1700784"/>
            <a:ext cx="17373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D5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CORE IDEA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25312" y="2240280"/>
            <a:ext cx="1463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479792" y="2240280"/>
            <a:ext cx="12801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Driver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9154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MongoDB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269480" y="2432304"/>
            <a:ext cx="109728" cy="0"/>
          </a:xfrm>
          <a:prstGeom prst="line">
            <a:avLst/>
          </a:prstGeom>
          <a:noFill/>
          <a:ln w="2540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705088" y="2432304"/>
            <a:ext cx="137160" cy="0"/>
          </a:xfrm>
          <a:prstGeom prst="line">
            <a:avLst/>
          </a:prstGeom>
          <a:noFill/>
          <a:ln w="2540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925312" y="2788920"/>
            <a:ext cx="1417320" cy="347472"/>
          </a:xfrm>
          <a:prstGeom prst="roundRect">
            <a:avLst>
              <a:gd name="adj" fmla="val 31579"/>
            </a:avLst>
          </a:prstGeom>
          <a:solidFill>
            <a:srgbClr val="3B82F6"/>
          </a:solidFill>
          <a:ln w="1397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989320" y="2834640"/>
            <a:ext cx="12801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79792" y="2788920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F9800"/>
          </a:solidFill>
          <a:ln w="1397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534656" y="2834640"/>
            <a:ext cx="1170432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915400" y="2788920"/>
            <a:ext cx="1554480" cy="347472"/>
          </a:xfrm>
          <a:prstGeom prst="roundRect">
            <a:avLst>
              <a:gd name="adj" fmla="val 31579"/>
            </a:avLst>
          </a:prstGeom>
          <a:solidFill>
            <a:srgbClr val="A855F7"/>
          </a:solidFill>
          <a:ln w="1397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006840" y="2834640"/>
            <a:ext cx="137160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4069080"/>
            <a:ext cx="10890504" cy="1783080"/>
          </a:xfrm>
          <a:prstGeom prst="roundRect">
            <a:avLst>
              <a:gd name="adj" fmla="val 6154"/>
            </a:avLst>
          </a:prstGeom>
          <a:solidFill>
            <a:srgbClr val="101824"/>
          </a:solidFill>
          <a:ln w="1397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22960" y="4279392"/>
            <a:ext cx="22860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98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RUNNING EXAMPLE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" y="4599432"/>
            <a:ext cx="242316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 Management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3291840" y="4526280"/>
            <a:ext cx="7498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places an order → application sends data → MongoDB stores one readable business object.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3337560" y="5230368"/>
            <a:ext cx="2011680" cy="411480"/>
          </a:xfrm>
          <a:prstGeom prst="roundRect">
            <a:avLst>
              <a:gd name="adj" fmla="val 26667"/>
            </a:avLst>
          </a:prstGeom>
          <a:solidFill>
            <a:srgbClr val="3B82F6"/>
          </a:solidFill>
          <a:ln w="1397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429000" y="5285232"/>
            <a:ext cx="1828800" cy="21945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orderId • status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532120" y="5230368"/>
            <a:ext cx="2011680" cy="411480"/>
          </a:xfrm>
          <a:prstGeom prst="roundRect">
            <a:avLst>
              <a:gd name="adj" fmla="val 26667"/>
            </a:avLst>
          </a:prstGeom>
          <a:solidFill>
            <a:srgbClr val="FF9800"/>
          </a:solidFill>
          <a:ln w="1397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577840" y="5285232"/>
            <a:ext cx="1920240" cy="21945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items[]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726680" y="5230368"/>
            <a:ext cx="2148840" cy="411480"/>
          </a:xfrm>
          <a:prstGeom prst="roundRect">
            <a:avLst>
              <a:gd name="adj" fmla="val 26667"/>
            </a:avLst>
          </a:prstGeom>
          <a:solidFill>
            <a:srgbClr val="A855F7"/>
          </a:solidFill>
          <a:ln w="1397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790688" y="5285232"/>
            <a:ext cx="1965960" cy="21945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shippingAddress</a:t>
            </a:r>
            <a:endParaRPr lang="en-US" sz="11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B84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Use the Learning Path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338328" y="749808"/>
            <a:ext cx="8458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watching into working knowledge.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463040"/>
            <a:ext cx="1938528" cy="2057400"/>
          </a:xfrm>
          <a:prstGeom prst="roundRect">
            <a:avLst>
              <a:gd name="adj" fmla="val 5660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69848" y="1691640"/>
            <a:ext cx="566928" cy="56692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69848" y="1700784"/>
            <a:ext cx="566928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395728"/>
            <a:ext cx="1481328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2816352"/>
            <a:ext cx="1536192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 the concept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50008" y="2514600"/>
            <a:ext cx="237744" cy="0"/>
          </a:xfrm>
          <a:prstGeom prst="line">
            <a:avLst/>
          </a:prstGeom>
          <a:noFill/>
          <a:ln w="1905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679192" y="1463040"/>
            <a:ext cx="1938528" cy="2057400"/>
          </a:xfrm>
          <a:prstGeom prst="roundRect">
            <a:avLst>
              <a:gd name="adj" fmla="val 5660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37560" y="1691640"/>
            <a:ext cx="566928" cy="566928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37560" y="1700784"/>
            <a:ext cx="566928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907792" y="2395728"/>
            <a:ext cx="1481328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98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PAUSE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880360" y="2816352"/>
            <a:ext cx="1536192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 about the example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17720" y="2514600"/>
            <a:ext cx="237744" cy="0"/>
          </a:xfrm>
          <a:prstGeom prst="line">
            <a:avLst/>
          </a:prstGeom>
          <a:noFill/>
          <a:ln w="1905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946904" y="1463040"/>
            <a:ext cx="1938528" cy="2057400"/>
          </a:xfrm>
          <a:prstGeom prst="roundRect">
            <a:avLst>
              <a:gd name="adj" fmla="val 5660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605272" y="1691640"/>
            <a:ext cx="566928" cy="566928"/>
          </a:xfrm>
          <a:prstGeom prst="ellipse">
            <a:avLst/>
          </a:prstGeom>
          <a:solidFill>
            <a:srgbClr val="00D5FF"/>
          </a:solidFill>
          <a:ln w="12700">
            <a:solidFill>
              <a:srgbClr val="00D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605272" y="1700784"/>
            <a:ext cx="566928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175504" y="2395728"/>
            <a:ext cx="1481328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D5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148072" y="2816352"/>
            <a:ext cx="1536192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Execute the demo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85432" y="2514600"/>
            <a:ext cx="237744" cy="0"/>
          </a:xfrm>
          <a:prstGeom prst="line">
            <a:avLst/>
          </a:prstGeom>
          <a:noFill/>
          <a:ln w="1905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214616" y="1463040"/>
            <a:ext cx="1938528" cy="2057400"/>
          </a:xfrm>
          <a:prstGeom prst="roundRect">
            <a:avLst>
              <a:gd name="adj" fmla="val 5660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872984" y="1691640"/>
            <a:ext cx="566928" cy="566928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872984" y="1700784"/>
            <a:ext cx="566928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443216" y="2395728"/>
            <a:ext cx="1481328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A855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415784" y="2816352"/>
            <a:ext cx="1536192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Modify one value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153144" y="2514600"/>
            <a:ext cx="237744" cy="0"/>
          </a:xfrm>
          <a:prstGeom prst="line">
            <a:avLst/>
          </a:prstGeom>
          <a:noFill/>
          <a:ln w="1905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9482328" y="1463040"/>
            <a:ext cx="1938528" cy="2057400"/>
          </a:xfrm>
          <a:prstGeom prst="roundRect">
            <a:avLst>
              <a:gd name="adj" fmla="val 5660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0140696" y="1691640"/>
            <a:ext cx="566928" cy="566928"/>
          </a:xfrm>
          <a:prstGeom prst="ellipse">
            <a:avLst/>
          </a:prstGeom>
          <a:solidFill>
            <a:srgbClr val="00C8A0"/>
          </a:solidFill>
          <a:ln w="12700">
            <a:solidFill>
              <a:srgbClr val="00C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140696" y="1700784"/>
            <a:ext cx="566928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710928" y="2395728"/>
            <a:ext cx="1481328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C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683496" y="2816352"/>
            <a:ext cx="1536192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result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85800" y="3977640"/>
            <a:ext cx="10789920" cy="1417320"/>
          </a:xfrm>
          <a:prstGeom prst="roundRect">
            <a:avLst>
              <a:gd name="adj" fmla="val 7742"/>
            </a:avLst>
          </a:prstGeom>
          <a:solidFill>
            <a:srgbClr val="101824"/>
          </a:solidFill>
          <a:ln w="1397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60120" y="4206240"/>
            <a:ext cx="17373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98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PRACTICE HABIT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60120" y="4599432"/>
            <a:ext cx="676656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every demo, change one safe value and rerun the command.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936992" y="4517136"/>
            <a:ext cx="260604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00D5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experiments create confidence.</a:t>
            </a:r>
            <a:endParaRPr lang="en-US" sz="16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B84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You Will Learn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338328" y="749808"/>
            <a:ext cx="8458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progressive path from foundations to real developer work.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38912" y="1417320"/>
            <a:ext cx="3401568" cy="1645920"/>
          </a:xfrm>
          <a:prstGeom prst="roundRect">
            <a:avLst>
              <a:gd name="adj" fmla="val 6667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438912" cy="43891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655064"/>
            <a:ext cx="438912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16152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8368" y="2148840"/>
            <a:ext cx="2907792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MongoDB, documents and core vocabulary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25112" y="1417320"/>
            <a:ext cx="3401568" cy="1645920"/>
          </a:xfrm>
          <a:prstGeom prst="roundRect">
            <a:avLst>
              <a:gd name="adj" fmla="val 6667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26280" y="1645920"/>
            <a:ext cx="438912" cy="438912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26280" y="1655064"/>
            <a:ext cx="438912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02352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98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MODEL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44568" y="2148840"/>
            <a:ext cx="2907792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Collections, JSON/BSON and document shape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11312" y="1417320"/>
            <a:ext cx="3401568" cy="1645920"/>
          </a:xfrm>
          <a:prstGeom prst="roundRect">
            <a:avLst>
              <a:gd name="adj" fmla="val 6667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12480" y="1645920"/>
            <a:ext cx="438912" cy="438912"/>
          </a:xfrm>
          <a:prstGeom prst="ellipse">
            <a:avLst/>
          </a:prstGeom>
          <a:solidFill>
            <a:srgbClr val="00D5FF"/>
          </a:solidFill>
          <a:ln w="12700">
            <a:solidFill>
              <a:srgbClr val="00D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412480" y="1655064"/>
            <a:ext cx="438912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988552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0D5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CRUD + QUERY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30768" y="2148840"/>
            <a:ext cx="2907792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Create, read, update, delete and query data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8912" y="3410712"/>
            <a:ext cx="3401568" cy="1645920"/>
          </a:xfrm>
          <a:prstGeom prst="roundRect">
            <a:avLst>
              <a:gd name="adj" fmla="val 6667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0080" y="3639312"/>
            <a:ext cx="438912" cy="43891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3648456"/>
            <a:ext cx="438912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16152" y="3593592"/>
            <a:ext cx="21945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A855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RELATIONSHIPS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58368" y="4142232"/>
            <a:ext cx="2907792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 vs reference and access patterns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325112" y="3410712"/>
            <a:ext cx="3401568" cy="1645920"/>
          </a:xfrm>
          <a:prstGeom prst="roundRect">
            <a:avLst>
              <a:gd name="adj" fmla="val 6667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526280" y="3639312"/>
            <a:ext cx="438912" cy="438912"/>
          </a:xfrm>
          <a:prstGeom prst="ellipse">
            <a:avLst/>
          </a:prstGeom>
          <a:solidFill>
            <a:srgbClr val="00C8A0"/>
          </a:solidFill>
          <a:ln w="12700">
            <a:solidFill>
              <a:srgbClr val="00C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26280" y="3648456"/>
            <a:ext cx="438912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02352" y="3593592"/>
            <a:ext cx="21945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0C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544568" y="4142232"/>
            <a:ext cx="2907792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Drivers, services, testing and secure development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211312" y="3410712"/>
            <a:ext cx="3401568" cy="1645920"/>
          </a:xfrm>
          <a:prstGeom prst="roundRect">
            <a:avLst>
              <a:gd name="adj" fmla="val 6667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412480" y="3639312"/>
            <a:ext cx="438912" cy="438912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412480" y="3648456"/>
            <a:ext cx="438912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988552" y="3593592"/>
            <a:ext cx="21945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5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430768" y="4142232"/>
            <a:ext cx="2907792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Indexes, performance, transactions and operations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B84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Order Management Example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338328" y="749808"/>
            <a:ext cx="8458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business scenario carries the learning from concept to application.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11356848" cy="4434840"/>
          </a:xfrm>
          <a:prstGeom prst="roundRect">
            <a:avLst>
              <a:gd name="adj" fmla="val 2474"/>
            </a:avLst>
          </a:prstGeom>
          <a:solidFill>
            <a:srgbClr val="0B1118"/>
          </a:solidFill>
          <a:ln w="1397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20116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98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STORY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880360" y="1664208"/>
            <a:ext cx="5577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→ Store → Read → Change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77240" y="2331720"/>
            <a:ext cx="1645920" cy="1024128"/>
          </a:xfrm>
          <a:prstGeom prst="roundRect">
            <a:avLst>
              <a:gd name="adj" fmla="val 10714"/>
            </a:avLst>
          </a:prstGeom>
          <a:solidFill>
            <a:srgbClr val="101824"/>
          </a:solidFill>
          <a:ln w="1397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6968" y="2542032"/>
            <a:ext cx="1426464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2889504"/>
            <a:ext cx="1426464" cy="21945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starts the order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23160" y="2816352"/>
            <a:ext cx="1325880" cy="0"/>
          </a:xfrm>
          <a:prstGeom prst="line">
            <a:avLst/>
          </a:prstGeom>
          <a:noFill/>
          <a:ln w="2540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749040" y="2331720"/>
            <a:ext cx="1645920" cy="1024128"/>
          </a:xfrm>
          <a:prstGeom prst="roundRect">
            <a:avLst>
              <a:gd name="adj" fmla="val 10714"/>
            </a:avLst>
          </a:prstGeom>
          <a:solidFill>
            <a:srgbClr val="101824"/>
          </a:solidFill>
          <a:ln w="1397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858768" y="2542032"/>
            <a:ext cx="1426464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98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58768" y="2889504"/>
            <a:ext cx="1426464" cy="21945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object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94960" y="2816352"/>
            <a:ext cx="1325880" cy="0"/>
          </a:xfrm>
          <a:prstGeom prst="line">
            <a:avLst/>
          </a:prstGeom>
          <a:noFill/>
          <a:ln w="2540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720840" y="2331720"/>
            <a:ext cx="1645920" cy="1024128"/>
          </a:xfrm>
          <a:prstGeom prst="roundRect">
            <a:avLst>
              <a:gd name="adj" fmla="val 10714"/>
            </a:avLst>
          </a:prstGeom>
          <a:solidFill>
            <a:srgbClr val="101824"/>
          </a:solidFill>
          <a:ln w="1397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30568" y="2542032"/>
            <a:ext cx="1426464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855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30568" y="2889504"/>
            <a:ext cx="1426464" cy="21945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catalog item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366760" y="2816352"/>
            <a:ext cx="1325880" cy="0"/>
          </a:xfrm>
          <a:prstGeom prst="line">
            <a:avLst/>
          </a:prstGeom>
          <a:noFill/>
          <a:ln w="2540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692640" y="2331720"/>
            <a:ext cx="1645920" cy="1024128"/>
          </a:xfrm>
          <a:prstGeom prst="roundRect">
            <a:avLst>
              <a:gd name="adj" fmla="val 10714"/>
            </a:avLst>
          </a:prstGeom>
          <a:solidFill>
            <a:srgbClr val="101824"/>
          </a:solidFill>
          <a:ln w="13970">
            <a:solidFill>
              <a:srgbClr val="00C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802368" y="2542032"/>
            <a:ext cx="1426464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C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802368" y="2889504"/>
            <a:ext cx="1426464" cy="21945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fulfillment state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13232" y="3703320"/>
            <a:ext cx="10716768" cy="1627632"/>
          </a:xfrm>
          <a:prstGeom prst="roundRect">
            <a:avLst>
              <a:gd name="adj" fmla="val 6742"/>
            </a:avLst>
          </a:prstGeom>
          <a:solidFill>
            <a:srgbClr val="101824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50392" y="3813048"/>
            <a:ext cx="10442448" cy="14081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7F9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F7F9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orderId: "ORD-1001",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F7F9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"PLACED",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F7F9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shippingAddress: { city: "Chennai" },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F7F9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items: [ { sku: "KB-101", qty: 2, price: 1499.00 } ],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F7F9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payment: { method: "CARD", status: "AUTHORIZED" }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F7F9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B84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MongoDB Mental Model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338328" y="749808"/>
            <a:ext cx="8458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these two flows in your head as the lessons become more technical.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349240" cy="4498848"/>
          </a:xfrm>
          <a:prstGeom prst="roundRect">
            <a:avLst>
              <a:gd name="adj" fmla="val 2439"/>
            </a:avLst>
          </a:prstGeom>
          <a:solidFill>
            <a:srgbClr val="0B1118"/>
          </a:solidFill>
          <a:ln w="13970">
            <a:solidFill>
              <a:srgbClr val="00D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691640"/>
            <a:ext cx="20116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D5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FLOW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2423160"/>
            <a:ext cx="1170432" cy="749808"/>
          </a:xfrm>
          <a:prstGeom prst="roundRect">
            <a:avLst>
              <a:gd name="adj" fmla="val 14634"/>
            </a:avLst>
          </a:prstGeom>
          <a:solidFill>
            <a:srgbClr val="101824"/>
          </a:solidFill>
          <a:ln w="1397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2651760"/>
            <a:ext cx="1078992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084832" y="2798064"/>
            <a:ext cx="265176" cy="0"/>
          </a:xfrm>
          <a:prstGeom prst="line">
            <a:avLst/>
          </a:prstGeom>
          <a:noFill/>
          <a:ln w="2286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395728" y="2423160"/>
            <a:ext cx="1170432" cy="749808"/>
          </a:xfrm>
          <a:prstGeom prst="roundRect">
            <a:avLst>
              <a:gd name="adj" fmla="val 14634"/>
            </a:avLst>
          </a:prstGeom>
          <a:solidFill>
            <a:srgbClr val="101824"/>
          </a:solidFill>
          <a:ln w="1397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441448" y="2651760"/>
            <a:ext cx="1078992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98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Driver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566160" y="2798064"/>
            <a:ext cx="265176" cy="0"/>
          </a:xfrm>
          <a:prstGeom prst="line">
            <a:avLst/>
          </a:prstGeom>
          <a:noFill/>
          <a:ln w="2286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877056" y="2423160"/>
            <a:ext cx="1170432" cy="749808"/>
          </a:xfrm>
          <a:prstGeom prst="roundRect">
            <a:avLst>
              <a:gd name="adj" fmla="val 14634"/>
            </a:avLst>
          </a:prstGeom>
          <a:solidFill>
            <a:srgbClr val="101824"/>
          </a:solidFill>
          <a:ln w="1397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922776" y="2651760"/>
            <a:ext cx="1078992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A855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MongoDB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657600"/>
            <a:ext cx="44348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code creates intent.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096512"/>
            <a:ext cx="44348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driver carries operations to MongoDB.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4535424"/>
            <a:ext cx="44348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server stores and serves documents.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172200" y="1417320"/>
            <a:ext cx="5468112" cy="4498848"/>
          </a:xfrm>
          <a:prstGeom prst="roundRect">
            <a:avLst>
              <a:gd name="adj" fmla="val 2439"/>
            </a:avLst>
          </a:prstGeom>
          <a:solidFill>
            <a:srgbClr val="0B1118"/>
          </a:solidFill>
          <a:ln w="1397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73952" y="1691640"/>
            <a:ext cx="1371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98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FLOW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10528" y="2423160"/>
            <a:ext cx="1325880" cy="749808"/>
          </a:xfrm>
          <a:prstGeom prst="roundRect">
            <a:avLst>
              <a:gd name="adj" fmla="val 14634"/>
            </a:avLst>
          </a:prstGeom>
          <a:solidFill>
            <a:srgbClr val="101824"/>
          </a:solidFill>
          <a:ln w="1397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56248" y="2651760"/>
            <a:ext cx="123444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836408" y="2798064"/>
            <a:ext cx="192024" cy="0"/>
          </a:xfrm>
          <a:prstGeom prst="line">
            <a:avLst/>
          </a:prstGeom>
          <a:noFill/>
          <a:ln w="2286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065008" y="2423160"/>
            <a:ext cx="1325880" cy="749808"/>
          </a:xfrm>
          <a:prstGeom prst="roundRect">
            <a:avLst>
              <a:gd name="adj" fmla="val 14634"/>
            </a:avLst>
          </a:prstGeom>
          <a:solidFill>
            <a:srgbClr val="101824"/>
          </a:solidFill>
          <a:ln w="1397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110728" y="2651760"/>
            <a:ext cx="123444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98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Collection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390888" y="2798064"/>
            <a:ext cx="192024" cy="0"/>
          </a:xfrm>
          <a:prstGeom prst="line">
            <a:avLst/>
          </a:prstGeom>
          <a:noFill/>
          <a:ln w="2286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619488" y="2423160"/>
            <a:ext cx="1325880" cy="749808"/>
          </a:xfrm>
          <a:prstGeom prst="roundRect">
            <a:avLst>
              <a:gd name="adj" fmla="val 14634"/>
            </a:avLst>
          </a:prstGeom>
          <a:solidFill>
            <a:srgbClr val="101824"/>
          </a:solidFill>
          <a:ln w="1397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665208" y="2651760"/>
            <a:ext cx="123444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855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92240" y="3657600"/>
            <a:ext cx="448056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 holds related collections.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92240" y="4096512"/>
            <a:ext cx="448056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Collection groups related documents.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92240" y="4535424"/>
            <a:ext cx="448056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carries the business data.</a:t>
            </a:r>
            <a:endParaRPr lang="en-US" sz="15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B84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 Like a Developer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338328" y="749808"/>
            <a:ext cx="8458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should follow application behavior, not just database syntax.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600200"/>
            <a:ext cx="1993392" cy="2423160"/>
          </a:xfrm>
          <a:prstGeom prst="roundRect">
            <a:avLst>
              <a:gd name="adj" fmla="val 5505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15568" y="1847088"/>
            <a:ext cx="512064" cy="51206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15568" y="1856232"/>
            <a:ext cx="512064" cy="4937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2542032"/>
            <a:ext cx="1627632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REQUIREMENT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76072" y="3182112"/>
            <a:ext cx="1664208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must the application do?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04872" y="2816352"/>
            <a:ext cx="256032" cy="0"/>
          </a:xfrm>
          <a:prstGeom prst="line">
            <a:avLst/>
          </a:prstGeom>
          <a:noFill/>
          <a:ln w="1905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15768" y="1600200"/>
            <a:ext cx="1993392" cy="2423160"/>
          </a:xfrm>
          <a:prstGeom prst="roundRect">
            <a:avLst>
              <a:gd name="adj" fmla="val 5505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419856" y="1847088"/>
            <a:ext cx="512064" cy="512064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19856" y="1856232"/>
            <a:ext cx="512064" cy="4937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898648" y="2542032"/>
            <a:ext cx="1627632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98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PATTERN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80360" y="3182112"/>
            <a:ext cx="1664208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data is read or changed together?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09160" y="2816352"/>
            <a:ext cx="256032" cy="0"/>
          </a:xfrm>
          <a:prstGeom prst="line">
            <a:avLst/>
          </a:prstGeom>
          <a:noFill/>
          <a:ln w="1905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020056" y="1600200"/>
            <a:ext cx="1993392" cy="2423160"/>
          </a:xfrm>
          <a:prstGeom prst="roundRect">
            <a:avLst>
              <a:gd name="adj" fmla="val 5505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724144" y="1847088"/>
            <a:ext cx="512064" cy="512064"/>
          </a:xfrm>
          <a:prstGeom prst="ellipse">
            <a:avLst/>
          </a:prstGeom>
          <a:solidFill>
            <a:srgbClr val="00D5FF"/>
          </a:solidFill>
          <a:ln w="12700">
            <a:solidFill>
              <a:srgbClr val="00D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724144" y="1856232"/>
            <a:ext cx="512064" cy="4937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02936" y="2542032"/>
            <a:ext cx="1627632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5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SHAPE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84648" y="3182112"/>
            <a:ext cx="1664208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should the data be organized?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013448" y="2816352"/>
            <a:ext cx="256032" cy="0"/>
          </a:xfrm>
          <a:prstGeom prst="line">
            <a:avLst/>
          </a:prstGeom>
          <a:noFill/>
          <a:ln w="1905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324344" y="1600200"/>
            <a:ext cx="1993392" cy="2423160"/>
          </a:xfrm>
          <a:prstGeom prst="roundRect">
            <a:avLst>
              <a:gd name="adj" fmla="val 5505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028432" y="1847088"/>
            <a:ext cx="512064" cy="512064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028432" y="1856232"/>
            <a:ext cx="512064" cy="4937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507224" y="2542032"/>
            <a:ext cx="1627632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855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88936" y="3182112"/>
            <a:ext cx="1664208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differences are intentional?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317736" y="2816352"/>
            <a:ext cx="256032" cy="0"/>
          </a:xfrm>
          <a:prstGeom prst="line">
            <a:avLst/>
          </a:prstGeom>
          <a:noFill/>
          <a:ln w="1905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9628632" y="1600200"/>
            <a:ext cx="1993392" cy="2423160"/>
          </a:xfrm>
          <a:prstGeom prst="roundRect">
            <a:avLst>
              <a:gd name="adj" fmla="val 5505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0332720" y="1847088"/>
            <a:ext cx="512064" cy="512064"/>
          </a:xfrm>
          <a:prstGeom prst="ellipse">
            <a:avLst/>
          </a:prstGeom>
          <a:solidFill>
            <a:srgbClr val="00C8A0"/>
          </a:solidFill>
          <a:ln w="12700">
            <a:solidFill>
              <a:srgbClr val="00C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332720" y="1856232"/>
            <a:ext cx="512064" cy="4937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811512" y="2542032"/>
            <a:ext cx="1627632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793224" y="3182112"/>
            <a:ext cx="1664208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will we verify the behavior?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22960" y="4434840"/>
            <a:ext cx="10561320" cy="896112"/>
          </a:xfrm>
          <a:prstGeom prst="roundRect">
            <a:avLst>
              <a:gd name="adj" fmla="val 12245"/>
            </a:avLst>
          </a:prstGeom>
          <a:solidFill>
            <a:srgbClr val="101824"/>
          </a:solidFill>
          <a:ln w="1397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078992" y="4663440"/>
            <a:ext cx="100126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Developer sequence: requirement → access pattern → document shape → validation → tests</a:t>
            </a:r>
            <a:endParaRPr lang="en-US" sz="18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B84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the Learning Path Goes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338328" y="749808"/>
            <a:ext cx="8458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early lessons establish the foundation; later lessons build on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554480"/>
            <a:ext cx="1664208" cy="1965960"/>
          </a:xfrm>
          <a:prstGeom prst="roundRect">
            <a:avLst>
              <a:gd name="adj" fmla="val 6593"/>
            </a:avLst>
          </a:prstGeom>
          <a:solidFill>
            <a:srgbClr val="0B1118"/>
          </a:solidFill>
          <a:ln w="1397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96112" y="1801368"/>
            <a:ext cx="512064" cy="51206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96112" y="1810512"/>
            <a:ext cx="512064" cy="4937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4632" y="2450592"/>
            <a:ext cx="1335024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66344" y="2944368"/>
            <a:ext cx="1353312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MongoDB is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984248" y="2542032"/>
            <a:ext cx="237744" cy="0"/>
          </a:xfrm>
          <a:prstGeom prst="line">
            <a:avLst/>
          </a:prstGeom>
          <a:noFill/>
          <a:ln w="1905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286000" y="1554480"/>
            <a:ext cx="1664208" cy="1965960"/>
          </a:xfrm>
          <a:prstGeom prst="roundRect">
            <a:avLst>
              <a:gd name="adj" fmla="val 6593"/>
            </a:avLst>
          </a:prstGeom>
          <a:solidFill>
            <a:srgbClr val="0B1118"/>
          </a:solidFill>
          <a:ln w="1397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862072" y="1801368"/>
            <a:ext cx="512064" cy="512064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862072" y="1810512"/>
            <a:ext cx="512064" cy="4937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50592" y="2450592"/>
            <a:ext cx="1335024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98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32304" y="2944368"/>
            <a:ext cx="1353312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documents are shaped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950208" y="2542032"/>
            <a:ext cx="237744" cy="0"/>
          </a:xfrm>
          <a:prstGeom prst="line">
            <a:avLst/>
          </a:prstGeom>
          <a:noFill/>
          <a:ln w="1905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251960" y="1554480"/>
            <a:ext cx="1664208" cy="1965960"/>
          </a:xfrm>
          <a:prstGeom prst="roundRect">
            <a:avLst>
              <a:gd name="adj" fmla="val 6593"/>
            </a:avLst>
          </a:prstGeom>
          <a:solidFill>
            <a:srgbClr val="0B1118"/>
          </a:solidFill>
          <a:ln w="13970">
            <a:solidFill>
              <a:srgbClr val="00D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28032" y="1801368"/>
            <a:ext cx="512064" cy="512064"/>
          </a:xfrm>
          <a:prstGeom prst="ellipse">
            <a:avLst/>
          </a:prstGeom>
          <a:solidFill>
            <a:srgbClr val="00D5FF"/>
          </a:solidFill>
          <a:ln w="12700">
            <a:solidFill>
              <a:srgbClr val="00D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28032" y="1810512"/>
            <a:ext cx="512064" cy="4937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416552" y="2450592"/>
            <a:ext cx="1335024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5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CRUD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398264" y="2944368"/>
            <a:ext cx="1353312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code changes data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16168" y="2542032"/>
            <a:ext cx="237744" cy="0"/>
          </a:xfrm>
          <a:prstGeom prst="line">
            <a:avLst/>
          </a:prstGeom>
          <a:noFill/>
          <a:ln w="1905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217920" y="1554480"/>
            <a:ext cx="1664208" cy="1965960"/>
          </a:xfrm>
          <a:prstGeom prst="roundRect">
            <a:avLst>
              <a:gd name="adj" fmla="val 6593"/>
            </a:avLst>
          </a:prstGeom>
          <a:solidFill>
            <a:srgbClr val="0B1118"/>
          </a:solidFill>
          <a:ln w="1397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793992" y="1801368"/>
            <a:ext cx="512064" cy="512064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93992" y="1810512"/>
            <a:ext cx="512064" cy="4937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382512" y="2450592"/>
            <a:ext cx="1335024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855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64224" y="2944368"/>
            <a:ext cx="1353312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applications retrieve data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882128" y="2542032"/>
            <a:ext cx="237744" cy="0"/>
          </a:xfrm>
          <a:prstGeom prst="line">
            <a:avLst/>
          </a:prstGeom>
          <a:noFill/>
          <a:ln w="1905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183880" y="1554480"/>
            <a:ext cx="1664208" cy="1965960"/>
          </a:xfrm>
          <a:prstGeom prst="roundRect">
            <a:avLst>
              <a:gd name="adj" fmla="val 6593"/>
            </a:avLst>
          </a:prstGeom>
          <a:solidFill>
            <a:srgbClr val="0B1118"/>
          </a:solidFill>
          <a:ln w="13970">
            <a:solidFill>
              <a:srgbClr val="00C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759952" y="1801368"/>
            <a:ext cx="512064" cy="512064"/>
          </a:xfrm>
          <a:prstGeom prst="ellipse">
            <a:avLst/>
          </a:prstGeom>
          <a:solidFill>
            <a:srgbClr val="00C8A0"/>
          </a:solidFill>
          <a:ln w="12700">
            <a:solidFill>
              <a:srgbClr val="00C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759952" y="1810512"/>
            <a:ext cx="512064" cy="4937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348472" y="2450592"/>
            <a:ext cx="1335024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330184" y="2944368"/>
            <a:ext cx="1353312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drivers fit into services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848088" y="2542032"/>
            <a:ext cx="237744" cy="0"/>
          </a:xfrm>
          <a:prstGeom prst="line">
            <a:avLst/>
          </a:prstGeom>
          <a:noFill/>
          <a:ln w="19050">
            <a:solidFill>
              <a:srgbClr val="FF98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0149840" y="1554480"/>
            <a:ext cx="1664208" cy="1965960"/>
          </a:xfrm>
          <a:prstGeom prst="roundRect">
            <a:avLst>
              <a:gd name="adj" fmla="val 6593"/>
            </a:avLst>
          </a:prstGeom>
          <a:solidFill>
            <a:srgbClr val="0B1118"/>
          </a:solidFill>
          <a:ln w="13970">
            <a:solidFill>
              <a:srgbClr val="FF5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0725912" y="1801368"/>
            <a:ext cx="512064" cy="512064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725912" y="1810512"/>
            <a:ext cx="512064" cy="4937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314432" y="2450592"/>
            <a:ext cx="1335024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5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296144" y="2944368"/>
            <a:ext cx="1353312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operate safely at scale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60120" y="4069080"/>
            <a:ext cx="10058400" cy="1417320"/>
          </a:xfrm>
          <a:prstGeom prst="roundRect">
            <a:avLst>
              <a:gd name="adj" fmla="val 7742"/>
            </a:avLst>
          </a:prstGeom>
          <a:solidFill>
            <a:srgbClr val="101824"/>
          </a:solidFill>
          <a:ln w="13970">
            <a:solidFill>
              <a:srgbClr val="00D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207008" y="4315968"/>
            <a:ext cx="21488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D5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CUMULATIVE LEARNING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188720" y="4700016"/>
            <a:ext cx="955548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lesson adds one practical building block to the same developer mental model.</a:t>
            </a:r>
            <a:endParaRPr lang="en-US" sz="19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B84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First 60 Seconds in mongosh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338328" y="749808"/>
            <a:ext cx="8458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tiny hands-on check makes the learning path tangible.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6400800" cy="4480560"/>
          </a:xfrm>
          <a:prstGeom prst="roundRect">
            <a:avLst>
              <a:gd name="adj" fmla="val 2449"/>
            </a:avLst>
          </a:prstGeom>
          <a:solidFill>
            <a:srgbClr val="0B1118"/>
          </a:solidFill>
          <a:ln w="1397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691640"/>
            <a:ext cx="1371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98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 DEMO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2057400"/>
            <a:ext cx="5852160" cy="3200400"/>
          </a:xfrm>
          <a:prstGeom prst="roundRect">
            <a:avLst>
              <a:gd name="adj" fmla="val 3429"/>
            </a:avLst>
          </a:prstGeom>
          <a:solidFill>
            <a:srgbClr val="101824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2167128"/>
            <a:ext cx="5577840" cy="2980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7F9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mongosh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F7F9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orderdb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F7F9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db.orders.insertOne({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F7F9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orderId: "ORD-1001",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F7F9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"PLACED"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F7F9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F7F9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db.orders.findOne({ orderId: "ORD-1001" })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223760" y="1417320"/>
            <a:ext cx="4370832" cy="4480560"/>
          </a:xfrm>
          <a:prstGeom prst="roundRect">
            <a:avLst>
              <a:gd name="adj" fmla="val 2510"/>
            </a:avLst>
          </a:prstGeom>
          <a:solidFill>
            <a:srgbClr val="0B1118"/>
          </a:solidFill>
          <a:ln w="13970">
            <a:solidFill>
              <a:srgbClr val="00D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98080" y="1691640"/>
            <a:ext cx="20116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D5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TO NOTICE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79792" y="2221992"/>
            <a:ext cx="82296" cy="82296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644384" y="2148840"/>
            <a:ext cx="3447288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command chooses the database.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479792" y="2679192"/>
            <a:ext cx="82296" cy="82296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644384" y="2606040"/>
            <a:ext cx="3447288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document represents an order.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479792" y="3136392"/>
            <a:ext cx="82296" cy="82296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44384" y="3063240"/>
            <a:ext cx="3447288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shell can insert and read data.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479792" y="3593592"/>
            <a:ext cx="82296" cy="82296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644384" y="3520440"/>
            <a:ext cx="3447288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Nested data will become important later.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479792" y="4050792"/>
            <a:ext cx="82296" cy="82296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644384" y="3977640"/>
            <a:ext cx="3447288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Hands-on practice is part of every lesson.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479792" y="4800600"/>
            <a:ext cx="3520440" cy="566928"/>
          </a:xfrm>
          <a:prstGeom prst="roundRect">
            <a:avLst>
              <a:gd name="adj" fmla="val 19355"/>
            </a:avLst>
          </a:prstGeom>
          <a:solidFill>
            <a:srgbClr val="101824"/>
          </a:solidFill>
          <a:ln w="1397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635240" y="4956048"/>
            <a:ext cx="32004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98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Practice: change the orderId.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B84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7F9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Takeaways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338328" y="749808"/>
            <a:ext cx="8458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the mental model. Then build it with real developer examples.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600200"/>
            <a:ext cx="512064" cy="51206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609344"/>
            <a:ext cx="512064" cy="4937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4440" y="1618488"/>
            <a:ext cx="22402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 THE MODEL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2221992"/>
            <a:ext cx="2880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MongoDB works with documents.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417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480560" y="1600200"/>
            <a:ext cx="512064" cy="512064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0560" y="1609344"/>
            <a:ext cx="512064" cy="4937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20640" y="1618488"/>
            <a:ext cx="22402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98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PRACTICE ACTIVELY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221992"/>
            <a:ext cx="2880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Run, change, rerun and explain.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83880" y="1417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66760" y="1600200"/>
            <a:ext cx="512064" cy="512064"/>
          </a:xfrm>
          <a:prstGeom prst="ellipse">
            <a:avLst/>
          </a:prstGeom>
          <a:solidFill>
            <a:srgbClr val="00D5FF"/>
          </a:solidFill>
          <a:ln w="12700">
            <a:solidFill>
              <a:srgbClr val="00D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66760" y="1609344"/>
            <a:ext cx="512064" cy="4937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006840" y="1618488"/>
            <a:ext cx="22402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D5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ONE REAL EXAMPLE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85048" y="2221992"/>
            <a:ext cx="2880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 Management keeps concepts connected.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11480" y="3410712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593592"/>
            <a:ext cx="512064" cy="512064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02736"/>
            <a:ext cx="512064" cy="4937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34440" y="3611880"/>
            <a:ext cx="22402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855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 LIKE A DEVELOPER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12648" y="4215384"/>
            <a:ext cx="2880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Requirements shape data design.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297680" y="3410712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0B1118"/>
          </a:solidFill>
          <a:ln w="13970">
            <a:solidFill>
              <a:srgbClr val="1E2A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480560" y="3593592"/>
            <a:ext cx="512064" cy="512064"/>
          </a:xfrm>
          <a:prstGeom prst="ellipse">
            <a:avLst/>
          </a:prstGeom>
          <a:solidFill>
            <a:srgbClr val="00C8A0"/>
          </a:solidFill>
          <a:ln w="12700">
            <a:solidFill>
              <a:srgbClr val="00C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480560" y="3602736"/>
            <a:ext cx="512064" cy="4937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20640" y="3611880"/>
            <a:ext cx="22402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C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PROGRESSIVELY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498848" y="4215384"/>
            <a:ext cx="2880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B9C2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 skills depend on a strong foundation.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05840" y="5440680"/>
            <a:ext cx="10149840" cy="685800"/>
          </a:xfrm>
          <a:prstGeom prst="roundRect">
            <a:avLst>
              <a:gd name="adj" fmla="val 16000"/>
            </a:avLst>
          </a:prstGeom>
          <a:solidFill>
            <a:srgbClr val="FF9800"/>
          </a:solidFill>
          <a:ln w="1397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325880" y="5614416"/>
            <a:ext cx="9509760" cy="329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507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  →  Understand MongoDB itself</a:t>
            </a:r>
            <a:endParaRPr lang="en-US" sz="20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B84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ae551e3-0043-40f0-9a67-12d995049d50}" enabled="1" method="Standard" siteId="{97984c2b-a229-4609-8185-ae84947bc3f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724</Words>
  <Application>Microsoft Office PowerPoint</Application>
  <PresentationFormat>Widescreen</PresentationFormat>
  <Paragraphs>194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MongoDB Developer Learning Path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>Introduction</dc:subject>
  <dc:creator>MongoDB Developer Learning Path</dc:creator>
  <cp:lastModifiedBy>Avishesh Jha</cp:lastModifiedBy>
  <cp:revision>1</cp:revision>
  <dcterms:created xsi:type="dcterms:W3CDTF">2026-10-02T12:31:37Z</dcterms:created>
  <dcterms:modified xsi:type="dcterms:W3CDTF">2026-10-02T14:01:30Z</dcterms:modified>
</cp:coreProperties>
</file>