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5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155680" cy="6858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Shell vs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11064240" cy="5486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700" b="0">
                <a:solidFill>
                  <a:srgbClr val="B9C0C9"/>
                </a:solidFill>
                <a:latin typeface="Aptos"/>
              </a:rPr>
              <a:t>Understand the difference between interactive mongosh access and programmatic application access through drivers.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691640"/>
            <a:ext cx="5440680" cy="452628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1755648"/>
            <a:ext cx="5221224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800" b="1">
                <a:solidFill>
                  <a:srgbClr val="FF9E18"/>
                </a:solidFill>
                <a:latin typeface="Aptos"/>
              </a:rPr>
              <a:t>In this lesson, you will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9456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Understand the role of mongosh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Understand the role of language drivers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See the same MongoDB operation expressed two ways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Know where each access path fits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Carry MongoDB concepts from shell to application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691640"/>
            <a:ext cx="5669280" cy="452628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0488" y="1755648"/>
            <a:ext cx="5449824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800" b="1">
                <a:solidFill>
                  <a:srgbClr val="FF9E18"/>
                </a:solidFill>
                <a:latin typeface="Aptos"/>
              </a:rPr>
              <a:t>Running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48840"/>
            <a:ext cx="512064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2400" b="1">
                <a:solidFill>
                  <a:srgbClr val="FF9E18"/>
                </a:solidFill>
                <a:latin typeface="Aptos"/>
              </a:rPr>
              <a:t>Order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651760"/>
            <a:ext cx="475488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200" b="1">
                <a:solidFill>
                  <a:srgbClr val="F6F7F9"/>
                </a:solidFill>
                <a:latin typeface="Aptos"/>
              </a:rPr>
              <a:t>Application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3246120"/>
            <a:ext cx="1417320" cy="914400"/>
          </a:xfrm>
          <a:prstGeom prst="roundRect">
            <a:avLst/>
          </a:prstGeom>
          <a:solidFill>
            <a:srgbClr val="10253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520440"/>
            <a:ext cx="11430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6F7F9"/>
                </a:solidFill>
                <a:latin typeface="Aptos"/>
              </a:rPr>
              <a:t>Application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246120"/>
            <a:ext cx="1417320" cy="914400"/>
          </a:xfrm>
          <a:prstGeom prst="roundRect">
            <a:avLst/>
          </a:prstGeom>
          <a:solidFill>
            <a:srgbClr val="39230D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520440"/>
            <a:ext cx="11430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6F7F9"/>
                </a:solidFill>
                <a:latin typeface="Aptos"/>
              </a:rPr>
              <a:t>MongoDB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21240" y="3246120"/>
            <a:ext cx="1417320" cy="914400"/>
          </a:xfrm>
          <a:prstGeom prst="roundRect">
            <a:avLst/>
          </a:prstGeom>
          <a:solidFill>
            <a:srgbClr val="201835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3520440"/>
            <a:ext cx="11430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6F7F9"/>
                </a:solidFill>
                <a:latin typeface="Aptos"/>
              </a:rPr>
              <a:t>Document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72000"/>
            <a:ext cx="5120640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0">
                <a:solidFill>
                  <a:srgbClr val="B9C0C9"/>
                </a:solidFill>
                <a:latin typeface="Aptos"/>
              </a:rPr>
              <a:t>The lesson keeps the data shape connected to a real developer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mongosh: interactive access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mongosh is an interactive command-line environment.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Developers use it to connect, explore data, test queries, and troubleshoot.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It provides quick feedback while learning MongoDB.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It is a client, not the database server itself.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23560" y="1600200"/>
            <a:ext cx="5852160" cy="3749039"/>
          </a:xfrm>
          <a:prstGeom prst="roundRect">
            <a:avLst/>
          </a:prstGeom>
          <a:solidFill>
            <a:srgbClr val="0A10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33288" y="1691640"/>
            <a:ext cx="5632704" cy="256032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4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3288" y="1984248"/>
            <a:ext cx="5632704" cy="3291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6F7F9"/>
                </a:solidFill>
                <a:latin typeface="Consolas"/>
              </a:rPr>
              <a:t>use orderdb
db.orders.insertOne({
  orderId: "ORD-1001",
  status: "CONFIRMED",
  shippingAddress: { city: "Chennai" },
  items: [{ sku: "KB-101", qty: 2, price: 1499.00 }]
})
db.orders.findOne({ orderId: "ORD-1001" })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5486400"/>
            <a:ext cx="5669280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AD2DC"/>
                </a:solidFill>
                <a:latin typeface="Aptos"/>
              </a:rPr>
              <a:t>Run the demo, then change one value and rerun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Drivers: application access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Drivers provide language-specific APIs for MongoDB.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Application code uses drivers to create, read, update, and delete data.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The driver translates application operations into MongoDB requests.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The application owns the workflow; MongoDB remains the data service.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1600200"/>
            <a:ext cx="25146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1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1600200"/>
            <a:ext cx="25146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100" b="1">
                <a:solidFill>
                  <a:srgbClr val="AE5EFF"/>
                </a:solidFill>
                <a:latin typeface="Aptos"/>
              </a:rPr>
              <a:t>Driver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057400"/>
            <a:ext cx="2560320" cy="2560320"/>
          </a:xfrm>
          <a:prstGeom prst="roundRect">
            <a:avLst/>
          </a:prstGeom>
          <a:solidFill>
            <a:srgbClr val="0A10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79008" y="2148840"/>
            <a:ext cx="2340863" cy="256032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4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9008" y="2441448"/>
            <a:ext cx="2340863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6F7F9"/>
                </a:solidFill>
                <a:latin typeface="Consolas"/>
              </a:rPr>
              <a:t>db.orders.find({
  status: "CONFIRMED"
})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2057400"/>
            <a:ext cx="2560320" cy="2560320"/>
          </a:xfrm>
          <a:prstGeom prst="roundRect">
            <a:avLst/>
          </a:prstGeom>
          <a:solidFill>
            <a:srgbClr val="0A10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05088" y="2148840"/>
            <a:ext cx="2340863" cy="256032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4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2441448"/>
            <a:ext cx="2340863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6F7F9"/>
                </a:solidFill>
                <a:latin typeface="Consolas"/>
              </a:rPr>
              <a:t>const orders = await
collection.find({
  status: "CONFIRMED"
}).toArray();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5074920"/>
            <a:ext cx="5486400" cy="50292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Same filter. Different client context.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Same operation, two expressions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The MongoDB concept stays the same.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mongosh expresses the operation interactively.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A driver expresses the same operation inside application code.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The data model does not change just because the client changes.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1600200"/>
            <a:ext cx="25146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1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1600200"/>
            <a:ext cx="25146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100" b="1">
                <a:solidFill>
                  <a:srgbClr val="AE5EFF"/>
                </a:solidFill>
                <a:latin typeface="Aptos"/>
              </a:rPr>
              <a:t>Driver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057400"/>
            <a:ext cx="2560320" cy="2560320"/>
          </a:xfrm>
          <a:prstGeom prst="roundRect">
            <a:avLst/>
          </a:prstGeom>
          <a:solidFill>
            <a:srgbClr val="0A10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79008" y="2148840"/>
            <a:ext cx="2340863" cy="256032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4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9008" y="2441448"/>
            <a:ext cx="2340863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6F7F9"/>
                </a:solidFill>
                <a:latin typeface="Consolas"/>
              </a:rPr>
              <a:t>db.orders.find({
  status: "CONFIRMED"
})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2057400"/>
            <a:ext cx="2560320" cy="2560320"/>
          </a:xfrm>
          <a:prstGeom prst="roundRect">
            <a:avLst/>
          </a:prstGeom>
          <a:solidFill>
            <a:srgbClr val="0A10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05088" y="2148840"/>
            <a:ext cx="2340863" cy="256032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4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2441448"/>
            <a:ext cx="2340863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6F7F9"/>
                </a:solidFill>
                <a:latin typeface="Consolas"/>
              </a:rPr>
              <a:t>const orders = await
collection.find({
  status: "CONFIRMED"
}).toArray();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5074920"/>
            <a:ext cx="5486400" cy="50292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Same filter. Different client context.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Example: find an order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mongosh can run a direct find on the orders collection.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A driver can execute the same filter through application code.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Both use the same collection and business field.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The difference is the execution context and programming interface.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1600200"/>
            <a:ext cx="25146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1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1600200"/>
            <a:ext cx="25146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100" b="1">
                <a:solidFill>
                  <a:srgbClr val="AE5EFF"/>
                </a:solidFill>
                <a:latin typeface="Aptos"/>
              </a:rPr>
              <a:t>Driver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057400"/>
            <a:ext cx="2560320" cy="2560320"/>
          </a:xfrm>
          <a:prstGeom prst="roundRect">
            <a:avLst/>
          </a:prstGeom>
          <a:solidFill>
            <a:srgbClr val="0A10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79008" y="2148840"/>
            <a:ext cx="2340863" cy="256032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4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9008" y="2441448"/>
            <a:ext cx="2340863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6F7F9"/>
                </a:solidFill>
                <a:latin typeface="Consolas"/>
              </a:rPr>
              <a:t>db.orders.find({
  status: "CONFIRMED"
})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2057400"/>
            <a:ext cx="2560320" cy="2560320"/>
          </a:xfrm>
          <a:prstGeom prst="roundRect">
            <a:avLst/>
          </a:prstGeom>
          <a:solidFill>
            <a:srgbClr val="0A10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05088" y="2148840"/>
            <a:ext cx="2340863" cy="256032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4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2441448"/>
            <a:ext cx="2340863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6F7F9"/>
                </a:solidFill>
                <a:latin typeface="Consolas"/>
              </a:rPr>
              <a:t>const orders = await
collection.find({
  status: "CONFIRMED"
}).toArray();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5074920"/>
            <a:ext cx="5486400" cy="50292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Same filter. Different client context.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When each path 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Use mongosh for learning, exploration, testing, and troubleshooting.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Use drivers for application features and workflows.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Both can work with the same database and collections.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Choose the tool according to where the operation belongs.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1600200"/>
            <a:ext cx="25146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1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1600200"/>
            <a:ext cx="25146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100" b="1">
                <a:solidFill>
                  <a:srgbClr val="AE5EFF"/>
                </a:solidFill>
                <a:latin typeface="Aptos"/>
              </a:rPr>
              <a:t>Driver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057400"/>
            <a:ext cx="2560320" cy="2560320"/>
          </a:xfrm>
          <a:prstGeom prst="roundRect">
            <a:avLst/>
          </a:prstGeom>
          <a:solidFill>
            <a:srgbClr val="0A10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79008" y="2148840"/>
            <a:ext cx="2340863" cy="256032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4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9008" y="2441448"/>
            <a:ext cx="2340863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6F7F9"/>
                </a:solidFill>
                <a:latin typeface="Consolas"/>
              </a:rPr>
              <a:t>db.orders.find({
  status: "CONFIRMED"
})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2057400"/>
            <a:ext cx="2560320" cy="2560320"/>
          </a:xfrm>
          <a:prstGeom prst="roundRect">
            <a:avLst/>
          </a:prstGeom>
          <a:solidFill>
            <a:srgbClr val="0A10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05088" y="2148840"/>
            <a:ext cx="2340863" cy="256032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4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2441448"/>
            <a:ext cx="2340863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6F7F9"/>
                </a:solidFill>
                <a:latin typeface="Consolas"/>
              </a:rPr>
              <a:t>const orders = await
collection.find({
  status: "CONFIRMED"
}).toArray();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5074920"/>
            <a:ext cx="5486400" cy="50292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Same filter. Different client context.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The developer bridge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Learn a MongoDB operation in mongosh first.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Understand what the operation does.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Translate that concept into the application driver.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Keep the database behavior separate from application orchestration.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1600200"/>
            <a:ext cx="25146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1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1600200"/>
            <a:ext cx="25146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100" b="1">
                <a:solidFill>
                  <a:srgbClr val="AE5EFF"/>
                </a:solidFill>
                <a:latin typeface="Aptos"/>
              </a:rPr>
              <a:t>Driver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057400"/>
            <a:ext cx="2560320" cy="2560320"/>
          </a:xfrm>
          <a:prstGeom prst="roundRect">
            <a:avLst/>
          </a:prstGeom>
          <a:solidFill>
            <a:srgbClr val="0A10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79008" y="2148840"/>
            <a:ext cx="2340863" cy="256032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4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9008" y="2441448"/>
            <a:ext cx="2340863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6F7F9"/>
                </a:solidFill>
                <a:latin typeface="Consolas"/>
              </a:rPr>
              <a:t>db.orders.find({
  status: "CONFIRMED"
})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2057400"/>
            <a:ext cx="2560320" cy="2560320"/>
          </a:xfrm>
          <a:prstGeom prst="roundRect">
            <a:avLst/>
          </a:prstGeom>
          <a:solidFill>
            <a:srgbClr val="0A10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05088" y="2148840"/>
            <a:ext cx="2340863" cy="256032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4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2441448"/>
            <a:ext cx="2340863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6F7F9"/>
                </a:solidFill>
                <a:latin typeface="Consolas"/>
              </a:rPr>
              <a:t>const orders = await
collection.find({
  status: "CONFIRMED"
}).toArray();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5074920"/>
            <a:ext cx="5486400" cy="50292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Same filter. Different client context.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Hands-on: same order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Insert an order with mongosh.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Read it back with a shell query.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Review the equivalent application-driver operation.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Compare syntax without changing the underlying MongoDB concept.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23560" y="1600200"/>
            <a:ext cx="5852160" cy="3749039"/>
          </a:xfrm>
          <a:prstGeom prst="roundRect">
            <a:avLst/>
          </a:prstGeom>
          <a:solidFill>
            <a:srgbClr val="0A10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33288" y="1691640"/>
            <a:ext cx="5632704" cy="256032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4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3288" y="1984248"/>
            <a:ext cx="5632704" cy="3291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6F7F9"/>
                </a:solidFill>
                <a:latin typeface="Consolas"/>
              </a:rPr>
              <a:t>use orderdb
db.orders.insertOne({
  orderId: "ORD-1001",
  status: "CONFIRMED",
  shippingAddress: { city: "Chennai" },
  items: [{ sku: "KB-101", qty: 2, price: 1499.00 }]
})
db.orders.findOne({ orderId: "ORD-1001" })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5486400"/>
            <a:ext cx="5669280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AD2DC"/>
                </a:solidFill>
                <a:latin typeface="Aptos"/>
              </a:rPr>
              <a:t>Run the demo, then change one value and rerun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What to remember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Shell and drivers are different clients.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Shell is interactive; drivers are programmatic.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The same MongoDB data model sits underneath both.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Move from shell understanding to application code with confidence.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1600200"/>
            <a:ext cx="25146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1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1600200"/>
            <a:ext cx="25146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100" b="1">
                <a:solidFill>
                  <a:srgbClr val="AE5EFF"/>
                </a:solidFill>
                <a:latin typeface="Aptos"/>
              </a:rPr>
              <a:t>Driver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057400"/>
            <a:ext cx="2560320" cy="2560320"/>
          </a:xfrm>
          <a:prstGeom prst="roundRect">
            <a:avLst/>
          </a:prstGeom>
          <a:solidFill>
            <a:srgbClr val="0A10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79008" y="2148840"/>
            <a:ext cx="2340863" cy="256032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4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9008" y="2441448"/>
            <a:ext cx="2340863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6F7F9"/>
                </a:solidFill>
                <a:latin typeface="Consolas"/>
              </a:rPr>
              <a:t>db.orders.find({
  status: "CONFIRMED"
})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2057400"/>
            <a:ext cx="2560320" cy="2560320"/>
          </a:xfrm>
          <a:prstGeom prst="roundRect">
            <a:avLst/>
          </a:prstGeom>
          <a:solidFill>
            <a:srgbClr val="0A10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05088" y="2148840"/>
            <a:ext cx="2340863" cy="256032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4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2441448"/>
            <a:ext cx="2340863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6F7F9"/>
                </a:solidFill>
                <a:latin typeface="Consolas"/>
              </a:rPr>
              <a:t>const orders = await
collection.find({
  status: "CONFIRMED"
}).toArray();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5074920"/>
            <a:ext cx="5486400" cy="50292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Same filter. Different client context.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Next 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Bring shell, drivers, Compass, and other clients together into one architecture picture.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1600200"/>
            <a:ext cx="25146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1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1600200"/>
            <a:ext cx="25146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100" b="1">
                <a:solidFill>
                  <a:srgbClr val="AE5EFF"/>
                </a:solidFill>
                <a:latin typeface="Aptos"/>
              </a:rPr>
              <a:t>Driver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057400"/>
            <a:ext cx="2560320" cy="2560320"/>
          </a:xfrm>
          <a:prstGeom prst="roundRect">
            <a:avLst/>
          </a:prstGeom>
          <a:solidFill>
            <a:srgbClr val="0A10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79008" y="2148840"/>
            <a:ext cx="2340863" cy="256032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4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9008" y="2441448"/>
            <a:ext cx="2340863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6F7F9"/>
                </a:solidFill>
                <a:latin typeface="Consolas"/>
              </a:rPr>
              <a:t>db.orders.find({
  status: "CONFIRMED"
})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2057400"/>
            <a:ext cx="2560320" cy="2560320"/>
          </a:xfrm>
          <a:prstGeom prst="roundRect">
            <a:avLst/>
          </a:prstGeom>
          <a:solidFill>
            <a:srgbClr val="0A10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05088" y="2148840"/>
            <a:ext cx="2340863" cy="256032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4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2441448"/>
            <a:ext cx="2340863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6F7F9"/>
                </a:solidFill>
                <a:latin typeface="Consolas"/>
              </a:rPr>
              <a:t>const orders = await
collection.find({
  status: "CONFIRMED"
}).toArray();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5074920"/>
            <a:ext cx="5486400" cy="50292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Same filter. Different client context.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3000" b="1">
                <a:solidFill>
                  <a:srgbClr val="F6F7F9"/>
                </a:solidFill>
                <a:latin typeface="Aptos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27080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0">
                <a:solidFill>
                  <a:srgbClr val="B9C0C9"/>
                </a:solidFill>
                <a:latin typeface="Aptos"/>
              </a:rPr>
              <a:t>Understand the difference between interactive mongosh access and programmatic application access through drivers.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240280" cy="3108960"/>
          </a:xfrm>
          <a:prstGeom prst="roundRect">
            <a:avLst/>
          </a:prstGeom>
          <a:solidFill>
            <a:srgbClr val="0E141B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057400"/>
            <a:ext cx="20574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3EAAF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1874519" cy="1371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700" b="1">
                <a:solidFill>
                  <a:srgbClr val="F6F7F9"/>
                </a:solidFill>
                <a:latin typeface="Aptos"/>
              </a:rPr>
              <a:t>Understand the role of mongosh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39" y="1828800"/>
            <a:ext cx="2240280" cy="3108960"/>
          </a:xfrm>
          <a:prstGeom prst="roundRect">
            <a:avLst/>
          </a:prstGeom>
          <a:solidFill>
            <a:srgbClr val="0E141B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79" y="2057400"/>
            <a:ext cx="20574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FF9E18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743200"/>
            <a:ext cx="1874519" cy="1371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700" b="1">
                <a:solidFill>
                  <a:srgbClr val="F6F7F9"/>
                </a:solidFill>
                <a:latin typeface="Aptos"/>
              </a:rPr>
              <a:t>Understand the role of language drivers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59" y="1828800"/>
            <a:ext cx="2240280" cy="3108960"/>
          </a:xfrm>
          <a:prstGeom prst="roundRect">
            <a:avLst/>
          </a:prstGeom>
          <a:solidFill>
            <a:srgbClr val="0E141B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799" y="2057400"/>
            <a:ext cx="20574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AE5EFF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743200"/>
            <a:ext cx="1874519" cy="1371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700" b="1">
                <a:solidFill>
                  <a:srgbClr val="F6F7F9"/>
                </a:solidFill>
                <a:latin typeface="Aptos"/>
              </a:rPr>
              <a:t>See the same MongoDB operation expressed two ways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828800"/>
            <a:ext cx="2240280" cy="3108960"/>
          </a:xfrm>
          <a:prstGeom prst="roundRect">
            <a:avLst/>
          </a:prstGeom>
          <a:solidFill>
            <a:srgbClr val="0E141B"/>
          </a:solidFill>
          <a:ln w="19050">
            <a:solidFill>
              <a:srgbClr val="3A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2057400"/>
            <a:ext cx="20574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3AD2DC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59" y="2743200"/>
            <a:ext cx="1874519" cy="1371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700" b="1">
                <a:solidFill>
                  <a:srgbClr val="F6F7F9"/>
                </a:solidFill>
                <a:latin typeface="Aptos"/>
              </a:rPr>
              <a:t>Know where each access path fits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1828800"/>
            <a:ext cx="2240280" cy="3108960"/>
          </a:xfrm>
          <a:prstGeom prst="roundRect">
            <a:avLst/>
          </a:prstGeom>
          <a:solidFill>
            <a:srgbClr val="0E141B"/>
          </a:solidFill>
          <a:ln w="19050">
            <a:solidFill>
              <a:srgbClr val="E95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2057400"/>
            <a:ext cx="20574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E9502D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2743200"/>
            <a:ext cx="1874519" cy="1371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700" b="1">
                <a:solidFill>
                  <a:srgbClr val="F6F7F9"/>
                </a:solidFill>
                <a:latin typeface="Aptos"/>
              </a:rPr>
              <a:t>Carry MongoDB concepts from shell to application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One concept at a time • one real example • repeat the practice loop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