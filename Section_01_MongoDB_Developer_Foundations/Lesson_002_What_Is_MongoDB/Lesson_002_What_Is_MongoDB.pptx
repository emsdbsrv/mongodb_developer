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2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155680" cy="6858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What Is MongoDB?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60120"/>
            <a:ext cx="11064240" cy="5486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1700" b="0">
                <a:solidFill>
                  <a:srgbClr val="B9C0C9"/>
                </a:solidFill>
                <a:latin typeface="Aptos"/>
              </a:rPr>
              <a:t>Understand MongoDB as a document database and see how it fits an application through a real Order Management example.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691640"/>
            <a:ext cx="5440680" cy="452628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" y="1755648"/>
            <a:ext cx="5221224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1800" b="1">
                <a:solidFill>
                  <a:srgbClr val="FF9E18"/>
                </a:solidFill>
                <a:latin typeface="Aptos"/>
              </a:rPr>
              <a:t>In this lesson, you will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94560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Understand what MongoDB is and when to use it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See how data is stored as flexible documents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Connect the model to an Order Management application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Recognize core characteristics and common use cases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Run a small mongosh 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691640"/>
            <a:ext cx="5669280" cy="452628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0488" y="1755648"/>
            <a:ext cx="5449824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1800" b="1">
                <a:solidFill>
                  <a:srgbClr val="FF9E18"/>
                </a:solidFill>
                <a:latin typeface="Aptos"/>
              </a:rPr>
              <a:t>Running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148840"/>
            <a:ext cx="5120640" cy="36576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2400" b="1">
                <a:solidFill>
                  <a:srgbClr val="FF9E18"/>
                </a:solidFill>
                <a:latin typeface="Aptos"/>
              </a:rPr>
              <a:t>Order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651760"/>
            <a:ext cx="4754880" cy="4572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200" b="1">
                <a:solidFill>
                  <a:srgbClr val="F6F7F9"/>
                </a:solidFill>
                <a:latin typeface="Aptos"/>
              </a:rPr>
              <a:t>Application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3246120"/>
            <a:ext cx="1417320" cy="914400"/>
          </a:xfrm>
          <a:prstGeom prst="roundRect">
            <a:avLst/>
          </a:prstGeom>
          <a:solidFill>
            <a:srgbClr val="10253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3520440"/>
            <a:ext cx="1143000" cy="36576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F6F7F9"/>
                </a:solidFill>
                <a:latin typeface="Aptos"/>
              </a:rPr>
              <a:t>Application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246120"/>
            <a:ext cx="1417320" cy="914400"/>
          </a:xfrm>
          <a:prstGeom prst="roundRect">
            <a:avLst/>
          </a:prstGeom>
          <a:solidFill>
            <a:srgbClr val="39230D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3520440"/>
            <a:ext cx="1143000" cy="36576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F6F7F9"/>
                </a:solidFill>
                <a:latin typeface="Aptos"/>
              </a:rPr>
              <a:t>MongoDB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21240" y="3246120"/>
            <a:ext cx="1417320" cy="914400"/>
          </a:xfrm>
          <a:prstGeom prst="roundRect">
            <a:avLst/>
          </a:prstGeom>
          <a:solidFill>
            <a:srgbClr val="201835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0" y="3520440"/>
            <a:ext cx="1143000" cy="36576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F6F7F9"/>
                </a:solidFill>
                <a:latin typeface="Aptos"/>
              </a:rPr>
              <a:t>Document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572000"/>
            <a:ext cx="5120640" cy="8686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0">
                <a:solidFill>
                  <a:srgbClr val="B9C0C9"/>
                </a:solidFill>
                <a:latin typeface="Aptos"/>
              </a:rPr>
              <a:t>The lesson keeps the data shape connected to a real developer problem.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MongoDB in one picture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4709160" cy="507492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A document database centered on documents and collections.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Applications use MongoDB to store and work with application data.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Documents can hold nested structures and arrays.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The developer focus is on practical application data and access patterns.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234440"/>
            <a:ext cx="6400800" cy="5074920"/>
          </a:xfrm>
          <a:prstGeom prst="roundRect">
            <a:avLst/>
          </a:prstGeom>
          <a:solidFill>
            <a:srgbClr val="0A0F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560" y="1645920"/>
            <a:ext cx="5760720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000" b="1">
                <a:solidFill>
                  <a:srgbClr val="FF9E18"/>
                </a:solidFill>
                <a:latin typeface="Aptos"/>
              </a:rPr>
              <a:t>Order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2331720"/>
            <a:ext cx="1783080" cy="2286000"/>
          </a:xfrm>
          <a:prstGeom prst="roundRect">
            <a:avLst/>
          </a:prstGeom>
          <a:solidFill>
            <a:srgbClr val="10171F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2651760"/>
            <a:ext cx="16002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3EAAFF"/>
                </a:solidFill>
                <a:latin typeface="Aptos"/>
              </a:rPr>
              <a:t>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3246120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orderId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3630168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014215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items[]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07808" y="2331720"/>
            <a:ext cx="1783080" cy="2286000"/>
          </a:xfrm>
          <a:prstGeom prst="roundRect">
            <a:avLst/>
          </a:prstGeom>
          <a:solidFill>
            <a:srgbClr val="10171F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2651760"/>
            <a:ext cx="16002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FF9E18"/>
                </a:solidFill>
                <a:latin typeface="Aptos"/>
              </a:rPr>
              <a:t>Address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3246120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3630168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postalCode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46336" y="2331720"/>
            <a:ext cx="1783080" cy="2286000"/>
          </a:xfrm>
          <a:prstGeom prst="roundRect">
            <a:avLst/>
          </a:prstGeom>
          <a:solidFill>
            <a:srgbClr val="10171F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37776" y="2651760"/>
            <a:ext cx="16002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AE5EFF"/>
                </a:solidFill>
                <a:latin typeface="Aptos"/>
              </a:rPr>
              <a:t>Payment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9216" y="3246120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method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9216" y="3630168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5074920"/>
            <a:ext cx="5760720" cy="4572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3AD2DC"/>
                </a:solidFill>
                <a:latin typeface="Aptos"/>
              </a:rPr>
              <a:t>Keep the lesson connected to a recognizable application object.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From application need to document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4709160" cy="507492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An order starts as application data.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The application needs to save it and read it back.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MongoDB can represent the order as one structured document.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Nested business information stays visible in the data shape.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234440"/>
            <a:ext cx="6400800" cy="5074920"/>
          </a:xfrm>
          <a:prstGeom prst="roundRect">
            <a:avLst/>
          </a:prstGeom>
          <a:solidFill>
            <a:srgbClr val="0A0F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560" y="1645920"/>
            <a:ext cx="5760720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000" b="1">
                <a:solidFill>
                  <a:srgbClr val="FF9E18"/>
                </a:solidFill>
                <a:latin typeface="Aptos"/>
              </a:rPr>
              <a:t>Order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2331720"/>
            <a:ext cx="1783080" cy="2286000"/>
          </a:xfrm>
          <a:prstGeom prst="roundRect">
            <a:avLst/>
          </a:prstGeom>
          <a:solidFill>
            <a:srgbClr val="10171F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2651760"/>
            <a:ext cx="16002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3EAAFF"/>
                </a:solidFill>
                <a:latin typeface="Aptos"/>
              </a:rPr>
              <a:t>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3246120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orderId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3630168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014215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items[]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07808" y="2331720"/>
            <a:ext cx="1783080" cy="2286000"/>
          </a:xfrm>
          <a:prstGeom prst="roundRect">
            <a:avLst/>
          </a:prstGeom>
          <a:solidFill>
            <a:srgbClr val="10171F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2651760"/>
            <a:ext cx="16002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FF9E18"/>
                </a:solidFill>
                <a:latin typeface="Aptos"/>
              </a:rPr>
              <a:t>Address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3246120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3630168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postalCode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46336" y="2331720"/>
            <a:ext cx="1783080" cy="2286000"/>
          </a:xfrm>
          <a:prstGeom prst="roundRect">
            <a:avLst/>
          </a:prstGeom>
          <a:solidFill>
            <a:srgbClr val="10171F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37776" y="2651760"/>
            <a:ext cx="16002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AE5EFF"/>
                </a:solidFill>
                <a:latin typeface="Aptos"/>
              </a:rPr>
              <a:t>Payment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9216" y="3246120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method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9216" y="3630168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5074920"/>
            <a:ext cx="5760720" cy="4572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3AD2DC"/>
                </a:solidFill>
                <a:latin typeface="Aptos"/>
              </a:rPr>
              <a:t>Keep the lesson connected to a recognizable application object.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Order Management example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4709160" cy="507492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One order can carry orderId and status at the top level.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shippingAddress is a nested object.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items is an array of related order-item objects.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payment is another grouped object inside the order.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234440"/>
            <a:ext cx="6400800" cy="5074920"/>
          </a:xfrm>
          <a:prstGeom prst="roundRect">
            <a:avLst/>
          </a:prstGeom>
          <a:solidFill>
            <a:srgbClr val="0A0F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560" y="1645920"/>
            <a:ext cx="5760720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000" b="1">
                <a:solidFill>
                  <a:srgbClr val="FF9E18"/>
                </a:solidFill>
                <a:latin typeface="Aptos"/>
              </a:rPr>
              <a:t>Order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2331720"/>
            <a:ext cx="1783080" cy="2286000"/>
          </a:xfrm>
          <a:prstGeom prst="roundRect">
            <a:avLst/>
          </a:prstGeom>
          <a:solidFill>
            <a:srgbClr val="10171F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2651760"/>
            <a:ext cx="16002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3EAAFF"/>
                </a:solidFill>
                <a:latin typeface="Aptos"/>
              </a:rPr>
              <a:t>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3246120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orderId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3630168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014215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items[]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07808" y="2331720"/>
            <a:ext cx="1783080" cy="2286000"/>
          </a:xfrm>
          <a:prstGeom prst="roundRect">
            <a:avLst/>
          </a:prstGeom>
          <a:solidFill>
            <a:srgbClr val="10171F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2651760"/>
            <a:ext cx="16002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FF9E18"/>
                </a:solidFill>
                <a:latin typeface="Aptos"/>
              </a:rPr>
              <a:t>Address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3246120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3630168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postalCode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46336" y="2331720"/>
            <a:ext cx="1783080" cy="2286000"/>
          </a:xfrm>
          <a:prstGeom prst="roundRect">
            <a:avLst/>
          </a:prstGeom>
          <a:solidFill>
            <a:srgbClr val="10171F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37776" y="2651760"/>
            <a:ext cx="16002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AE5EFF"/>
                </a:solidFill>
                <a:latin typeface="Aptos"/>
              </a:rPr>
              <a:t>Payment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9216" y="3246120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method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9216" y="3630168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5074920"/>
            <a:ext cx="5760720" cy="4572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3AD2DC"/>
                </a:solidFill>
                <a:latin typeface="Aptos"/>
              </a:rPr>
              <a:t>Keep the lesson connected to a recognizable application object.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Core characteristics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4709160" cy="507492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Document-oriented storage.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Flexible document structures for evolving requirements.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Rich query language and indexing.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Horizontal scalability and a broad developer ecosystem.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234440"/>
            <a:ext cx="6400800" cy="5074920"/>
          </a:xfrm>
          <a:prstGeom prst="roundRect">
            <a:avLst/>
          </a:prstGeom>
          <a:solidFill>
            <a:srgbClr val="0A0F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560" y="1645920"/>
            <a:ext cx="5760720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000" b="1">
                <a:solidFill>
                  <a:srgbClr val="FF9E18"/>
                </a:solidFill>
                <a:latin typeface="Aptos"/>
              </a:rPr>
              <a:t>Order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2331720"/>
            <a:ext cx="1783080" cy="2286000"/>
          </a:xfrm>
          <a:prstGeom prst="roundRect">
            <a:avLst/>
          </a:prstGeom>
          <a:solidFill>
            <a:srgbClr val="10171F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2651760"/>
            <a:ext cx="16002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3EAAFF"/>
                </a:solidFill>
                <a:latin typeface="Aptos"/>
              </a:rPr>
              <a:t>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3246120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orderId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3630168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014215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items[]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07808" y="2331720"/>
            <a:ext cx="1783080" cy="2286000"/>
          </a:xfrm>
          <a:prstGeom prst="roundRect">
            <a:avLst/>
          </a:prstGeom>
          <a:solidFill>
            <a:srgbClr val="10171F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2651760"/>
            <a:ext cx="16002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FF9E18"/>
                </a:solidFill>
                <a:latin typeface="Aptos"/>
              </a:rPr>
              <a:t>Address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3246120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3630168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postalCode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46336" y="2331720"/>
            <a:ext cx="1783080" cy="2286000"/>
          </a:xfrm>
          <a:prstGeom prst="roundRect">
            <a:avLst/>
          </a:prstGeom>
          <a:solidFill>
            <a:srgbClr val="10171F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37776" y="2651760"/>
            <a:ext cx="16002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AE5EFF"/>
                </a:solidFill>
                <a:latin typeface="Aptos"/>
              </a:rPr>
              <a:t>Payment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9216" y="3246120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method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9216" y="3630168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5074920"/>
            <a:ext cx="5760720" cy="4572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3AD2DC"/>
                </a:solidFill>
                <a:latin typeface="Aptos"/>
              </a:rPr>
              <a:t>Keep the lesson connected to a recognizable application object.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Where MongoDB is used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4709160" cy="507492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Order management systems.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Product catalogs and user profiles.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Event and log data.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Content, IoT, analytics, and other data-centric workloads.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234440"/>
            <a:ext cx="6400800" cy="5074920"/>
          </a:xfrm>
          <a:prstGeom prst="roundRect">
            <a:avLst/>
          </a:prstGeom>
          <a:solidFill>
            <a:srgbClr val="0A0F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560" y="1645920"/>
            <a:ext cx="5760720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000" b="1">
                <a:solidFill>
                  <a:srgbClr val="FF9E18"/>
                </a:solidFill>
                <a:latin typeface="Aptos"/>
              </a:rPr>
              <a:t>Order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2331720"/>
            <a:ext cx="1783080" cy="2286000"/>
          </a:xfrm>
          <a:prstGeom prst="roundRect">
            <a:avLst/>
          </a:prstGeom>
          <a:solidFill>
            <a:srgbClr val="10171F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2651760"/>
            <a:ext cx="16002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3EAAFF"/>
                </a:solidFill>
                <a:latin typeface="Aptos"/>
              </a:rPr>
              <a:t>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3246120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orderId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3630168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014215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items[]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07808" y="2331720"/>
            <a:ext cx="1783080" cy="2286000"/>
          </a:xfrm>
          <a:prstGeom prst="roundRect">
            <a:avLst/>
          </a:prstGeom>
          <a:solidFill>
            <a:srgbClr val="10171F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2651760"/>
            <a:ext cx="16002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FF9E18"/>
                </a:solidFill>
                <a:latin typeface="Aptos"/>
              </a:rPr>
              <a:t>Address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3246120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3630168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postalCode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46336" y="2331720"/>
            <a:ext cx="1783080" cy="2286000"/>
          </a:xfrm>
          <a:prstGeom prst="roundRect">
            <a:avLst/>
          </a:prstGeom>
          <a:solidFill>
            <a:srgbClr val="10171F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37776" y="2651760"/>
            <a:ext cx="16002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AE5EFF"/>
                </a:solidFill>
                <a:latin typeface="Aptos"/>
              </a:rPr>
              <a:t>Payment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9216" y="3246120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method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9216" y="3630168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5074920"/>
            <a:ext cx="5760720" cy="4572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3AD2DC"/>
                </a:solidFill>
                <a:latin typeface="Aptos"/>
              </a:rPr>
              <a:t>Keep the lesson connected to a recognizable application object.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A developer mental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4709160" cy="507492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Think in documents before thinking in commands.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Start from the application data and access pattern.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Use mongosh to explore the same concepts the application will use.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Later lessons go deeper into modeling, CRUD, queries, and production topics.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234440"/>
            <a:ext cx="6400800" cy="5074920"/>
          </a:xfrm>
          <a:prstGeom prst="roundRect">
            <a:avLst/>
          </a:prstGeom>
          <a:solidFill>
            <a:srgbClr val="0A0F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560" y="1645920"/>
            <a:ext cx="5760720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000" b="1">
                <a:solidFill>
                  <a:srgbClr val="FF9E18"/>
                </a:solidFill>
                <a:latin typeface="Aptos"/>
              </a:rPr>
              <a:t>Order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2331720"/>
            <a:ext cx="1783080" cy="2286000"/>
          </a:xfrm>
          <a:prstGeom prst="roundRect">
            <a:avLst/>
          </a:prstGeom>
          <a:solidFill>
            <a:srgbClr val="10171F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2651760"/>
            <a:ext cx="16002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3EAAFF"/>
                </a:solidFill>
                <a:latin typeface="Aptos"/>
              </a:rPr>
              <a:t>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3246120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orderId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3630168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014215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items[]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07808" y="2331720"/>
            <a:ext cx="1783080" cy="2286000"/>
          </a:xfrm>
          <a:prstGeom prst="roundRect">
            <a:avLst/>
          </a:prstGeom>
          <a:solidFill>
            <a:srgbClr val="10171F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2651760"/>
            <a:ext cx="16002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FF9E18"/>
                </a:solidFill>
                <a:latin typeface="Aptos"/>
              </a:rPr>
              <a:t>Address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3246120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3630168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postalCode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46336" y="2331720"/>
            <a:ext cx="1783080" cy="2286000"/>
          </a:xfrm>
          <a:prstGeom prst="roundRect">
            <a:avLst/>
          </a:prstGeom>
          <a:solidFill>
            <a:srgbClr val="10171F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37776" y="2651760"/>
            <a:ext cx="16002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AE5EFF"/>
                </a:solidFill>
                <a:latin typeface="Aptos"/>
              </a:rPr>
              <a:t>Payment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9216" y="3246120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method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9216" y="3630168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5074920"/>
            <a:ext cx="5760720" cy="4572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3AD2DC"/>
                </a:solidFill>
                <a:latin typeface="Aptos"/>
              </a:rPr>
              <a:t>Keep the lesson connected to a recognizable application object.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Hands-on: first document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4709160" cy="507492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Connect with mongosh.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Choose the application database.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Insert one order document.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Read the document back and inspect its shape.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234440"/>
            <a:ext cx="6400800" cy="5074920"/>
          </a:xfrm>
          <a:prstGeom prst="roundRect">
            <a:avLst/>
          </a:prstGeom>
          <a:solidFill>
            <a:srgbClr val="0A0F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23560" y="1600200"/>
            <a:ext cx="5852160" cy="3749039"/>
          </a:xfrm>
          <a:prstGeom prst="roundRect">
            <a:avLst/>
          </a:prstGeom>
          <a:solidFill>
            <a:srgbClr val="0A10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33288" y="1691640"/>
            <a:ext cx="5632704" cy="256032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1400" b="1">
                <a:solidFill>
                  <a:srgbClr val="3AD2DC"/>
                </a:solidFill>
                <a:latin typeface="Aptos"/>
              </a:rPr>
              <a:t>mongosh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33288" y="1984248"/>
            <a:ext cx="5632704" cy="3291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6F7F9"/>
                </a:solidFill>
                <a:latin typeface="Consolas"/>
              </a:rPr>
              <a:t>use orderdb
db.orders.insertOne({
  orderId: "ORD-1001",
  status: "CONFIRMED",
  shippingAddress: { city: "Chennai" },
  items: [{ sku: "KB-101", qty: 2, price: 1499.00 }]
})
db.orders.findOne({ orderId: "ORD-1001" })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5486400"/>
            <a:ext cx="5669280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3AD2DC"/>
                </a:solidFill>
                <a:latin typeface="Aptos"/>
              </a:rPr>
              <a:t>Run the demo, then change one value and rerun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What to remember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4709160" cy="507492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MongoDB is a document-oriented database.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A document can model a useful business object directly.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Flexibility does not remove the need for design.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Keep the application problem at the center of the model.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234440"/>
            <a:ext cx="6400800" cy="5074920"/>
          </a:xfrm>
          <a:prstGeom prst="roundRect">
            <a:avLst/>
          </a:prstGeom>
          <a:solidFill>
            <a:srgbClr val="0A0F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560" y="1645920"/>
            <a:ext cx="5760720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000" b="1">
                <a:solidFill>
                  <a:srgbClr val="FF9E18"/>
                </a:solidFill>
                <a:latin typeface="Aptos"/>
              </a:rPr>
              <a:t>Order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2331720"/>
            <a:ext cx="1783080" cy="2286000"/>
          </a:xfrm>
          <a:prstGeom prst="roundRect">
            <a:avLst/>
          </a:prstGeom>
          <a:solidFill>
            <a:srgbClr val="10171F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2651760"/>
            <a:ext cx="16002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3EAAFF"/>
                </a:solidFill>
                <a:latin typeface="Aptos"/>
              </a:rPr>
              <a:t>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3246120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orderId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3630168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014215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items[]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07808" y="2331720"/>
            <a:ext cx="1783080" cy="2286000"/>
          </a:xfrm>
          <a:prstGeom prst="roundRect">
            <a:avLst/>
          </a:prstGeom>
          <a:solidFill>
            <a:srgbClr val="10171F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2651760"/>
            <a:ext cx="16002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FF9E18"/>
                </a:solidFill>
                <a:latin typeface="Aptos"/>
              </a:rPr>
              <a:t>Address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3246120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3630168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postalCode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46336" y="2331720"/>
            <a:ext cx="1783080" cy="2286000"/>
          </a:xfrm>
          <a:prstGeom prst="roundRect">
            <a:avLst/>
          </a:prstGeom>
          <a:solidFill>
            <a:srgbClr val="10171F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37776" y="2651760"/>
            <a:ext cx="16002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AE5EFF"/>
                </a:solidFill>
                <a:latin typeface="Aptos"/>
              </a:rPr>
              <a:t>Payment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9216" y="3246120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method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9216" y="3630168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5074920"/>
            <a:ext cx="5760720" cy="4572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3AD2DC"/>
                </a:solidFill>
                <a:latin typeface="Aptos"/>
              </a:rPr>
              <a:t>Keep the lesson connected to a recognizable application object.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Next step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4709160" cy="507492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Move from “what is MongoDB?” into its document-oriented characteristics.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See how document structure differs from relational thinking.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Continue with the same Order Management example.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234440"/>
            <a:ext cx="6400800" cy="5074920"/>
          </a:xfrm>
          <a:prstGeom prst="roundRect">
            <a:avLst/>
          </a:prstGeom>
          <a:solidFill>
            <a:srgbClr val="0A0F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560" y="1645920"/>
            <a:ext cx="5760720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000" b="1">
                <a:solidFill>
                  <a:srgbClr val="FF9E18"/>
                </a:solidFill>
                <a:latin typeface="Aptos"/>
              </a:rPr>
              <a:t>Order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2331720"/>
            <a:ext cx="1783080" cy="2286000"/>
          </a:xfrm>
          <a:prstGeom prst="roundRect">
            <a:avLst/>
          </a:prstGeom>
          <a:solidFill>
            <a:srgbClr val="10171F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2651760"/>
            <a:ext cx="16002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3EAAFF"/>
                </a:solidFill>
                <a:latin typeface="Aptos"/>
              </a:rPr>
              <a:t>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3246120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orderId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3630168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014215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items[]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07808" y="2331720"/>
            <a:ext cx="1783080" cy="2286000"/>
          </a:xfrm>
          <a:prstGeom prst="roundRect">
            <a:avLst/>
          </a:prstGeom>
          <a:solidFill>
            <a:srgbClr val="10171F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2651760"/>
            <a:ext cx="16002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FF9E18"/>
                </a:solidFill>
                <a:latin typeface="Aptos"/>
              </a:rPr>
              <a:t>Address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3246120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3630168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postalCode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46336" y="2331720"/>
            <a:ext cx="1783080" cy="2286000"/>
          </a:xfrm>
          <a:prstGeom prst="roundRect">
            <a:avLst/>
          </a:prstGeom>
          <a:solidFill>
            <a:srgbClr val="10171F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37776" y="2651760"/>
            <a:ext cx="16002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AE5EFF"/>
                </a:solidFill>
                <a:latin typeface="Aptos"/>
              </a:rPr>
              <a:t>Payment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9216" y="3246120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method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9216" y="3630168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5074920"/>
            <a:ext cx="5760720" cy="4572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3AD2DC"/>
                </a:solidFill>
                <a:latin typeface="Aptos"/>
              </a:rPr>
              <a:t>Keep the lesson connected to a recognizable application object.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3000" b="1">
                <a:solidFill>
                  <a:srgbClr val="F6F7F9"/>
                </a:solidFill>
                <a:latin typeface="Aptos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27080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0">
                <a:solidFill>
                  <a:srgbClr val="B9C0C9"/>
                </a:solidFill>
                <a:latin typeface="Aptos"/>
              </a:rPr>
              <a:t>Understand MongoDB as a document database and see how it fits an application through a real Order Management example.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2240280" cy="3108960"/>
          </a:xfrm>
          <a:prstGeom prst="roundRect">
            <a:avLst/>
          </a:prstGeom>
          <a:solidFill>
            <a:srgbClr val="0E141B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057400"/>
            <a:ext cx="20574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900" b="1">
                <a:solidFill>
                  <a:srgbClr val="3EAAFF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43200"/>
            <a:ext cx="1874519" cy="1371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700" b="1">
                <a:solidFill>
                  <a:srgbClr val="F6F7F9"/>
                </a:solidFill>
                <a:latin typeface="Aptos"/>
              </a:rPr>
              <a:t>Understand what MongoDB is and when to use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39" y="1828800"/>
            <a:ext cx="2240280" cy="3108960"/>
          </a:xfrm>
          <a:prstGeom prst="roundRect">
            <a:avLst/>
          </a:prstGeom>
          <a:solidFill>
            <a:srgbClr val="0E141B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79" y="2057400"/>
            <a:ext cx="20574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900" b="1">
                <a:solidFill>
                  <a:srgbClr val="FF9E18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743200"/>
            <a:ext cx="1874519" cy="1371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700" b="1">
                <a:solidFill>
                  <a:srgbClr val="F6F7F9"/>
                </a:solidFill>
                <a:latin typeface="Aptos"/>
              </a:rPr>
              <a:t>See how data is stored as flexible documents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59" y="1828800"/>
            <a:ext cx="2240280" cy="3108960"/>
          </a:xfrm>
          <a:prstGeom prst="roundRect">
            <a:avLst/>
          </a:prstGeom>
          <a:solidFill>
            <a:srgbClr val="0E141B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799" y="2057400"/>
            <a:ext cx="20574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900" b="1">
                <a:solidFill>
                  <a:srgbClr val="AE5EFF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2743200"/>
            <a:ext cx="1874519" cy="1371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700" b="1">
                <a:solidFill>
                  <a:srgbClr val="F6F7F9"/>
                </a:solidFill>
                <a:latin typeface="Aptos"/>
              </a:rPr>
              <a:t>Connect the model to an Order Management application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828800"/>
            <a:ext cx="2240280" cy="3108960"/>
          </a:xfrm>
          <a:prstGeom prst="roundRect">
            <a:avLst/>
          </a:prstGeom>
          <a:solidFill>
            <a:srgbClr val="0E141B"/>
          </a:solidFill>
          <a:ln w="19050">
            <a:solidFill>
              <a:srgbClr val="3A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19" y="2057400"/>
            <a:ext cx="20574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900" b="1">
                <a:solidFill>
                  <a:srgbClr val="3AD2DC"/>
                </a:solidFill>
                <a:latin typeface="Apto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59" y="2743200"/>
            <a:ext cx="1874519" cy="1371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700" b="1">
                <a:solidFill>
                  <a:srgbClr val="F6F7F9"/>
                </a:solidFill>
                <a:latin typeface="Aptos"/>
              </a:rPr>
              <a:t>Recognize core characteristics and common use cases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29800" y="1828800"/>
            <a:ext cx="2240280" cy="3108960"/>
          </a:xfrm>
          <a:prstGeom prst="roundRect">
            <a:avLst/>
          </a:prstGeom>
          <a:solidFill>
            <a:srgbClr val="0E141B"/>
          </a:solidFill>
          <a:ln w="19050">
            <a:solidFill>
              <a:srgbClr val="E95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21240" y="2057400"/>
            <a:ext cx="20574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900" b="1">
                <a:solidFill>
                  <a:srgbClr val="E9502D"/>
                </a:solidFill>
                <a:latin typeface="Apto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2743200"/>
            <a:ext cx="1874519" cy="1371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700" b="1">
                <a:solidFill>
                  <a:srgbClr val="F6F7F9"/>
                </a:solidFill>
                <a:latin typeface="Aptos"/>
              </a:rPr>
              <a:t>Run a small mongosh example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532120"/>
            <a:ext cx="10881360" cy="5486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000" b="1">
                <a:solidFill>
                  <a:srgbClr val="FF9E18"/>
                </a:solidFill>
                <a:latin typeface="Aptos"/>
              </a:rPr>
              <a:t>One concept at a time • one real example • repeat the practice loop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