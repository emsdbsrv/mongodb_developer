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6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155680" cy="6858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MongoDB + Clients: 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06424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700" b="0">
                <a:solidFill>
                  <a:srgbClr val="B9C0C9"/>
                </a:solidFill>
                <a:latin typeface="Aptos"/>
              </a:rPr>
              <a:t>See how applications, mongosh, Compass, drivers, and MongoDB fit together as one client-to-database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691640"/>
            <a:ext cx="54406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755648"/>
            <a:ext cx="52212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In this lesson, you will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Identify different MongoDB clients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Understand the client-to-server communication path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See how the same data is accessed through different interfaces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Connect client choice to developer workflow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Build a clear MongoDB architecture mental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691640"/>
            <a:ext cx="5669280" cy="452628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0488" y="1755648"/>
            <a:ext cx="5449824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800" b="1">
                <a:solidFill>
                  <a:srgbClr val="FF9E18"/>
                </a:solidFill>
                <a:latin typeface="Aptos"/>
              </a:rPr>
              <a:t>Running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48840"/>
            <a:ext cx="512064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2400" b="1">
                <a:solidFill>
                  <a:srgbClr val="FF9E18"/>
                </a:solidFill>
                <a:latin typeface="Aptos"/>
              </a:rPr>
              <a:t>Order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51760"/>
            <a:ext cx="475488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1417320" cy="914400"/>
          </a:xfrm>
          <a:prstGeom prst="roundRect">
            <a:avLst/>
          </a:prstGeom>
          <a:solidFill>
            <a:srgbClr val="10253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Application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46120"/>
            <a:ext cx="1417320" cy="914400"/>
          </a:xfrm>
          <a:prstGeom prst="roundRect">
            <a:avLst/>
          </a:prstGeom>
          <a:solidFill>
            <a:srgbClr val="39230D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3246120"/>
            <a:ext cx="1417320" cy="914400"/>
          </a:xfrm>
          <a:prstGeom prst="roundRect">
            <a:avLst/>
          </a:prstGeom>
          <a:solidFill>
            <a:srgbClr val="201835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3520440"/>
            <a:ext cx="1143000" cy="36576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6F7F9"/>
                </a:solidFill>
                <a:latin typeface="Aptos"/>
              </a:rP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686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0">
                <a:solidFill>
                  <a:srgbClr val="B9C0C9"/>
                </a:solidFill>
                <a:latin typeface="Aptos"/>
              </a:rPr>
              <a:t>The lesson keeps the data shape connected to a real developer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Different clients, one data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Applications use drivers.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Developers can use mongosh.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Teams can inspect data with Compass.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Managed environments can be accessed through the same client concepts.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The communication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User interacts with an application.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application uses a MongoDB driver.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driver communicates with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executes the operation and returns the result.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The same data through different clients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shell query can inspect an order.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Compass can visually inspect the same collection.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language driver can read the same document for an application screen.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Different interfaces do not create different MongoDB data models.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Choosing the right client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the shell for direct exploration.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Compass for visual inspection and management tasks.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drivers for application behavior.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import and integration tools when moving or connecting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Order Management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 receives an order request.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Driver sends the operation to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MongoDB stores or retrieves the document.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result returns to the application.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The developer can use mongosh or Compass to inspect the same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Troubleshooting the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Ask which client issued the operation.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Check the connection between client and MongoDB.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Separate application logic from database behavior.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Use the shell or Compass to inspect the data independently when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Hands-on: follow one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Insert an order from mongosh.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Query the collection.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Trace where a driver would sit in an application.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Identify where MongoDB processes the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23560" y="1600200"/>
            <a:ext cx="5852160" cy="3749039"/>
          </a:xfrm>
          <a:prstGeom prst="roundRect">
            <a:avLst/>
          </a:prstGeom>
          <a:solidFill>
            <a:srgbClr val="0A10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691640"/>
            <a:ext cx="5632704" cy="256032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14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1984248"/>
            <a:ext cx="5632704" cy="3291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6F7F9"/>
                </a:solidFill>
                <a:latin typeface="Consolas"/>
              </a:rPr>
              <a:t>use orderdb
db.orders.insertOne({
  orderId: "ORD-1001",
  status: "CONFIRMED",
  shippingAddress: { city: "Chennai" },
  items: [{ sku: "KB-101", qty: 2, price: 1499.00 }]
})
db.orders.findOne({ orderId: "ORD-1001" 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5486400"/>
            <a:ext cx="56692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800" b="1">
                <a:solidFill>
                  <a:srgbClr val="3AD2DC"/>
                </a:solidFill>
                <a:latin typeface="Aptos"/>
              </a:rPr>
              <a:t>Run the demo, then change one value and rerun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What to remember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Client is the access path; MongoDB is the data service.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Applications usually use drivers.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Developers often use shell and visual tools.</a:t>
            </a:r>
          </a:p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A clear client-to-server mental model helps development and troubleshooting.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l"/>
            <a:r>
              <a:rPr sz="3000" b="1">
                <a:solidFill>
                  <a:srgbClr val="F6F7F9"/>
                </a:solidFill>
                <a:latin typeface="Aptos"/>
              </a:rPr>
              <a:t>Next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234440"/>
            <a:ext cx="4709160" cy="5074920"/>
          </a:xfrm>
          <a:prstGeom prst="roundRect">
            <a:avLst/>
          </a:prstGeom>
          <a:solidFill>
            <a:srgbClr val="0F141A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F6F7F9"/>
                </a:solidFill>
                <a:latin typeface="Aptos"/>
              </a:defRPr>
            </a:pPr>
            <a:r>
              <a:t>Finish the foundations with the complete developer learning path and expectations.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234440"/>
            <a:ext cx="6400800" cy="5074920"/>
          </a:xfrm>
          <a:prstGeom prst="roundRect">
            <a:avLst/>
          </a:prstGeom>
          <a:solidFill>
            <a:srgbClr val="0A0F16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18120" y="4297680"/>
            <a:ext cx="2103120" cy="960120"/>
          </a:xfrm>
          <a:prstGeom prst="roundRect">
            <a:avLst/>
          </a:prstGeom>
          <a:solidFill>
            <a:srgbClr val="142027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73568" y="4572000"/>
            <a:ext cx="178308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200" b="1">
                <a:solidFill>
                  <a:srgbClr val="F6F7F9"/>
                </a:solidFill>
                <a:latin typeface="Aptos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EAAFF"/>
                </a:solidFill>
                <a:latin typeface="Aptos"/>
              </a:rP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3AD2DC"/>
                </a:solidFill>
                <a:latin typeface="Aptos"/>
              </a:rPr>
              <a:t>mongosh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12680" y="192024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04119" y="2176272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AE5EFF"/>
                </a:solidFill>
                <a:latin typeface="Aptos"/>
              </a:rPr>
              <a:t>Compass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FF9E18"/>
                </a:solidFill>
                <a:latin typeface="Aptos"/>
              </a:rPr>
              <a:t>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12680" y="3108960"/>
            <a:ext cx="1828800" cy="822960"/>
          </a:xfrm>
          <a:prstGeom prst="roundRect">
            <a:avLst/>
          </a:prstGeom>
          <a:solidFill>
            <a:srgbClr val="10161C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19" y="3364991"/>
            <a:ext cx="1645920" cy="228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1">
                <a:solidFill>
                  <a:srgbClr val="E9502D"/>
                </a:solidFill>
                <a:latin typeface="Aptos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486400"/>
            <a:ext cx="5760720" cy="4572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Clients connect to the same MongoDB data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201400" cy="6400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3000" b="1">
                <a:solidFill>
                  <a:srgbClr val="F6F7F9"/>
                </a:solidFill>
                <a:latin typeface="Aptos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927080" cy="41148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600" b="0">
                <a:solidFill>
                  <a:srgbClr val="B9C0C9"/>
                </a:solidFill>
                <a:latin typeface="Aptos"/>
              </a:rPr>
              <a:t>See how applications, mongosh, Compass, drivers, and MongoDB fit together as one client-to-database 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E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EAA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Identify different MongoDB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3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FF9E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7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FF9E1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Understand the client-to-server communication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5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AE5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79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AE5EFF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See how the same data is accessed through different interfaces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3A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3AD2DC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59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Connect client choice to developer workflow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1828800"/>
            <a:ext cx="2240280" cy="3108960"/>
          </a:xfrm>
          <a:prstGeom prst="roundRect">
            <a:avLst/>
          </a:prstGeom>
          <a:solidFill>
            <a:srgbClr val="0E141B"/>
          </a:solidFill>
          <a:ln w="19050">
            <a:solidFill>
              <a:srgbClr val="E95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057400"/>
            <a:ext cx="2057400" cy="3200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900" b="1">
                <a:solidFill>
                  <a:srgbClr val="E9502D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2743200"/>
            <a:ext cx="1874519" cy="137160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1700" b="1">
                <a:solidFill>
                  <a:srgbClr val="F6F7F9"/>
                </a:solidFill>
                <a:latin typeface="Aptos"/>
              </a:rPr>
              <a:t>Build a clear MongoDB architecture mental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none" lIns="54864" rIns="54864">
            <a:spAutoFit/>
          </a:bodyPr>
          <a:lstStyle/>
          <a:p>
            <a:pPr algn="ctr"/>
            <a:r>
              <a:rPr sz="2000" b="1">
                <a:solidFill>
                  <a:srgbClr val="FF9E18"/>
                </a:solidFill>
                <a:latin typeface="Aptos"/>
              </a:rPr>
              <a:t>One concept at a time • one real example • repeat the practice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