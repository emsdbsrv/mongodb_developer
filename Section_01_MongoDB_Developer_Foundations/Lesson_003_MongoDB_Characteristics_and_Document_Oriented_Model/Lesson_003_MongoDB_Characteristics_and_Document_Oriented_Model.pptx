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3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155680" cy="6858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MongoDB Characteristics and Document-Oriented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064240" cy="5486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700" b="0">
                <a:solidFill>
                  <a:srgbClr val="B9C0C9"/>
                </a:solidFill>
                <a:latin typeface="Aptos"/>
              </a:rPr>
              <a:t>Learn the characteristics that define MongoDB and how document-oriented thinking shapes application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5440680" cy="452628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755648"/>
            <a:ext cx="5221224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800" b="1">
                <a:solidFill>
                  <a:srgbClr val="FF9E18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Recognize the core characteristics of MongoDB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Understand the document-oriented model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Compare relational and document thinking at a high level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See nested data and arrays in a document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Connect data shape to application access 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91640"/>
            <a:ext cx="5669280" cy="452628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1755648"/>
            <a:ext cx="5449824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800" b="1">
                <a:solidFill>
                  <a:srgbClr val="FF9E18"/>
                </a:solidFill>
                <a:latin typeface="Aptos"/>
              </a:rPr>
              <a:t>Running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512064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24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51760"/>
            <a:ext cx="475488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200" b="1">
                <a:solidFill>
                  <a:srgbClr val="F6F7F9"/>
                </a:solidFill>
                <a:latin typeface="Aptos"/>
              </a:rPr>
              <a:t>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246120"/>
            <a:ext cx="1417320" cy="914400"/>
          </a:xfrm>
          <a:prstGeom prst="roundRect">
            <a:avLst/>
          </a:prstGeom>
          <a:solidFill>
            <a:srgbClr val="10253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246120"/>
            <a:ext cx="1417320" cy="914400"/>
          </a:xfrm>
          <a:prstGeom prst="roundRect">
            <a:avLst/>
          </a:prstGeom>
          <a:solidFill>
            <a:srgbClr val="39230D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3246120"/>
            <a:ext cx="1417320" cy="914400"/>
          </a:xfrm>
          <a:prstGeom prst="roundRect">
            <a:avLst/>
          </a:prstGeom>
          <a:solidFill>
            <a:srgbClr val="201835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5120640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0">
                <a:solidFill>
                  <a:srgbClr val="B9C0C9"/>
                </a:solidFill>
                <a:latin typeface="Aptos"/>
              </a:rPr>
              <a:t>The lesson keeps the data shape connected to a real developer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Document-oriented by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MongoDB organizes data around documents inside collections.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 document represents related application data.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Documents can contain nested objects and arrays.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This structure can map naturally to application objects.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645920"/>
            <a:ext cx="576072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EAAFF"/>
                </a:solidFill>
                <a:latin typeface="Aptos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orderId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14215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items[]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FF9E18"/>
                </a:solidFill>
                <a:latin typeface="Aptos"/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postalCode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6336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AE5EFF"/>
                </a:solidFill>
                <a:latin typeface="Aptos"/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07492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Keep the lesson connected to a recognizable application object.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A real Order document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order is represented as one document with related business fields.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shippingAddress is nested inside the order.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items is an array of embedded item objects.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structure follows the business object rather than a flat 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645920"/>
            <a:ext cx="576072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EAAFF"/>
                </a:solidFill>
                <a:latin typeface="Aptos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orderId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14215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items[]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FF9E18"/>
                </a:solidFill>
                <a:latin typeface="Aptos"/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postalCode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6336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AE5EFF"/>
                </a:solidFill>
                <a:latin typeface="Aptos"/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07492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Keep the lesson connected to a recognizable application object.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Relational thinking vs document thinking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Relational systems organize data primarily through tables, rows, and relationships.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MongoDB organizes data through documents and collections.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Related information can be represented together inside a document.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important shift is how related data is modeled for application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0" y="1600200"/>
            <a:ext cx="210312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EAAFF"/>
                </a:solidFill>
                <a:latin typeface="Aptos"/>
              </a:rPr>
              <a:t>TABLE /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600200"/>
            <a:ext cx="210312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FF9E18"/>
                </a:solidFill>
                <a:latin typeface="Aptos"/>
              </a:rPr>
              <a:t>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240280"/>
            <a:ext cx="2423160" cy="566928"/>
          </a:xfrm>
          <a:prstGeom prst="roundRect">
            <a:avLst/>
          </a:prstGeom>
          <a:solidFill>
            <a:srgbClr val="0F1D2A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2377440"/>
            <a:ext cx="224028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400" b="1">
                <a:solidFill>
                  <a:srgbClr val="F6F7F9"/>
                </a:solidFill>
                <a:latin typeface="Aptos"/>
              </a:rPr>
              <a:t>order header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3063240"/>
            <a:ext cx="2423160" cy="566928"/>
          </a:xfrm>
          <a:prstGeom prst="roundRect">
            <a:avLst/>
          </a:prstGeom>
          <a:solidFill>
            <a:srgbClr val="0F1D2A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3200400"/>
            <a:ext cx="224028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400" b="1">
                <a:solidFill>
                  <a:srgbClr val="F6F7F9"/>
                </a:solidFill>
                <a:latin typeface="Aptos"/>
              </a:rPr>
              <a:t>items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886200"/>
            <a:ext cx="2423160" cy="566928"/>
          </a:xfrm>
          <a:prstGeom prst="roundRect">
            <a:avLst/>
          </a:prstGeom>
          <a:solidFill>
            <a:srgbClr val="0F1D2A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4023360"/>
            <a:ext cx="224028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400" b="1">
                <a:solidFill>
                  <a:srgbClr val="F6F7F9"/>
                </a:solidFill>
                <a:latin typeface="Aptos"/>
              </a:rPr>
              <a:t>shipping 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4709160"/>
            <a:ext cx="2423160" cy="566928"/>
          </a:xfrm>
          <a:prstGeom prst="roundRect">
            <a:avLst/>
          </a:prstGeom>
          <a:solidFill>
            <a:srgbClr val="0F1D2A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4846320"/>
            <a:ext cx="224028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400" b="1">
                <a:solidFill>
                  <a:srgbClr val="F6F7F9"/>
                </a:solidFill>
                <a:latin typeface="Aptos"/>
              </a:rPr>
              <a:t>payment row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2148840"/>
            <a:ext cx="2743200" cy="2743200"/>
          </a:xfrm>
          <a:prstGeom prst="roundRect">
            <a:avLst/>
          </a:prstGeom>
          <a:solidFill>
            <a:srgbClr val="291A0C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2423160"/>
            <a:ext cx="22860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FF9E18"/>
                </a:solidFill>
                <a:latin typeface="Aptos"/>
              </a:rPr>
              <a:t>One Order Document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2971800"/>
            <a:ext cx="2194560" cy="347472"/>
          </a:xfrm>
          <a:prstGeom prst="roundRect">
            <a:avLst/>
          </a:prstGeom>
          <a:solidFill>
            <a:srgbClr val="111B24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3044952"/>
            <a:ext cx="2011680" cy="16459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orderId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3429000"/>
            <a:ext cx="2194560" cy="347472"/>
          </a:xfrm>
          <a:prstGeom prst="roundRect">
            <a:avLst/>
          </a:prstGeom>
          <a:solidFill>
            <a:srgbClr val="111B24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3502152"/>
            <a:ext cx="2011680" cy="16459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shippingAddress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3886200"/>
            <a:ext cx="2194560" cy="347472"/>
          </a:xfrm>
          <a:prstGeom prst="roundRect">
            <a:avLst/>
          </a:prstGeom>
          <a:solidFill>
            <a:srgbClr val="111B24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3959352"/>
            <a:ext cx="2011680" cy="16459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items[]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4343400"/>
            <a:ext cx="2194560" cy="347472"/>
          </a:xfrm>
          <a:prstGeom prst="roundRect">
            <a:avLst/>
          </a:prstGeom>
          <a:solidFill>
            <a:srgbClr val="111B24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4416552"/>
            <a:ext cx="2011680" cy="16459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payment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5486400"/>
            <a:ext cx="571500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The modeling shift is about how related data is represented.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Flexible does not mean unplanned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Documents can contain different fields when application requirements evolve.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Nested structures and arrays support richer document shapes.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Schema design still matters.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Flexibility means the model can evolve; it does not mean “no design.”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645920"/>
            <a:ext cx="576072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EAAFF"/>
                </a:solidFill>
                <a:latin typeface="Aptos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orderId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14215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items[]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FF9E18"/>
                </a:solidFill>
                <a:latin typeface="Aptos"/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postalCode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6336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AE5EFF"/>
                </a:solidFill>
                <a:latin typeface="Aptos"/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07492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Keep the lesson connected to a recognizable application object.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Why developers care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Model around how the application reads and writes data.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Keep information together when the application needs it together.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Avoid unnecessary complexity in common access paths.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Treat the document model as a foundation for later data modeling.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645920"/>
            <a:ext cx="576072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EAAFF"/>
                </a:solidFill>
                <a:latin typeface="Aptos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orderId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14215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items[]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FF9E18"/>
                </a:solidFill>
                <a:latin typeface="Aptos"/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postalCode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6336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AE5EFF"/>
                </a:solidFill>
                <a:latin typeface="Aptos"/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07492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Keep the lesson connected to a recognizable application object.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Developer checklist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What is the business object?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Which fields belong together?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Which related values are naturally nested?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How will the application read and update the data?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645920"/>
            <a:ext cx="576072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EAAFF"/>
                </a:solidFill>
                <a:latin typeface="Aptos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orderId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14215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items[]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FF9E18"/>
                </a:solidFill>
                <a:latin typeface="Aptos"/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postalCode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6336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AE5EFF"/>
                </a:solidFill>
                <a:latin typeface="Aptos"/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07492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Keep the lesson connected to a recognizable application object.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Hands-on: inspect the document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Use mongosh to create an order document.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Query the order document.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Read a nested shippingAddress field.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Query an embedded item field to connect structure with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23560" y="1600200"/>
            <a:ext cx="5852160" cy="3749039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33288" y="1691640"/>
            <a:ext cx="5632704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1984248"/>
            <a:ext cx="5632704" cy="3291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use orderdb
db.orders.insertOne({
  orderId: "ORD-1001",
  status: "CONFIRMED",
  shippingAddress: { city: "Chennai" },
  items: [{ sku: "KB-101", qty: 2, price: 1499.00 }]
})
db.orders.findOne({ orderId: "ORD-1001" 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5486400"/>
            <a:ext cx="566928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Run the demo, then change one value and rerun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What to remember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MongoDB is document-oriented.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Nested data and arrays are first-class parts of the document model.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Flexibility and good design work together.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Application access patterns should guide document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645920"/>
            <a:ext cx="576072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EAAFF"/>
                </a:solidFill>
                <a:latin typeface="Aptos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orderId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14215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items[]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FF9E18"/>
                </a:solidFill>
                <a:latin typeface="Aptos"/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postalCode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6336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AE5EFF"/>
                </a:solidFill>
                <a:latin typeface="Aptos"/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07492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Keep the lesson connected to a recognizable application object.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Next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Move from the document model to the MongoDB ecosystem.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See the server, shell, drivers, Compass, and import tooling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645920"/>
            <a:ext cx="576072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EAAFF"/>
                </a:solidFill>
                <a:latin typeface="Aptos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orderId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014215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items[]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FF9E18"/>
                </a:solidFill>
                <a:latin typeface="Aptos"/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postalCode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6336" y="2331720"/>
            <a:ext cx="1783080" cy="2286000"/>
          </a:xfrm>
          <a:prstGeom prst="roundRect">
            <a:avLst/>
          </a:prstGeom>
          <a:solidFill>
            <a:srgbClr val="10171F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2651760"/>
            <a:ext cx="16002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AE5EFF"/>
                </a:solidFill>
                <a:latin typeface="Aptos"/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46120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3630168"/>
            <a:ext cx="14173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300" b="0">
                <a:solidFill>
                  <a:srgbClr val="F6F7F9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07492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Keep the lesson connected to a recognizable application object.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3000" b="1">
                <a:solidFill>
                  <a:srgbClr val="F6F7F9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2708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0">
                <a:solidFill>
                  <a:srgbClr val="B9C0C9"/>
                </a:solidFill>
                <a:latin typeface="Aptos"/>
              </a:rPr>
              <a:t>Learn the characteristics that define MongoDB and how document-oriented thinking shapes application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EAA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Recognize the core characteristics of MongoDB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7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FF9E18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Understand the document-oriented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79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AE5EF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Compare relational and document thinking at a high level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AD2DC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See nested data and arrays in a document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E9502D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Connect data shape to application access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One concept at a time • one real example • repeat the practice 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