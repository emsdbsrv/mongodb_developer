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48640"/>
            <a:ext cx="960120" cy="91440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0972800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100" b="1">
                <a:solidFill>
                  <a:srgbClr val="F5F8F6"/>
                </a:solidFill>
                <a:latin typeface="Aptos"/>
              </a:rPr>
              <a:t>Lesson 038 — Schema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078992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AFBAB5"/>
                </a:solidFill>
                <a:latin typeface="Aptos"/>
              </a:rPr>
              <a:t>Use MongoDB schema rules to keep documents aligned with the intended application shape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2578608" cy="2103120"/>
          </a:xfrm>
          <a:prstGeom prst="roundRect">
            <a:avLst/>
          </a:prstGeom>
          <a:solidFill>
            <a:srgbClr val="081E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6112" y="2624328"/>
            <a:ext cx="20574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660904"/>
            <a:ext cx="19842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SHAPE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46120"/>
            <a:ext cx="2212848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50" b="1">
                <a:solidFill>
                  <a:srgbClr val="F5F8F6"/>
                </a:solidFill>
                <a:latin typeface="Aptos"/>
              </a:rPr>
              <a:t>What fields should exist?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2331720"/>
            <a:ext cx="2578608" cy="2103120"/>
          </a:xfrm>
          <a:prstGeom prst="roundRect">
            <a:avLst/>
          </a:prstGeom>
          <a:solidFill>
            <a:srgbClr val="081E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12464" y="2624328"/>
            <a:ext cx="20574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40" y="2660904"/>
            <a:ext cx="19842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3246120"/>
            <a:ext cx="2212848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50" b="1">
                <a:solidFill>
                  <a:srgbClr val="F5F8F6"/>
                </a:solidFill>
                <a:latin typeface="Aptos"/>
              </a:rPr>
              <a:t>What data type is valid?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2331720"/>
            <a:ext cx="2578608" cy="2103120"/>
          </a:xfrm>
          <a:prstGeom prst="roundRect">
            <a:avLst/>
          </a:prstGeom>
          <a:solidFill>
            <a:srgbClr val="081E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28816" y="2624328"/>
            <a:ext cx="20574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5392" y="2660904"/>
            <a:ext cx="19842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3246120"/>
            <a:ext cx="2212848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50" b="1">
                <a:solidFill>
                  <a:srgbClr val="F5F8F6"/>
                </a:solidFill>
                <a:latin typeface="Aptos"/>
              </a:rPr>
              <a:t>What must be present?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89136" y="2331720"/>
            <a:ext cx="2578608" cy="2103120"/>
          </a:xfrm>
          <a:prstGeom prst="roundRect">
            <a:avLst/>
          </a:prstGeom>
          <a:solidFill>
            <a:srgbClr val="081E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345167" y="2624328"/>
            <a:ext cx="20574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81743" y="2660904"/>
            <a:ext cx="19842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1743" y="3410712"/>
            <a:ext cx="2103120" cy="5693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1">
                <a:solidFill>
                  <a:srgbClr val="F5F8F6"/>
                </a:solidFill>
                <a:latin typeface="Aptos"/>
              </a:rPr>
              <a:t>What happens when data breaks?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74920"/>
            <a:ext cx="1069848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0">
                <a:solidFill>
                  <a:srgbClr val="AFBAB5"/>
                </a:solidFill>
                <a:latin typeface="Aptos"/>
              </a:rPr>
              <a:t>Example throughout: Avi • Bangalore, RR Nagar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0642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Why Validate a Document?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27632"/>
            <a:ext cx="5257800" cy="448056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112" y="1920240"/>
            <a:ext cx="18288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956816"/>
            <a:ext cx="17556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WITHOUT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4434840" cy="2423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Avi's email may arrive with the wrong type.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A phone list can become a string by mistake.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Required fields may be missing.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Different document shapes can accumulate silently.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27632"/>
            <a:ext cx="5394960" cy="448056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28232" y="1920240"/>
            <a:ext cx="155448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8" y="1956816"/>
            <a:ext cx="148132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WITH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606040"/>
            <a:ext cx="4572000" cy="2423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Define the expected shape.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Define expected BSON types.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Require important fields.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Choose how MongoDB reacts to invalid documents.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5257800"/>
            <a:ext cx="45720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Validation turns design expectations into a database-enforced guardrail.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0642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Avi's Intended Document Shape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627632"/>
            <a:ext cx="6217920" cy="438912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764792"/>
            <a:ext cx="5888736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rPr dirty="0"/>
              <a:t>{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rPr dirty="0"/>
              <a:t>  name: "Avi",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rPr dirty="0"/>
              <a:t>  location: "Bangalore, RR Nagar",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rPr dirty="0"/>
              <a:t>  email: "avi@example.com",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rPr dirty="0"/>
              <a:t>  phones: [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rPr dirty="0"/>
              <a:t>    "9876543210",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rPr dirty="0"/>
              <a:t>    "9123456780"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rPr dirty="0"/>
              <a:t>  ]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rPr dirty="0"/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50608" y="1627632"/>
            <a:ext cx="4370832" cy="438912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52360" y="1920240"/>
            <a:ext cx="173736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88936" y="1956816"/>
            <a:ext cx="1664207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VALIDATION TARGET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79792" y="2578608"/>
            <a:ext cx="3566160" cy="530352"/>
          </a:xfrm>
          <a:prstGeom prst="roundRect">
            <a:avLst/>
          </a:prstGeom>
          <a:solidFill>
            <a:srgbClr val="0919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35240" y="2688336"/>
            <a:ext cx="109728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3AEB5B"/>
                </a:solidFill>
                <a:latin typeface="Aptos"/>
              </a:rPr>
              <a:t>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679191"/>
            <a:ext cx="19659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>
                <a:solidFill>
                  <a:srgbClr val="F5F8F6"/>
                </a:solidFill>
                <a:latin typeface="Aptos"/>
              </a:rPr>
              <a:t>string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79792" y="3246120"/>
            <a:ext cx="3566160" cy="530352"/>
          </a:xfrm>
          <a:prstGeom prst="roundRect">
            <a:avLst/>
          </a:prstGeom>
          <a:solidFill>
            <a:srgbClr val="0919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35240" y="3355848"/>
            <a:ext cx="109728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3AEB5B"/>
                </a:solidFill>
                <a:latin typeface="Aptos"/>
              </a:rPr>
              <a:t>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346703"/>
            <a:ext cx="19659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>
                <a:solidFill>
                  <a:srgbClr val="F5F8F6"/>
                </a:solidFill>
                <a:latin typeface="Aptos"/>
              </a:rPr>
              <a:t>string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9792" y="3913631"/>
            <a:ext cx="3566160" cy="530352"/>
          </a:xfrm>
          <a:prstGeom prst="roundRect">
            <a:avLst/>
          </a:prstGeom>
          <a:solidFill>
            <a:srgbClr val="0919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35240" y="4023359"/>
            <a:ext cx="109728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3AEB5B"/>
                </a:solidFill>
                <a:latin typeface="Aptos"/>
              </a:rPr>
              <a:t>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014215"/>
            <a:ext cx="19659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>
                <a:solidFill>
                  <a:srgbClr val="F5F8F6"/>
                </a:solidFill>
                <a:latin typeface="Aptos"/>
              </a:rPr>
              <a:t>string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9792" y="4581144"/>
            <a:ext cx="3566160" cy="530352"/>
          </a:xfrm>
          <a:prstGeom prst="roundRect">
            <a:avLst/>
          </a:prstGeom>
          <a:solidFill>
            <a:srgbClr val="0919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35240" y="4690872"/>
            <a:ext cx="109728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3AEB5B"/>
                </a:solidFill>
                <a:latin typeface="Aptos"/>
              </a:rPr>
              <a:t>phones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681728"/>
            <a:ext cx="19659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>
                <a:solidFill>
                  <a:srgbClr val="F5F8F6"/>
                </a:solidFill>
                <a:latin typeface="Aptos"/>
              </a:rPr>
              <a:t>array of strings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5440680"/>
            <a:ext cx="3703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50" b="0" dirty="0">
                <a:solidFill>
                  <a:srgbClr val="AFBAB5"/>
                </a:solidFill>
                <a:latin typeface="Aptos"/>
              </a:rPr>
              <a:t>Schema validation describes the contract this document should satisfy.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0642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JSON Schema Concepts in MongoDB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45920"/>
            <a:ext cx="5230368" cy="1188720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6968" y="1847088"/>
            <a:ext cx="146304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23544" y="1883664"/>
            <a:ext cx="138988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2887" y="1920240"/>
            <a:ext cx="2880360" cy="5303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Fields that must exist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1928" y="1645920"/>
            <a:ext cx="5230368" cy="1188720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10528" y="1847088"/>
            <a:ext cx="146304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47104" y="1883664"/>
            <a:ext cx="138988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bsonType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1920240"/>
            <a:ext cx="2880360" cy="5303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The expected BSON 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108960"/>
            <a:ext cx="5230368" cy="1188720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86968" y="3310128"/>
            <a:ext cx="146304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3544" y="3346704"/>
            <a:ext cx="138988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properties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2887" y="3383280"/>
            <a:ext cx="2880360" cy="5303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Rules for individual fields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8" y="3108960"/>
            <a:ext cx="5230368" cy="1188720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10528" y="3310128"/>
            <a:ext cx="146304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47104" y="3346704"/>
            <a:ext cx="138988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items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3383280"/>
            <a:ext cx="2880360" cy="5303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Rules for array elements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4572000"/>
            <a:ext cx="5230368" cy="1188720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703320" y="4773168"/>
            <a:ext cx="146304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39896" y="4809744"/>
            <a:ext cx="138988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additionalProperties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4846320"/>
            <a:ext cx="2880360" cy="5303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Control extra fields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0642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Build a Validator for Avi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" y="1572768"/>
            <a:ext cx="6629400" cy="457200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8096" y="1709928"/>
            <a:ext cx="6300216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$jsonSchema: {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  bsonType: "object",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  required: ["name", "email", "phones"],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  properties: {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    name:  { bsonType: "string" },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    email: { bsonType: "string" },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    phones: {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      bsonType: "array",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      items: { bsonType: "string" }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    }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79792" y="1572768"/>
            <a:ext cx="4041648" cy="457200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0" y="1874519"/>
            <a:ext cx="123444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08975" y="1911095"/>
            <a:ext cx="116128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RULE 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54112" y="2532888"/>
            <a:ext cx="3246120" cy="548640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09560" y="2660904"/>
            <a:ext cx="105156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>
                <a:solidFill>
                  <a:srgbClr val="3AEB5B"/>
                </a:solidFill>
                <a:latin typeface="Aptos"/>
              </a:rPr>
              <a:t>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633472"/>
            <a:ext cx="17830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F5F8F6"/>
                </a:solidFill>
                <a:latin typeface="Aptos"/>
              </a:rPr>
              <a:t>required + string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54112" y="3246120"/>
            <a:ext cx="3246120" cy="548640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9560" y="3374136"/>
            <a:ext cx="105156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>
                <a:solidFill>
                  <a:srgbClr val="3AEB5B"/>
                </a:solidFill>
                <a:latin typeface="Aptos"/>
              </a:rPr>
              <a:t>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3346703"/>
            <a:ext cx="17830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F5F8F6"/>
                </a:solidFill>
                <a:latin typeface="Aptos"/>
              </a:rPr>
              <a:t>required + string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54112" y="3959352"/>
            <a:ext cx="3246120" cy="548640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60" y="4087368"/>
            <a:ext cx="105156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>
                <a:solidFill>
                  <a:srgbClr val="3AEB5B"/>
                </a:solidFill>
                <a:latin typeface="Aptos"/>
              </a:rPr>
              <a:t>phones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4059936"/>
            <a:ext cx="17830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F5F8F6"/>
                </a:solidFill>
                <a:latin typeface="Aptos"/>
              </a:rPr>
              <a:t>required + array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54112" y="4672583"/>
            <a:ext cx="3246120" cy="548640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09560" y="4800599"/>
            <a:ext cx="105156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>
                <a:solidFill>
                  <a:srgbClr val="3AEB5B"/>
                </a:solidFill>
                <a:latin typeface="Aptos"/>
              </a:rPr>
              <a:t>phones[]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4773168"/>
            <a:ext cx="17830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F5F8F6"/>
                </a:solidFill>
                <a:latin typeface="Aptos"/>
              </a:rPr>
              <a:t>string items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0642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Create the Validation Rule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" y="1572768"/>
            <a:ext cx="6583680" cy="461772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8096" y="1709928"/>
            <a:ext cx="6254496" cy="434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db.createCollection("people", {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validator: {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  $jsonSchema: {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    bsonType: "object",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    required: ["name", "email"],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    properties: {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      name:  { bsonType: "string" },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      email: { bsonType: "string" },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      phones: {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        bsonType: "array",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        items: { bsonType: "string" }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      }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    }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24927" y="1572768"/>
            <a:ext cx="4096512" cy="461772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17536" y="1874519"/>
            <a:ext cx="178308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54111" y="1911095"/>
            <a:ext cx="170992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DATABASE GUARDRAIL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7536" y="2560320"/>
            <a:ext cx="3273552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The rule is attached to the collection.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MongoDB checks incoming documents against the validator.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The application still controls business behavior outside the declared schema.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0642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Valid vs Invalid Documents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" y="1627632"/>
            <a:ext cx="5257800" cy="448056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112" y="1920240"/>
            <a:ext cx="100584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956816"/>
            <a:ext cx="93268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VALID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" y="2578608"/>
            <a:ext cx="4434840" cy="233172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2415" y="2715768"/>
            <a:ext cx="4105655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name: "Avi",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email: "avi@example.com",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phones: [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  "9876543210"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]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5285232"/>
            <a:ext cx="429768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Required fields exist and types match.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627632"/>
            <a:ext cx="5257800" cy="448056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28816" y="1920240"/>
            <a:ext cx="109728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5392" y="1956816"/>
            <a:ext cx="1024127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INVALID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2578608"/>
            <a:ext cx="4434840" cy="233172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2715768"/>
            <a:ext cx="4105655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name: "Avi",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email: 12345,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phones: "9876543210"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5285232"/>
            <a:ext cx="429768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The document violates the declared types.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0642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Validation Belongs After Modeling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874519"/>
            <a:ext cx="2578608" cy="1920240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176272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3816" y="2185416"/>
            <a:ext cx="210312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2816352"/>
            <a:ext cx="2249424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50" b="1">
                <a:solidFill>
                  <a:srgbClr val="F5F8F6"/>
                </a:solidFill>
                <a:latin typeface="Aptos"/>
              </a:rPr>
              <a:t>Avi's fields and access needs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00400" y="2596896"/>
            <a:ext cx="411480" cy="393192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92424" y="1874519"/>
            <a:ext cx="2578608" cy="1920240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593592" y="2148840"/>
            <a:ext cx="2176272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0168" y="2185416"/>
            <a:ext cx="210312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016" y="2816352"/>
            <a:ext cx="2249424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50" b="1">
                <a:solidFill>
                  <a:srgbClr val="F5F8F6"/>
                </a:solidFill>
                <a:latin typeface="Aptos"/>
              </a:rPr>
              <a:t>Choose embedded / referenced shape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16752" y="2596896"/>
            <a:ext cx="411480" cy="393192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08776" y="1874519"/>
            <a:ext cx="2578608" cy="1920240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9944" y="2148840"/>
            <a:ext cx="2176272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2185416"/>
            <a:ext cx="210312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VALIDATOR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816352"/>
            <a:ext cx="2249424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50" b="1">
                <a:solidFill>
                  <a:srgbClr val="F5F8F6"/>
                </a:solidFill>
                <a:latin typeface="Aptos"/>
              </a:rPr>
              <a:t>Encode the intended contract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33104" y="2596896"/>
            <a:ext cx="411480" cy="393192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025128" y="1874519"/>
            <a:ext cx="2578608" cy="1920240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226296" y="2148840"/>
            <a:ext cx="2176272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62872" y="2185416"/>
            <a:ext cx="210312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816352"/>
            <a:ext cx="2249424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50" b="1">
                <a:solidFill>
                  <a:srgbClr val="F5F8F6"/>
                </a:solidFill>
                <a:latin typeface="Aptos"/>
              </a:rPr>
              <a:t>Try valid + invalid documents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315968"/>
            <a:ext cx="10469880" cy="1207008"/>
          </a:xfrm>
          <a:prstGeom prst="roundRect">
            <a:avLst/>
          </a:prstGeom>
          <a:solidFill>
            <a:srgbClr val="08120D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2415" y="4599432"/>
            <a:ext cx="1002182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3AEB5B"/>
                </a:solidFill>
                <a:latin typeface="Aptos"/>
              </a:rPr>
              <a:t>Do not use validation to discover the model.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010912"/>
            <a:ext cx="9875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50" b="1">
                <a:solidFill>
                  <a:srgbClr val="F5F8F6"/>
                </a:solidFill>
                <a:latin typeface="Aptos"/>
              </a:rPr>
              <a:t>First define the intended document shape. Then encode and test the contract.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0642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Demo Focus: Enforce Avi's Contract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417320"/>
            <a:ext cx="6583680" cy="480060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554480"/>
            <a:ext cx="6254496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use lesson038_demo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db.createCollection("people", {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validator: {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  $jsonSchema: {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    bsonType: "object",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    required: ["name", "email"],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    properties: {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      name: { bsonType: "string" },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      email: { bsonType: "string" }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    }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300">
                <a:solidFill>
                  <a:srgbClr val="3AEB5B"/>
                </a:solidFill>
                <a:latin typeface="Consolas"/>
              </a:defRPr>
            </a:pPr>
            <a:r>
              <a:t>// valid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db.people.insertOne({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name: "Avi",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email: "avi@example.com"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300">
                <a:solidFill>
                  <a:srgbClr val="3AEB5B"/>
                </a:solidFill>
                <a:latin typeface="Consolas"/>
              </a:defRPr>
            </a:pPr>
            <a:r>
              <a:t>// invalid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db.people.insertOne({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name: "Avi",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email: 12345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24927" y="1417320"/>
            <a:ext cx="4096512" cy="480060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26679" y="1719072"/>
            <a:ext cx="11430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63255" y="1755648"/>
            <a:ext cx="10698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DEMO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35824" y="2331720"/>
            <a:ext cx="310896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74736" y="2304288"/>
            <a:ext cx="2788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20" b="1">
                <a:solidFill>
                  <a:srgbClr val="F5F8F6"/>
                </a:solidFill>
                <a:latin typeface="Aptos"/>
              </a:rPr>
              <a:t>Create validated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35824" y="2962656"/>
            <a:ext cx="310896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74736" y="2935224"/>
            <a:ext cx="2788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20" b="1">
                <a:solidFill>
                  <a:srgbClr val="F5F8F6"/>
                </a:solidFill>
                <a:latin typeface="Aptos"/>
              </a:rPr>
              <a:t>Insert valid Avi document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35824" y="3593591"/>
            <a:ext cx="310896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3566160"/>
            <a:ext cx="2788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20" b="1">
                <a:solidFill>
                  <a:srgbClr val="F5F8F6"/>
                </a:solidFill>
                <a:latin typeface="Aptos"/>
              </a:rPr>
              <a:t>Insert invalid Avi document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24" y="4224527"/>
            <a:ext cx="310896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4736" y="4197095"/>
            <a:ext cx="2788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20" b="1">
                <a:solidFill>
                  <a:srgbClr val="F5F8F6"/>
                </a:solidFill>
                <a:latin typeface="Aptos"/>
              </a:rPr>
              <a:t>Observe validation failure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35824" y="4855464"/>
            <a:ext cx="310896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4828031"/>
            <a:ext cx="2788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20" b="1">
                <a:solidFill>
                  <a:srgbClr val="F5F8F6"/>
                </a:solidFill>
                <a:latin typeface="Aptos"/>
              </a:rPr>
              <a:t>Inspect collection validator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Schema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33271"/>
            <a:ext cx="114300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088136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AFBAB5"/>
                </a:solidFill>
                <a:latin typeface="Aptos"/>
              </a:rPr>
              <a:t>Turn an intended document shape into a database-enforced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" y="1993392"/>
            <a:ext cx="2578608" cy="1664208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2267712"/>
            <a:ext cx="230428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SHAPE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852928"/>
            <a:ext cx="2304288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object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2424" y="1993392"/>
            <a:ext cx="2578608" cy="1664208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9584" y="2267712"/>
            <a:ext cx="230428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REQUIRED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9584" y="2852928"/>
            <a:ext cx="2304288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must-have fields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1993392"/>
            <a:ext cx="2578608" cy="1664208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45936" y="2267712"/>
            <a:ext cx="230428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852928"/>
            <a:ext cx="2304288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BSON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25128" y="1993392"/>
            <a:ext cx="2578608" cy="1664208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62288" y="2267712"/>
            <a:ext cx="230428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62288" y="2852928"/>
            <a:ext cx="2304288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valid + invalid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4187952"/>
            <a:ext cx="10652760" cy="1335024"/>
          </a:xfrm>
          <a:prstGeom prst="roundRect">
            <a:avLst/>
          </a:prstGeom>
          <a:solidFill>
            <a:srgbClr val="08120D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480560"/>
            <a:ext cx="38404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425696"/>
            <a:ext cx="1901952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70" b="1">
                <a:solidFill>
                  <a:srgbClr val="F5F8F6"/>
                </a:solidFill>
                <a:latin typeface="Aptos"/>
              </a:rPr>
              <a:t>Define the contract.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7015" y="4480560"/>
            <a:ext cx="38404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14215" y="4425696"/>
            <a:ext cx="1901952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70" b="1">
                <a:solidFill>
                  <a:srgbClr val="F5F8F6"/>
                </a:solidFill>
                <a:latin typeface="Aptos"/>
              </a:rPr>
              <a:t>Attach it to the collection.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3912" y="4480560"/>
            <a:ext cx="38404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4425696"/>
            <a:ext cx="1901952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70" b="1">
                <a:solidFill>
                  <a:srgbClr val="F5F8F6"/>
                </a:solidFill>
                <a:latin typeface="Aptos"/>
              </a:rPr>
              <a:t>Test real documents.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0808" y="4480560"/>
            <a:ext cx="38404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4425696"/>
            <a:ext cx="1901952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70" b="1">
                <a:solidFill>
                  <a:srgbClr val="F5F8F6"/>
                </a:solidFill>
                <a:latin typeface="Aptos"/>
              </a:rPr>
              <a:t>Keep validation aligned with the model.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" y="5989320"/>
            <a:ext cx="10378440" cy="420624"/>
          </a:xfrm>
          <a:prstGeom prst="roundRect">
            <a:avLst/>
          </a:prstGeom>
          <a:solidFill>
            <a:srgbClr val="3AEB5B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6071616"/>
            <a:ext cx="102412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50" b="1">
                <a:solidFill>
                  <a:srgbClr val="040707"/>
                </a:solidFill>
                <a:latin typeface="Aptos"/>
              </a:rPr>
              <a:t>Avi • Bangalore • RR Nagar  →  intended shape → validator → valid/invalid 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2ae551e3-0043-40f0-9a67-12d995049d50}" enabled="1" method="Standard" siteId="{97984c2b-a229-4609-8185-ae84947bc3f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769</Words>
  <Application>Microsoft Office PowerPoint</Application>
  <PresentationFormat>Widescreen</PresentationFormat>
  <Paragraphs>184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2026-09-26T15:11:38Z</dcterms:modified>
  <cp:category/>
</cp:coreProperties>
</file>