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48640"/>
            <a:ext cx="1005840" cy="91440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0972800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100" b="1">
                <a:solidFill>
                  <a:srgbClr val="F5F8F6"/>
                </a:solidFill>
                <a:latin typeface="Aptos"/>
              </a:rPr>
              <a:t>Lesson 036 — Planning the Example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088136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AFBAB5"/>
                </a:solidFill>
                <a:latin typeface="Aptos"/>
              </a:rPr>
              <a:t>Turn a realistic requirement into a clear MongoDB modeling exercise before writing implementation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2578608" cy="2176272"/>
          </a:xfrm>
          <a:prstGeom prst="roundRect">
            <a:avLst/>
          </a:prstGeom>
          <a:solidFill>
            <a:srgbClr val="081E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2633472"/>
            <a:ext cx="20574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670048"/>
            <a:ext cx="19842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73552"/>
            <a:ext cx="2212848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What does Avi need?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64408" y="3127248"/>
            <a:ext cx="411480" cy="420624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56432" y="2331720"/>
            <a:ext cx="2578608" cy="2176272"/>
          </a:xfrm>
          <a:prstGeom prst="roundRect">
            <a:avLst/>
          </a:prstGeom>
          <a:solidFill>
            <a:srgbClr val="081E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12464" y="2633472"/>
            <a:ext cx="20574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2670048"/>
            <a:ext cx="19842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3273552"/>
            <a:ext cx="2212848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How will Avi use it?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80760" y="3127248"/>
            <a:ext cx="411480" cy="420624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72784" y="2331720"/>
            <a:ext cx="2578608" cy="2176272"/>
          </a:xfrm>
          <a:prstGeom prst="roundRect">
            <a:avLst/>
          </a:prstGeom>
          <a:solidFill>
            <a:srgbClr val="081E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28816" y="2633472"/>
            <a:ext cx="20574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2670048"/>
            <a:ext cx="19842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RELATIONS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273552"/>
            <a:ext cx="2212848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What connects?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97112" y="3127248"/>
            <a:ext cx="411480" cy="420624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89136" y="2331720"/>
            <a:ext cx="2578608" cy="2176272"/>
          </a:xfrm>
          <a:prstGeom prst="roundRect">
            <a:avLst/>
          </a:prstGeom>
          <a:solidFill>
            <a:srgbClr val="081E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45167" y="2633472"/>
            <a:ext cx="20574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1743" y="2670048"/>
            <a:ext cx="19842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SHAPE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5" y="3273552"/>
            <a:ext cx="2212848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Embed or reference?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74920"/>
            <a:ext cx="1069848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0">
                <a:solidFill>
                  <a:srgbClr val="AFBAB5"/>
                </a:solidFill>
                <a:latin typeface="Aptos"/>
              </a:rPr>
              <a:t>Example throughout: Avi • Bangalore, RR Nagar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09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Start with the Exercise Goal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00200"/>
            <a:ext cx="5166360" cy="452628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901952"/>
            <a:ext cx="141732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38528"/>
            <a:ext cx="134416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78608"/>
            <a:ext cx="44348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1">
                <a:solidFill>
                  <a:srgbClr val="F5F8F6"/>
                </a:solidFill>
                <a:latin typeface="Aptos"/>
              </a:rPr>
              <a:t>Avi manages developer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145536"/>
            <a:ext cx="44348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AEB5B"/>
                </a:solidFill>
                <a:latin typeface="Aptos"/>
              </a:rPr>
              <a:t>Avi • Bangalore • RR Nagar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44348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He has a profile and contact details.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He works on projects.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Projects use technologies.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Some information belongs naturally inside the parent.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00200"/>
            <a:ext cx="5394960" cy="452628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19088" y="1901952"/>
            <a:ext cx="1874519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938528"/>
            <a:ext cx="1801367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EXERCISE 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578608"/>
            <a:ext cx="4572000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Identify the entities.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List the main access patterns.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Classify the relationships.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Choose candidate document shapes.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Explain why the shape fits the workload.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09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Extract the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64208"/>
            <a:ext cx="5230368" cy="1828800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6968" y="1892808"/>
            <a:ext cx="141732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1929384"/>
            <a:ext cx="134416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05456" y="2002536"/>
            <a:ext cx="288036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F5F8F6"/>
                </a:solidFill>
                <a:latin typeface="Aptos"/>
              </a:rPr>
              <a:t>Store Avi's email and preferences.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1664208"/>
            <a:ext cx="5230368" cy="1828800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92808"/>
            <a:ext cx="141732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47104" y="1929384"/>
            <a:ext cx="134416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CONTACT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9016" y="2002536"/>
            <a:ext cx="288036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F5F8F6"/>
                </a:solidFill>
                <a:latin typeface="Aptos"/>
              </a:rPr>
              <a:t>Keep a small set of phone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3048"/>
            <a:ext cx="5230368" cy="1828800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6968" y="4041648"/>
            <a:ext cx="141732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4078224"/>
            <a:ext cx="134416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PROJECTS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5456" y="4151376"/>
            <a:ext cx="288036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F5F8F6"/>
                </a:solidFill>
                <a:latin typeface="Aptos"/>
              </a:rPr>
              <a:t>Track the projects Avi works 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8" y="3813048"/>
            <a:ext cx="5230368" cy="1828800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10528" y="4041648"/>
            <a:ext cx="141732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4078224"/>
            <a:ext cx="134416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TECHNOLOGIES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9016" y="4151376"/>
            <a:ext cx="288036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F5F8F6"/>
                </a:solidFill>
                <a:latin typeface="Aptos"/>
              </a:rPr>
              <a:t>Record technologies used by projects.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10515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>
                <a:solidFill>
                  <a:srgbClr val="AFBAB5"/>
                </a:solidFill>
                <a:latin typeface="Aptos"/>
              </a:rPr>
              <a:t>Keep requirements factual before making modeling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09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Write the Access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627632"/>
            <a:ext cx="6492240" cy="4462272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764792"/>
            <a:ext cx="6163055" cy="4187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3AEB5B"/>
                </a:solidFill>
                <a:latin typeface="Consolas"/>
              </a:defRPr>
            </a:pPr>
            <a:r>
              <a:t>// How the application needs Avi's data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1. Find Avi by profile identity.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2. Read Avi with profile preferences.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3. Read Avi with phone numbers.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4. List Avi's projects.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5. Find projects that use a technology.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6. Read the technology details when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627632"/>
            <a:ext cx="4160520" cy="4462272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62672" y="1920240"/>
            <a:ext cx="178308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99248" y="1956816"/>
            <a:ext cx="170992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ACCESS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62672" y="2578608"/>
            <a:ext cx="3246120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Together or separately?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Frequently or occasionally?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Bounded or growing?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Parent-owned or reusable?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Read path or independent lookup?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09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Map the Relationships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27632"/>
            <a:ext cx="10972800" cy="4407408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240280"/>
            <a:ext cx="1920240" cy="804672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50008"/>
            <a:ext cx="173736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Avi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88336"/>
            <a:ext cx="17373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3AEB5B"/>
                </a:solidFill>
                <a:latin typeface="Aptos"/>
              </a:rPr>
              <a:t>parent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2240280"/>
            <a:ext cx="1920240" cy="804672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79" y="2350008"/>
            <a:ext cx="173736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79" y="2688336"/>
            <a:ext cx="17373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3AEB5B"/>
                </a:solidFill>
                <a:latin typeface="Aptos"/>
              </a:rPr>
              <a:t>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240280"/>
            <a:ext cx="1920240" cy="804672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350008"/>
            <a:ext cx="173736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Phones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88336"/>
            <a:ext cx="17373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3AEB5B"/>
                </a:solidFill>
                <a:latin typeface="Aptos"/>
              </a:rPr>
              <a:t>1:N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4114800"/>
            <a:ext cx="1920240" cy="804672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79" y="4224528"/>
            <a:ext cx="173736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Projects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79" y="4562856"/>
            <a:ext cx="17373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3AEB5B"/>
                </a:solidFill>
                <a:latin typeface="Aptos"/>
              </a:rPr>
              <a:t>1:N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114800"/>
            <a:ext cx="1920240" cy="804672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224528"/>
            <a:ext cx="173736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Technologies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562856"/>
            <a:ext cx="17373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3AEB5B"/>
                </a:solidFill>
                <a:latin typeface="Aptos"/>
              </a:rPr>
              <a:t>N:N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34640" y="2642616"/>
            <a:ext cx="914399" cy="0"/>
          </a:xfrm>
          <a:prstGeom prst="line">
            <a:avLst/>
          </a:prstGeom>
          <a:ln w="25400">
            <a:solidFill>
              <a:srgbClr val="3AE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834640" y="2642616"/>
            <a:ext cx="3749040" cy="0"/>
          </a:xfrm>
          <a:prstGeom prst="line">
            <a:avLst/>
          </a:prstGeom>
          <a:ln w="25400">
            <a:solidFill>
              <a:srgbClr val="3AE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834640" y="2642616"/>
            <a:ext cx="914399" cy="1874520"/>
          </a:xfrm>
          <a:prstGeom prst="line">
            <a:avLst/>
          </a:prstGeom>
          <a:ln w="25400">
            <a:solidFill>
              <a:srgbClr val="3AE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669280" y="4517136"/>
            <a:ext cx="914400" cy="0"/>
          </a:xfrm>
          <a:prstGeom prst="line">
            <a:avLst/>
          </a:prstGeom>
          <a:ln w="25400">
            <a:solidFill>
              <a:srgbClr val="3AE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5413248"/>
            <a:ext cx="101498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0">
                <a:solidFill>
                  <a:srgbClr val="AFBAB5"/>
                </a:solidFill>
                <a:latin typeface="Aptos"/>
              </a:rPr>
              <a:t>Avi is the anchor; the relationship type is identified before selecting the storage shape.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09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Choose Candidate Shapes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73352"/>
            <a:ext cx="5230368" cy="1828800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6968" y="1901952"/>
            <a:ext cx="16002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1938528"/>
            <a:ext cx="15270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0048" y="1911095"/>
            <a:ext cx="12344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3AEB5B"/>
                </a:solidFill>
                <a:latin typeface="Aptos"/>
              </a:rPr>
              <a:t>Embed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386584"/>
            <a:ext cx="2852928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Read with Avi; one-to-one.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1673352"/>
            <a:ext cx="5230368" cy="1828800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10528" y="1901952"/>
            <a:ext cx="16002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1938528"/>
            <a:ext cx="15270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PHONES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3608" y="1911095"/>
            <a:ext cx="12344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3AEB5B"/>
                </a:solidFill>
                <a:latin typeface="Aptos"/>
              </a:rPr>
              <a:t>Embed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386584"/>
            <a:ext cx="2852928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Small, bounded, co-read.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822191"/>
            <a:ext cx="5230368" cy="1828800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6968" y="4050791"/>
            <a:ext cx="16002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4087368"/>
            <a:ext cx="15270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4059935"/>
            <a:ext cx="12344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3AEB5B"/>
                </a:solidFill>
                <a:latin typeface="Aptos"/>
              </a:rPr>
              <a:t>Reference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535424"/>
            <a:ext cx="2852928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Can grow and live separately.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3822191"/>
            <a:ext cx="5230368" cy="1828800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10528" y="4050791"/>
            <a:ext cx="16002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4087368"/>
            <a:ext cx="15270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PROJECT ↔ TECH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4059935"/>
            <a:ext cx="12344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3AEB5B"/>
                </a:solidFill>
                <a:latin typeface="Aptos"/>
              </a:rPr>
              <a:t>Reference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4535424"/>
            <a:ext cx="2852928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Shared/reusable entities.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09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Draft the Document Shape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6629400" cy="4590288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39"/>
            <a:ext cx="6300216" cy="4315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450">
                <a:solidFill>
                  <a:srgbClr val="3AEB5B"/>
                </a:solidFill>
                <a:latin typeface="Consolas"/>
              </a:defRPr>
            </a:pPr>
            <a:r>
              <a:t>// Candidate parent document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name: "Avi",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location: "Bangalore, RR Nagar",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profile: {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  email: "avi@example.com"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phones: [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  "9876543210",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  "9123456780"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]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450">
                <a:solidFill>
                  <a:srgbClr val="3AEB5B"/>
                </a:solidFill>
                <a:latin typeface="Consolas"/>
              </a:defRPr>
            </a:pPr>
            <a:r>
              <a:t>// Candidate project document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name: "MongoDB API",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ownerId: ObjectId("..."),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technologyIds: [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  ObjectId("...")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]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554480"/>
            <a:ext cx="4114800" cy="4590288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99248" y="1856231"/>
            <a:ext cx="16002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35823" y="1892807"/>
            <a:ext cx="15270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PLANNING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9248" y="2514600"/>
            <a:ext cx="3246120" cy="2514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Can each field be traced to a requirement?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Does the shape support the read path?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Is the relationship visible?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What could grow?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8392" y="5212080"/>
            <a:ext cx="324612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AEB5B"/>
                </a:solidFill>
                <a:latin typeface="Aptos"/>
              </a:rPr>
              <a:t>Draft first • implement second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09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Plan the Exercise Runbook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27632"/>
            <a:ext cx="10881360" cy="658368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92224"/>
            <a:ext cx="38404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737360"/>
            <a:ext cx="2240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State the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22191" y="1728216"/>
            <a:ext cx="70866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AFBAB5"/>
                </a:solidFill>
                <a:latin typeface="Aptos"/>
              </a:rPr>
              <a:t>Use Avi's requirements.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87168"/>
            <a:ext cx="10881360" cy="658368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38404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596896"/>
            <a:ext cx="2240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Identify entities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2191" y="2587751"/>
            <a:ext cx="70866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AFBAB5"/>
                </a:solidFill>
                <a:latin typeface="Aptos"/>
              </a:rPr>
              <a:t>Profile, phones, projects, technologies.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346704"/>
            <a:ext cx="10881360" cy="658368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11296"/>
            <a:ext cx="38404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456432"/>
            <a:ext cx="2240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Map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3447288"/>
            <a:ext cx="70866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AFBAB5"/>
                </a:solidFill>
                <a:latin typeface="Aptos"/>
              </a:rPr>
              <a:t>Write the reads before the schema.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206240"/>
            <a:ext cx="10881360" cy="658368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370831"/>
            <a:ext cx="38404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315968"/>
            <a:ext cx="2240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Choose shapes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2191" y="4306824"/>
            <a:ext cx="70866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AFBAB5"/>
                </a:solidFill>
                <a:latin typeface="Aptos"/>
              </a:rPr>
              <a:t>Embed or reference with reasons.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065776"/>
            <a:ext cx="10881360" cy="658368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230368"/>
            <a:ext cx="38404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175504"/>
            <a:ext cx="2240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Prepare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2191" y="5166360"/>
            <a:ext cx="70866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AFBAB5"/>
                </a:solidFill>
                <a:latin typeface="Aptos"/>
              </a:rPr>
              <a:t>Check the shape against the access patterns.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09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Demo Focus: Planning, Not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536192"/>
            <a:ext cx="6537960" cy="4645152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673351"/>
            <a:ext cx="6208776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use lesson036_planning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const plan = {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person: "Avi",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location: "Bangalore, RR Nagar",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requirements: [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  "profile",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  "small phone list",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  "projects",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  "project technologies"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],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accessPatterns: [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  "find Avi",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  "read Avi with profile",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  "read Avi with phones",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  "list projects",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  "find projects by technology"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],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candidates: {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  profile: "embed",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  phones: "embed",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  projects: "reference",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  technologies: "reference"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60">
                <a:solidFill>
                  <a:srgbClr val="F5F8F6"/>
                </a:solidFill>
                <a:latin typeface="Consolas"/>
              </a:defRPr>
            </a:pPr>
            <a:r>
              <a:t>printjson(plan)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536192"/>
            <a:ext cx="4160520" cy="4645152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62672" y="1847088"/>
            <a:ext cx="20574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99248" y="1883664"/>
            <a:ext cx="19842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WHAT THIS DEMO PROVES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62672" y="2542032"/>
            <a:ext cx="324612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Requirements can be captured explicitly.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Access patterns can be written before code.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Candidate shapes can be compared.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The exercise can be reviewed before implementation.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5266944"/>
            <a:ext cx="324612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Planning artifact → review → implementation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8813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Planning the Example Exercise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33271"/>
            <a:ext cx="137160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08813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AFBAB5"/>
                </a:solidFill>
                <a:latin typeface="Aptos"/>
              </a:rPr>
              <a:t>A visual checklist for turning requirements into a teachable MongoDB modeling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" y="1965960"/>
            <a:ext cx="2578608" cy="1664208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0"/>
            <a:ext cx="36576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85416"/>
            <a:ext cx="17830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43200"/>
            <a:ext cx="2304288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AFBAB5"/>
                </a:solidFill>
                <a:latin typeface="Aptos"/>
              </a:rPr>
              <a:t>What must Avi store?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82112" y="2542032"/>
            <a:ext cx="438912" cy="420624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92424" y="1965960"/>
            <a:ext cx="2578608" cy="1664208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194560"/>
            <a:ext cx="36576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2" y="2185416"/>
            <a:ext cx="17830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2743200"/>
            <a:ext cx="2304288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AFBAB5"/>
                </a:solidFill>
                <a:latin typeface="Aptos"/>
              </a:rPr>
              <a:t>How will Avi read it?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98464" y="2542032"/>
            <a:ext cx="438912" cy="420624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08776" y="1965960"/>
            <a:ext cx="2578608" cy="1664208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2194560"/>
            <a:ext cx="36576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5704" y="2185416"/>
            <a:ext cx="17830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RELATIONS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743200"/>
            <a:ext cx="2304288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AFBAB5"/>
                </a:solidFill>
                <a:latin typeface="Aptos"/>
              </a:rPr>
              <a:t>What is 1:1, 1:N, N:N?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14816" y="2542032"/>
            <a:ext cx="438912" cy="420624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25128" y="1965960"/>
            <a:ext cx="2578608" cy="1664208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3144" y="2194560"/>
            <a:ext cx="36576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92056" y="2185416"/>
            <a:ext cx="17830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SHAPE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2743200"/>
            <a:ext cx="2304288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AFBAB5"/>
                </a:solidFill>
                <a:latin typeface="Aptos"/>
              </a:rPr>
              <a:t>Embed or reference?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" y="4160520"/>
            <a:ext cx="10652760" cy="1417320"/>
          </a:xfrm>
          <a:prstGeom prst="roundRect">
            <a:avLst/>
          </a:prstGeom>
          <a:solidFill>
            <a:srgbClr val="08120D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62272"/>
            <a:ext cx="20574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TRACEABLE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846320"/>
            <a:ext cx="20574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20" b="1">
                <a:solidFill>
                  <a:srgbClr val="F5F8F6"/>
                </a:solidFill>
                <a:latin typeface="Aptos"/>
              </a:rPr>
              <a:t>Every field has a requirement.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8728" y="4462272"/>
            <a:ext cx="20574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READ-DRIVEN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8728" y="4846320"/>
            <a:ext cx="20574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20" b="1">
                <a:solidFill>
                  <a:srgbClr val="F5F8F6"/>
                </a:solidFill>
                <a:latin typeface="Aptos"/>
              </a:rPr>
              <a:t>Access patterns guide the shape.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4462272"/>
            <a:ext cx="20574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REVIEWABLE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846320"/>
            <a:ext cx="20574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20" b="1">
                <a:solidFill>
                  <a:srgbClr val="F5F8F6"/>
                </a:solidFill>
                <a:latin typeface="Aptos"/>
              </a:rPr>
              <a:t>Reasons are documented before code.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50808" y="4462272"/>
            <a:ext cx="20574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TEACHABLE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50808" y="4846320"/>
            <a:ext cx="20574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20" b="1">
                <a:solidFill>
                  <a:srgbClr val="F5F8F6"/>
                </a:solidFill>
                <a:latin typeface="Aptos"/>
              </a:rPr>
              <a:t>The exercise has a clear implementation target.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" y="5989320"/>
            <a:ext cx="10378440" cy="420624"/>
          </a:xfrm>
          <a:prstGeom prst="roundRect">
            <a:avLst/>
          </a:prstGeom>
          <a:solidFill>
            <a:srgbClr val="3AEB5B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6071616"/>
            <a:ext cx="102412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50" b="1">
                <a:solidFill>
                  <a:srgbClr val="040707"/>
                </a:solidFill>
                <a:latin typeface="Aptos"/>
              </a:rPr>
              <a:t>Avi • Bangalore • RR Nagar  →  requirement → access → relationship → document shape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