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943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7D68D"/>
                </a:solidFill>
                <a:latin typeface="Aptos"/>
              </a:rPr>
              <a:t>Lesson 042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8F9FA"/>
                </a:solidFill>
                <a:latin typeface="Aptos"/>
              </a:rPr>
              <a:t>Int32 and Int64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4BCC3"/>
                </a:solidFill>
                <a:latin typeface="Aptos"/>
              </a:rPr>
              <a:t>Choosing the right integer width for whole-number fields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063240"/>
            <a:ext cx="4480560" cy="141732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" y="319125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7D68D"/>
                </a:solidFill>
                <a:latin typeface="Aptos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3218688"/>
            <a:ext cx="3639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Int32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3666744"/>
            <a:ext cx="359359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32-bit whole number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063240"/>
            <a:ext cx="4480560" cy="141732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F5C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2784" y="319125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B5C"/>
                </a:solidFill>
                <a:latin typeface="Aptos"/>
              </a:rPr>
              <a:t>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4848" y="3218688"/>
            <a:ext cx="3639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Int64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3666744"/>
            <a:ext cx="359359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64-bit whole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989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4BCC3"/>
                </a:solidFill>
                <a:latin typeface="Aptos"/>
              </a:rPr>
              <a:t>Order Management example: quantities and count-like fields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8F9FA"/>
                </a:solidFill>
                <a:latin typeface="Aptos"/>
              </a:rPr>
              <a:t>Why Integer Width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77824"/>
            <a:ext cx="1143000" cy="50292"/>
          </a:xfrm>
          <a:prstGeom prst="rect">
            <a:avLst/>
          </a:prstGeom>
          <a:solidFill>
            <a:srgbClr val="57D6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784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4BCC3"/>
                </a:solidFill>
                <a:latin typeface="Aptos"/>
              </a:rPr>
              <a:t>Whole-number fields can have different size and range requirements.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383280" cy="132588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3677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7D68D"/>
                </a:solidFill>
                <a:latin typeface="Aptos"/>
              </a:rPr>
              <a:t>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1664207"/>
            <a:ext cx="2542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Quantity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2112264"/>
            <a:ext cx="249631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1, 2, 10, 100 — typical order item counts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383280" cy="132588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63677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7D68D"/>
                </a:solidFill>
                <a:latin typeface="Aptos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7488" y="1664207"/>
            <a:ext cx="2542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Item 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2112264"/>
            <a:ext cx="249631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Count of items, retries, packages, or units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508760"/>
            <a:ext cx="3383280" cy="132588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F5C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163677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B5C"/>
                </a:solidFill>
                <a:latin typeface="Aptos"/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96528" y="1664207"/>
            <a:ext cx="25420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Sequence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96528" y="2112264"/>
            <a:ext cx="2496311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Counters can grow for the life of a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11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7D68D"/>
                </a:solidFill>
                <a:latin typeface="Aptos"/>
              </a:rPr>
              <a:t>Developer question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743200" y="3794760"/>
            <a:ext cx="914400" cy="0"/>
          </a:xfrm>
          <a:prstGeom prst="line">
            <a:avLst/>
          </a:prstGeom>
          <a:ln w="2540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794760" y="35661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8F9FA"/>
                </a:solidFill>
                <a:latin typeface="Aptos"/>
              </a:rPr>
              <a:t>How large can this value become?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66560" y="3794760"/>
            <a:ext cx="914400" cy="0"/>
          </a:xfrm>
          <a:prstGeom prst="line">
            <a:avLst/>
          </a:prstGeom>
          <a:ln w="2540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543800" y="352044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8F9FA"/>
                </a:solidFill>
                <a:latin typeface="Aptos"/>
              </a:rPr>
              <a:t>Choose a width that fits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9834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4BCC3"/>
                </a:solidFill>
                <a:latin typeface="Aptos"/>
              </a:rPr>
              <a:t>The current value is only one point in time; the business range determines the design question.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8F9FA"/>
                </a:solidFill>
                <a:latin typeface="Aptos"/>
              </a:rPr>
              <a:t>Int32 vs Int64 — Conceptual 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77824"/>
            <a:ext cx="1143000" cy="50292"/>
          </a:xfrm>
          <a:prstGeom prst="rect">
            <a:avLst/>
          </a:prstGeom>
          <a:solidFill>
            <a:srgbClr val="57D6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784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4BCC3"/>
                </a:solidFill>
                <a:latin typeface="Aptos"/>
              </a:rPr>
              <a:t>MongoDB supports both 32-bit and 64-bit signed integer BSON types.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4709160" cy="352044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" y="163677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7D68D"/>
                </a:solidFill>
                <a:latin typeface="Aptos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7" y="1664207"/>
            <a:ext cx="3867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Int32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7" y="2112264"/>
            <a:ext cx="3822192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32-bit signed integer
Whole-number values with a smaller range
Good fit for bounded counts when the domain allows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508760"/>
            <a:ext cx="4709160" cy="352044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F5C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1424" y="163677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B5C"/>
                </a:solidFill>
                <a:latin typeface="Aptos"/>
              </a:rPr>
              <a:t>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3488" y="1664207"/>
            <a:ext cx="3867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Int64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3488" y="2112264"/>
            <a:ext cx="3822192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64-bit signed integer
Whole-number values with a much larger range
Useful when the documented range can exceed Int32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23560" y="3063240"/>
            <a:ext cx="914400" cy="0"/>
          </a:xfrm>
          <a:prstGeom prst="line">
            <a:avLst/>
          </a:prstGeom>
          <a:ln w="2540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920240" y="55321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8F9FA"/>
                </a:solidFill>
                <a:latin typeface="Aptos"/>
              </a:rPr>
              <a:t>Range requirement → width choice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8F9FA"/>
                </a:solidFill>
                <a:latin typeface="Aptos"/>
              </a:rPr>
              <a:t>The Order Management Decision Point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77824"/>
            <a:ext cx="1143000" cy="50292"/>
          </a:xfrm>
          <a:prstGeom prst="rect">
            <a:avLst/>
          </a:prstGeom>
          <a:solidFill>
            <a:srgbClr val="57D6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784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4BCC3"/>
                </a:solidFill>
                <a:latin typeface="Aptos"/>
              </a:rPr>
              <a:t>A field such as quantity is a whole number, but its required range still matters.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2926080" cy="356616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163677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7D68D"/>
                </a:solidFill>
                <a:latin typeface="Aptos"/>
              </a:rPr>
              <a:t>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1664207"/>
            <a:ext cx="2084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items[].quantity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2112264"/>
            <a:ext cx="2039112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Typical values:
1
2
10
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508760"/>
            <a:ext cx="2926080" cy="356616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F5C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64024" y="163677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B5C"/>
                </a:solidFill>
                <a:latin typeface="Aptos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6088" y="1664207"/>
            <a:ext cx="2084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Domain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6088" y="2112264"/>
            <a:ext cx="2039112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What is the maximum valid value?
Can it grow over time?
What does the app expect?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1508760"/>
            <a:ext cx="2926080" cy="356616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9DE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95944" y="163677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DE8BE"/>
                </a:solidFill>
                <a:latin typeface="Aptos"/>
              </a:rPr>
              <a:t>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08008" y="1664207"/>
            <a:ext cx="20848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Stored 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08008" y="2112264"/>
            <a:ext cx="2039111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Choose Int32 or Int64 from the documented range and mapping.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39312" y="3246120"/>
            <a:ext cx="886968" cy="0"/>
          </a:xfrm>
          <a:prstGeom prst="line">
            <a:avLst/>
          </a:prstGeom>
          <a:ln w="2540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543800" y="3246120"/>
            <a:ext cx="914400" cy="0"/>
          </a:xfrm>
          <a:prstGeom prst="line">
            <a:avLst/>
          </a:prstGeom>
          <a:ln w="2540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8F9FA"/>
                </a:solidFill>
                <a:latin typeface="Aptos"/>
              </a:rPr>
              <a:t>mongosh Makes Integer Intent Visible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77824"/>
            <a:ext cx="1143000" cy="50292"/>
          </a:xfrm>
          <a:prstGeom prst="rect">
            <a:avLst/>
          </a:prstGeom>
          <a:solidFill>
            <a:srgbClr val="57D6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784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4BCC3"/>
                </a:solidFill>
                <a:latin typeface="Aptos"/>
              </a:rPr>
              <a:t>Explicit constructors are useful when teaching and testing BSON integer types.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4846320" cy="406908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54533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7D68D"/>
                </a:solidFill>
                <a:latin typeface="Aptos"/>
              </a:rPr>
              <a:t>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1572768"/>
            <a:ext cx="4005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mongosh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2020824"/>
            <a:ext cx="3959352" cy="3319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NumberInt(10)
NumberLong(10)
{ qty32: NumberInt(10), qty64: NumberLong(10) 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417320"/>
            <a:ext cx="5303520" cy="128016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27064" y="154533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8F9FA"/>
                </a:solidFill>
                <a:latin typeface="Aptos"/>
              </a:rPr>
              <a:t>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9128" y="1572768"/>
            <a:ext cx="4462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Read it 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9128" y="2020824"/>
            <a:ext cx="4416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db.example.findOne()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971800"/>
            <a:ext cx="5303520" cy="128016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F5C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7064" y="309981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B5C"/>
                </a:solidFill>
                <a:latin typeface="Aptos"/>
              </a:rPr>
              <a:t>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9128" y="3127248"/>
            <a:ext cx="4462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Inspect BSON 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3575304"/>
            <a:ext cx="4416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$type: "$qty32"
$type: "$qty64"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80644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4BCC3"/>
                </a:solidFill>
                <a:latin typeface="Aptos"/>
              </a:rPr>
              <a:t>Constructor name → intended BSON integer width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8F9FA"/>
                </a:solidFill>
                <a:latin typeface="Aptos"/>
              </a:rPr>
              <a:t>Inspect the Stored BSON 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77824"/>
            <a:ext cx="1143000" cy="50292"/>
          </a:xfrm>
          <a:prstGeom prst="rect">
            <a:avLst/>
          </a:prstGeom>
          <a:solidFill>
            <a:srgbClr val="57D6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784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4BCC3"/>
                </a:solidFill>
                <a:latin typeface="Aptos"/>
              </a:rPr>
              <a:t>Use $type instead of inferring integer width from the displayed value.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657600" cy="182880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154533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7D68D"/>
                </a:solidFill>
                <a:latin typeface="Aptos"/>
              </a:rPr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1572768"/>
            <a:ext cx="2816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Sample document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2020824"/>
            <a:ext cx="277063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qty32: NumberInt(25)
qty64: NumberLong(2500000000)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0" y="2331720"/>
            <a:ext cx="1051560" cy="0"/>
          </a:xfrm>
          <a:prstGeom prst="line">
            <a:avLst/>
          </a:prstGeom>
          <a:ln w="2540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852160" y="1417320"/>
            <a:ext cx="5303520" cy="182880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F5C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98464" y="154533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B5C"/>
                </a:solidFill>
                <a:latin typeface="Aptos"/>
              </a:rP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1572768"/>
            <a:ext cx="4462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Aggregation inspection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020824"/>
            <a:ext cx="441655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$project: {
  qty32Type: { $type: "$qty32" },
  qty64Type: { $type: "$qty64" }
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3160" y="3749039"/>
            <a:ext cx="3840480" cy="132588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9464" y="3877055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7D68D"/>
                </a:solidFill>
                <a:latin typeface="Aptos"/>
              </a:rPr>
              <a:t>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3904487"/>
            <a:ext cx="2999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qty32Type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8" y="4352544"/>
            <a:ext cx="295351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int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3749039"/>
            <a:ext cx="3840480" cy="132588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F5C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84264" y="3877055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B5C"/>
                </a:solidFill>
                <a:latin typeface="Aptos"/>
              </a:rPr>
              <a:t>64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96328" y="3904487"/>
            <a:ext cx="2999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qty64Type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6328" y="4352544"/>
            <a:ext cx="295351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long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4BCC3"/>
                </a:solidFill>
                <a:latin typeface="Aptos"/>
              </a:rPr>
              <a:t>The stored BSON type is your evidence when debugging mapping issues.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8F9FA"/>
                </a:solidFill>
                <a:latin typeface="Aptos"/>
              </a:rPr>
              <a:t>Language Defaults and Integer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77824"/>
            <a:ext cx="1143000" cy="50292"/>
          </a:xfrm>
          <a:prstGeom prst="rect">
            <a:avLst/>
          </a:prstGeom>
          <a:solidFill>
            <a:srgbClr val="57D6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784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4BCC3"/>
                </a:solidFill>
                <a:latin typeface="Aptos"/>
              </a:rPr>
              <a:t>The application runtime and the stored BSON integer width are separate layers.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017520" cy="160020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59105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7D68D"/>
                </a:solidFill>
                <a:latin typeface="Aptos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1618488"/>
            <a:ext cx="2176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Application runtime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2066544"/>
            <a:ext cx="213055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The language has its own numeric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463040"/>
            <a:ext cx="3017520" cy="160020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F5C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2584" y="159105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B5C"/>
                </a:solidFill>
                <a:latin typeface="Aptos"/>
              </a:rPr>
              <a:t>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4648" y="1618488"/>
            <a:ext cx="2176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Driver 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4648" y="2066544"/>
            <a:ext cx="213055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The driver maps application values to BSON types.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463040"/>
            <a:ext cx="3017520" cy="160020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9DE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67344" y="159105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DE8BE"/>
                </a:solidFill>
                <a:latin typeface="Aptos"/>
              </a:rPr>
              <a:t>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9408" y="1618488"/>
            <a:ext cx="217627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MongoDB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2066544"/>
            <a:ext cx="2130551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The document stores an actual BSON numeric type.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794760" y="2267712"/>
            <a:ext cx="612648" cy="0"/>
          </a:xfrm>
          <a:prstGeom prst="line">
            <a:avLst/>
          </a:prstGeom>
          <a:ln w="2540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589520" y="2267712"/>
            <a:ext cx="612648" cy="0"/>
          </a:xfrm>
          <a:prstGeom prst="line">
            <a:avLst/>
          </a:prstGeom>
          <a:ln w="2540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234440" y="3886200"/>
            <a:ext cx="9784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8F9FA"/>
                </a:solidFill>
                <a:latin typeface="Aptos"/>
              </a:rPr>
              <a:t>Runtime representation ≠ automatically selected BSON width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4709160"/>
            <a:ext cx="8503920" cy="105156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75104" y="483717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7D68D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87168" y="4864608"/>
            <a:ext cx="7662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Developer habit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87168" y="5312664"/>
            <a:ext cx="7616952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For important whole-number fields, verify driver mapping and inspect stored BSON with $type.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8F9FA"/>
                </a:solidFill>
                <a:latin typeface="Aptos"/>
              </a:rPr>
              <a:t>Order Management: Int32 or Int64?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77824"/>
            <a:ext cx="1143000" cy="50292"/>
          </a:xfrm>
          <a:prstGeom prst="rect">
            <a:avLst/>
          </a:prstGeom>
          <a:solidFill>
            <a:srgbClr val="57D6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784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4BCC3"/>
                </a:solidFill>
                <a:latin typeface="Aptos"/>
              </a:rPr>
              <a:t>Use the business range to drive the integer-width discussion.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98448"/>
            <a:ext cx="2788920" cy="82296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" y="1426464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7D68D"/>
                </a:solidFill>
                <a:latin typeface="Aptos"/>
              </a:rPr>
              <a:t>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1453895"/>
            <a:ext cx="194767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items[].quantity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1901952"/>
            <a:ext cx="1901951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Bounded 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4813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Int32 often 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48132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4BCC3"/>
                </a:solidFill>
                <a:latin typeface="Aptos"/>
              </a:rPr>
              <a:t>Document domain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359152"/>
            <a:ext cx="2788920" cy="82296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2487168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7D68D"/>
                </a:solidFill>
                <a:latin typeface="Aptos"/>
              </a:rPr>
              <a:t>#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2514600"/>
            <a:ext cx="194767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packageCount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2962656"/>
            <a:ext cx="1901951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Operational 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5420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Int32 when bounded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54203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4BCC3"/>
                </a:solidFill>
                <a:latin typeface="Aptos"/>
              </a:rPr>
              <a:t>Review maximum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419856"/>
            <a:ext cx="2788920" cy="82296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F5C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3547872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B5C"/>
                </a:solidFill>
                <a:latin typeface="Aptos"/>
              </a:rPr>
              <a:t>#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2728" y="3575303"/>
            <a:ext cx="194767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eventSequence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2728" y="4023359"/>
            <a:ext cx="1901951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Growing counter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60273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Int64 when range requires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602736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4BCC3"/>
                </a:solidFill>
                <a:latin typeface="Aptos"/>
              </a:rPr>
              <a:t>Check lifecycle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480559"/>
            <a:ext cx="2788920" cy="82296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F5C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" y="4608575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B5C"/>
                </a:solidFill>
                <a:latin typeface="Aptos"/>
              </a:rPr>
              <a:t>#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2728" y="4636007"/>
            <a:ext cx="194767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payment.amount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2728" y="5084064"/>
            <a:ext cx="1901951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Amount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663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Precision is the later topic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46634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4BCC3"/>
                </a:solidFill>
                <a:latin typeface="Aptos"/>
              </a:rPr>
              <a:t>Do not mix concerns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760720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CB5C"/>
                </a:solidFill>
                <a:latin typeface="Aptos"/>
              </a:rPr>
              <a:t>This lesson is about integer width; monetary precision comes later.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8F9FA"/>
                </a:solidFill>
                <a:latin typeface="Aptos"/>
              </a:rPr>
              <a:t>Demo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77824"/>
            <a:ext cx="1143000" cy="50292"/>
          </a:xfrm>
          <a:prstGeom prst="rect">
            <a:avLst/>
          </a:prstGeom>
          <a:solidFill>
            <a:srgbClr val="57D6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784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4BCC3"/>
                </a:solidFill>
                <a:latin typeface="Aptos"/>
              </a:rPr>
              <a:t>A focused mongosh script for Int32 and Int64.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298448"/>
            <a:ext cx="420624" cy="420624"/>
          </a:xfrm>
          <a:prstGeom prst="ellipse">
            <a:avLst/>
          </a:prstGeom>
          <a:solidFill>
            <a:srgbClr val="57D68D"/>
          </a:solidFill>
          <a:ln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44168"/>
            <a:ext cx="420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80A0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28930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Create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289304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4BCC3"/>
                </a:solidFill>
                <a:latin typeface="Aptos"/>
              </a:rPr>
              <a:t>qty32 and qty64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41832" y="1719072"/>
            <a:ext cx="0" cy="347471"/>
          </a:xfrm>
          <a:prstGeom prst="line">
            <a:avLst/>
          </a:prstGeom>
          <a:ln w="2032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31520" y="2139696"/>
            <a:ext cx="420624" cy="420624"/>
          </a:xfrm>
          <a:prstGeom prst="ellipse">
            <a:avLst/>
          </a:prstGeom>
          <a:solidFill>
            <a:srgbClr val="57D68D"/>
          </a:solidFill>
          <a:ln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85415"/>
            <a:ext cx="420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80A0C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130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Store values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130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4BCC3"/>
                </a:solidFill>
                <a:latin typeface="Aptos"/>
              </a:rPr>
              <a:t>NumberInt / NumberLong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41832" y="2560320"/>
            <a:ext cx="0" cy="347471"/>
          </a:xfrm>
          <a:prstGeom prst="line">
            <a:avLst/>
          </a:prstGeom>
          <a:ln w="2032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31520" y="2980944"/>
            <a:ext cx="420624" cy="420624"/>
          </a:xfrm>
          <a:prstGeom prst="ellipse">
            <a:avLst/>
          </a:prstGeom>
          <a:solidFill>
            <a:srgbClr val="57D68D"/>
          </a:solidFill>
          <a:ln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26663"/>
            <a:ext cx="420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80A0C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9718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Read 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971800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4BCC3"/>
                </a:solidFill>
                <a:latin typeface="Aptos"/>
              </a:rPr>
              <a:t>Observe the document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41832" y="3401568"/>
            <a:ext cx="0" cy="347471"/>
          </a:xfrm>
          <a:prstGeom prst="line">
            <a:avLst/>
          </a:prstGeom>
          <a:ln w="2032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31520" y="3822191"/>
            <a:ext cx="420624" cy="420624"/>
          </a:xfrm>
          <a:prstGeom prst="ellipse">
            <a:avLst/>
          </a:prstGeom>
          <a:solidFill>
            <a:srgbClr val="57D68D"/>
          </a:solidFill>
          <a:ln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867911"/>
            <a:ext cx="420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80A0C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8130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Inspect 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813048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4BCC3"/>
                </a:solidFill>
                <a:latin typeface="Aptos"/>
              </a:rPr>
              <a:t>Use $type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1832" y="4242816"/>
            <a:ext cx="0" cy="347472"/>
          </a:xfrm>
          <a:prstGeom prst="line">
            <a:avLst/>
          </a:prstGeom>
          <a:ln w="2032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31520" y="4663440"/>
            <a:ext cx="420624" cy="420624"/>
          </a:xfrm>
          <a:prstGeom prst="ellipse">
            <a:avLst/>
          </a:prstGeom>
          <a:solidFill>
            <a:srgbClr val="57D68D"/>
          </a:solidFill>
          <a:ln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709159"/>
            <a:ext cx="420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80A0C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65429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Compare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4654296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4BCC3"/>
                </a:solidFill>
                <a:latin typeface="Aptos"/>
              </a:rPr>
              <a:t>Relate width to domain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806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57D68D"/>
                </a:solidFill>
                <a:latin typeface="Aptos"/>
              </a:rPr>
              <a:t>Outcome: distinguish int32 from int64 in the shell, stored BSON, and design discussion.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8F9FA"/>
                </a:solidFill>
                <a:latin typeface="Aptos"/>
              </a:rPr>
              <a:t>Summary: Width Follows Range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77824"/>
            <a:ext cx="1143000" cy="50292"/>
          </a:xfrm>
          <a:prstGeom prst="rect">
            <a:avLst/>
          </a:prstGeom>
          <a:solidFill>
            <a:srgbClr val="57D6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784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4BCC3"/>
                </a:solidFill>
                <a:latin typeface="Aptos"/>
              </a:rPr>
              <a:t>Business range → integer width → application mapping → stored BSON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3246120" cy="315468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" y="163677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7D68D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1664207"/>
            <a:ext cx="240487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1  DEFINE RANGE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2112264"/>
            <a:ext cx="2359151" cy="2404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Minimum
Maximum
Growth over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508760"/>
            <a:ext cx="3246120" cy="315468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F5C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06824" y="163677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B5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8888" y="1664207"/>
            <a:ext cx="2404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2  CHOOSE WIDTH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2112264"/>
            <a:ext cx="2359152" cy="2404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Int32 for bounded whole numbers
Int64 when documented range requires more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508760"/>
            <a:ext cx="3840480" cy="315468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9DE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72983" y="163677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DE8BE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1664207"/>
            <a:ext cx="29992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3  VERIFY MAPPING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112264"/>
            <a:ext cx="2953511" cy="2404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Check driver behavior.
Inspect stored BSON with $type.
Keep the model explicit.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86200" y="3063240"/>
            <a:ext cx="228600" cy="0"/>
          </a:xfrm>
          <a:prstGeom prst="line">
            <a:avLst/>
          </a:prstGeom>
          <a:ln w="2540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98079" y="3063240"/>
            <a:ext cx="201169" cy="0"/>
          </a:xfrm>
          <a:prstGeom prst="line">
            <a:avLst/>
          </a:prstGeom>
          <a:ln w="2540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97280" y="51663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8F9FA"/>
                </a:solidFill>
                <a:latin typeface="Aptos"/>
              </a:rPr>
              <a:t>Key habit: never infer integer width from the number’s appearance alone.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89788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4BCC3"/>
                </a:solidFill>
                <a:latin typeface="Aptos"/>
              </a:rPr>
              <a:t>Next: numeric arithmetic and floating-point precision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