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_wide_infographic_style_tutorial_slide_on_a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7955279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Understanding Relations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9264"/>
            <a:ext cx="813816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700" b="0">
                <a:solidFill>
                  <a:srgbClr val="C2CAD3"/>
                </a:solidFill>
                <a:latin typeface="Aptos"/>
              </a:rPr>
              <a:t>How MongoDB represents connections between real-world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246120" cy="37947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10512"/>
            <a:ext cx="278892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000" b="1">
                <a:solidFill>
                  <a:srgbClr val="FF9A12"/>
                </a:solidFill>
                <a:latin typeface="Aptos"/>
              </a:rPr>
              <a:t>Order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360" y="1938528"/>
            <a:ext cx="416051" cy="267462"/>
          </a:xfrm>
          <a:prstGeom prst="rect">
            <a:avLst/>
          </a:prstGeom>
          <a:noFill/>
          <a:ln w="3810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893161" y="1892807"/>
            <a:ext cx="448056" cy="0"/>
          </a:xfrm>
          <a:prstGeom prst="line">
            <a:avLst/>
          </a:prstGeom>
          <a:ln w="3810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982772" y="2239365"/>
            <a:ext cx="109728" cy="109728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38804" y="2239365"/>
            <a:ext cx="109728" cy="109728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67712"/>
            <a:ext cx="2743200" cy="256032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Customer profile and address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Orders and line items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Products referenced by orders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Relationships across collections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512" y="1536192"/>
            <a:ext cx="7516368" cy="3813048"/>
          </a:xfrm>
          <a:prstGeom prst="roundRect">
            <a:avLst/>
          </a:prstGeom>
          <a:solidFill>
            <a:srgbClr val="071118"/>
          </a:solidFill>
          <a:ln w="22860">
            <a:solidFill>
              <a:srgbClr val="227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8" y="1792224"/>
            <a:ext cx="274320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00DDEB"/>
                </a:solidFill>
                <a:latin typeface="Aptos"/>
              </a:rPr>
              <a:t>One application, many relationships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331720"/>
            <a:ext cx="2057400" cy="713232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1874519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331720"/>
            <a:ext cx="2057400" cy="713232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450592"/>
            <a:ext cx="1874519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2331720"/>
            <a:ext cx="1097280" cy="713232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31552" y="2450592"/>
            <a:ext cx="950976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AB5FFF"/>
                </a:solidFill>
                <a:latin typeface="Aptos"/>
              </a:rPr>
              <a:t>products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0" y="2688336"/>
            <a:ext cx="73152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72600" y="2688336"/>
            <a:ext cx="685800" cy="0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656832" y="2441448"/>
            <a:ext cx="59436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441448"/>
            <a:ext cx="59436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AB5FFF"/>
                </a:solidFill>
                <a:latin typeface="Aptos"/>
              </a:rPr>
              <a:t>N:M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0" y="3657600"/>
            <a:ext cx="2423160" cy="841248"/>
          </a:xfrm>
          <a:prstGeom prst="roundRect">
            <a:avLst/>
          </a:prstGeom>
          <a:solidFill>
            <a:srgbClr val="0A1D1F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79008" y="3822191"/>
            <a:ext cx="210312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00DDEB"/>
                </a:solidFill>
                <a:latin typeface="Aptos"/>
              </a:rPr>
              <a:t>shippingAddress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59552" y="2697480"/>
            <a:ext cx="886968" cy="960120"/>
          </a:xfrm>
          <a:prstGeom prst="line">
            <a:avLst/>
          </a:prstGeom>
          <a:ln w="31750">
            <a:solidFill>
              <a:srgbClr val="00DD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4526280"/>
            <a:ext cx="6583680" cy="4389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Core question: keep related data together, or connect it by an id?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Logical connection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1:1 • 1:N • N:M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OWNERSHIP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Who controls it?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large can it get?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is it read?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Embed or reference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What Is a Relation?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 relation is a logical connection between two pieces of application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16152"/>
            <a:ext cx="2926080" cy="402336"/>
          </a:xfrm>
          <a:prstGeom prst="roundRect">
            <a:avLst/>
          </a:prstGeom>
          <a:solidFill>
            <a:srgbClr val="131517"/>
          </a:solidFill>
          <a:ln w="1905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301752" cy="34747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234440"/>
            <a:ext cx="2395728" cy="310896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l"/>
            <a:r>
              <a:rPr sz="1500" b="1">
                <a:solidFill>
                  <a:srgbClr val="FF9A12"/>
                </a:solidFill>
                <a:latin typeface="Aptos"/>
              </a:rPr>
              <a:t>Start with the business meaning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063240" cy="160020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011680"/>
            <a:ext cx="640080" cy="223845"/>
          </a:xfrm>
          <a:prstGeom prst="ellipse">
            <a:avLst/>
          </a:prstGeom>
          <a:solidFill>
            <a:srgbClr val="1FA4FF"/>
          </a:solidFill>
          <a:ln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123602"/>
            <a:ext cx="640080" cy="310896"/>
          </a:xfrm>
          <a:prstGeom prst="rect">
            <a:avLst/>
          </a:prstGeom>
          <a:solidFill>
            <a:srgbClr val="068BE6"/>
          </a:solidFill>
          <a:ln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322576"/>
            <a:ext cx="640080" cy="223845"/>
          </a:xfrm>
          <a:prstGeom prst="ellipse">
            <a:avLst/>
          </a:prstGeom>
          <a:solidFill>
            <a:srgbClr val="1FA4FF"/>
          </a:solidFill>
          <a:ln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975104"/>
            <a:ext cx="192024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13432"/>
            <a:ext cx="192024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Profile and contact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1783080"/>
            <a:ext cx="3063240" cy="160020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97680" y="2011680"/>
            <a:ext cx="640080" cy="223845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23602"/>
            <a:ext cx="640080" cy="310896"/>
          </a:xfrm>
          <a:prstGeom prst="rect">
            <a:avLst/>
          </a:prstGeom>
          <a:solidFill>
            <a:srgbClr val="E68100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97680" y="2322576"/>
            <a:ext cx="640080" cy="223845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1975104"/>
            <a:ext cx="192024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313432"/>
            <a:ext cx="192024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Transaction and status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783080"/>
            <a:ext cx="3063240" cy="160020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09560" y="2011680"/>
            <a:ext cx="640080" cy="223845"/>
          </a:xfrm>
          <a:prstGeom prst="ellipse">
            <a:avLst/>
          </a:prstGeom>
          <a:solidFill>
            <a:srgbClr val="AB5FFF"/>
          </a:solidFill>
          <a:ln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09560" y="2123602"/>
            <a:ext cx="640080" cy="310896"/>
          </a:xfrm>
          <a:prstGeom prst="rect">
            <a:avLst/>
          </a:prstGeom>
          <a:solidFill>
            <a:srgbClr val="9246E6"/>
          </a:solidFill>
          <a:ln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09560" y="2322576"/>
            <a:ext cx="640080" cy="223845"/>
          </a:xfrm>
          <a:prstGeom prst="ellipse">
            <a:avLst/>
          </a:prstGeom>
          <a:solidFill>
            <a:srgbClr val="AB5FFF"/>
          </a:solidFill>
          <a:ln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1975104"/>
            <a:ext cx="192024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9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313432"/>
            <a:ext cx="192024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Reusable catalog data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11880" y="2578608"/>
            <a:ext cx="54864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23760" y="2578608"/>
            <a:ext cx="548640" cy="0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8640" y="3703320"/>
            <a:ext cx="10287000" cy="1325880"/>
          </a:xfrm>
          <a:prstGeom prst="roundRect">
            <a:avLst/>
          </a:prstGeom>
          <a:solidFill>
            <a:srgbClr val="09141A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913632"/>
            <a:ext cx="210312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800" b="1">
                <a:solidFill>
                  <a:srgbClr val="00DDEB"/>
                </a:solidFill>
                <a:latin typeface="Aptos"/>
              </a:rPr>
              <a:t>Describe every relation with four questions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023360"/>
            <a:ext cx="27432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3986784"/>
            <a:ext cx="123444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many?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3752" y="4023360"/>
            <a:ext cx="27432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3986784"/>
            <a:ext cx="123444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big?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31152" y="4023360"/>
            <a:ext cx="27432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3986784"/>
            <a:ext cx="123444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shared?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88552" y="4023360"/>
            <a:ext cx="27432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3986784"/>
            <a:ext cx="123444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accessed?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" y="5321808"/>
            <a:ext cx="1069848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Do not begin with table translation. Begin with the application relationship.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Business connection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many?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Bounded or growing?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Owned or reused?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Read together?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DESIGN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Shape follows 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Cardinality: The Shape of the Relationship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The number of related records changes the modeling conversation.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611880" cy="42519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755648"/>
            <a:ext cx="3246120" cy="4114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2800" b="1">
                <a:solidFill>
                  <a:srgbClr val="00DDEB"/>
                </a:solidFill>
                <a:latin typeface="Aptos"/>
              </a:rPr>
              <a:t>1 :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59152"/>
            <a:ext cx="2971800" cy="5852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Customer → Primary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4984" y="3154680"/>
            <a:ext cx="1005840" cy="566928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255264"/>
            <a:ext cx="877824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20824" y="3438144"/>
            <a:ext cx="475488" cy="0"/>
          </a:xfrm>
          <a:prstGeom prst="line">
            <a:avLst/>
          </a:prstGeom>
          <a:ln w="31750">
            <a:solidFill>
              <a:srgbClr val="00DD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96312" y="3154680"/>
            <a:ext cx="1005840" cy="566928"/>
          </a:xfrm>
          <a:prstGeom prst="roundRect">
            <a:avLst/>
          </a:prstGeom>
          <a:solidFill>
            <a:srgbClr val="082023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3255264"/>
            <a:ext cx="82296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00DDEB"/>
                </a:solidFill>
                <a:latin typeface="Aptos"/>
              </a:rPr>
              <a:t>address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681728"/>
            <a:ext cx="3063240" cy="658368"/>
          </a:xfrm>
          <a:prstGeom prst="roundRect">
            <a:avLst/>
          </a:prstGeom>
          <a:solidFill>
            <a:srgbClr val="0D1215"/>
          </a:solidFill>
          <a:ln w="15240">
            <a:solidFill>
              <a:srgbClr val="3D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809744"/>
            <a:ext cx="281635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Often embedded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08760"/>
            <a:ext cx="3611880" cy="42519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755648"/>
            <a:ext cx="3246120" cy="4114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2800" b="1">
                <a:solidFill>
                  <a:srgbClr val="FF9A12"/>
                </a:solidFill>
                <a:latin typeface="Aptos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359152"/>
            <a:ext cx="2971800" cy="5852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Customer →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3154680"/>
            <a:ext cx="1005840" cy="566928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3255264"/>
            <a:ext cx="877824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715000" y="3035808"/>
            <a:ext cx="502920" cy="402336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743200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2862072"/>
            <a:ext cx="859536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9A12"/>
                </a:solidFill>
                <a:latin typeface="Aptos"/>
              </a:rPr>
              <a:t>order 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15000" y="3438144"/>
            <a:ext cx="502920" cy="256032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17920" y="3401568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3520440"/>
            <a:ext cx="859536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9A12"/>
                </a:solidFill>
                <a:latin typeface="Aptos"/>
              </a:rPr>
              <a:t>order 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15000" y="3438144"/>
            <a:ext cx="502920" cy="91440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17920" y="4059936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4178808"/>
            <a:ext cx="859536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9A12"/>
                </a:solidFill>
                <a:latin typeface="Aptos"/>
              </a:rPr>
              <a:t>order 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81728"/>
            <a:ext cx="3063240" cy="658368"/>
          </a:xfrm>
          <a:prstGeom prst="roundRect">
            <a:avLst/>
          </a:prstGeom>
          <a:solidFill>
            <a:srgbClr val="0D1215"/>
          </a:solidFill>
          <a:ln w="15240">
            <a:solidFill>
              <a:srgbClr val="3D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82312" y="4809744"/>
            <a:ext cx="281635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Often separate when orders grow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1508760"/>
            <a:ext cx="3611880" cy="42519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1755648"/>
            <a:ext cx="3246120" cy="4114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2800" b="1">
                <a:solidFill>
                  <a:srgbClr val="AB5FFF"/>
                </a:solidFill>
                <a:latin typeface="Aptos"/>
              </a:rPr>
              <a:t>N :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359152"/>
            <a:ext cx="2971800" cy="5852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Orders ↔ Products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95360" y="2944368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9368" y="3063240"/>
            <a:ext cx="877824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33888" y="2743200"/>
            <a:ext cx="914400" cy="566928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88752" y="2862072"/>
            <a:ext cx="82296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33888" y="3675887"/>
            <a:ext cx="914400" cy="566928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794760"/>
            <a:ext cx="82296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9601200" y="3026664"/>
            <a:ext cx="932688" cy="192024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601200" y="3456432"/>
            <a:ext cx="932688" cy="484631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549640" y="4681728"/>
            <a:ext cx="3063240" cy="658368"/>
          </a:xfrm>
          <a:prstGeom prst="roundRect">
            <a:avLst/>
          </a:prstGeom>
          <a:solidFill>
            <a:srgbClr val="0D1215"/>
          </a:solidFill>
          <a:ln w="15240">
            <a:solidFill>
              <a:srgbClr val="3D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4809744"/>
            <a:ext cx="281635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Represent with references / ids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1:1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Usually small and owned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Check growth carefully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N:M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relationship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KEY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Cardinality is a signal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NOT ENOUGH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Also inspect access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NEXT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Choose a shape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One-to-One: Embed or 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 primary shipping address is a useful example of a one-to-one relation.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4924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484632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300" b="1">
                <a:solidFill>
                  <a:srgbClr val="00DDEB"/>
                </a:solidFill>
                <a:latin typeface="Aptos"/>
              </a:rPr>
              <a:t>EMBED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103120"/>
            <a:ext cx="4663440" cy="114300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Small and bounded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Read with the parent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Owned by the parent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429000"/>
            <a:ext cx="4526280" cy="1965960"/>
          </a:xfrm>
          <a:prstGeom prst="roundRect">
            <a:avLst/>
          </a:prstGeom>
          <a:solidFill>
            <a:srgbClr val="071C1F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621024"/>
            <a:ext cx="41148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977639"/>
            <a:ext cx="4160520" cy="11155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{
  customerId: "CUST-1001",
  shippingAddress: { city, country }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300" b="1">
                <a:solidFill>
                  <a:srgbClr val="AB5FFF"/>
                </a:solidFill>
                <a:latin typeface="Aptos"/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103120"/>
            <a:ext cx="4663440" cy="114300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Related data changes independently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Shared across multiple parents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Separate lifecycle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3429000"/>
            <a:ext cx="4709160" cy="1965960"/>
          </a:xfrm>
          <a:prstGeom prst="roundRect">
            <a:avLst/>
          </a:prstGeom>
          <a:solidFill>
            <a:srgbClr val="180C24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4"/>
            <a:ext cx="420624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977639"/>
            <a:ext cx="4251960" cy="11155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{
  customerId: "CUST-1001",
  shippingAddressId: "ADDR-44"
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504688"/>
            <a:ext cx="10789920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The relationship is the same; only the storage location changes.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EMBED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Together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Separate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Ownership + access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Growth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Same relation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Different shape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One-to-Many: Customer → 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The common question is whether the child set is bounded and naturally read with the parent.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9496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484632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200" b="1">
                <a:solidFill>
                  <a:srgbClr val="FF9A12"/>
                </a:solidFill>
                <a:latin typeface="Aptos"/>
              </a:rPr>
              <a:t>EMBEDDED 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11680"/>
            <a:ext cx="4800600" cy="10515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Reasonable only for small, bounded sets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Convenient when always read with customer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Can create very large customer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4663440" cy="192024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502152"/>
            <a:ext cx="420624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22191"/>
            <a:ext cx="4251960" cy="10515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orders: [
  { orderId: "ORD-1001" },
  { orderId: "ORD-1002" }
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200" b="1">
                <a:solidFill>
                  <a:srgbClr val="1FA4FF"/>
                </a:solidFill>
                <a:latin typeface="Aptos"/>
              </a:rPr>
              <a:t>SEPARATE COLLECTION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011680"/>
            <a:ext cx="4754880" cy="105156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Orders can grow independently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Orders have their own lifecycle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Query by customerId when needed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3310128"/>
            <a:ext cx="4572000" cy="1920240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502152"/>
            <a:ext cx="416052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22191"/>
            <a:ext cx="4160520" cy="10515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{ customerId: "CUST-1001" }
orders → customerId: "CUST-1001"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22976"/>
            <a:ext cx="1069848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For growing order history, separate storage usually keeps the parent document bounded.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Parent → many children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EMBED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Bounded set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Growing set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Separate writes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Use customerId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CHECK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Document size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Many-to-Many: Orders ↔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One product can appear in many orders, and each order can contain many products.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90372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635508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200" b="1">
                <a:solidFill>
                  <a:srgbClr val="AB5FFF"/>
                </a:solidFill>
                <a:latin typeface="Aptos"/>
              </a:rPr>
              <a:t>ORDER ITEMS AS 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2011680" cy="73152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182880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2148840"/>
            <a:ext cx="2011680" cy="731520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2359152"/>
            <a:ext cx="182880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products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3246120"/>
            <a:ext cx="1600200" cy="502920"/>
          </a:xfrm>
          <a:prstGeom prst="roundRect">
            <a:avLst/>
          </a:prstGeom>
          <a:solidFill>
            <a:srgbClr val="0A191C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3374136"/>
            <a:ext cx="1481328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00DDEB"/>
                </a:solidFill>
                <a:latin typeface="Aptos"/>
              </a:rPr>
              <a:t>P100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2514600"/>
            <a:ext cx="164592" cy="987552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507992" y="2514600"/>
            <a:ext cx="475488" cy="987552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07792" y="3886200"/>
            <a:ext cx="1600200" cy="502920"/>
          </a:xfrm>
          <a:prstGeom prst="roundRect">
            <a:avLst/>
          </a:prstGeom>
          <a:solidFill>
            <a:srgbClr val="0A191C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4014215"/>
            <a:ext cx="1481328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00DDEB"/>
                </a:solidFill>
                <a:latin typeface="Aptos"/>
              </a:rPr>
              <a:t>P200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514600"/>
            <a:ext cx="164592" cy="1627632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507992" y="2514600"/>
            <a:ext cx="475488" cy="1627632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907792" y="4526280"/>
            <a:ext cx="1600200" cy="502920"/>
          </a:xfrm>
          <a:prstGeom prst="roundRect">
            <a:avLst/>
          </a:prstGeom>
          <a:solidFill>
            <a:srgbClr val="0A191C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654296"/>
            <a:ext cx="1481328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>
                <a:solidFill>
                  <a:srgbClr val="00DDEB"/>
                </a:solidFill>
                <a:latin typeface="Aptos"/>
              </a:rPr>
              <a:t>P300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514600"/>
            <a:ext cx="164592" cy="2267712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507992" y="2514600"/>
            <a:ext cx="475488" cy="2267712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2688" y="5138928"/>
            <a:ext cx="589788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The order stores product identifiers; product definitions stay reusable.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417320"/>
            <a:ext cx="393192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09560" y="1664208"/>
            <a:ext cx="347472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000" b="1">
                <a:solidFill>
                  <a:srgbClr val="00DDEB"/>
                </a:solidFill>
                <a:latin typeface="Aptos"/>
              </a:rPr>
              <a:t>Why not duplicate products?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8704" y="2148840"/>
            <a:ext cx="3337560" cy="2011680"/>
          </a:xfrm>
          <a:prstGeom prst="rect">
            <a:avLst/>
          </a:prstGeom>
          <a:noFill/>
        </p:spPr>
        <p:txBody>
          <a:bodyPr wrap="square" lIns="73152" rIns="36576" tIns="36576" bIns="36576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Product details change independently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Catalog data is shared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Avoid repeating large definitions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Reference with stable ids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4526280"/>
            <a:ext cx="3383280" cy="914400"/>
          </a:xfrm>
          <a:prstGeom prst="roundRect">
            <a:avLst/>
          </a:prstGeom>
          <a:solidFill>
            <a:srgbClr val="071C1F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4663440"/>
            <a:ext cx="3108960" cy="5943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orders.items[]
productId → products._id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N:M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relationship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Many products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PRODUCT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Many orders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Use ids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REUSE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Keep catalog separate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Avoid duplication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Embed or 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Use the relationship and the way the application uses the data to choose a practical shape.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48640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82496"/>
            <a:ext cx="493776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400" b="1">
                <a:solidFill>
                  <a:srgbClr val="00DDEB"/>
                </a:solidFill>
                <a:latin typeface="Aptos"/>
              </a:rPr>
              <a:t>EMBED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128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Read together?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23317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Yes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986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Small and bounded?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0752" y="30175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Yes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Owned by parent?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7033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2702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Updated together?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43891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Often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5074920"/>
            <a:ext cx="4800600" cy="47548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Typical fit: address, small preferences, bounded child 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17320"/>
            <a:ext cx="5413248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82496"/>
            <a:ext cx="489204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400" b="1">
                <a:solidFill>
                  <a:srgbClr val="AB5FFF"/>
                </a:solidFill>
                <a:latin typeface="Aptos"/>
              </a:rPr>
              <a:t>REFERENCE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2128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23317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Can it grow independently?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3317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28986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1112" y="30175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Shared by many parents?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4" y="30175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35844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7033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Separate lifecycle?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7464" y="37033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42702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1112" y="4389120"/>
            <a:ext cx="219456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Often read separately?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4389120"/>
            <a:ext cx="566928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074920"/>
            <a:ext cx="4736592" cy="47548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Typical fit: growing orders, shared products, reusable entities.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Read together?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large?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OWNERSHIP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Who owns it?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Is it reused?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LIFECYCLE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Change together?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DECISION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Then choose shape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Order Management Relationship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Apply the rules to one realistic application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064240" cy="4526280"/>
          </a:xfrm>
          <a:prstGeom prst="roundRect">
            <a:avLst/>
          </a:prstGeom>
          <a:solidFill>
            <a:srgbClr val="0711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203704"/>
            <a:ext cx="214884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42032"/>
            <a:ext cx="2148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06908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4215384"/>
            <a:ext cx="214884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00DDEB"/>
                </a:solidFill>
                <a:latin typeface="Aptos"/>
              </a:rPr>
              <a:t>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553712"/>
            <a:ext cx="2148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embedded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05740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203704"/>
            <a:ext cx="214884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542032"/>
            <a:ext cx="2148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5740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203704"/>
            <a:ext cx="214884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542032"/>
            <a:ext cx="2148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products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2505456"/>
            <a:ext cx="2468880" cy="0"/>
          </a:xfrm>
          <a:prstGeom prst="line">
            <a:avLst/>
          </a:prstGeom>
          <a:ln w="3810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63240" y="2148840"/>
            <a:ext cx="54864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2505456"/>
            <a:ext cx="1508760" cy="0"/>
          </a:xfrm>
          <a:prstGeom prst="line">
            <a:avLst/>
          </a:prstGeom>
          <a:ln w="3810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88352" y="2148840"/>
            <a:ext cx="64008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>
                <a:solidFill>
                  <a:srgbClr val="AB5FFF"/>
                </a:solidFill>
                <a:latin typeface="Aptos"/>
              </a:rPr>
              <a:t>N:M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03120" y="2880360"/>
            <a:ext cx="0" cy="1188720"/>
          </a:xfrm>
          <a:prstGeom prst="line">
            <a:avLst/>
          </a:prstGeom>
          <a:ln w="38100">
            <a:solidFill>
              <a:srgbClr val="00DD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31720" y="3337560"/>
            <a:ext cx="123444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1">
                <a:solidFill>
                  <a:srgbClr val="00DDEB"/>
                </a:solidFill>
                <a:latin typeface="Aptos"/>
              </a:rPr>
              <a:t>1:1 • embed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3703320"/>
            <a:ext cx="2514600" cy="114300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3858768"/>
            <a:ext cx="224028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Order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4242816"/>
            <a:ext cx="2240280" cy="4572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Aptos"/>
              </a:rPr>
              <a:t>customerId
items[].productId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559552"/>
            <a:ext cx="1042416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One-to-one address is embedded; customer-to-orders is separate; product links are carried by item ids.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CUSTOMER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Profile owner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ADDRESS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Small + together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Independent growth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PRODUCTS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catalog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ITEM IDS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Reference link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Behavior first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Relation-Driven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Four quick checks keep the model grounded in application behavior.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63624"/>
            <a:ext cx="201168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How many?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93008" y="1563624"/>
            <a:ext cx="76809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1:1 • 1:N • N:M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96312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642616"/>
            <a:ext cx="201168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How big?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496312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2642616"/>
            <a:ext cx="76809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Bounded • growing • unbounded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575304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721608"/>
            <a:ext cx="201168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How shared?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3575304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3008" y="3721608"/>
            <a:ext cx="76809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Owned • reused • independent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654296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800600"/>
            <a:ext cx="201168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00DDEB"/>
                </a:solidFill>
                <a:latin typeface="Aptos"/>
              </a:rPr>
              <a:t>How accessed?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4654296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3008" y="4800600"/>
            <a:ext cx="76809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Together • separately • mixed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596128"/>
            <a:ext cx="10835640" cy="384048"/>
          </a:xfrm>
          <a:prstGeom prst="roundRect">
            <a:avLst/>
          </a:prstGeom>
          <a:solidFill>
            <a:srgbClr val="2A1607"/>
          </a:solidFill>
          <a:ln w="1524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469880" cy="2103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F9A12"/>
                </a:solidFill>
                <a:latin typeface="Aptos"/>
              </a:rPr>
              <a:t>Final question: will this document shape make the application's common reads and writes simpler?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Count related data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Watch growth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Control duplication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Model for reads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LIFECYCLE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Model for changes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OUTCOME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Practical document shape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Inspect Relations in mongosh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Use the shell to see the relationship represented directly in the stored documents.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01852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173736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47088"/>
            <a:ext cx="4709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1. Find a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0" cy="9144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db.customers.findOne({ customerId: "CUST-1001" })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73736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847088"/>
            <a:ext cx="4709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FF9A12"/>
                </a:solidFill>
                <a:latin typeface="Aptos"/>
              </a:rPr>
              <a:t>2. Find that customer's orders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572000" cy="9144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db.orders.find({ customerId: "CUST-1001" })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65760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767328"/>
            <a:ext cx="4709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AB5FFF"/>
                </a:solidFill>
                <a:latin typeface="Aptos"/>
              </a:rPr>
              <a:t>3. Find orders containing a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572000" cy="9144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db.orders.find({ "items.productId": "P100" 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365760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3767328"/>
            <a:ext cx="4709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>
                <a:solidFill>
                  <a:srgbClr val="00DDEB"/>
                </a:solidFill>
                <a:latin typeface="Aptos"/>
              </a:rPr>
              <a:t>4. Inspect the embedded address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60520"/>
            <a:ext cx="4572000" cy="9144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db.customers.findOne(
  { customerId: "CUST-1001" },
  { shippingAddress: 1, _id: 0 }
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532120"/>
            <a:ext cx="1033272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9A12"/>
                </a:solidFill>
                <a:latin typeface="Aptos"/>
              </a:rPr>
              <a:t>Observe the storage decision: embedded data stays inside the document; references appear as ids.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Inspect directly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CUSTOMER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Parent document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Referenced children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PRODUCT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data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ADDRESS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Embedded field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PRACTICE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Trace the links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A Repeatable Relationship Design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Use this sequence before committing a MongoDB document shape.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29968"/>
            <a:ext cx="34747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29968"/>
            <a:ext cx="1490472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42032"/>
            <a:ext cx="169164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What does the application need?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2029968"/>
            <a:ext cx="34747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029968"/>
            <a:ext cx="1490472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Cardinality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542032"/>
            <a:ext cx="169164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How many related records?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0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2029968"/>
            <a:ext cx="34747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029968"/>
            <a:ext cx="1490472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2542032"/>
            <a:ext cx="169164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Read together or separately?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79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0956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029968"/>
            <a:ext cx="34747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029968"/>
            <a:ext cx="1490472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542032"/>
            <a:ext cx="169164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Bounded or independently growing?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966960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378440" y="1874519"/>
            <a:ext cx="169164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51592" y="2029968"/>
            <a:ext cx="347472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1632" y="2029968"/>
            <a:ext cx="118872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2542032"/>
            <a:ext cx="1371600" cy="914400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Embed, reference, or combine?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43400"/>
            <a:ext cx="10835640" cy="114300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553712"/>
            <a:ext cx="1037844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Design around behavior — not around the source table.
A good relation model should make common application operations easy to reason about.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REQUIREMENTS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Start with behavior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Count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Observe reads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Watch size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Embed / reference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RESULT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Maintainable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 visual checklist for modeling relationships in MongoDB.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0972800" cy="4480560"/>
          </a:xfrm>
          <a:prstGeom prst="roundRect">
            <a:avLst/>
          </a:prstGeom>
          <a:solidFill>
            <a:srgbClr val="0711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45152" y="1874519"/>
            <a:ext cx="2880360" cy="91440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3168" y="2057400"/>
            <a:ext cx="2633472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900" b="1">
                <a:solidFill>
                  <a:srgbClr val="FF9A12"/>
                </a:solidFill>
                <a:latin typeface="Aptos"/>
              </a:rPr>
              <a:t>Order Management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2560320" cy="24688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00DDEB"/>
                </a:solidFill>
                <a:latin typeface="Aptos"/>
              </a:rPr>
              <a:t>1:1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76272"/>
            <a:ext cx="251460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523744"/>
            <a:ext cx="25146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Small + owned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8620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14215"/>
            <a:ext cx="2560320" cy="24688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1:N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325112"/>
            <a:ext cx="251460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672584"/>
            <a:ext cx="25146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Grows independently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73736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19" y="1865376"/>
            <a:ext cx="2560320" cy="24688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N:M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7" y="2176272"/>
            <a:ext cx="251460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Reference 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523744"/>
            <a:ext cx="25146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Shared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88620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4014215"/>
            <a:ext cx="2560320" cy="24688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4325112"/>
            <a:ext cx="251460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Design around reads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672584"/>
            <a:ext cx="25146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Behavior first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657600" y="2331720"/>
            <a:ext cx="987552" cy="0"/>
          </a:xfrm>
          <a:prstGeom prst="line">
            <a:avLst/>
          </a:prstGeom>
          <a:ln w="31750">
            <a:solidFill>
              <a:srgbClr val="00DD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657600" y="2788920"/>
            <a:ext cx="987552" cy="1645920"/>
          </a:xfrm>
          <a:prstGeom prst="line">
            <a:avLst/>
          </a:prstGeom>
          <a:ln w="31750">
            <a:solidFill>
              <a:srgbClr val="1FA4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25512" y="2331720"/>
            <a:ext cx="886968" cy="0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525512" y="2788920"/>
            <a:ext cx="704088" cy="1645920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63240" y="3291840"/>
            <a:ext cx="612648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RELATION → CARDINALITY → ACCESS → DOCUMENT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Logical connection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1:1 • 1:N • N:M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EMBED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Keep together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Separate + id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Model for use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Protect document size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