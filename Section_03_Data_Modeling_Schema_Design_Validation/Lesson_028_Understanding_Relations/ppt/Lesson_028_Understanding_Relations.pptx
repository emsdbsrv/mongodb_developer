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502920"/>
            <a:ext cx="182880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39FF68"/>
                </a:solidFill>
                <a:latin typeface="Aptos"/>
              </a:rPr>
              <a:t>LESSON 028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5669280" cy="1371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4300" b="1">
                <a:solidFill>
                  <a:srgbClr val="F5F8FA"/>
                </a:solidFill>
                <a:latin typeface="Aptos"/>
              </a:rPr>
              <a:t>Understanding</a:t>
            </a:r>
            <a:br/>
            <a:r>
              <a:t>Relations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2542032"/>
            <a:ext cx="493776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900" b="0">
                <a:solidFill>
                  <a:srgbClr val="AAB4BC"/>
                </a:solidFill>
                <a:latin typeface="Aptos"/>
              </a:rPr>
              <a:t>Model how documents relate — and decide when to embed or reference.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52360" y="1234440"/>
            <a:ext cx="1828800" cy="749808"/>
          </a:xfrm>
          <a:prstGeom prst="roundRect">
            <a:avLst/>
          </a:prstGeom>
          <a:solidFill>
            <a:srgbClr val="0F1317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07224" y="1289304"/>
            <a:ext cx="73152" cy="640080"/>
          </a:xfrm>
          <a:prstGeom prst="round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90104" y="1307592"/>
            <a:ext cx="15179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F5F8FA"/>
                </a:solidFill>
                <a:latin typeface="Aptos"/>
              </a:rPr>
              <a:t>Avi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0104" y="1645920"/>
            <a:ext cx="1517904" cy="246887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Customer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2788920"/>
            <a:ext cx="1920240" cy="713232"/>
          </a:xfrm>
          <a:prstGeom prst="roundRect">
            <a:avLst/>
          </a:prstGeom>
          <a:solidFill>
            <a:srgbClr val="0F1317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044183" y="2843784"/>
            <a:ext cx="73152" cy="603504"/>
          </a:xfrm>
          <a:prstGeom prst="roundRect">
            <a:avLst/>
          </a:prstGeom>
          <a:solidFill>
            <a:srgbClr val="42D0FF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27064" y="2862072"/>
            <a:ext cx="160934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7064" y="3200400"/>
            <a:ext cx="1609344" cy="21031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One-to-one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2788920"/>
            <a:ext cx="1920240" cy="713232"/>
          </a:xfrm>
          <a:prstGeom prst="roundRect">
            <a:avLst/>
          </a:prstGeom>
          <a:solidFill>
            <a:srgbClr val="0F1317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878824" y="2843784"/>
            <a:ext cx="73152" cy="603504"/>
          </a:xfrm>
          <a:prstGeom prst="roundRect">
            <a:avLst/>
          </a:prstGeom>
          <a:solidFill>
            <a:srgbClr val="FFCD43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61704" y="2862072"/>
            <a:ext cx="160934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1704" y="3200400"/>
            <a:ext cx="1609344" cy="21031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One-to-many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2360" y="4343400"/>
            <a:ext cx="1920240" cy="713232"/>
          </a:xfrm>
          <a:prstGeom prst="roundRect">
            <a:avLst/>
          </a:prstGeom>
          <a:solidFill>
            <a:srgbClr val="0F1317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07224" y="4398264"/>
            <a:ext cx="73152" cy="603504"/>
          </a:xfrm>
          <a:prstGeom prst="roundRect">
            <a:avLst/>
          </a:prstGeom>
          <a:solidFill>
            <a:srgbClr val="B378FF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90104" y="4416552"/>
            <a:ext cx="160934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Skills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0104" y="4754880"/>
            <a:ext cx="1609344" cy="21031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Many-to-many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6949440" y="1993392"/>
            <a:ext cx="1417320" cy="795528"/>
          </a:xfrm>
          <a:prstGeom prst="line">
            <a:avLst/>
          </a:prstGeom>
          <a:ln w="3175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366760" y="1993392"/>
            <a:ext cx="1417320" cy="795528"/>
          </a:xfrm>
          <a:prstGeom prst="line">
            <a:avLst/>
          </a:prstGeom>
          <a:ln w="3175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366760" y="1993392"/>
            <a:ext cx="45720" cy="2350008"/>
          </a:xfrm>
          <a:prstGeom prst="line">
            <a:avLst/>
          </a:prstGeom>
          <a:ln w="3175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080760" y="3675887"/>
            <a:ext cx="960120" cy="310896"/>
          </a:xfrm>
          <a:prstGeom prst="roundRect">
            <a:avLst/>
          </a:prstGeom>
          <a:solidFill>
            <a:srgbClr val="151B1F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80760" y="3694175"/>
            <a:ext cx="9601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42D0FF"/>
                </a:solidFill>
                <a:latin typeface="Aptos"/>
              </a:rPr>
              <a:t>EMBED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3675887"/>
            <a:ext cx="1234440" cy="310896"/>
          </a:xfrm>
          <a:prstGeom prst="roundRect">
            <a:avLst/>
          </a:prstGeom>
          <a:solidFill>
            <a:srgbClr val="151B1F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29800" y="3694175"/>
            <a:ext cx="123444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CD43"/>
                </a:solidFill>
                <a:latin typeface="Aptos"/>
              </a:rPr>
              <a:t>REFERENCE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26679" y="5239512"/>
            <a:ext cx="1234440" cy="310896"/>
          </a:xfrm>
          <a:prstGeom prst="roundRect">
            <a:avLst/>
          </a:prstGeom>
          <a:solidFill>
            <a:srgbClr val="151B1F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26679" y="5257800"/>
            <a:ext cx="123444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B378FF"/>
                </a:solidFill>
                <a:latin typeface="Aptos"/>
              </a:rPr>
              <a:t>ARRAY / IDS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343400"/>
            <a:ext cx="4617720" cy="1170432"/>
          </a:xfrm>
          <a:prstGeom prst="roundRect">
            <a:avLst/>
          </a:prstGeom>
          <a:solidFill>
            <a:srgbClr val="0F1317"/>
          </a:solidFill>
          <a:ln>
            <a:solidFill>
              <a:srgbClr val="2D3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4544568"/>
            <a:ext cx="137160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39FF68"/>
                </a:solidFill>
                <a:latin typeface="Aptos"/>
              </a:rPr>
              <a:t>Core 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64608"/>
            <a:ext cx="4133087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0">
                <a:solidFill>
                  <a:srgbClr val="F5F8FA"/>
                </a:solidFill>
                <a:latin typeface="Aptos"/>
              </a:rPr>
              <a:t>Should related data live inside the document,</a:t>
            </a:r>
            <a:br/>
            <a:r>
              <a:t>or be stored separately and connected by an id?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3737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>
                <a:solidFill>
                  <a:srgbClr val="AAB4BC"/>
                </a:solidFill>
                <a:latin typeface="Aptos"/>
              </a:rPr>
              <a:t>1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37376"/>
            <a:ext cx="365760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>
                <a:solidFill>
                  <a:srgbClr val="AAB4BC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100" b="1">
                <a:solidFill>
                  <a:srgbClr val="F5F8FA"/>
                </a:solidFill>
                <a:latin typeface="Aptos"/>
              </a:rPr>
              <a:t>What Is a Relation?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685800" cy="50292"/>
          </a:xfrm>
          <a:prstGeom prst="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0642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A relation is a logical connection between pieces of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2057400" cy="960120"/>
          </a:xfrm>
          <a:prstGeom prst="roundRect">
            <a:avLst/>
          </a:prstGeom>
          <a:solidFill>
            <a:srgbClr val="0F1317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86384" y="1929384"/>
            <a:ext cx="73152" cy="850392"/>
          </a:xfrm>
          <a:prstGeom prst="round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1947672"/>
            <a:ext cx="17465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500" b="1">
                <a:solidFill>
                  <a:srgbClr val="F5F8FA"/>
                </a:solidFill>
                <a:latin typeface="Aptos"/>
              </a:rPr>
              <a:t>Avi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286000"/>
            <a:ext cx="1746504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Customer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417320"/>
            <a:ext cx="2148840" cy="960120"/>
          </a:xfrm>
          <a:prstGeom prst="roundRect">
            <a:avLst/>
          </a:prstGeom>
          <a:solidFill>
            <a:srgbClr val="0F1317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809744" y="1472184"/>
            <a:ext cx="73152" cy="850392"/>
          </a:xfrm>
          <a:prstGeom prst="roundRect">
            <a:avLst/>
          </a:prstGeom>
          <a:solidFill>
            <a:srgbClr val="42D0FF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92624" y="1490472"/>
            <a:ext cx="183794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>
                <a:solidFill>
                  <a:srgbClr val="F5F8FA"/>
                </a:solidFill>
                <a:latin typeface="Aptos"/>
              </a:rPr>
              <a:t>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1828800"/>
            <a:ext cx="1837944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Profile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1417320"/>
            <a:ext cx="2148840" cy="960120"/>
          </a:xfrm>
          <a:prstGeom prst="roundRect">
            <a:avLst/>
          </a:prstGeom>
          <a:solidFill>
            <a:srgbClr val="0F1317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558784" y="1472184"/>
            <a:ext cx="73152" cy="850392"/>
          </a:xfrm>
          <a:prstGeom prst="roundRect">
            <a:avLst/>
          </a:prstGeom>
          <a:solidFill>
            <a:srgbClr val="FFCD43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41664" y="1490472"/>
            <a:ext cx="183794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>
                <a:solidFill>
                  <a:srgbClr val="F5F8FA"/>
                </a:solidFill>
                <a:latin typeface="Aptos"/>
              </a:rPr>
              <a:t>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4" y="1828800"/>
            <a:ext cx="1837944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Transaction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3794760"/>
            <a:ext cx="2148840" cy="960120"/>
          </a:xfrm>
          <a:prstGeom prst="roundRect">
            <a:avLst/>
          </a:prstGeom>
          <a:solidFill>
            <a:srgbClr val="0F1317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809744" y="3849624"/>
            <a:ext cx="73152" cy="850392"/>
          </a:xfrm>
          <a:prstGeom prst="roundRect">
            <a:avLst/>
          </a:prstGeom>
          <a:solidFill>
            <a:srgbClr val="B378FF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92624" y="3867912"/>
            <a:ext cx="183794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>
                <a:solidFill>
                  <a:srgbClr val="F5F8FA"/>
                </a:solidFill>
                <a:latin typeface="Aptos"/>
              </a:rPr>
              <a:t>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4206240"/>
            <a:ext cx="1837944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Reusable value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788920" y="1901952"/>
            <a:ext cx="1965960" cy="457200"/>
          </a:xfrm>
          <a:prstGeom prst="line">
            <a:avLst/>
          </a:prstGeom>
          <a:ln w="3556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788920" y="1901952"/>
            <a:ext cx="5715000" cy="457200"/>
          </a:xfrm>
          <a:prstGeom prst="line">
            <a:avLst/>
          </a:prstGeom>
          <a:ln w="3556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788920" y="2359152"/>
            <a:ext cx="1965960" cy="1920240"/>
          </a:xfrm>
          <a:prstGeom prst="line">
            <a:avLst/>
          </a:prstGeom>
          <a:ln w="3556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18688" y="1700784"/>
            <a:ext cx="64008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42D0FF"/>
                </a:solidFill>
                <a:latin typeface="Aptos"/>
              </a:rPr>
              <a:t>1:1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664208"/>
            <a:ext cx="64008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CD43"/>
                </a:solidFill>
                <a:latin typeface="Aptos"/>
              </a:rPr>
              <a:t>1:N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447288"/>
            <a:ext cx="7315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B378FF"/>
                </a:solidFill>
                <a:latin typeface="Aptos"/>
              </a:rPr>
              <a:t>N:M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166360"/>
            <a:ext cx="10058400" cy="658368"/>
          </a:xfrm>
          <a:prstGeom prst="roundRect">
            <a:avLst/>
          </a:prstGeom>
          <a:solidFill>
            <a:srgbClr val="0F1317"/>
          </a:solidFill>
          <a:ln>
            <a:solidFill>
              <a:srgbClr val="2D3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" y="5321808"/>
            <a:ext cx="960120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5F8FA"/>
                </a:solidFill>
                <a:latin typeface="Aptos"/>
              </a:rPr>
              <a:t>Think in terms of: cardinality  •  ownership  •  growth  •  access pattern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3737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>
                <a:solidFill>
                  <a:srgbClr val="AAB4BC"/>
                </a:solidFill>
                <a:latin typeface="Aptos"/>
              </a:rPr>
              <a:t>2 /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37376"/>
            <a:ext cx="365760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>
                <a:solidFill>
                  <a:srgbClr val="AAB4BC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100" b="1">
                <a:solidFill>
                  <a:srgbClr val="F5F8FA"/>
                </a:solidFill>
                <a:latin typeface="Aptos"/>
              </a:rPr>
              <a:t>One-to-One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685800" cy="50292"/>
          </a:xfrm>
          <a:prstGeom prst="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0642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One customer maps to one closely related profile.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2286000" cy="1005840"/>
          </a:xfrm>
          <a:prstGeom prst="roundRect">
            <a:avLst/>
          </a:prstGeom>
          <a:solidFill>
            <a:srgbClr val="0F1317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86384" y="1929384"/>
            <a:ext cx="73152" cy="896112"/>
          </a:xfrm>
          <a:prstGeom prst="round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1947672"/>
            <a:ext cx="19751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500" b="1">
                <a:solidFill>
                  <a:srgbClr val="F5F8FA"/>
                </a:solidFill>
                <a:latin typeface="Aptos"/>
              </a:rPr>
              <a:t>Avi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286000"/>
            <a:ext cx="1975104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Customer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74519"/>
            <a:ext cx="2286000" cy="1005840"/>
          </a:xfrm>
          <a:prstGeom prst="roundRect">
            <a:avLst/>
          </a:prstGeom>
          <a:solidFill>
            <a:srgbClr val="0F1317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55664" y="1929384"/>
            <a:ext cx="73152" cy="896112"/>
          </a:xfrm>
          <a:prstGeom prst="roundRect">
            <a:avLst/>
          </a:prstGeom>
          <a:solidFill>
            <a:srgbClr val="42D0FF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38544" y="1947672"/>
            <a:ext cx="19751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>
                <a:solidFill>
                  <a:srgbClr val="F5F8FA"/>
                </a:solidFill>
                <a:latin typeface="Aptos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544" y="2286000"/>
            <a:ext cx="1975104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Exactly one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17520" y="2377440"/>
            <a:ext cx="3383280" cy="0"/>
          </a:xfrm>
          <a:prstGeom prst="line">
            <a:avLst/>
          </a:prstGeom>
          <a:ln w="3810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0" y="1938528"/>
            <a:ext cx="5486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39FF68"/>
                </a:solidFill>
                <a:latin typeface="Apto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1938528"/>
            <a:ext cx="5486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42D0FF"/>
                </a:solidFill>
                <a:latin typeface="Aptos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429000"/>
            <a:ext cx="4389120" cy="1920240"/>
          </a:xfrm>
          <a:prstGeom prst="roundRect">
            <a:avLst/>
          </a:prstGeom>
          <a:solidFill>
            <a:srgbClr val="090C0F"/>
          </a:solidFill>
          <a:ln>
            <a:solidFill>
              <a:srgbClr val="2F3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3520440"/>
            <a:ext cx="4169663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  name: "Avi",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  profile: 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    city: "Bangalore",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    area: "RR Nagar"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}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429000"/>
            <a:ext cx="4572000" cy="1920240"/>
          </a:xfrm>
          <a:prstGeom prst="roundRect">
            <a:avLst/>
          </a:prstGeom>
          <a:solidFill>
            <a:srgbClr val="0F1317"/>
          </a:solidFill>
          <a:ln>
            <a:solidFill>
              <a:srgbClr val="2D3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656832" y="3685032"/>
            <a:ext cx="1188720" cy="310896"/>
          </a:xfrm>
          <a:prstGeom prst="roundRect">
            <a:avLst/>
          </a:prstGeom>
          <a:solidFill>
            <a:srgbClr val="151B1F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56832" y="3703320"/>
            <a:ext cx="11887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42D0FF"/>
                </a:solidFill>
                <a:latin typeface="Aptos"/>
              </a:rPr>
              <a:t>GOOD EMBED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6832" y="4160520"/>
            <a:ext cx="384048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0">
                <a:solidFill>
                  <a:srgbClr val="F5F8FA"/>
                </a:solidFill>
                <a:latin typeface="Aptos"/>
              </a:rPr>
              <a:t>Use embedding when the related data</a:t>
            </a:r>
            <a:br/>
            <a:r>
              <a:t>is small, bounded, and read with the parent.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3737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>
                <a:solidFill>
                  <a:srgbClr val="AAB4BC"/>
                </a:solidFill>
                <a:latin typeface="Aptos"/>
              </a:rPr>
              <a:t>3 /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365760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>
                <a:solidFill>
                  <a:srgbClr val="AAB4BC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100" b="1">
                <a:solidFill>
                  <a:srgbClr val="F5F8FA"/>
                </a:solidFill>
                <a:latin typeface="Aptos"/>
              </a:rPr>
              <a:t>One-to-Many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685800" cy="50292"/>
          </a:xfrm>
          <a:prstGeom prst="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0642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A single Avi customer can have many orders.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2011680" cy="914400"/>
          </a:xfrm>
          <a:prstGeom prst="roundRect">
            <a:avLst/>
          </a:prstGeom>
          <a:solidFill>
            <a:srgbClr val="0F1317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13232" y="2249424"/>
            <a:ext cx="73152" cy="804672"/>
          </a:xfrm>
          <a:prstGeom prst="round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267712"/>
            <a:ext cx="170078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F5F8FA"/>
                </a:solidFill>
                <a:latin typeface="Aptos"/>
              </a:rPr>
              <a:t>Avi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606040"/>
            <a:ext cx="1700784" cy="41147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Customer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0" y="1325880"/>
            <a:ext cx="2057400" cy="713232"/>
          </a:xfrm>
          <a:prstGeom prst="roundRect">
            <a:avLst/>
          </a:prstGeom>
          <a:solidFill>
            <a:srgbClr val="0F1317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24144" y="1380744"/>
            <a:ext cx="73152" cy="603504"/>
          </a:xfrm>
          <a:prstGeom prst="roundRect">
            <a:avLst/>
          </a:prstGeom>
          <a:solidFill>
            <a:srgbClr val="FFCD43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07024" y="1399032"/>
            <a:ext cx="17465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F5F8FA"/>
                </a:solidFill>
                <a:latin typeface="Aptos"/>
              </a:rPr>
              <a:t>Order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7024" y="1737360"/>
            <a:ext cx="1746504" cy="21031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Related record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670048" y="1682495"/>
            <a:ext cx="2999232" cy="969265"/>
          </a:xfrm>
          <a:prstGeom prst="line">
            <a:avLst/>
          </a:prstGeom>
          <a:ln w="2794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669280" y="2331720"/>
            <a:ext cx="2057400" cy="713232"/>
          </a:xfrm>
          <a:prstGeom prst="roundRect">
            <a:avLst/>
          </a:prstGeom>
          <a:solidFill>
            <a:srgbClr val="0F1317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724144" y="2386584"/>
            <a:ext cx="73152" cy="603504"/>
          </a:xfrm>
          <a:prstGeom prst="roundRect">
            <a:avLst/>
          </a:prstGeom>
          <a:solidFill>
            <a:srgbClr val="FFCD43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07024" y="2404872"/>
            <a:ext cx="17465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F5F8FA"/>
                </a:solidFill>
                <a:latin typeface="Aptos"/>
              </a:rPr>
              <a:t>Order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7024" y="2743200"/>
            <a:ext cx="1746504" cy="21031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Related record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2651760"/>
            <a:ext cx="2999232" cy="36576"/>
          </a:xfrm>
          <a:prstGeom prst="line">
            <a:avLst/>
          </a:prstGeom>
          <a:ln w="2794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669280" y="3337560"/>
            <a:ext cx="2057400" cy="713232"/>
          </a:xfrm>
          <a:prstGeom prst="roundRect">
            <a:avLst/>
          </a:prstGeom>
          <a:solidFill>
            <a:srgbClr val="0F1317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724144" y="3392424"/>
            <a:ext cx="73152" cy="603504"/>
          </a:xfrm>
          <a:prstGeom prst="roundRect">
            <a:avLst/>
          </a:prstGeom>
          <a:solidFill>
            <a:srgbClr val="FFCD43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07024" y="3410712"/>
            <a:ext cx="17465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F5F8FA"/>
                </a:solidFill>
                <a:latin typeface="Aptos"/>
              </a:rPr>
              <a:t>Order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7024" y="3749039"/>
            <a:ext cx="1746504" cy="21031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Related record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670048" y="2651760"/>
            <a:ext cx="2999232" cy="1042416"/>
          </a:xfrm>
          <a:prstGeom prst="line">
            <a:avLst/>
          </a:prstGeom>
          <a:ln w="2794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0" y="4343400"/>
            <a:ext cx="2057400" cy="713232"/>
          </a:xfrm>
          <a:prstGeom prst="roundRect">
            <a:avLst/>
          </a:prstGeom>
          <a:solidFill>
            <a:srgbClr val="0F1317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724144" y="4398264"/>
            <a:ext cx="73152" cy="603504"/>
          </a:xfrm>
          <a:prstGeom prst="roundRect">
            <a:avLst/>
          </a:prstGeom>
          <a:solidFill>
            <a:srgbClr val="FFCD43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07024" y="4416552"/>
            <a:ext cx="17465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F5F8FA"/>
                </a:solidFill>
                <a:latin typeface="Aptos"/>
              </a:rPr>
              <a:t>Order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7024" y="4754880"/>
            <a:ext cx="1746504" cy="21031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Related record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70048" y="2651760"/>
            <a:ext cx="2999232" cy="2048256"/>
          </a:xfrm>
          <a:prstGeom prst="line">
            <a:avLst/>
          </a:prstGeom>
          <a:ln w="2794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401568" y="2359152"/>
            <a:ext cx="566928" cy="310896"/>
          </a:xfrm>
          <a:prstGeom prst="roundRect">
            <a:avLst/>
          </a:prstGeom>
          <a:solidFill>
            <a:srgbClr val="151B1F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401568" y="2377440"/>
            <a:ext cx="566928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39FF68"/>
                </a:solidFill>
                <a:latin typeface="Aptos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0832" y="2359152"/>
            <a:ext cx="566928" cy="310896"/>
          </a:xfrm>
          <a:prstGeom prst="roundRect">
            <a:avLst/>
          </a:prstGeom>
          <a:solidFill>
            <a:srgbClr val="151B1F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70832" y="2377440"/>
            <a:ext cx="566928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FFCD43"/>
                </a:solidFill>
                <a:latin typeface="Aptos"/>
              </a:rPr>
              <a:t>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1325880"/>
            <a:ext cx="2880360" cy="3730752"/>
          </a:xfrm>
          <a:prstGeom prst="roundRect">
            <a:avLst/>
          </a:prstGeom>
          <a:solidFill>
            <a:srgbClr val="0F1317"/>
          </a:solidFill>
          <a:ln>
            <a:solidFill>
              <a:srgbClr val="2D3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13648" y="1572768"/>
            <a:ext cx="219456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FFCD43"/>
                </a:solidFill>
                <a:latin typeface="Aptos"/>
              </a:rPr>
              <a:t>Reference pattern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77072" y="1993392"/>
            <a:ext cx="2331720" cy="1508760"/>
          </a:xfrm>
          <a:prstGeom prst="roundRect">
            <a:avLst/>
          </a:prstGeom>
          <a:solidFill>
            <a:srgbClr val="090C0F"/>
          </a:solidFill>
          <a:ln>
            <a:solidFill>
              <a:srgbClr val="2F3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86800" y="2084832"/>
            <a:ext cx="2112263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F5F8FA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F5F8FA"/>
                </a:solidFill>
                <a:latin typeface="Courier New"/>
              </a:rPr>
              <a:t>  orderId: 1001,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F5F8FA"/>
                </a:solidFill>
                <a:latin typeface="Courier New"/>
              </a:rPr>
              <a:t>  customerId: "AVI-001",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F5F8FA"/>
                </a:solidFill>
                <a:latin typeface="Courier New"/>
              </a:rPr>
              <a:t>  total: 4200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F5F8FA"/>
                </a:solidFill>
                <a:latin typeface="Courier New"/>
              </a:rPr>
              <a:t>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13648" y="3803904"/>
            <a:ext cx="224028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F5F8FA"/>
                </a:solidFill>
                <a:latin typeface="Aptos"/>
              </a:rPr>
              <a:t>Keep growing children separate</a:t>
            </a:r>
            <a:br/>
            <a:r>
              <a:t>when they change or expand independently.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3737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>
                <a:solidFill>
                  <a:srgbClr val="AAB4BC"/>
                </a:solidFill>
                <a:latin typeface="Aptos"/>
              </a:rPr>
              <a:t>4 / 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37376"/>
            <a:ext cx="365760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>
                <a:solidFill>
                  <a:srgbClr val="AAB4BC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100" b="1">
                <a:solidFill>
                  <a:srgbClr val="F5F8FA"/>
                </a:solidFill>
                <a:latin typeface="Aptos"/>
              </a:rPr>
              <a:t>Many-to-Many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685800" cy="50292"/>
          </a:xfrm>
          <a:prstGeom prst="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0642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Avi can have many skills, and each skill can belong to many users.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514600"/>
            <a:ext cx="1920240" cy="868680"/>
          </a:xfrm>
          <a:prstGeom prst="roundRect">
            <a:avLst/>
          </a:prstGeom>
          <a:solidFill>
            <a:srgbClr val="0F1317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13232" y="2569464"/>
            <a:ext cx="73152" cy="758952"/>
          </a:xfrm>
          <a:prstGeom prst="round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587752"/>
            <a:ext cx="160934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F5F8FA"/>
                </a:solidFill>
                <a:latin typeface="Aptos"/>
              </a:rPr>
              <a:t>Avi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26080"/>
            <a:ext cx="1609344" cy="36575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User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234440"/>
            <a:ext cx="2286000" cy="713232"/>
          </a:xfrm>
          <a:prstGeom prst="roundRect">
            <a:avLst/>
          </a:prstGeom>
          <a:solidFill>
            <a:srgbClr val="0F1317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010144" y="1289304"/>
            <a:ext cx="73152" cy="603504"/>
          </a:xfrm>
          <a:prstGeom prst="roundRect">
            <a:avLst/>
          </a:prstGeom>
          <a:solidFill>
            <a:srgbClr val="B378FF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93023" y="1307592"/>
            <a:ext cx="19751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F5F8FA"/>
                </a:solidFill>
                <a:latin typeface="Aptos"/>
              </a:rPr>
              <a:t>MongoDB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3" y="1645920"/>
            <a:ext cx="1975104" cy="21031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Skill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578608" y="1591056"/>
            <a:ext cx="5376671" cy="1353312"/>
          </a:xfrm>
          <a:prstGeom prst="line">
            <a:avLst/>
          </a:prstGeom>
          <a:ln w="21590">
            <a:solidFill>
              <a:srgbClr val="39FF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55279" y="2331720"/>
            <a:ext cx="2286000" cy="713232"/>
          </a:xfrm>
          <a:prstGeom prst="roundRect">
            <a:avLst/>
          </a:prstGeom>
          <a:solidFill>
            <a:srgbClr val="0F1317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010144" y="2386584"/>
            <a:ext cx="73152" cy="603504"/>
          </a:xfrm>
          <a:prstGeom prst="roundRect">
            <a:avLst/>
          </a:prstGeom>
          <a:solidFill>
            <a:srgbClr val="B378FF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93023" y="2404872"/>
            <a:ext cx="19751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F5F8FA"/>
                </a:solidFill>
                <a:latin typeface="Aptos"/>
              </a:rPr>
              <a:t>Java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2743200"/>
            <a:ext cx="1975104" cy="21031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Skill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578608" y="2688336"/>
            <a:ext cx="5376671" cy="256032"/>
          </a:xfrm>
          <a:prstGeom prst="line">
            <a:avLst/>
          </a:prstGeom>
          <a:ln w="21590">
            <a:solidFill>
              <a:srgbClr val="39FF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55279" y="3429000"/>
            <a:ext cx="2286000" cy="713232"/>
          </a:xfrm>
          <a:prstGeom prst="roundRect">
            <a:avLst/>
          </a:prstGeom>
          <a:solidFill>
            <a:srgbClr val="0F1317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10144" y="3483864"/>
            <a:ext cx="73152" cy="603504"/>
          </a:xfrm>
          <a:prstGeom prst="roundRect">
            <a:avLst/>
          </a:prstGeom>
          <a:solidFill>
            <a:srgbClr val="B378FF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93023" y="3502152"/>
            <a:ext cx="19751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F5F8FA"/>
                </a:solidFill>
                <a:latin typeface="Aptos"/>
              </a:rPr>
              <a:t>Spring Boot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3840480"/>
            <a:ext cx="1975104" cy="21031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Skill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78608" y="2944368"/>
            <a:ext cx="5376671" cy="841247"/>
          </a:xfrm>
          <a:prstGeom prst="line">
            <a:avLst/>
          </a:prstGeom>
          <a:ln w="21590">
            <a:solidFill>
              <a:srgbClr val="39FF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955279" y="4526280"/>
            <a:ext cx="2286000" cy="713232"/>
          </a:xfrm>
          <a:prstGeom prst="roundRect">
            <a:avLst/>
          </a:prstGeom>
          <a:solidFill>
            <a:srgbClr val="0F1317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010144" y="4581144"/>
            <a:ext cx="73152" cy="603504"/>
          </a:xfrm>
          <a:prstGeom prst="roundRect">
            <a:avLst/>
          </a:prstGeom>
          <a:solidFill>
            <a:srgbClr val="B378FF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93023" y="4599432"/>
            <a:ext cx="19751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F5F8FA"/>
                </a:solidFill>
                <a:latin typeface="Aptos"/>
              </a:rPr>
              <a:t>Python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3" y="4937760"/>
            <a:ext cx="1975104" cy="21031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Skill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578608" y="2944368"/>
            <a:ext cx="5376671" cy="1938528"/>
          </a:xfrm>
          <a:prstGeom prst="line">
            <a:avLst/>
          </a:prstGeom>
          <a:ln w="21590">
            <a:solidFill>
              <a:srgbClr val="39FF6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429000" y="1325880"/>
            <a:ext cx="3291840" cy="3337560"/>
          </a:xfrm>
          <a:prstGeom prst="roundRect">
            <a:avLst/>
          </a:prstGeom>
          <a:solidFill>
            <a:srgbClr val="0F1317"/>
          </a:solidFill>
          <a:ln>
            <a:solidFill>
              <a:srgbClr val="2D38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03320" y="1600200"/>
            <a:ext cx="16459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B378FF"/>
                </a:solidFill>
                <a:latin typeface="Aptos"/>
              </a:rPr>
              <a:t>Reference set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2029968"/>
            <a:ext cx="2743200" cy="2103120"/>
          </a:xfrm>
          <a:prstGeom prst="roundRect">
            <a:avLst/>
          </a:prstGeom>
          <a:solidFill>
            <a:srgbClr val="090C0F"/>
          </a:solidFill>
          <a:ln>
            <a:solidFill>
              <a:srgbClr val="2F3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767328" y="2121408"/>
            <a:ext cx="2523744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F5F8FA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F5F8FA"/>
                </a:solidFill>
                <a:latin typeface="Courier New"/>
              </a:rPr>
              <a:t>  customerId: "AVI-001",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F5F8FA"/>
                </a:solidFill>
                <a:latin typeface="Courier New"/>
              </a:rPr>
              <a:t>  skillIds: [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F5F8FA"/>
                </a:solidFill>
                <a:latin typeface="Courier New"/>
              </a:rPr>
              <a:t>    "SK-MONGO",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F5F8FA"/>
                </a:solidFill>
                <a:latin typeface="Courier New"/>
              </a:rPr>
              <a:t>    "SK-JAVA",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F5F8FA"/>
                </a:solidFill>
                <a:latin typeface="Courier New"/>
              </a:rPr>
              <a:t>    "SK-SPRING"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F5F8FA"/>
                </a:solidFill>
                <a:latin typeface="Courier New"/>
              </a:rPr>
              <a:t>  ]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F5F8FA"/>
                </a:solidFill>
                <a:latin typeface="Courier New"/>
              </a:rPr>
              <a:t>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5887" y="4233672"/>
            <a:ext cx="26974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AAB4BC"/>
                </a:solidFill>
                <a:latin typeface="Aptos"/>
              </a:rPr>
              <a:t>The connection is represented by ids</a:t>
            </a:r>
            <a:br/>
            <a:r>
              <a:t>rather than duplicating the skill definition.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3737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>
                <a:solidFill>
                  <a:srgbClr val="AAB4BC"/>
                </a:solidFill>
                <a:latin typeface="Aptos"/>
              </a:rPr>
              <a:t>5 / 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37376"/>
            <a:ext cx="365760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>
                <a:solidFill>
                  <a:srgbClr val="AAB4BC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100" b="1">
                <a:solidFill>
                  <a:srgbClr val="F5F8FA"/>
                </a:solidFill>
                <a:latin typeface="Aptos"/>
              </a:rPr>
              <a:t>Embed or Reference?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685800" cy="50292"/>
          </a:xfrm>
          <a:prstGeom prst="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0642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Make the choice from the relationship and the way the application uses the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66360" cy="4114800"/>
          </a:xfrm>
          <a:prstGeom prst="roundRect">
            <a:avLst/>
          </a:prstGeom>
          <a:solidFill>
            <a:srgbClr val="0F1317"/>
          </a:solidFill>
          <a:ln>
            <a:solidFill>
              <a:srgbClr val="285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856231"/>
            <a:ext cx="1005840" cy="310896"/>
          </a:xfrm>
          <a:prstGeom prst="roundRect">
            <a:avLst/>
          </a:prstGeom>
          <a:solidFill>
            <a:srgbClr val="151B1F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0584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42D0FF"/>
                </a:solidFill>
                <a:latin typeface="Aptos"/>
              </a:rPr>
              <a:t>EMBED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67712"/>
            <a:ext cx="4389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>
                <a:solidFill>
                  <a:srgbClr val="F5F8FA"/>
                </a:solidFill>
                <a:latin typeface="Aptos"/>
              </a:rPr>
              <a:t>Related data lives inside Avi's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160520" cy="1508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0">
                <a:solidFill>
                  <a:srgbClr val="F5F8FA"/>
                </a:solidFill>
                <a:latin typeface="Aptos"/>
              </a:rPr>
              <a:t>✓ small and bounded</a:t>
            </a:r>
            <a:br/>
            <a:r>
              <a:t>✓ read together</a:t>
            </a:r>
            <a:br/>
            <a:r>
              <a:t>✓ owned by the parent</a:t>
            </a:r>
            <a:br/>
            <a:r>
              <a:t>✓ duplication is acceptable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166360" cy="4114800"/>
          </a:xfrm>
          <a:prstGeom prst="roundRect">
            <a:avLst/>
          </a:prstGeom>
          <a:solidFill>
            <a:srgbClr val="0F1317"/>
          </a:solidFill>
          <a:ln>
            <a:solidFill>
              <a:srgbClr val="6E5F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83680" y="1856231"/>
            <a:ext cx="1234440" cy="310896"/>
          </a:xfrm>
          <a:prstGeom prst="roundRect">
            <a:avLst/>
          </a:prstGeom>
          <a:solidFill>
            <a:srgbClr val="151B1F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874519"/>
            <a:ext cx="123444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CD43"/>
                </a:solidFill>
                <a:latin typeface="Aptos"/>
              </a:rPr>
              <a:t>REFERENCE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267712"/>
            <a:ext cx="42976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200" b="1">
                <a:solidFill>
                  <a:srgbClr val="F5F8FA"/>
                </a:solidFill>
                <a:latin typeface="Aptos"/>
              </a:rPr>
              <a:t>Related data lives in a</a:t>
            </a:r>
            <a:br/>
            <a:r>
              <a:t>separate collection.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54680"/>
            <a:ext cx="4251960" cy="1508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0">
                <a:solidFill>
                  <a:srgbClr val="F5F8FA"/>
                </a:solidFill>
                <a:latin typeface="Aptos"/>
              </a:rPr>
              <a:t>✓ can grow independently</a:t>
            </a:r>
            <a:br/>
            <a:r>
              <a:t>✓ shared by many records</a:t>
            </a:r>
            <a:br/>
            <a:r>
              <a:t>✓ updated separately</a:t>
            </a:r>
            <a:br/>
            <a:r>
              <a:t>✓ duplication should be controlled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3737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>
                <a:solidFill>
                  <a:srgbClr val="AAB4BC"/>
                </a:solidFill>
                <a:latin typeface="Aptos"/>
              </a:rPr>
              <a:t>6 /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37376"/>
            <a:ext cx="365760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>
                <a:solidFill>
                  <a:srgbClr val="AAB4BC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100" b="1">
                <a:solidFill>
                  <a:srgbClr val="F5F8FA"/>
                </a:solidFill>
                <a:latin typeface="Aptos"/>
              </a:rPr>
              <a:t>Relationship Patterns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685800" cy="50292"/>
          </a:xfrm>
          <a:prstGeom prst="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0642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Cardinality helps you choose a practical document shape.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383280" cy="3520440"/>
          </a:xfrm>
          <a:prstGeom prst="roundRect">
            <a:avLst/>
          </a:prstGeom>
          <a:solidFill>
            <a:srgbClr val="0F1317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926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100" b="1">
                <a:solidFill>
                  <a:srgbClr val="42D0FF"/>
                </a:solidFill>
                <a:latin typeface="Aptos"/>
              </a:rPr>
              <a:t>1 :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292608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5F8FA"/>
                </a:solidFill>
                <a:latin typeface="Aptos"/>
              </a:rPr>
              <a:t>Avi → Profile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273552"/>
            <a:ext cx="2194560" cy="457200"/>
          </a:xfrm>
          <a:prstGeom prst="roundRect">
            <a:avLst/>
          </a:prstGeom>
          <a:solidFill>
            <a:srgbClr val="42D0FF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3346704"/>
            <a:ext cx="21031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50709"/>
                </a:solidFill>
                <a:latin typeface="Aptos"/>
              </a:rPr>
              <a:t>Usually 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4160520"/>
            <a:ext cx="28346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>
                <a:solidFill>
                  <a:srgbClr val="AAB4BC"/>
                </a:solidFill>
                <a:latin typeface="Aptos"/>
              </a:rPr>
              <a:t>bounded and owned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600200"/>
            <a:ext cx="3383280" cy="3520440"/>
          </a:xfrm>
          <a:prstGeom prst="roundRect">
            <a:avLst/>
          </a:prstGeom>
          <a:solidFill>
            <a:srgbClr val="0F1317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1874519"/>
            <a:ext cx="2926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100" b="1">
                <a:solidFill>
                  <a:srgbClr val="FFCD43"/>
                </a:solidFill>
                <a:latin typeface="Aptos"/>
              </a:rPr>
              <a:t>1 :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560320"/>
            <a:ext cx="292608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5F8FA"/>
                </a:solidFill>
                <a:latin typeface="Aptos"/>
              </a:rPr>
              <a:t>Avi → Orders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3273552"/>
            <a:ext cx="2194560" cy="457200"/>
          </a:xfrm>
          <a:prstGeom prst="roundRect">
            <a:avLst/>
          </a:prstGeom>
          <a:solidFill>
            <a:srgbClr val="FFCD43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20640" y="3346704"/>
            <a:ext cx="21031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50709"/>
                </a:solidFill>
                <a:latin typeface="Aptos"/>
              </a:rPr>
              <a:t>Often reference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4160520"/>
            <a:ext cx="28346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>
                <a:solidFill>
                  <a:srgbClr val="AAB4BC"/>
                </a:solidFill>
                <a:latin typeface="Aptos"/>
              </a:rPr>
              <a:t>grows independently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600200"/>
            <a:ext cx="3383280" cy="3520440"/>
          </a:xfrm>
          <a:prstGeom prst="roundRect">
            <a:avLst/>
          </a:prstGeom>
          <a:solidFill>
            <a:srgbClr val="0F1317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3920" y="1874519"/>
            <a:ext cx="2926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100" b="1">
                <a:solidFill>
                  <a:srgbClr val="B378FF"/>
                </a:solidFill>
                <a:latin typeface="Aptos"/>
              </a:rPr>
              <a:t>N :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560320"/>
            <a:ext cx="292608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000" b="1">
                <a:solidFill>
                  <a:srgbClr val="F5F8FA"/>
                </a:solidFill>
                <a:latin typeface="Aptos"/>
              </a:rPr>
              <a:t>Avi ↔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0" y="3273552"/>
            <a:ext cx="2194560" cy="457200"/>
          </a:xfrm>
          <a:prstGeom prst="roundRect">
            <a:avLst/>
          </a:prstGeom>
          <a:solidFill>
            <a:srgbClr val="B378FF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15400" y="3346704"/>
            <a:ext cx="210312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050709"/>
                </a:solidFill>
                <a:latin typeface="Aptos"/>
              </a:rPr>
              <a:t>Reference ids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4160520"/>
            <a:ext cx="28346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0">
                <a:solidFill>
                  <a:srgbClr val="AAB4BC"/>
                </a:solidFill>
                <a:latin typeface="Aptos"/>
              </a:rPr>
              <a:t>shared relationship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50992"/>
            <a:ext cx="101498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39FF68"/>
                </a:solidFill>
                <a:latin typeface="Aptos"/>
              </a:rPr>
              <a:t>Do not start with “table translation”. Start with “how is this data related and accessed?”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3737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>
                <a:solidFill>
                  <a:srgbClr val="AAB4BC"/>
                </a:solidFill>
                <a:latin typeface="Aptos"/>
              </a:rPr>
              <a:t>7 /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365760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>
                <a:solidFill>
                  <a:srgbClr val="AAB4BC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100" b="1">
                <a:solidFill>
                  <a:srgbClr val="F5F8FA"/>
                </a:solidFill>
                <a:latin typeface="Aptos"/>
              </a:rPr>
              <a:t>Relation-Driven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685800" cy="50292"/>
          </a:xfrm>
          <a:prstGeom prst="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0642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Four questions before you choose a structure.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72768"/>
            <a:ext cx="5257800" cy="1627632"/>
          </a:xfrm>
          <a:prstGeom prst="roundRect">
            <a:avLst/>
          </a:prstGeom>
          <a:solidFill>
            <a:srgbClr val="0F1317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737360"/>
            <a:ext cx="594360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39FF68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700784"/>
            <a:ext cx="40690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F5F8FA"/>
                </a:solidFill>
                <a:latin typeface="Aptos"/>
              </a:rPr>
              <a:t>How many?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03704"/>
            <a:ext cx="4041648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One-to-one, one-to-many, or many-to-many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572768"/>
            <a:ext cx="5257800" cy="1627632"/>
          </a:xfrm>
          <a:prstGeom prst="roundRect">
            <a:avLst/>
          </a:prstGeom>
          <a:solidFill>
            <a:srgbClr val="0F1317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01968" y="1737360"/>
            <a:ext cx="594360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FFCD43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700784"/>
            <a:ext cx="40690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F5F8FA"/>
                </a:solidFill>
                <a:latin typeface="Aptos"/>
              </a:rPr>
              <a:t>How big?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203704"/>
            <a:ext cx="4041648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Will the related set grow without a clear bound?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602736"/>
            <a:ext cx="5257800" cy="1627632"/>
          </a:xfrm>
          <a:prstGeom prst="roundRect">
            <a:avLst/>
          </a:prstGeom>
          <a:solidFill>
            <a:srgbClr val="0F1317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3767328"/>
            <a:ext cx="594360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42D0FF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30752"/>
            <a:ext cx="40690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F5F8FA"/>
                </a:solidFill>
                <a:latin typeface="Aptos"/>
              </a:rPr>
              <a:t>How shared?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33672"/>
            <a:ext cx="4041648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Is the related data reused by many documents?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602736"/>
            <a:ext cx="5257800" cy="1627632"/>
          </a:xfrm>
          <a:prstGeom prst="roundRect">
            <a:avLst/>
          </a:prstGeom>
          <a:solidFill>
            <a:srgbClr val="0F1317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01968" y="3767328"/>
            <a:ext cx="594360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B378FF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730752"/>
            <a:ext cx="40690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100" b="1">
                <a:solidFill>
                  <a:srgbClr val="F5F8FA"/>
                </a:solidFill>
                <a:latin typeface="Aptos"/>
              </a:rPr>
              <a:t>How accessed?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4233672"/>
            <a:ext cx="4041648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Are parent and child read or updated together?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3737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>
                <a:solidFill>
                  <a:srgbClr val="AAB4BC"/>
                </a:solidFill>
                <a:latin typeface="Aptos"/>
              </a:rPr>
              <a:t>8 /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365760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>
                <a:solidFill>
                  <a:srgbClr val="AAB4BC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100" b="1">
                <a:solidFill>
                  <a:srgbClr val="F5F8FA"/>
                </a:solidFill>
                <a:latin typeface="Aptos"/>
              </a:rPr>
              <a:t>Inspect Relations in mongosh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685800" cy="50292"/>
          </a:xfrm>
          <a:prstGeom prst="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0642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The shell makes the document relationship visible immediately.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6492240" cy="4114800"/>
          </a:xfrm>
          <a:prstGeom prst="roundRect">
            <a:avLst/>
          </a:prstGeom>
          <a:solidFill>
            <a:srgbClr val="090C0F"/>
          </a:solidFill>
          <a:ln>
            <a:solidFill>
              <a:srgbClr val="2F3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096" y="1600200"/>
            <a:ext cx="6272783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db.customers.findOne({ customerId: "AVI-001" })</a:t>
            </a:r>
          </a:p>
          <a:p>
            <a:pPr>
              <a:spcAft>
                <a:spcPts val="0"/>
              </a:spcAft>
            </a:pPr>
            <a:endParaRPr sz="1600">
              <a:solidFill>
                <a:srgbClr val="F5F8FA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db.orders.find({ customerId: "AVI-001" })</a:t>
            </a:r>
          </a:p>
          <a:p>
            <a:pPr>
              <a:spcAft>
                <a:spcPts val="0"/>
              </a:spcAft>
            </a:pPr>
            <a:endParaRPr sz="1600">
              <a:solidFill>
                <a:srgbClr val="F5F8FA"/>
              </a:solidFill>
              <a:latin typeface="Courier New"/>
            </a:endParaRPr>
          </a:p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db.customers.findOne({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  customerId: "AVI-001",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  "profile.city": "Bangalore"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F5F8FA"/>
                </a:solidFill>
                <a:latin typeface="Courier New"/>
              </a:rPr>
              <a:t>})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700784"/>
            <a:ext cx="2286000" cy="822960"/>
          </a:xfrm>
          <a:prstGeom prst="roundRect">
            <a:avLst/>
          </a:prstGeom>
          <a:solidFill>
            <a:srgbClr val="0F1317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872984" y="1755648"/>
            <a:ext cx="73152" cy="713232"/>
          </a:xfrm>
          <a:prstGeom prst="round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55864" y="1773936"/>
            <a:ext cx="19751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F5F8FA"/>
                </a:solidFill>
                <a:latin typeface="Aptos"/>
              </a:rPr>
              <a:t>Avi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5864" y="2112264"/>
            <a:ext cx="1975104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customerId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063240"/>
            <a:ext cx="1965960" cy="731520"/>
          </a:xfrm>
          <a:prstGeom prst="roundRect">
            <a:avLst/>
          </a:prstGeom>
          <a:solidFill>
            <a:srgbClr val="0F1317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198864" y="3118104"/>
            <a:ext cx="73152" cy="621792"/>
          </a:xfrm>
          <a:prstGeom prst="roundRect">
            <a:avLst/>
          </a:prstGeom>
          <a:solidFill>
            <a:srgbClr val="42D0FF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81744" y="3136392"/>
            <a:ext cx="1655063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81744" y="3474720"/>
            <a:ext cx="1655063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embedded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4352544"/>
            <a:ext cx="2286000" cy="731520"/>
          </a:xfrm>
          <a:prstGeom prst="roundRect">
            <a:avLst/>
          </a:prstGeom>
          <a:solidFill>
            <a:srgbClr val="0F1317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72984" y="4407407"/>
            <a:ext cx="73152" cy="621792"/>
          </a:xfrm>
          <a:prstGeom prst="roundRect">
            <a:avLst/>
          </a:prstGeom>
          <a:solidFill>
            <a:srgbClr val="FFCD43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55864" y="4425696"/>
            <a:ext cx="1975104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5864" y="4764024"/>
            <a:ext cx="1975104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referenced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61120" y="2523744"/>
            <a:ext cx="1051560" cy="539496"/>
          </a:xfrm>
          <a:prstGeom prst="line">
            <a:avLst/>
          </a:prstGeom>
          <a:ln w="29209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961120" y="2523744"/>
            <a:ext cx="0" cy="1828800"/>
          </a:xfrm>
          <a:prstGeom prst="line">
            <a:avLst/>
          </a:prstGeom>
          <a:ln w="29209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818120" y="534924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0">
                <a:solidFill>
                  <a:srgbClr val="AAB4BC"/>
                </a:solidFill>
                <a:latin typeface="Aptos"/>
              </a:rPr>
              <a:t>Same relationship model, different storage location.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3737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>
                <a:solidFill>
                  <a:srgbClr val="AAB4BC"/>
                </a:solidFill>
                <a:latin typeface="Aptos"/>
              </a:rPr>
              <a:t>9 /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365760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>
                <a:solidFill>
                  <a:srgbClr val="AAB4BC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7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2014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3100" b="1">
                <a:solidFill>
                  <a:srgbClr val="F5F8FA"/>
                </a:solidFill>
                <a:latin typeface="Aptos"/>
              </a:rPr>
              <a:t>Relation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685800" cy="50292"/>
          </a:xfrm>
          <a:prstGeom prst="rect">
            <a:avLst/>
          </a:prstGeom>
          <a:solidFill>
            <a:srgbClr val="39FF68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87552"/>
            <a:ext cx="110642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AAB4BC"/>
                </a:solidFill>
                <a:latin typeface="Aptos"/>
              </a:rPr>
              <a:t>Use this visual checklist when designing a MongoDB document.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74920" y="2212848"/>
            <a:ext cx="2057400" cy="1417320"/>
          </a:xfrm>
          <a:prstGeom prst="roundRect">
            <a:avLst/>
          </a:prstGeom>
          <a:solidFill>
            <a:srgbClr val="0F1317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230368" y="2441448"/>
            <a:ext cx="173736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800" b="1">
                <a:solidFill>
                  <a:srgbClr val="39FF68"/>
                </a:solidFill>
                <a:latin typeface="Aptos"/>
              </a:rPr>
              <a:t>Avi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852928"/>
            <a:ext cx="173736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F5F8FA"/>
                </a:solidFill>
                <a:latin typeface="Aptos"/>
              </a:rPr>
              <a:t>Customer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350008"/>
            <a:ext cx="3383280" cy="1005840"/>
          </a:xfrm>
          <a:prstGeom prst="roundRect">
            <a:avLst/>
          </a:prstGeom>
          <a:solidFill>
            <a:srgbClr val="0F1317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31719" y="2514600"/>
            <a:ext cx="59436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42D0FF"/>
                </a:solidFill>
                <a:latin typeface="Aptos"/>
              </a:rPr>
              <a:t>1:1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2183" y="2514600"/>
            <a:ext cx="21488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 dirty="0">
                <a:solidFill>
                  <a:srgbClr val="F5F8FA"/>
                </a:solidFill>
                <a:latin typeface="Aptos"/>
              </a:rPr>
              <a:t>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825496"/>
            <a:ext cx="214884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 dirty="0">
                <a:solidFill>
                  <a:srgbClr val="AAB4BC"/>
                </a:solidFill>
                <a:latin typeface="Aptos"/>
              </a:rPr>
              <a:t>Small + together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39327" y="1143000"/>
            <a:ext cx="3383280" cy="1005840"/>
          </a:xfrm>
          <a:prstGeom prst="roundRect">
            <a:avLst/>
          </a:prstGeom>
          <a:solidFill>
            <a:srgbClr val="0F1317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22207" y="1307592"/>
            <a:ext cx="59436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FFCD43"/>
                </a:solidFill>
                <a:latin typeface="Aptos"/>
              </a:rPr>
              <a:t>1:N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3728" y="1261872"/>
            <a:ext cx="21488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3728" y="1655064"/>
            <a:ext cx="214884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Grows independently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4462272"/>
            <a:ext cx="3383280" cy="1005840"/>
          </a:xfrm>
          <a:prstGeom prst="roundRect">
            <a:avLst/>
          </a:prstGeom>
          <a:solidFill>
            <a:srgbClr val="0F1317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4626864"/>
            <a:ext cx="59436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B378FF"/>
                </a:solidFill>
                <a:latin typeface="Aptos"/>
              </a:rPr>
              <a:t>N:M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581144"/>
            <a:ext cx="21488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IDs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974336"/>
            <a:ext cx="214884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Shared relationship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9327" y="4462272"/>
            <a:ext cx="3383280" cy="1005840"/>
          </a:xfrm>
          <a:prstGeom prst="roundRect">
            <a:avLst/>
          </a:prstGeom>
          <a:solidFill>
            <a:srgbClr val="0F1317"/>
          </a:solidFill>
          <a:ln>
            <a:solidFill>
              <a:srgbClr val="39F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22207" y="4626864"/>
            <a:ext cx="594360" cy="29260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39FF68"/>
                </a:solidFill>
                <a:latin typeface="Aptos"/>
              </a:rPr>
              <a:t>RULE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3728" y="4581144"/>
            <a:ext cx="214884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1">
                <a:solidFill>
                  <a:srgbClr val="F5F8FA"/>
                </a:solidFill>
                <a:latin typeface="Aptos"/>
              </a:rPr>
              <a:t>Access pattern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4974336"/>
            <a:ext cx="2148840" cy="274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300" b="0">
                <a:solidFill>
                  <a:srgbClr val="AAB4BC"/>
                </a:solidFill>
                <a:latin typeface="Aptos"/>
              </a:rPr>
              <a:t>Design around usage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43400" y="2505456"/>
            <a:ext cx="731520" cy="283464"/>
          </a:xfrm>
          <a:prstGeom prst="line">
            <a:avLst/>
          </a:prstGeom>
          <a:ln w="2540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132320" y="1856231"/>
            <a:ext cx="1207007" cy="932689"/>
          </a:xfrm>
          <a:prstGeom prst="line">
            <a:avLst/>
          </a:prstGeom>
          <a:ln w="2540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343400" y="3063240"/>
            <a:ext cx="731520" cy="210312"/>
          </a:xfrm>
          <a:prstGeom prst="line">
            <a:avLst/>
          </a:prstGeom>
          <a:ln w="2540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32320" y="3063240"/>
            <a:ext cx="1207007" cy="1856232"/>
          </a:xfrm>
          <a:prstGeom prst="line">
            <a:avLst/>
          </a:prstGeom>
          <a:ln w="25400">
            <a:solidFill>
              <a:srgbClr val="39F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97280" y="5806440"/>
            <a:ext cx="9966960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5F8FA"/>
                </a:solidFill>
                <a:latin typeface="Aptos"/>
              </a:rPr>
              <a:t>RELATION → CARDINALITY → ACCESS PATTERN → DOCUMENT SHAPE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5330952"/>
            <a:ext cx="1051560" cy="310896"/>
          </a:xfrm>
          <a:prstGeom prst="roundRect">
            <a:avLst/>
          </a:prstGeom>
          <a:solidFill>
            <a:srgbClr val="151B1F"/>
          </a:solidFill>
          <a:ln>
            <a:solidFill>
              <a:srgbClr val="42D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874519" y="5349240"/>
            <a:ext cx="105156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42D0FF"/>
                </a:solidFill>
                <a:latin typeface="Aptos"/>
              </a:rPr>
              <a:t>EMBED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32120" y="5330952"/>
            <a:ext cx="1325880" cy="310896"/>
          </a:xfrm>
          <a:prstGeom prst="roundRect">
            <a:avLst/>
          </a:prstGeom>
          <a:solidFill>
            <a:srgbClr val="151B1F"/>
          </a:solidFill>
          <a:ln>
            <a:solidFill>
              <a:srgbClr val="FFCD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532120" y="5349240"/>
            <a:ext cx="132588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FFCD43"/>
                </a:solidFill>
                <a:latin typeface="Aptos"/>
              </a:rPr>
              <a:t>REFERENCE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732520" y="5330952"/>
            <a:ext cx="1417320" cy="310896"/>
          </a:xfrm>
          <a:prstGeom prst="roundRect">
            <a:avLst/>
          </a:prstGeom>
          <a:solidFill>
            <a:srgbClr val="151B1F"/>
          </a:solidFill>
          <a:ln>
            <a:solidFill>
              <a:srgbClr val="B37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32520" y="5349240"/>
            <a:ext cx="14173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B378FF"/>
                </a:solidFill>
                <a:latin typeface="Aptos"/>
              </a:rPr>
              <a:t>ARRAY / IDS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37376"/>
            <a:ext cx="77724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000" b="0">
                <a:solidFill>
                  <a:srgbClr val="AAB4BC"/>
                </a:solidFill>
                <a:latin typeface="Aptos"/>
              </a:rPr>
              <a:t>10 / 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37376"/>
            <a:ext cx="365760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0">
                <a:solidFill>
                  <a:srgbClr val="AAB4BC"/>
                </a:solidFill>
                <a:latin typeface="Aptos"/>
              </a:rPr>
              <a:t>MongoDB Developer Learning Path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2ae551e3-0043-40f0-9a67-12d995049d50}" enabled="1" method="Standard" siteId="{97984c2b-a229-4609-8185-ae84947bc3f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688</Words>
  <Application>Microsoft Office PowerPoint</Application>
  <PresentationFormat>Widescreen</PresentationFormat>
  <Paragraphs>184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Avishesh Jha</cp:lastModifiedBy>
  <cp:revision>2</cp:revision>
  <dcterms:created xsi:type="dcterms:W3CDTF">2013-01-27T09:14:16Z</dcterms:created>
  <dcterms:modified xsi:type="dcterms:W3CDTF">2026-09-26T07:55:43Z</dcterms:modified>
  <cp:category/>
</cp:coreProperties>
</file>