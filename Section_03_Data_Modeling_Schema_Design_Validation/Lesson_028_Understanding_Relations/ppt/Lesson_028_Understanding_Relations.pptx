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_wide_infographic_style_tutorial_slide_on_a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7955279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Understanding Relations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9264"/>
            <a:ext cx="8138160" cy="38404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700" b="0">
                <a:solidFill>
                  <a:srgbClr val="C2CAD3"/>
                </a:solidFill>
                <a:latin typeface="Aptos"/>
              </a:rPr>
              <a:t>How MongoDB represents connections between real-world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246120" cy="379476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810512"/>
            <a:ext cx="2788920" cy="29260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000" b="1">
                <a:solidFill>
                  <a:srgbClr val="FF9A12"/>
                </a:solidFill>
                <a:latin typeface="Aptos"/>
              </a:rPr>
              <a:t>Order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360" y="1938528"/>
            <a:ext cx="416051" cy="267462"/>
          </a:xfrm>
          <a:prstGeom prst="rect">
            <a:avLst/>
          </a:prstGeom>
          <a:noFill/>
          <a:ln w="3810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893161" y="1892807"/>
            <a:ext cx="448056" cy="0"/>
          </a:xfrm>
          <a:prstGeom prst="line">
            <a:avLst/>
          </a:prstGeom>
          <a:ln w="3810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982772" y="2239365"/>
            <a:ext cx="109728" cy="109728"/>
          </a:xfrm>
          <a:prstGeom prst="ellipse">
            <a:avLst/>
          </a:prstGeom>
          <a:solidFill>
            <a:srgbClr val="FF9A12"/>
          </a:solidFill>
          <a:ln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238804" y="2239365"/>
            <a:ext cx="109728" cy="109728"/>
          </a:xfrm>
          <a:prstGeom prst="ellipse">
            <a:avLst/>
          </a:prstGeom>
          <a:solidFill>
            <a:srgbClr val="FF9A12"/>
          </a:solidFill>
          <a:ln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267712"/>
            <a:ext cx="2743200" cy="2560320"/>
          </a:xfrm>
          <a:prstGeom prst="rect">
            <a:avLst/>
          </a:prstGeom>
          <a:noFill/>
        </p:spPr>
        <p:txBody>
          <a:bodyPr wrap="square" lIns="73152" tIns="36576" rIns="36576" bIns="36576">
            <a:spAutoFit/>
          </a:bodyPr>
          <a:lstStyle/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Customer profile and address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Orders and line items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Products referenced by orders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Relationships across collections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6512" y="1536192"/>
            <a:ext cx="7516368" cy="3813048"/>
          </a:xfrm>
          <a:prstGeom prst="roundRect">
            <a:avLst/>
          </a:prstGeom>
          <a:solidFill>
            <a:srgbClr val="071118"/>
          </a:solidFill>
          <a:ln w="22860">
            <a:solidFill>
              <a:srgbClr val="2270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15968" y="1792224"/>
            <a:ext cx="274320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800" b="1">
                <a:solidFill>
                  <a:srgbClr val="00DDEB"/>
                </a:solidFill>
                <a:latin typeface="Aptos"/>
              </a:rPr>
              <a:t>One application, many relationships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331720"/>
            <a:ext cx="2057400" cy="713232"/>
          </a:xfrm>
          <a:prstGeom prst="roundRect">
            <a:avLst/>
          </a:prstGeom>
          <a:solidFill>
            <a:srgbClr val="072130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17720" y="2450592"/>
            <a:ext cx="1874519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1FA4FF"/>
                </a:solidFill>
                <a:latin typeface="Aptos"/>
              </a:rPr>
              <a:t>customers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331720"/>
            <a:ext cx="2057400" cy="713232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06640" y="2450592"/>
            <a:ext cx="1874519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0" y="2331720"/>
            <a:ext cx="1097280" cy="713232"/>
          </a:xfrm>
          <a:prstGeom prst="roundRect">
            <a:avLst/>
          </a:prstGeom>
          <a:solidFill>
            <a:srgbClr val="1C0D2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31552" y="2450592"/>
            <a:ext cx="950976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AB5FFF"/>
                </a:solidFill>
                <a:latin typeface="Aptos"/>
              </a:rPr>
              <a:t>products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0" y="2688336"/>
            <a:ext cx="73152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372600" y="2688336"/>
            <a:ext cx="685800" cy="0"/>
          </a:xfrm>
          <a:prstGeom prst="line">
            <a:avLst/>
          </a:prstGeom>
          <a:ln w="31750">
            <a:solidFill>
              <a:srgbClr val="A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656832" y="2441448"/>
            <a:ext cx="594360" cy="2011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9A12"/>
                </a:solidFill>
                <a:latin typeface="Aptos"/>
              </a:rPr>
              <a:t>1:N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2441448"/>
            <a:ext cx="594360" cy="2011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1">
                <a:solidFill>
                  <a:srgbClr val="AB5FFF"/>
                </a:solidFill>
                <a:latin typeface="Aptos"/>
              </a:rPr>
              <a:t>N:M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23560" y="3657600"/>
            <a:ext cx="2423160" cy="841248"/>
          </a:xfrm>
          <a:prstGeom prst="roundRect">
            <a:avLst/>
          </a:prstGeom>
          <a:solidFill>
            <a:srgbClr val="0A1D1F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79008" y="3822191"/>
            <a:ext cx="2103120" cy="27432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00DDEB"/>
                </a:solidFill>
                <a:latin typeface="Aptos"/>
              </a:rPr>
              <a:t>shippingAddress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559552" y="2697480"/>
            <a:ext cx="886968" cy="960120"/>
          </a:xfrm>
          <a:prstGeom prst="line">
            <a:avLst/>
          </a:prstGeom>
          <a:ln w="31750">
            <a:solidFill>
              <a:srgbClr val="00DD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72000" y="4526280"/>
            <a:ext cx="6583680" cy="4389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Core question: keep related data together, or connect it by an id?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Logical connection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CARDINALITY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1:1 • 1:N • N:M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OWNERSHIP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Who controls it?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GROWTH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How large can it get?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How is it read?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SHAPE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Embed or reference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What Is a Relation?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A relation is a logical connection between two pieces of application data.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216152"/>
            <a:ext cx="2926080" cy="402336"/>
          </a:xfrm>
          <a:prstGeom prst="roundRect">
            <a:avLst/>
          </a:prstGeom>
          <a:solidFill>
            <a:srgbClr val="131517"/>
          </a:solidFill>
          <a:ln w="1905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301752" cy="347472"/>
          </a:xfrm>
          <a:prstGeom prst="rect">
            <a:avLst/>
          </a:prstGeom>
          <a:noFill/>
        </p:spPr>
        <p:txBody>
          <a:bodyPr wrap="none" lIns="54864" tIns="54864" rIns="54864" bIns="54864" anchor="ctr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1234440"/>
            <a:ext cx="2395728" cy="310896"/>
          </a:xfrm>
          <a:prstGeom prst="rect">
            <a:avLst/>
          </a:prstGeom>
          <a:noFill/>
        </p:spPr>
        <p:txBody>
          <a:bodyPr wrap="none" lIns="54864" tIns="54864" rIns="54864" bIns="54864" anchor="ctr">
            <a:spAutoFit/>
          </a:bodyPr>
          <a:lstStyle/>
          <a:p>
            <a:pPr algn="l"/>
            <a:r>
              <a:rPr sz="1500" b="1">
                <a:solidFill>
                  <a:srgbClr val="FF9A12"/>
                </a:solidFill>
                <a:latin typeface="Aptos"/>
              </a:rPr>
              <a:t>Start with the business meaning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063240" cy="160020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85800" y="2011680"/>
            <a:ext cx="640080" cy="223845"/>
          </a:xfrm>
          <a:prstGeom prst="ellipse">
            <a:avLst/>
          </a:prstGeom>
          <a:solidFill>
            <a:srgbClr val="1FA4FF"/>
          </a:solidFill>
          <a:ln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123602"/>
            <a:ext cx="640080" cy="310896"/>
          </a:xfrm>
          <a:prstGeom prst="rect">
            <a:avLst/>
          </a:prstGeom>
          <a:solidFill>
            <a:srgbClr val="068BE6"/>
          </a:solidFill>
          <a:ln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85800" y="2322576"/>
            <a:ext cx="640080" cy="223845"/>
          </a:xfrm>
          <a:prstGeom prst="ellipse">
            <a:avLst/>
          </a:prstGeom>
          <a:solidFill>
            <a:srgbClr val="1FA4FF"/>
          </a:solidFill>
          <a:ln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63040" y="1975104"/>
            <a:ext cx="192024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900" b="1">
                <a:solidFill>
                  <a:srgbClr val="1FA4FF"/>
                </a:solidFill>
                <a:latin typeface="Aptos"/>
              </a:rPr>
              <a:t>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13432"/>
            <a:ext cx="1920240" cy="6400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Profile and contact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1783080"/>
            <a:ext cx="3063240" cy="160020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297680" y="2011680"/>
            <a:ext cx="640080" cy="223845"/>
          </a:xfrm>
          <a:prstGeom prst="ellipse">
            <a:avLst/>
          </a:prstGeom>
          <a:solidFill>
            <a:srgbClr val="FF9A12"/>
          </a:solidFill>
          <a:ln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97680" y="2123602"/>
            <a:ext cx="640080" cy="310896"/>
          </a:xfrm>
          <a:prstGeom prst="rect">
            <a:avLst/>
          </a:prstGeom>
          <a:solidFill>
            <a:srgbClr val="E68100"/>
          </a:solidFill>
          <a:ln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297680" y="2322576"/>
            <a:ext cx="640080" cy="223845"/>
          </a:xfrm>
          <a:prstGeom prst="ellipse">
            <a:avLst/>
          </a:prstGeom>
          <a:solidFill>
            <a:srgbClr val="FF9A12"/>
          </a:solidFill>
          <a:ln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74920" y="1975104"/>
            <a:ext cx="192024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900" b="1">
                <a:solidFill>
                  <a:srgbClr val="FF9A12"/>
                </a:solidFill>
                <a:latin typeface="Aptos"/>
              </a:rPr>
              <a:t>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313432"/>
            <a:ext cx="1920240" cy="6400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Transaction and status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1783080"/>
            <a:ext cx="3063240" cy="160020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909560" y="2011680"/>
            <a:ext cx="640080" cy="223845"/>
          </a:xfrm>
          <a:prstGeom prst="ellipse">
            <a:avLst/>
          </a:prstGeom>
          <a:solidFill>
            <a:srgbClr val="AB5FFF"/>
          </a:solidFill>
          <a:ln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909560" y="2123602"/>
            <a:ext cx="640080" cy="310896"/>
          </a:xfrm>
          <a:prstGeom prst="rect">
            <a:avLst/>
          </a:prstGeom>
          <a:solidFill>
            <a:srgbClr val="9246E6"/>
          </a:solidFill>
          <a:ln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909560" y="2322576"/>
            <a:ext cx="640080" cy="223845"/>
          </a:xfrm>
          <a:prstGeom prst="ellipse">
            <a:avLst/>
          </a:prstGeom>
          <a:solidFill>
            <a:srgbClr val="AB5FFF"/>
          </a:solidFill>
          <a:ln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0" y="1975104"/>
            <a:ext cx="192024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900" b="1">
                <a:solidFill>
                  <a:srgbClr val="AB5FFF"/>
                </a:solidFill>
                <a:latin typeface="Aptos"/>
              </a:rPr>
              <a:t>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2313432"/>
            <a:ext cx="1920240" cy="6400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Reusable catalog data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11880" y="2578608"/>
            <a:ext cx="54864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223760" y="2578608"/>
            <a:ext cx="548640" cy="0"/>
          </a:xfrm>
          <a:prstGeom prst="line">
            <a:avLst/>
          </a:prstGeom>
          <a:ln w="31750">
            <a:solidFill>
              <a:srgbClr val="A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48640" y="3703320"/>
            <a:ext cx="10287000" cy="1325880"/>
          </a:xfrm>
          <a:prstGeom prst="roundRect">
            <a:avLst/>
          </a:prstGeom>
          <a:solidFill>
            <a:srgbClr val="09141A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3913632"/>
            <a:ext cx="2103120" cy="27432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800" b="1">
                <a:solidFill>
                  <a:srgbClr val="00DDEB"/>
                </a:solidFill>
                <a:latin typeface="Aptos"/>
              </a:rPr>
              <a:t>Describe every relation with four questions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3904487"/>
            <a:ext cx="1737360" cy="841248"/>
          </a:xfrm>
          <a:prstGeom prst="roundRect">
            <a:avLst/>
          </a:prstGeom>
          <a:solidFill>
            <a:srgbClr val="0C0E11"/>
          </a:solidFill>
          <a:ln w="22860">
            <a:solidFill>
              <a:srgbClr val="3B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16352" y="4023360"/>
            <a:ext cx="27432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7248" y="3986784"/>
            <a:ext cx="123444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How many?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0600" y="3904487"/>
            <a:ext cx="1737360" cy="841248"/>
          </a:xfrm>
          <a:prstGeom prst="roundRect">
            <a:avLst/>
          </a:prstGeom>
          <a:solidFill>
            <a:srgbClr val="0C0E11"/>
          </a:solidFill>
          <a:ln w="22860">
            <a:solidFill>
              <a:srgbClr val="3B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73752" y="4023360"/>
            <a:ext cx="27432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4648" y="3986784"/>
            <a:ext cx="123444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How big?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0" y="3904487"/>
            <a:ext cx="1737360" cy="841248"/>
          </a:xfrm>
          <a:prstGeom prst="roundRect">
            <a:avLst/>
          </a:prstGeom>
          <a:solidFill>
            <a:srgbClr val="0C0E11"/>
          </a:solidFill>
          <a:ln w="22860">
            <a:solidFill>
              <a:srgbClr val="3B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31152" y="4023360"/>
            <a:ext cx="27432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42048" y="3986784"/>
            <a:ext cx="123444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How shared?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3904487"/>
            <a:ext cx="1737360" cy="841248"/>
          </a:xfrm>
          <a:prstGeom prst="roundRect">
            <a:avLst/>
          </a:prstGeom>
          <a:solidFill>
            <a:srgbClr val="0C0E11"/>
          </a:solidFill>
          <a:ln w="22860">
            <a:solidFill>
              <a:srgbClr val="3B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988552" y="4023360"/>
            <a:ext cx="27432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8" y="3986784"/>
            <a:ext cx="123444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How accessed?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" y="5321808"/>
            <a:ext cx="1069848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Do not begin with table translation. Begin with the application relationship.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Business connection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CARDINALITY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How many?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GROWTH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Bounded or growing?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SHARING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Owned or reused?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Read together?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DESIGN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Shape follows 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Cardinality: The Shape of the Relationship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The number of related records changes the modeling conversation.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611880" cy="425196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7512" y="1755648"/>
            <a:ext cx="3246120" cy="4114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2800" b="1">
                <a:solidFill>
                  <a:srgbClr val="00DDEB"/>
                </a:solidFill>
                <a:latin typeface="Aptos"/>
              </a:rPr>
              <a:t>1 :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59152"/>
            <a:ext cx="2971800" cy="58521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Customer → Primary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4984" y="3154680"/>
            <a:ext cx="1005840" cy="566928"/>
          </a:xfrm>
          <a:prstGeom prst="roundRect">
            <a:avLst/>
          </a:prstGeom>
          <a:solidFill>
            <a:srgbClr val="072130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78992" y="3255264"/>
            <a:ext cx="877824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1">
                <a:solidFill>
                  <a:srgbClr val="1FA4FF"/>
                </a:solidFill>
                <a:latin typeface="Aptos"/>
              </a:rPr>
              <a:t>customer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20824" y="3438144"/>
            <a:ext cx="475488" cy="0"/>
          </a:xfrm>
          <a:prstGeom prst="line">
            <a:avLst/>
          </a:prstGeom>
          <a:ln w="31750">
            <a:solidFill>
              <a:srgbClr val="00DD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496312" y="3154680"/>
            <a:ext cx="1005840" cy="566928"/>
          </a:xfrm>
          <a:prstGeom prst="roundRect">
            <a:avLst/>
          </a:prstGeom>
          <a:solidFill>
            <a:srgbClr val="082023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78608" y="3255264"/>
            <a:ext cx="822960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1">
                <a:solidFill>
                  <a:srgbClr val="00DDEB"/>
                </a:solidFill>
                <a:latin typeface="Aptos"/>
              </a:rPr>
              <a:t>address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681728"/>
            <a:ext cx="3063240" cy="658368"/>
          </a:xfrm>
          <a:prstGeom prst="roundRect">
            <a:avLst/>
          </a:prstGeom>
          <a:solidFill>
            <a:srgbClr val="0D1215"/>
          </a:solidFill>
          <a:ln w="15240">
            <a:solidFill>
              <a:srgbClr val="3D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4809744"/>
            <a:ext cx="2816352" cy="34747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Often embedded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508760"/>
            <a:ext cx="3611880" cy="425196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755648"/>
            <a:ext cx="3246120" cy="4114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2800" b="1">
                <a:solidFill>
                  <a:srgbClr val="FF9A12"/>
                </a:solidFill>
                <a:latin typeface="Aptos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2359152"/>
            <a:ext cx="2971800" cy="58521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Customer → Orders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59" y="3154680"/>
            <a:ext cx="1005840" cy="566928"/>
          </a:xfrm>
          <a:prstGeom prst="roundRect">
            <a:avLst/>
          </a:prstGeom>
          <a:solidFill>
            <a:srgbClr val="072130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73168" y="3255264"/>
            <a:ext cx="877824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1">
                <a:solidFill>
                  <a:srgbClr val="1FA4FF"/>
                </a:solidFill>
                <a:latin typeface="Aptos"/>
              </a:rPr>
              <a:t>customer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715000" y="3035808"/>
            <a:ext cx="502920" cy="402336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217920" y="2743200"/>
            <a:ext cx="1005840" cy="566928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91072" y="2862072"/>
            <a:ext cx="859536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9A12"/>
                </a:solidFill>
                <a:latin typeface="Aptos"/>
              </a:rPr>
              <a:t>order 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715000" y="3438144"/>
            <a:ext cx="502920" cy="256032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217920" y="3401568"/>
            <a:ext cx="1005840" cy="566928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91072" y="3520440"/>
            <a:ext cx="859536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9A12"/>
                </a:solidFill>
                <a:latin typeface="Aptos"/>
              </a:rPr>
              <a:t>order 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15000" y="3438144"/>
            <a:ext cx="502920" cy="91440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17920" y="4059936"/>
            <a:ext cx="1005840" cy="566928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91072" y="4178808"/>
            <a:ext cx="859536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100" b="1">
                <a:solidFill>
                  <a:srgbClr val="FF9A12"/>
                </a:solidFill>
                <a:latin typeface="Aptos"/>
              </a:rPr>
              <a:t>order 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681728"/>
            <a:ext cx="3063240" cy="658368"/>
          </a:xfrm>
          <a:prstGeom prst="roundRect">
            <a:avLst/>
          </a:prstGeom>
          <a:solidFill>
            <a:srgbClr val="0D1215"/>
          </a:solidFill>
          <a:ln w="15240">
            <a:solidFill>
              <a:srgbClr val="3D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82312" y="4809744"/>
            <a:ext cx="2816352" cy="34747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Often separate when orders grow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1508760"/>
            <a:ext cx="3611880" cy="425196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39912" y="1755648"/>
            <a:ext cx="3246120" cy="4114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2800" b="1">
                <a:solidFill>
                  <a:srgbClr val="AB5FFF"/>
                </a:solidFill>
                <a:latin typeface="Aptos"/>
              </a:rPr>
              <a:t>N : 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2359152"/>
            <a:ext cx="2971800" cy="58521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5F7FA"/>
                </a:solidFill>
                <a:latin typeface="Aptos"/>
              </a:rPr>
              <a:t>Orders ↔ Products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95360" y="2944368"/>
            <a:ext cx="1005840" cy="566928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659368" y="3063240"/>
            <a:ext cx="877824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9A12"/>
                </a:solidFill>
                <a:latin typeface="Aptos"/>
              </a:rPr>
              <a:t>order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33888" y="2743200"/>
            <a:ext cx="914400" cy="566928"/>
          </a:xfrm>
          <a:prstGeom prst="roundRect">
            <a:avLst/>
          </a:prstGeom>
          <a:solidFill>
            <a:srgbClr val="1C0D2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588752" y="2862072"/>
            <a:ext cx="822960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100" b="1">
                <a:solidFill>
                  <a:srgbClr val="AB5FFF"/>
                </a:solidFill>
                <a:latin typeface="Aptos"/>
              </a:rPr>
              <a:t>product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533888" y="3675887"/>
            <a:ext cx="914400" cy="566928"/>
          </a:xfrm>
          <a:prstGeom prst="roundRect">
            <a:avLst/>
          </a:prstGeom>
          <a:solidFill>
            <a:srgbClr val="1C0D2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588752" y="3794760"/>
            <a:ext cx="822960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100" b="1">
                <a:solidFill>
                  <a:srgbClr val="AB5FFF"/>
                </a:solidFill>
                <a:latin typeface="Aptos"/>
              </a:rPr>
              <a:t>product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9601200" y="3026664"/>
            <a:ext cx="932688" cy="192024"/>
          </a:xfrm>
          <a:prstGeom prst="line">
            <a:avLst/>
          </a:prstGeom>
          <a:ln w="31750">
            <a:solidFill>
              <a:srgbClr val="A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601200" y="3456432"/>
            <a:ext cx="932688" cy="484631"/>
          </a:xfrm>
          <a:prstGeom prst="line">
            <a:avLst/>
          </a:prstGeom>
          <a:ln w="31750">
            <a:solidFill>
              <a:srgbClr val="A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549640" y="4681728"/>
            <a:ext cx="3063240" cy="658368"/>
          </a:xfrm>
          <a:prstGeom prst="roundRect">
            <a:avLst/>
          </a:prstGeom>
          <a:solidFill>
            <a:srgbClr val="0D1215"/>
          </a:solidFill>
          <a:ln w="15240">
            <a:solidFill>
              <a:srgbClr val="3D46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68512" y="4809744"/>
            <a:ext cx="2816352" cy="34747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Represent with references / ids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1:1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Usually small and owned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1:N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Check growth carefully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N:M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Shared relationship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KEY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Cardinality is a signal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NOT ENOUGH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Also inspect access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NEXT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Choose a shape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One-to-One: Embed or Reference?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A primary shipping address is a useful example of a one-to-one relation.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34924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64208"/>
            <a:ext cx="484632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300" b="1">
                <a:solidFill>
                  <a:srgbClr val="00DDEB"/>
                </a:solidFill>
                <a:latin typeface="Aptos"/>
              </a:rPr>
              <a:t>EMBED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103120"/>
            <a:ext cx="4663440" cy="1143000"/>
          </a:xfrm>
          <a:prstGeom prst="rect">
            <a:avLst/>
          </a:prstGeom>
          <a:noFill/>
        </p:spPr>
        <p:txBody>
          <a:bodyPr wrap="square" lIns="73152" tIns="36576" rIns="36576" bIns="36576">
            <a:spAutoFit/>
          </a:bodyPr>
          <a:lstStyle/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Small and bounded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Read with the parent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Owned by the parent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3429000"/>
            <a:ext cx="4526280" cy="1965960"/>
          </a:xfrm>
          <a:prstGeom prst="roundRect">
            <a:avLst/>
          </a:prstGeom>
          <a:solidFill>
            <a:srgbClr val="071C1F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3621024"/>
            <a:ext cx="4114800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1">
                <a:solidFill>
                  <a:srgbClr val="1FA4FF"/>
                </a:solidFill>
                <a:latin typeface="Aptos"/>
              </a:rPr>
              <a:t>customers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977639"/>
            <a:ext cx="4160520" cy="11155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{
  customerId: "CUST-1001",
  shippingAddress: { city, country }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493776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300" b="1">
                <a:solidFill>
                  <a:srgbClr val="AB5FFF"/>
                </a:solidFill>
                <a:latin typeface="Aptos"/>
              </a:rPr>
              <a:t>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103120"/>
            <a:ext cx="4663440" cy="1143000"/>
          </a:xfrm>
          <a:prstGeom prst="rect">
            <a:avLst/>
          </a:prstGeom>
          <a:noFill/>
        </p:spPr>
        <p:txBody>
          <a:bodyPr wrap="square" lIns="73152" tIns="36576" rIns="36576" bIns="36576">
            <a:spAutoFit/>
          </a:bodyPr>
          <a:lstStyle/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Related data changes independently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Shared across multiple parents</a:t>
            </a:r>
          </a:p>
          <a:p>
            <a:pPr>
              <a:spcAft>
                <a:spcPts val="300"/>
              </a:spcAft>
              <a:defRPr sz="1700">
                <a:solidFill>
                  <a:srgbClr val="F5F7FA"/>
                </a:solidFill>
                <a:latin typeface="Aptos"/>
              </a:defRPr>
            </a:pPr>
            <a:r>
              <a:t>• Separate lifecycle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3429000"/>
            <a:ext cx="4709160" cy="1965960"/>
          </a:xfrm>
          <a:prstGeom prst="roundRect">
            <a:avLst/>
          </a:prstGeom>
          <a:solidFill>
            <a:srgbClr val="180C24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4"/>
            <a:ext cx="4206240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1">
                <a:solidFill>
                  <a:srgbClr val="1FA4FF"/>
                </a:solidFill>
                <a:latin typeface="Aptos"/>
              </a:rP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977639"/>
            <a:ext cx="4251960" cy="11155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{
  customerId: "CUST-1001",
  shippingAddressId: "ADDR-44"
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504688"/>
            <a:ext cx="10789920" cy="34747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The relationship is the same; only the storage location changes.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EMBED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Together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Separate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DECIDE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Ownership + access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Growth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PATTERN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Same relation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RESULT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Different shape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One-to-Many: Customer → Orders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The common question is whether the child set is bounded and naturally read with the parent.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39496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64208"/>
            <a:ext cx="484632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200" b="1">
                <a:solidFill>
                  <a:srgbClr val="FF9A12"/>
                </a:solidFill>
                <a:latin typeface="Aptos"/>
              </a:rPr>
              <a:t>EMBEDDED ORDERS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11680"/>
            <a:ext cx="4800600" cy="1051560"/>
          </a:xfrm>
          <a:prstGeom prst="rect">
            <a:avLst/>
          </a:prstGeom>
          <a:noFill/>
        </p:spPr>
        <p:txBody>
          <a:bodyPr wrap="square" lIns="73152" tIns="36576" rIns="36576" bIns="36576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Reasonable only for small, bounded sets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Convenient when always read with customer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Can create very large customer documents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10128"/>
            <a:ext cx="4663440" cy="1920240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3502152"/>
            <a:ext cx="4206240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1">
                <a:solidFill>
                  <a:srgbClr val="1FA4FF"/>
                </a:solidFill>
                <a:latin typeface="Aptos"/>
              </a:rPr>
              <a:t>customer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22191"/>
            <a:ext cx="4251960" cy="105156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orders: [
  { orderId: "ORD-1001" },
  { orderId: "ORD-1002" }
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493776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200" b="1">
                <a:solidFill>
                  <a:srgbClr val="1FA4FF"/>
                </a:solidFill>
                <a:latin typeface="Aptos"/>
              </a:rPr>
              <a:t>SEPARATE COLLECTION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011680"/>
            <a:ext cx="4754880" cy="1051560"/>
          </a:xfrm>
          <a:prstGeom prst="rect">
            <a:avLst/>
          </a:prstGeom>
          <a:noFill/>
        </p:spPr>
        <p:txBody>
          <a:bodyPr wrap="square" lIns="73152" tIns="36576" rIns="36576" bIns="36576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Orders can grow independently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Orders have their own lifecycle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Query by customerId when needed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3310128"/>
            <a:ext cx="4572000" cy="1920240"/>
          </a:xfrm>
          <a:prstGeom prst="roundRect">
            <a:avLst/>
          </a:prstGeom>
          <a:solidFill>
            <a:srgbClr val="072130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502152"/>
            <a:ext cx="4160520" cy="2286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1">
                <a:solidFill>
                  <a:srgbClr val="1FA4FF"/>
                </a:solidFill>
                <a:latin typeface="Aptos"/>
              </a:rP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22191"/>
            <a:ext cx="4160520" cy="105156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{ customerId: "CUST-1001" }
orders → customerId: "CUST-1001"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22976"/>
            <a:ext cx="1069848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For growing order history, separate storage usually keeps the parent document bounded.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1:N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Parent → many children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EMBED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Bounded set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Growing set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LIFECYCLE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Separate writes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QUERY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Use customerId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CHECK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Document size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Many-to-Many: Orders ↔ Products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One product can appear in many orders, and each order can contain many products.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690372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664208"/>
            <a:ext cx="635508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200" b="1">
                <a:solidFill>
                  <a:srgbClr val="AB5FFF"/>
                </a:solidFill>
                <a:latin typeface="Aptos"/>
              </a:rPr>
              <a:t>ORDER ITEMS AS REFERENCES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2011680" cy="731520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182880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orders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2148840"/>
            <a:ext cx="2011680" cy="731520"/>
          </a:xfrm>
          <a:prstGeom prst="roundRect">
            <a:avLst/>
          </a:prstGeom>
          <a:solidFill>
            <a:srgbClr val="1C0D2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74920" y="2359152"/>
            <a:ext cx="182880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AB5FFF"/>
                </a:solidFill>
                <a:latin typeface="Aptos"/>
              </a:rPr>
              <a:t>products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2" y="3246120"/>
            <a:ext cx="1600200" cy="502920"/>
          </a:xfrm>
          <a:prstGeom prst="roundRect">
            <a:avLst/>
          </a:prstGeom>
          <a:solidFill>
            <a:srgbClr val="0A191C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71800" y="3374136"/>
            <a:ext cx="1481328" cy="1828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00" b="1">
                <a:solidFill>
                  <a:srgbClr val="00DDEB"/>
                </a:solidFill>
                <a:latin typeface="Aptos"/>
              </a:rPr>
              <a:t>P100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2514600"/>
            <a:ext cx="164592" cy="987552"/>
          </a:xfrm>
          <a:prstGeom prst="line">
            <a:avLst/>
          </a:prstGeom>
          <a:ln w="31750">
            <a:solidFill>
              <a:srgbClr val="FF9A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507992" y="2514600"/>
            <a:ext cx="475488" cy="987552"/>
          </a:xfrm>
          <a:prstGeom prst="line">
            <a:avLst/>
          </a:prstGeom>
          <a:ln w="31750">
            <a:solidFill>
              <a:srgbClr val="AB5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07792" y="3886200"/>
            <a:ext cx="1600200" cy="502920"/>
          </a:xfrm>
          <a:prstGeom prst="roundRect">
            <a:avLst/>
          </a:prstGeom>
          <a:solidFill>
            <a:srgbClr val="0A191C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71800" y="4014215"/>
            <a:ext cx="1481328" cy="1828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00" b="1">
                <a:solidFill>
                  <a:srgbClr val="00DDEB"/>
                </a:solidFill>
                <a:latin typeface="Aptos"/>
              </a:rPr>
              <a:t>P200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2514600"/>
            <a:ext cx="164592" cy="1627632"/>
          </a:xfrm>
          <a:prstGeom prst="line">
            <a:avLst/>
          </a:prstGeom>
          <a:ln w="31750">
            <a:solidFill>
              <a:srgbClr val="FF9A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507992" y="2514600"/>
            <a:ext cx="475488" cy="1627632"/>
          </a:xfrm>
          <a:prstGeom prst="line">
            <a:avLst/>
          </a:prstGeom>
          <a:ln w="31750">
            <a:solidFill>
              <a:srgbClr val="AB5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907792" y="4526280"/>
            <a:ext cx="1600200" cy="502920"/>
          </a:xfrm>
          <a:prstGeom prst="roundRect">
            <a:avLst/>
          </a:prstGeom>
          <a:solidFill>
            <a:srgbClr val="0A191C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71800" y="4654296"/>
            <a:ext cx="1481328" cy="1828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00" b="1">
                <a:solidFill>
                  <a:srgbClr val="00DDEB"/>
                </a:solidFill>
                <a:latin typeface="Aptos"/>
              </a:rPr>
              <a:t>P300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43200" y="2514600"/>
            <a:ext cx="164592" cy="2267712"/>
          </a:xfrm>
          <a:prstGeom prst="line">
            <a:avLst/>
          </a:prstGeom>
          <a:ln w="31750">
            <a:solidFill>
              <a:srgbClr val="FF9A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507992" y="2514600"/>
            <a:ext cx="475488" cy="2267712"/>
          </a:xfrm>
          <a:prstGeom prst="line">
            <a:avLst/>
          </a:prstGeom>
          <a:ln w="31750">
            <a:solidFill>
              <a:srgbClr val="AB5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2688" y="5138928"/>
            <a:ext cx="5897880" cy="50292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The order stores product identifiers; product definitions stay reusable.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1417320"/>
            <a:ext cx="393192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09560" y="1664208"/>
            <a:ext cx="347472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000" b="1">
                <a:solidFill>
                  <a:srgbClr val="00DDEB"/>
                </a:solidFill>
                <a:latin typeface="Aptos"/>
              </a:rPr>
              <a:t>Why not duplicate products?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18704" y="2148840"/>
            <a:ext cx="3337560" cy="2011680"/>
          </a:xfrm>
          <a:prstGeom prst="rect">
            <a:avLst/>
          </a:prstGeom>
          <a:noFill/>
        </p:spPr>
        <p:txBody>
          <a:bodyPr wrap="square" lIns="73152" tIns="36576" rIns="36576" bIns="36576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Product details change independently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Catalog data is shared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Avoid repeating large definitions</a:t>
            </a:r>
          </a:p>
          <a:p>
            <a:pPr>
              <a:spcAft>
                <a:spcPts val="300"/>
              </a:spcAft>
              <a:defRPr sz="1600">
                <a:solidFill>
                  <a:srgbClr val="F5F7FA"/>
                </a:solidFill>
                <a:latin typeface="Aptos"/>
              </a:defRPr>
            </a:pPr>
            <a:r>
              <a:t>• Reference with stable ids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4526280"/>
            <a:ext cx="3383280" cy="914400"/>
          </a:xfrm>
          <a:prstGeom prst="roundRect">
            <a:avLst/>
          </a:prstGeom>
          <a:solidFill>
            <a:srgbClr val="071C1F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92440" y="4663440"/>
            <a:ext cx="3108960" cy="59436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orders.items[]
productId → products._id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N:M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Shared relationship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ORDER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Many products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PRODUCT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Many orders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LINK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Use ids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REUSE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Keep catalog separate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DESIGN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Avoid duplication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Embed or Reference?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Use the relationship and the way the application uses the data to choose a practical shape.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548640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682496"/>
            <a:ext cx="493776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400" b="1">
                <a:solidFill>
                  <a:srgbClr val="00DDEB"/>
                </a:solidFill>
                <a:latin typeface="Aptos"/>
              </a:rPr>
              <a:t>EMBED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12848"/>
            <a:ext cx="3657600" cy="493776"/>
          </a:xfrm>
          <a:prstGeom prst="roundRect">
            <a:avLst/>
          </a:prstGeom>
          <a:solidFill>
            <a:srgbClr val="081C1F"/>
          </a:solidFill>
          <a:ln w="15240">
            <a:solidFill>
              <a:srgbClr val="235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194560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Read together?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0752" y="2331720"/>
            <a:ext cx="566928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50" b="1">
                <a:solidFill>
                  <a:srgbClr val="00DDEB"/>
                </a:solidFill>
                <a:latin typeface="Aptos"/>
              </a:rPr>
              <a:t>Yes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98648"/>
            <a:ext cx="3657600" cy="493776"/>
          </a:xfrm>
          <a:prstGeom prst="roundRect">
            <a:avLst/>
          </a:prstGeom>
          <a:solidFill>
            <a:srgbClr val="081C1F"/>
          </a:solidFill>
          <a:ln w="15240">
            <a:solidFill>
              <a:srgbClr val="235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2194560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Small and bounded?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0752" y="3017520"/>
            <a:ext cx="566928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50" b="1">
                <a:solidFill>
                  <a:srgbClr val="00DDEB"/>
                </a:solidFill>
                <a:latin typeface="Aptos"/>
              </a:rPr>
              <a:t>Yes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84448"/>
            <a:ext cx="3657600" cy="493776"/>
          </a:xfrm>
          <a:prstGeom prst="roundRect">
            <a:avLst/>
          </a:prstGeom>
          <a:solidFill>
            <a:srgbClr val="081C1F"/>
          </a:solidFill>
          <a:ln w="15240">
            <a:solidFill>
              <a:srgbClr val="235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703320"/>
            <a:ext cx="2194560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Owned by parent?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3703320"/>
            <a:ext cx="566928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50" b="1">
                <a:solidFill>
                  <a:srgbClr val="00DDEB"/>
                </a:solidFill>
                <a:latin typeface="Aptos"/>
              </a:rPr>
              <a:t>Yes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270248"/>
            <a:ext cx="3657600" cy="493776"/>
          </a:xfrm>
          <a:prstGeom prst="roundRect">
            <a:avLst/>
          </a:prstGeom>
          <a:solidFill>
            <a:srgbClr val="081C1F"/>
          </a:solidFill>
          <a:ln w="15240">
            <a:solidFill>
              <a:srgbClr val="235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194560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Updated together?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4389120"/>
            <a:ext cx="566928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50" b="1">
                <a:solidFill>
                  <a:srgbClr val="00DDEB"/>
                </a:solidFill>
                <a:latin typeface="Aptos"/>
              </a:rPr>
              <a:t>Often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5074920"/>
            <a:ext cx="4800600" cy="47548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Typical fit: address, small preferences, bounded child data.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417320"/>
            <a:ext cx="5413248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1682496"/>
            <a:ext cx="489204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400" b="1">
                <a:solidFill>
                  <a:srgbClr val="AB5FFF"/>
                </a:solidFill>
                <a:latin typeface="Aptos"/>
              </a:rPr>
              <a:t>REFERENCE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212848"/>
            <a:ext cx="3657600" cy="493776"/>
          </a:xfrm>
          <a:prstGeom prst="roundRect">
            <a:avLst/>
          </a:prstGeom>
          <a:solidFill>
            <a:srgbClr val="180C24"/>
          </a:solidFill>
          <a:ln w="15240">
            <a:solidFill>
              <a:srgbClr val="583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11112" y="2331720"/>
            <a:ext cx="2194560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Can it grow independently?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331720"/>
            <a:ext cx="566928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50" b="1">
                <a:solidFill>
                  <a:srgbClr val="AB5FFF"/>
                </a:solidFill>
                <a:latin typeface="Aptos"/>
              </a:rPr>
              <a:t>Yes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2898648"/>
            <a:ext cx="3657600" cy="493776"/>
          </a:xfrm>
          <a:prstGeom prst="roundRect">
            <a:avLst/>
          </a:prstGeom>
          <a:solidFill>
            <a:srgbClr val="180C24"/>
          </a:solidFill>
          <a:ln w="15240">
            <a:solidFill>
              <a:srgbClr val="583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11112" y="3017520"/>
            <a:ext cx="2194560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Shared by many parents?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7464" y="3017520"/>
            <a:ext cx="566928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50" b="1">
                <a:solidFill>
                  <a:srgbClr val="AB5FFF"/>
                </a:solidFill>
                <a:latin typeface="Aptos"/>
              </a:rPr>
              <a:t>Yes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3584448"/>
            <a:ext cx="3657600" cy="493776"/>
          </a:xfrm>
          <a:prstGeom prst="roundRect">
            <a:avLst/>
          </a:prstGeom>
          <a:solidFill>
            <a:srgbClr val="180C24"/>
          </a:solidFill>
          <a:ln w="15240">
            <a:solidFill>
              <a:srgbClr val="583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11112" y="3703320"/>
            <a:ext cx="2194560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Separate lifecycle?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27464" y="3703320"/>
            <a:ext cx="566928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50" b="1">
                <a:solidFill>
                  <a:srgbClr val="AB5FFF"/>
                </a:solidFill>
                <a:latin typeface="Aptos"/>
              </a:rPr>
              <a:t>Yes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3952" y="4270248"/>
            <a:ext cx="3657600" cy="493776"/>
          </a:xfrm>
          <a:prstGeom prst="roundRect">
            <a:avLst/>
          </a:prstGeom>
          <a:solidFill>
            <a:srgbClr val="180C24"/>
          </a:solidFill>
          <a:ln w="15240">
            <a:solidFill>
              <a:srgbClr val="5839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11112" y="4389120"/>
            <a:ext cx="2194560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50" b="0">
                <a:solidFill>
                  <a:srgbClr val="F5F7FA"/>
                </a:solidFill>
                <a:latin typeface="Aptos"/>
              </a:rPr>
              <a:t>Often read separately?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27464" y="4389120"/>
            <a:ext cx="566928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350" b="1">
                <a:solidFill>
                  <a:srgbClr val="AB5FFF"/>
                </a:solidFill>
                <a:latin typeface="Aptos"/>
              </a:rPr>
              <a:t>Yes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074920"/>
            <a:ext cx="4736592" cy="47548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Typical fit: growing orders, shared products, reusable entities.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Read together?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GROWTH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How large?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OWNERSHIP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Who owns it?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SHARING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Is it reused?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LIFECYCLE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Change together?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DECISION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Then choose shape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Order Management Relationship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Apply the rules to one realistic application model.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064240" cy="4526280"/>
          </a:xfrm>
          <a:prstGeom prst="roundRect">
            <a:avLst/>
          </a:prstGeom>
          <a:solidFill>
            <a:srgbClr val="0711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057400"/>
            <a:ext cx="2377440" cy="896112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8" y="2203704"/>
            <a:ext cx="2148840" cy="27432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1FA4FF"/>
                </a:solidFill>
                <a:latin typeface="Aptos"/>
              </a:rPr>
              <a:t>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542032"/>
            <a:ext cx="2148840" cy="1828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0">
                <a:solidFill>
                  <a:srgbClr val="C2CAD3"/>
                </a:solidFill>
                <a:latin typeface="Aptos"/>
              </a:rPr>
              <a:t>customers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069080"/>
            <a:ext cx="2377440" cy="896112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4215384"/>
            <a:ext cx="2148840" cy="27432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00DDEB"/>
                </a:solidFill>
                <a:latin typeface="Aptos"/>
              </a:rPr>
              <a:t>Address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553712"/>
            <a:ext cx="2148840" cy="1828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0">
                <a:solidFill>
                  <a:srgbClr val="C2CAD3"/>
                </a:solidFill>
                <a:latin typeface="Aptos"/>
              </a:rPr>
              <a:t>embedded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057400"/>
            <a:ext cx="2377440" cy="896112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81728" y="2203704"/>
            <a:ext cx="2148840" cy="27432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Order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2542032"/>
            <a:ext cx="2148840" cy="1828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0">
                <a:solidFill>
                  <a:srgbClr val="C2CAD3"/>
                </a:solidFill>
                <a:latin typeface="Aptos"/>
              </a:rPr>
              <a:t>orders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57400"/>
            <a:ext cx="2377440" cy="896112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67928" y="2203704"/>
            <a:ext cx="2148840" cy="27432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AB5FFF"/>
                </a:solidFill>
                <a:latin typeface="Aptos"/>
              </a:rPr>
              <a:t>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542032"/>
            <a:ext cx="2148840" cy="1828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0">
                <a:solidFill>
                  <a:srgbClr val="C2CAD3"/>
                </a:solidFill>
                <a:latin typeface="Aptos"/>
              </a:rPr>
              <a:t>products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2505456"/>
            <a:ext cx="2468880" cy="0"/>
          </a:xfrm>
          <a:prstGeom prst="line">
            <a:avLst/>
          </a:prstGeom>
          <a:ln w="3810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063240" y="2148840"/>
            <a:ext cx="548640" cy="2011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1">
                <a:solidFill>
                  <a:srgbClr val="FF9A12"/>
                </a:solidFill>
                <a:latin typeface="Aptos"/>
              </a:rPr>
              <a:t>1:N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0" y="2505456"/>
            <a:ext cx="1508760" cy="0"/>
          </a:xfrm>
          <a:prstGeom prst="line">
            <a:avLst/>
          </a:prstGeom>
          <a:ln w="38100">
            <a:solidFill>
              <a:srgbClr val="AB5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88352" y="2148840"/>
            <a:ext cx="640080" cy="2011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200" b="1">
                <a:solidFill>
                  <a:srgbClr val="AB5FFF"/>
                </a:solidFill>
                <a:latin typeface="Aptos"/>
              </a:rPr>
              <a:t>N:M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103120" y="2880360"/>
            <a:ext cx="0" cy="1188720"/>
          </a:xfrm>
          <a:prstGeom prst="line">
            <a:avLst/>
          </a:prstGeom>
          <a:ln w="38100">
            <a:solidFill>
              <a:srgbClr val="00DD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31720" y="3337560"/>
            <a:ext cx="1234440" cy="2011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200" b="1">
                <a:solidFill>
                  <a:srgbClr val="00DDEB"/>
                </a:solidFill>
                <a:latin typeface="Aptos"/>
              </a:rPr>
              <a:t>1:1 • embed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3703320"/>
            <a:ext cx="2514600" cy="1143000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45152" y="3858768"/>
            <a:ext cx="2240280" cy="27432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F9A12"/>
                </a:solidFill>
                <a:latin typeface="Aptos"/>
              </a:rPr>
              <a:t>Order document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5152" y="4242816"/>
            <a:ext cx="2240280" cy="4572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Aptos"/>
              </a:rPr>
              <a:t>customerId
items[].productId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559552"/>
            <a:ext cx="10424160" cy="29260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One-to-one address is embedded; customer-to-orders is separate; product links are carried by item ids.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CUSTOMER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Profile owner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ADDRESS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Small + together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ORDERS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Independent growth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PRODUCTS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Shared catalog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ITEM IDS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Reference link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MODEL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Behavior first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Relation-Driven 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Four quick checks keep the model grounded in application behavior.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17320"/>
            <a:ext cx="2331720" cy="768096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563624"/>
            <a:ext cx="2011680" cy="23774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1FA4FF"/>
                </a:solidFill>
                <a:latin typeface="Aptos"/>
              </a:rPr>
              <a:t>How many?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417320"/>
            <a:ext cx="8183879" cy="768096"/>
          </a:xfrm>
          <a:prstGeom prst="roundRect">
            <a:avLst/>
          </a:prstGeom>
          <a:solidFill>
            <a:srgbClr val="0A0E12"/>
          </a:solidFill>
          <a:ln w="15240">
            <a:solidFill>
              <a:srgbClr val="384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93008" y="1563624"/>
            <a:ext cx="768096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1:1 • 1:N • N:M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496312"/>
            <a:ext cx="2331720" cy="768096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2642616"/>
            <a:ext cx="2011680" cy="23774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How big?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496312"/>
            <a:ext cx="8183879" cy="768096"/>
          </a:xfrm>
          <a:prstGeom prst="roundRect">
            <a:avLst/>
          </a:prstGeom>
          <a:solidFill>
            <a:srgbClr val="0A0E12"/>
          </a:solidFill>
          <a:ln w="15240">
            <a:solidFill>
              <a:srgbClr val="384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93008" y="2642616"/>
            <a:ext cx="768096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Bounded • growing • unbounded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575304"/>
            <a:ext cx="2331720" cy="768096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3721608"/>
            <a:ext cx="2011680" cy="23774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AB5FFF"/>
                </a:solidFill>
                <a:latin typeface="Aptos"/>
              </a:rPr>
              <a:t>How shared?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3575304"/>
            <a:ext cx="8183879" cy="768096"/>
          </a:xfrm>
          <a:prstGeom prst="roundRect">
            <a:avLst/>
          </a:prstGeom>
          <a:solidFill>
            <a:srgbClr val="0A0E12"/>
          </a:solidFill>
          <a:ln w="15240">
            <a:solidFill>
              <a:srgbClr val="384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93008" y="3721608"/>
            <a:ext cx="768096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Owned • reused • independent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654296"/>
            <a:ext cx="2331720" cy="768096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4800600"/>
            <a:ext cx="2011680" cy="23774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00DDEB"/>
                </a:solidFill>
                <a:latin typeface="Aptos"/>
              </a:rPr>
              <a:t>How accessed?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4654296"/>
            <a:ext cx="8183879" cy="768096"/>
          </a:xfrm>
          <a:prstGeom prst="roundRect">
            <a:avLst/>
          </a:prstGeom>
          <a:solidFill>
            <a:srgbClr val="0A0E12"/>
          </a:solidFill>
          <a:ln w="15240">
            <a:solidFill>
              <a:srgbClr val="384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93008" y="4800600"/>
            <a:ext cx="768096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Together • separately • mixed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596128"/>
            <a:ext cx="10835640" cy="384048"/>
          </a:xfrm>
          <a:prstGeom prst="roundRect">
            <a:avLst/>
          </a:prstGeom>
          <a:solidFill>
            <a:srgbClr val="2A1607"/>
          </a:solidFill>
          <a:ln w="1524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669280"/>
            <a:ext cx="10469880" cy="21031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F9A12"/>
                </a:solidFill>
                <a:latin typeface="Aptos"/>
              </a:rPr>
              <a:t>Final question: will this document shape make the application's common reads and writes simpler?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CARDINALITY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Count related data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Watch growth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SHARING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Control duplication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Model for reads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LIFECYCLE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Model for changes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OUTCOME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Practical document shape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Inspect Relations in mongosh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Use the shell to see the relationship represented directly in the stored documents.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018520" cy="452628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49808" y="1737360"/>
            <a:ext cx="5074920" cy="1600200"/>
          </a:xfrm>
          <a:prstGeom prst="roundRect">
            <a:avLst/>
          </a:prstGeom>
          <a:solidFill>
            <a:srgbClr val="081117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1847088"/>
            <a:ext cx="470916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1">
                <a:solidFill>
                  <a:srgbClr val="1FA4FF"/>
                </a:solidFill>
                <a:latin typeface="Aptos"/>
              </a:rPr>
              <a:t>1. Find a 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572000" cy="9144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db.customers.findOne({ customerId: "CUST-1001" })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737360"/>
            <a:ext cx="5074920" cy="1600200"/>
          </a:xfrm>
          <a:prstGeom prst="roundRect">
            <a:avLst/>
          </a:prstGeom>
          <a:solidFill>
            <a:srgbClr val="08111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73368" y="1847088"/>
            <a:ext cx="470916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1">
                <a:solidFill>
                  <a:srgbClr val="FF9A12"/>
                </a:solidFill>
                <a:latin typeface="Aptos"/>
              </a:rPr>
              <a:t>2. Find that customer's orders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240280"/>
            <a:ext cx="4572000" cy="9144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db.orders.find({ customerId: "CUST-1001" })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657600"/>
            <a:ext cx="5074920" cy="1600200"/>
          </a:xfrm>
          <a:prstGeom prst="roundRect">
            <a:avLst/>
          </a:prstGeom>
          <a:solidFill>
            <a:srgbClr val="081117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6968" y="3767328"/>
            <a:ext cx="470916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1">
                <a:solidFill>
                  <a:srgbClr val="AB5FFF"/>
                </a:solidFill>
                <a:latin typeface="Aptos"/>
              </a:rPr>
              <a:t>3. Find orders containing a 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4572000" cy="9144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db.orders.find({ "items.productId": "P100" })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3657600"/>
            <a:ext cx="5074920" cy="1600200"/>
          </a:xfrm>
          <a:prstGeom prst="roundRect">
            <a:avLst/>
          </a:prstGeom>
          <a:solidFill>
            <a:srgbClr val="081117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3767328"/>
            <a:ext cx="470916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500" b="1">
                <a:solidFill>
                  <a:srgbClr val="00DDEB"/>
                </a:solidFill>
                <a:latin typeface="Aptos"/>
              </a:rPr>
              <a:t>4. Inspect the embedded address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160520"/>
            <a:ext cx="4572000" cy="91440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Consolas"/>
              </a:rPr>
              <a:t>db.customers.findOne(
  { customerId: "CUST-1001" },
  { shippingAddress: 1, _id: 0 }
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532120"/>
            <a:ext cx="1033272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500" b="1">
                <a:solidFill>
                  <a:srgbClr val="FF9A12"/>
                </a:solidFill>
                <a:latin typeface="Aptos"/>
              </a:rPr>
              <a:t>Observe the storage decision: embedded data stays inside the document; references appear as ids.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Inspect directly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CUSTOMER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Parent document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ORDERS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Referenced children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PRODUCT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Shared data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ADDRESS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Embedded field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PRACTICE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Trace the links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A Repeatable Relationship Design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Use this sequence before committing a MongoDB document shape.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4519"/>
            <a:ext cx="2057400" cy="2011680"/>
          </a:xfrm>
          <a:prstGeom prst="roundRect">
            <a:avLst/>
          </a:prstGeom>
          <a:solidFill>
            <a:srgbClr val="0A1216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2029968"/>
            <a:ext cx="347472" cy="34747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29968"/>
            <a:ext cx="1490472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Requirement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42032"/>
            <a:ext cx="1691640" cy="914400"/>
          </a:xfrm>
          <a:prstGeom prst="rect">
            <a:avLst/>
          </a:prstGeom>
          <a:noFill/>
        </p:spPr>
        <p:txBody>
          <a:bodyPr wrap="none" lIns="54864" tIns="54864" r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C2CAD3"/>
                </a:solidFill>
                <a:latin typeface="Aptos"/>
              </a:rPr>
              <a:t>What does the application need?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20" y="2880360"/>
            <a:ext cx="41148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71800" y="1874519"/>
            <a:ext cx="2057400" cy="2011680"/>
          </a:xfrm>
          <a:prstGeom prst="roundRect">
            <a:avLst/>
          </a:prstGeom>
          <a:solidFill>
            <a:srgbClr val="0A1216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63240" y="2029968"/>
            <a:ext cx="347472" cy="34747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029968"/>
            <a:ext cx="1490472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Cardinality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542032"/>
            <a:ext cx="1691640" cy="914400"/>
          </a:xfrm>
          <a:prstGeom prst="rect">
            <a:avLst/>
          </a:prstGeom>
          <a:noFill/>
        </p:spPr>
        <p:txBody>
          <a:bodyPr wrap="none" lIns="54864" tIns="54864" r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C2CAD3"/>
                </a:solidFill>
                <a:latin typeface="Aptos"/>
              </a:rPr>
              <a:t>How many related records?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0" y="2880360"/>
            <a:ext cx="41148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1874519"/>
            <a:ext cx="2057400" cy="2011680"/>
          </a:xfrm>
          <a:prstGeom prst="roundRect">
            <a:avLst/>
          </a:prstGeom>
          <a:solidFill>
            <a:srgbClr val="0A1216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32120" y="2029968"/>
            <a:ext cx="347472" cy="34747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2029968"/>
            <a:ext cx="1490472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2542032"/>
            <a:ext cx="1691640" cy="914400"/>
          </a:xfrm>
          <a:prstGeom prst="rect">
            <a:avLst/>
          </a:prstGeom>
          <a:noFill/>
        </p:spPr>
        <p:txBody>
          <a:bodyPr wrap="none" lIns="54864" tIns="54864" r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C2CAD3"/>
                </a:solidFill>
                <a:latin typeface="Aptos"/>
              </a:rPr>
              <a:t>Read together or separately?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79" y="2880360"/>
            <a:ext cx="41148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09560" y="1874519"/>
            <a:ext cx="2057400" cy="2011680"/>
          </a:xfrm>
          <a:prstGeom prst="roundRect">
            <a:avLst/>
          </a:prstGeom>
          <a:solidFill>
            <a:srgbClr val="0A1216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01000" y="2029968"/>
            <a:ext cx="347472" cy="34747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029968"/>
            <a:ext cx="1490472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Growth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2542032"/>
            <a:ext cx="1691640" cy="914400"/>
          </a:xfrm>
          <a:prstGeom prst="rect">
            <a:avLst/>
          </a:prstGeom>
          <a:noFill/>
        </p:spPr>
        <p:txBody>
          <a:bodyPr wrap="none" lIns="54864" tIns="54864" r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C2CAD3"/>
                </a:solidFill>
                <a:latin typeface="Aptos"/>
              </a:rPr>
              <a:t>Bounded or independently growing?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966960" y="2880360"/>
            <a:ext cx="411480" cy="0"/>
          </a:xfrm>
          <a:prstGeom prst="line">
            <a:avLst/>
          </a:prstGeom>
          <a:ln w="31750">
            <a:solidFill>
              <a:srgbClr val="FF9A1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378440" y="1874519"/>
            <a:ext cx="1691640" cy="2011680"/>
          </a:xfrm>
          <a:prstGeom prst="roundRect">
            <a:avLst/>
          </a:prstGeom>
          <a:solidFill>
            <a:srgbClr val="0A1216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51592" y="2029968"/>
            <a:ext cx="347472" cy="34747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1632" y="2029968"/>
            <a:ext cx="1188720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Shape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2542032"/>
            <a:ext cx="1371600" cy="914400"/>
          </a:xfrm>
          <a:prstGeom prst="rect">
            <a:avLst/>
          </a:prstGeom>
          <a:noFill/>
        </p:spPr>
        <p:txBody>
          <a:bodyPr wrap="none" lIns="54864" tIns="54864" rIns="54864" bIns="54864" anchor="ctr">
            <a:spAutoFit/>
          </a:bodyPr>
          <a:lstStyle/>
          <a:p>
            <a:pPr algn="ctr"/>
            <a:r>
              <a:rPr sz="1300" b="0">
                <a:solidFill>
                  <a:srgbClr val="C2CAD3"/>
                </a:solidFill>
                <a:latin typeface="Aptos"/>
              </a:rPr>
              <a:t>Embed, reference, or combine?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343400"/>
            <a:ext cx="10835640" cy="1143000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553712"/>
            <a:ext cx="10378440" cy="64008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Design around behavior — not around the source table.
A good relation model should make common application operations easy to reason about.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REQUIREMENTS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Start with behavior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CARDINALITY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Count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Observe reads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GROWTH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Watch size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SHAPE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Embed / reference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RESULT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Maintainable model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56032"/>
            <a:ext cx="11704320" cy="53035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2900" b="1">
                <a:solidFill>
                  <a:srgbClr val="F5F7FA"/>
                </a:solidFill>
                <a:latin typeface="Aptos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430000" cy="329184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400" b="0">
                <a:solidFill>
                  <a:srgbClr val="C2CAD3"/>
                </a:solidFill>
                <a:latin typeface="Aptos"/>
              </a:rPr>
              <a:t>A visual checklist for modeling relationships in MongoDB.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0972800" cy="4480560"/>
          </a:xfrm>
          <a:prstGeom prst="roundRect">
            <a:avLst/>
          </a:prstGeom>
          <a:solidFill>
            <a:srgbClr val="0711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645152" y="1874519"/>
            <a:ext cx="2880360" cy="914400"/>
          </a:xfrm>
          <a:prstGeom prst="roundRect">
            <a:avLst/>
          </a:prstGeom>
          <a:solidFill>
            <a:srgbClr val="2A1607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73168" y="2057400"/>
            <a:ext cx="2633472" cy="320040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900" b="1">
                <a:solidFill>
                  <a:srgbClr val="FF9A12"/>
                </a:solidFill>
                <a:latin typeface="Aptos"/>
              </a:rPr>
              <a:t>Order Management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2743200" cy="123444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00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865376"/>
            <a:ext cx="2560320" cy="24688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00DDEB"/>
                </a:solidFill>
                <a:latin typeface="Aptos"/>
              </a:rPr>
              <a:t>1:1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76272"/>
            <a:ext cx="251460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523744"/>
            <a:ext cx="2514600" cy="2011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150" b="0">
                <a:solidFill>
                  <a:srgbClr val="C2CAD3"/>
                </a:solidFill>
                <a:latin typeface="Aptos"/>
              </a:rPr>
              <a:t>Small + owned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86200"/>
            <a:ext cx="2743200" cy="123444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1FA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014215"/>
            <a:ext cx="2560320" cy="24688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1FA4FF"/>
                </a:solidFill>
                <a:latin typeface="Aptos"/>
              </a:rPr>
              <a:t>1:N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325112"/>
            <a:ext cx="251460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Reference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672584"/>
            <a:ext cx="2514600" cy="2011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150" b="0">
                <a:solidFill>
                  <a:srgbClr val="C2CAD3"/>
                </a:solidFill>
                <a:latin typeface="Aptos"/>
              </a:rPr>
              <a:t>Grows independently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737360"/>
            <a:ext cx="2743200" cy="123444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AB5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19" y="1865376"/>
            <a:ext cx="2560320" cy="24688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AB5FFF"/>
                </a:solidFill>
                <a:latin typeface="Aptos"/>
              </a:rPr>
              <a:t>N:M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7" y="2176272"/>
            <a:ext cx="251460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Reference ids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7" y="2523744"/>
            <a:ext cx="2514600" cy="2011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150" b="0">
                <a:solidFill>
                  <a:srgbClr val="C2CAD3"/>
                </a:solidFill>
                <a:latin typeface="Aptos"/>
              </a:rPr>
              <a:t>Shared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886200"/>
            <a:ext cx="2743200" cy="1234440"/>
          </a:xfrm>
          <a:prstGeom prst="roundRect">
            <a:avLst/>
          </a:prstGeom>
          <a:solidFill>
            <a:srgbClr val="0C1218"/>
          </a:solidFill>
          <a:ln w="2286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4014215"/>
            <a:ext cx="2560320" cy="24688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80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4325112"/>
            <a:ext cx="2514600" cy="25603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Design around reads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672584"/>
            <a:ext cx="2514600" cy="20116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150" b="0">
                <a:solidFill>
                  <a:srgbClr val="C2CAD3"/>
                </a:solidFill>
                <a:latin typeface="Aptos"/>
              </a:rPr>
              <a:t>Behavior first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657600" y="2331720"/>
            <a:ext cx="987552" cy="0"/>
          </a:xfrm>
          <a:prstGeom prst="line">
            <a:avLst/>
          </a:prstGeom>
          <a:ln w="31750">
            <a:solidFill>
              <a:srgbClr val="00DD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3657600" y="2788920"/>
            <a:ext cx="987552" cy="1645920"/>
          </a:xfrm>
          <a:prstGeom prst="line">
            <a:avLst/>
          </a:prstGeom>
          <a:ln w="31750">
            <a:solidFill>
              <a:srgbClr val="1FA4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525512" y="2331720"/>
            <a:ext cx="886968" cy="0"/>
          </a:xfrm>
          <a:prstGeom prst="line">
            <a:avLst/>
          </a:prstGeom>
          <a:ln w="31750">
            <a:solidFill>
              <a:srgbClr val="AB5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525512" y="2788920"/>
            <a:ext cx="704088" cy="1645920"/>
          </a:xfrm>
          <a:prstGeom prst="line">
            <a:avLst/>
          </a:prstGeom>
          <a:ln w="31750">
            <a:solidFill>
              <a:srgbClr val="FF9A1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063240" y="3291840"/>
            <a:ext cx="6126480" cy="384048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RELATION → CARDINALITY → ACCESS → DOCUMENT SHAPE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608" y="6172200"/>
            <a:ext cx="11612880" cy="475488"/>
          </a:xfrm>
          <a:prstGeom prst="roundRect">
            <a:avLst/>
          </a:prstGeom>
          <a:solidFill>
            <a:srgbClr val="0A0E11"/>
          </a:solidFill>
          <a:ln w="16510">
            <a:solidFill>
              <a:srgbClr val="FF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2976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Logical connection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28600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35000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CARDINALITY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000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1:1 • 1:N • N:M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20624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27024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EMBED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024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Keep together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126480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190488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REFERENCE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0488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Separate + id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4671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110727" y="6199632"/>
            <a:ext cx="190195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7" y="6355080"/>
            <a:ext cx="190195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Model for use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966959" y="6245352"/>
            <a:ext cx="0" cy="338328"/>
          </a:xfrm>
          <a:prstGeom prst="line">
            <a:avLst/>
          </a:prstGeom>
          <a:ln w="12700">
            <a:solidFill>
              <a:srgbClr val="4046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30967" y="6199632"/>
            <a:ext cx="1993392" cy="164592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1050" b="1">
                <a:solidFill>
                  <a:srgbClr val="FF9A12"/>
                </a:solidFill>
                <a:latin typeface="Aptos"/>
              </a:rPr>
              <a:t>GROWTH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0967" y="6355080"/>
            <a:ext cx="1993392" cy="219456"/>
          </a:xfrm>
          <a:prstGeom prst="rect">
            <a:avLst/>
          </a:prstGeom>
          <a:noFill/>
        </p:spPr>
        <p:txBody>
          <a:bodyPr wrap="none" lIns="54864" tIns="54864" rIns="54864" bIns="54864" anchor="t">
            <a:spAutoFit/>
          </a:bodyPr>
          <a:lstStyle/>
          <a:p>
            <a:pPr algn="l"/>
            <a:r>
              <a:rPr sz="950" b="0">
                <a:solidFill>
                  <a:srgbClr val="C2CAD3"/>
                </a:solidFill>
                <a:latin typeface="Aptos"/>
              </a:rPr>
              <a:t>Protect document size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2ae551e3-0043-40f0-9a67-12d995049d50}" enabled="1" method="Standard" siteId="{97984c2b-a229-4609-8185-ae84947bc3f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1227</Words>
  <Application>Microsoft Office PowerPoint</Application>
  <PresentationFormat>Widescreen</PresentationFormat>
  <Paragraphs>338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Avishesh Jha</cp:lastModifiedBy>
  <cp:revision>1</cp:revision>
  <dcterms:created xsi:type="dcterms:W3CDTF">2013-01-27T09:14:16Z</dcterms:created>
  <dcterms:modified xsi:type="dcterms:W3CDTF">2026-10-02T12:10:13Z</dcterms:modified>
  <cp:category/>
</cp:coreProperties>
</file>