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6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025C10-8B5B-4FFB-A9C8-7E51DB31C196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0842E0-B2ED-4581-8675-E891A730D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653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842E0-B2ED-4581-8675-E891A730DC5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338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wide_infographic_style_tutorial_slide_on_a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7955279" cy="53035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Understanding Relations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9264"/>
            <a:ext cx="8138160" cy="38404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700" b="0">
                <a:solidFill>
                  <a:srgbClr val="C2CAD3"/>
                </a:solidFill>
                <a:latin typeface="Aptos"/>
              </a:rPr>
              <a:t>How MongoDB represents connections between real-world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3246120" cy="3794760"/>
          </a:xfrm>
          <a:prstGeom prst="roundRect">
            <a:avLst/>
          </a:prstGeom>
          <a:solidFill>
            <a:srgbClr val="0C1218"/>
          </a:solidFill>
          <a:ln w="22860">
            <a:solidFill>
              <a:srgbClr val="FF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810512"/>
            <a:ext cx="2788920" cy="29260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2000" b="1">
                <a:solidFill>
                  <a:srgbClr val="FF9A12"/>
                </a:solidFill>
                <a:latin typeface="Aptos"/>
              </a:rPr>
              <a:t>Order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140506" y="2173986"/>
            <a:ext cx="416051" cy="267462"/>
          </a:xfrm>
          <a:prstGeom prst="rect">
            <a:avLst/>
          </a:prstGeom>
          <a:noFill/>
          <a:ln w="38100">
            <a:solidFill>
              <a:srgbClr val="FF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>
            <a:cxnSpLocks/>
          </p:cNvCxnSpPr>
          <p:nvPr/>
        </p:nvCxnSpPr>
        <p:spPr>
          <a:xfrm>
            <a:off x="3076040" y="1929385"/>
            <a:ext cx="382220" cy="338327"/>
          </a:xfrm>
          <a:prstGeom prst="line">
            <a:avLst/>
          </a:prstGeom>
          <a:ln w="38100">
            <a:solidFill>
              <a:srgbClr val="FF9A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982772" y="2239365"/>
            <a:ext cx="109728" cy="109728"/>
          </a:xfrm>
          <a:prstGeom prst="ellipse">
            <a:avLst/>
          </a:prstGeom>
          <a:solidFill>
            <a:srgbClr val="FF9A12"/>
          </a:solidFill>
          <a:ln>
            <a:solidFill>
              <a:srgbClr val="FF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238804" y="2239365"/>
            <a:ext cx="109728" cy="109728"/>
          </a:xfrm>
          <a:prstGeom prst="ellipse">
            <a:avLst/>
          </a:prstGeom>
          <a:solidFill>
            <a:srgbClr val="FF9A12"/>
          </a:solidFill>
          <a:ln>
            <a:solidFill>
              <a:srgbClr val="FF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267712"/>
            <a:ext cx="2743200" cy="2560320"/>
          </a:xfrm>
          <a:prstGeom prst="rect">
            <a:avLst/>
          </a:prstGeom>
          <a:noFill/>
        </p:spPr>
        <p:txBody>
          <a:bodyPr wrap="square" lIns="73152" tIns="36576" rIns="36576" bIns="36576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Customer profile and address</a:t>
            </a:r>
          </a:p>
          <a:p>
            <a:pPr>
              <a:spcAft>
                <a:spcPts val="3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Orders and line items</a:t>
            </a:r>
          </a:p>
          <a:p>
            <a:pPr>
              <a:spcAft>
                <a:spcPts val="3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Products referenced by orders</a:t>
            </a:r>
          </a:p>
          <a:p>
            <a:pPr>
              <a:spcAft>
                <a:spcPts val="3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Relationships across collections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1536192"/>
            <a:ext cx="7516368" cy="3813048"/>
          </a:xfrm>
          <a:prstGeom prst="roundRect">
            <a:avLst/>
          </a:prstGeom>
          <a:solidFill>
            <a:srgbClr val="071118"/>
          </a:solidFill>
          <a:ln w="22860">
            <a:solidFill>
              <a:srgbClr val="227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15968" y="1792224"/>
            <a:ext cx="2743200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800" b="1">
                <a:solidFill>
                  <a:srgbClr val="00DDEB"/>
                </a:solidFill>
                <a:latin typeface="Aptos"/>
              </a:rPr>
              <a:t>One application, many relationships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2331720"/>
            <a:ext cx="2057400" cy="713232"/>
          </a:xfrm>
          <a:prstGeom prst="roundRect">
            <a:avLst/>
          </a:prstGeom>
          <a:solidFill>
            <a:srgbClr val="072130"/>
          </a:solidFill>
          <a:ln w="22860">
            <a:solidFill>
              <a:srgbClr val="1F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2450592"/>
            <a:ext cx="1874519" cy="25603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800" b="1">
                <a:solidFill>
                  <a:srgbClr val="1FA4FF"/>
                </a:solidFill>
                <a:latin typeface="Aptos"/>
              </a:rPr>
              <a:t>customers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2331720"/>
            <a:ext cx="2057400" cy="713232"/>
          </a:xfrm>
          <a:prstGeom prst="roundRect">
            <a:avLst/>
          </a:prstGeom>
          <a:solidFill>
            <a:srgbClr val="2A1607"/>
          </a:solidFill>
          <a:ln w="22860">
            <a:solidFill>
              <a:srgbClr val="FF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06640" y="2450592"/>
            <a:ext cx="1874519" cy="25603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9A12"/>
                </a:solidFill>
                <a:latin typeface="Aptos"/>
              </a:rPr>
              <a:t>orders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0" y="2331720"/>
            <a:ext cx="1097280" cy="713232"/>
          </a:xfrm>
          <a:prstGeom prst="roundRect">
            <a:avLst/>
          </a:prstGeom>
          <a:solidFill>
            <a:srgbClr val="1C0D28"/>
          </a:solidFill>
          <a:ln w="22860">
            <a:solidFill>
              <a:srgbClr val="AB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131552" y="2450592"/>
            <a:ext cx="950976" cy="25603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400" b="1">
                <a:solidFill>
                  <a:srgbClr val="AB5FFF"/>
                </a:solidFill>
                <a:latin typeface="Aptos"/>
              </a:rPr>
              <a:t>products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83680" y="2688336"/>
            <a:ext cx="731520" cy="0"/>
          </a:xfrm>
          <a:prstGeom prst="line">
            <a:avLst/>
          </a:prstGeom>
          <a:ln w="31750">
            <a:solidFill>
              <a:srgbClr val="FF9A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372600" y="2688336"/>
            <a:ext cx="685800" cy="0"/>
          </a:xfrm>
          <a:prstGeom prst="line">
            <a:avLst/>
          </a:prstGeom>
          <a:ln w="31750">
            <a:solidFill>
              <a:srgbClr val="AB5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656832" y="2441448"/>
            <a:ext cx="594360" cy="20116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9A12"/>
                </a:solidFill>
                <a:latin typeface="Aptos"/>
              </a:rPr>
              <a:t>1:N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0032" y="2441448"/>
            <a:ext cx="594360" cy="20116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200" b="1">
                <a:solidFill>
                  <a:srgbClr val="AB5FFF"/>
                </a:solidFill>
                <a:latin typeface="Aptos"/>
              </a:rPr>
              <a:t>N:M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23560" y="3657600"/>
            <a:ext cx="2423160" cy="841248"/>
          </a:xfrm>
          <a:prstGeom prst="roundRect">
            <a:avLst/>
          </a:prstGeom>
          <a:solidFill>
            <a:srgbClr val="0A1D1F"/>
          </a:solidFill>
          <a:ln w="22860">
            <a:solidFill>
              <a:srgbClr val="00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79008" y="3822191"/>
            <a:ext cx="2103120" cy="27432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600" b="1">
                <a:solidFill>
                  <a:srgbClr val="00DDEB"/>
                </a:solidFill>
                <a:latin typeface="Aptos"/>
              </a:rPr>
              <a:t>shippingAddress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559552" y="2697480"/>
            <a:ext cx="886968" cy="960120"/>
          </a:xfrm>
          <a:prstGeom prst="line">
            <a:avLst/>
          </a:prstGeom>
          <a:ln w="31750">
            <a:solidFill>
              <a:srgbClr val="00DD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72000" y="4526280"/>
            <a:ext cx="6583680" cy="4389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800" b="1">
                <a:solidFill>
                  <a:srgbClr val="F5F7FA"/>
                </a:solidFill>
                <a:latin typeface="Aptos"/>
              </a:rPr>
              <a:t>Core question: keep related data together, or connect it by an id?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2608" y="6172200"/>
            <a:ext cx="11612880" cy="475488"/>
          </a:xfrm>
          <a:prstGeom prst="roundRect">
            <a:avLst/>
          </a:prstGeom>
          <a:solidFill>
            <a:srgbClr val="0A0E11"/>
          </a:solidFill>
          <a:ln w="16510">
            <a:solidFill>
              <a:srgbClr val="FF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976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RELATION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Logical connection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286000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35000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CARDINALITY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5000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1:1 • 1:N • N:M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206240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27024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OWNERSHIP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7024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Who controls it?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126480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19048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GROWTH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048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How large can it get?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046719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110727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ACCESS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10727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How is it read?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966959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0030967" y="6199632"/>
            <a:ext cx="199339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SHAPE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30967" y="6355080"/>
            <a:ext cx="199339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Embed or reference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704320" cy="53035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What Is a Relation?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11430000" cy="329184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400" b="0">
                <a:solidFill>
                  <a:srgbClr val="C2CAD3"/>
                </a:solidFill>
                <a:latin typeface="Aptos"/>
              </a:rPr>
              <a:t>A relation is a logical connection between two pieces of application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225296"/>
            <a:ext cx="3200400" cy="393192"/>
          </a:xfrm>
          <a:prstGeom prst="roundRect">
            <a:avLst/>
          </a:prstGeom>
          <a:solidFill>
            <a:srgbClr val="131517"/>
          </a:solidFill>
          <a:ln w="19050">
            <a:solidFill>
              <a:srgbClr val="FF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25296"/>
            <a:ext cx="301752" cy="347472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ctr"/>
            <a:r>
              <a:rPr sz="1800" b="1">
                <a:solidFill>
                  <a:srgbClr val="FF9A12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16152"/>
            <a:ext cx="2953512" cy="34163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lang="en-US" sz="1500" b="1" dirty="0">
                <a:solidFill>
                  <a:srgbClr val="FF9A12"/>
                </a:solidFill>
                <a:latin typeface="Aptos"/>
              </a:rPr>
              <a:t>.</a:t>
            </a:r>
            <a:r>
              <a:rPr sz="1500" b="1" dirty="0">
                <a:solidFill>
                  <a:srgbClr val="FF9A12"/>
                </a:solidFill>
                <a:latin typeface="Aptos"/>
              </a:rPr>
              <a:t>Start with the business meaning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063240" cy="1600200"/>
          </a:xfrm>
          <a:prstGeom prst="roundRect">
            <a:avLst/>
          </a:prstGeom>
          <a:solidFill>
            <a:srgbClr val="0C1218"/>
          </a:solidFill>
          <a:ln w="22860">
            <a:solidFill>
              <a:srgbClr val="1F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85800" y="2011680"/>
            <a:ext cx="640080" cy="223845"/>
          </a:xfrm>
          <a:prstGeom prst="ellipse">
            <a:avLst/>
          </a:prstGeom>
          <a:solidFill>
            <a:srgbClr val="1FA4FF"/>
          </a:solidFill>
          <a:ln>
            <a:solidFill>
              <a:srgbClr val="1F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123602"/>
            <a:ext cx="640080" cy="310896"/>
          </a:xfrm>
          <a:prstGeom prst="rect">
            <a:avLst/>
          </a:prstGeom>
          <a:solidFill>
            <a:srgbClr val="068BE6"/>
          </a:solidFill>
          <a:ln>
            <a:solidFill>
              <a:srgbClr val="1F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85800" y="2322576"/>
            <a:ext cx="640080" cy="223845"/>
          </a:xfrm>
          <a:prstGeom prst="ellipse">
            <a:avLst/>
          </a:prstGeom>
          <a:solidFill>
            <a:srgbClr val="1FA4FF"/>
          </a:solidFill>
          <a:ln>
            <a:solidFill>
              <a:srgbClr val="1F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63040" y="1975104"/>
            <a:ext cx="1920240" cy="25603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900" b="1">
                <a:solidFill>
                  <a:srgbClr val="1FA4FF"/>
                </a:solidFill>
                <a:latin typeface="Aptos"/>
              </a:rPr>
              <a:t>Customer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313432"/>
            <a:ext cx="1920240" cy="64008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400" b="0">
                <a:solidFill>
                  <a:srgbClr val="C2CAD3"/>
                </a:solidFill>
                <a:latin typeface="Aptos"/>
              </a:rPr>
              <a:t>Profile and contact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783080"/>
            <a:ext cx="3063240" cy="1600200"/>
          </a:xfrm>
          <a:prstGeom prst="roundRect">
            <a:avLst/>
          </a:prstGeom>
          <a:solidFill>
            <a:srgbClr val="0C1218"/>
          </a:solidFill>
          <a:ln w="22860">
            <a:solidFill>
              <a:srgbClr val="FF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297680" y="2011680"/>
            <a:ext cx="640080" cy="223845"/>
          </a:xfrm>
          <a:prstGeom prst="ellipse">
            <a:avLst/>
          </a:prstGeom>
          <a:solidFill>
            <a:srgbClr val="FF9A12"/>
          </a:solidFill>
          <a:ln>
            <a:solidFill>
              <a:srgbClr val="FF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97680" y="2123602"/>
            <a:ext cx="640080" cy="310896"/>
          </a:xfrm>
          <a:prstGeom prst="rect">
            <a:avLst/>
          </a:prstGeom>
          <a:solidFill>
            <a:srgbClr val="E68100"/>
          </a:solidFill>
          <a:ln>
            <a:solidFill>
              <a:srgbClr val="FF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297680" y="2322576"/>
            <a:ext cx="640080" cy="223845"/>
          </a:xfrm>
          <a:prstGeom prst="ellipse">
            <a:avLst/>
          </a:prstGeom>
          <a:solidFill>
            <a:srgbClr val="FF9A12"/>
          </a:solidFill>
          <a:ln>
            <a:solidFill>
              <a:srgbClr val="FF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74920" y="1975104"/>
            <a:ext cx="1920240" cy="25603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900" b="1">
                <a:solidFill>
                  <a:srgbClr val="FF9A12"/>
                </a:solidFill>
                <a:latin typeface="Aptos"/>
              </a:rPr>
              <a:t>Order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2313432"/>
            <a:ext cx="1920240" cy="64008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400" b="0">
                <a:solidFill>
                  <a:srgbClr val="C2CAD3"/>
                </a:solidFill>
                <a:latin typeface="Aptos"/>
              </a:rPr>
              <a:t>Transaction and status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1783080"/>
            <a:ext cx="3063240" cy="1600200"/>
          </a:xfrm>
          <a:prstGeom prst="roundRect">
            <a:avLst/>
          </a:prstGeom>
          <a:solidFill>
            <a:srgbClr val="0C1218"/>
          </a:solidFill>
          <a:ln w="22860">
            <a:solidFill>
              <a:srgbClr val="AB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909560" y="2011680"/>
            <a:ext cx="640080" cy="223845"/>
          </a:xfrm>
          <a:prstGeom prst="ellipse">
            <a:avLst/>
          </a:prstGeom>
          <a:solidFill>
            <a:srgbClr val="AB5FFF"/>
          </a:solidFill>
          <a:ln>
            <a:solidFill>
              <a:srgbClr val="AB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909560" y="2123602"/>
            <a:ext cx="640080" cy="310896"/>
          </a:xfrm>
          <a:prstGeom prst="rect">
            <a:avLst/>
          </a:prstGeom>
          <a:solidFill>
            <a:srgbClr val="9246E6"/>
          </a:solidFill>
          <a:ln>
            <a:solidFill>
              <a:srgbClr val="AB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909560" y="2322576"/>
            <a:ext cx="640080" cy="223845"/>
          </a:xfrm>
          <a:prstGeom prst="ellipse">
            <a:avLst/>
          </a:prstGeom>
          <a:solidFill>
            <a:srgbClr val="AB5FFF"/>
          </a:solidFill>
          <a:ln>
            <a:solidFill>
              <a:srgbClr val="AB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0" y="1975104"/>
            <a:ext cx="1920240" cy="25603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900" b="1">
                <a:solidFill>
                  <a:srgbClr val="AB5FFF"/>
                </a:solidFill>
                <a:latin typeface="Aptos"/>
              </a:rPr>
              <a:t>Product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313432"/>
            <a:ext cx="1920240" cy="64008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400" b="0">
                <a:solidFill>
                  <a:srgbClr val="C2CAD3"/>
                </a:solidFill>
                <a:latin typeface="Aptos"/>
              </a:rPr>
              <a:t>Reusable catalog data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611880" y="2578608"/>
            <a:ext cx="548640" cy="0"/>
          </a:xfrm>
          <a:prstGeom prst="line">
            <a:avLst/>
          </a:prstGeom>
          <a:ln w="31750">
            <a:solidFill>
              <a:srgbClr val="FF9A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223760" y="2578608"/>
            <a:ext cx="548640" cy="0"/>
          </a:xfrm>
          <a:prstGeom prst="line">
            <a:avLst/>
          </a:prstGeom>
          <a:ln w="31750">
            <a:solidFill>
              <a:srgbClr val="AB5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3232" y="3703320"/>
            <a:ext cx="10287000" cy="1325880"/>
          </a:xfrm>
          <a:prstGeom prst="roundRect">
            <a:avLst/>
          </a:prstGeom>
          <a:solidFill>
            <a:srgbClr val="09141A"/>
          </a:solidFill>
          <a:ln w="22860">
            <a:solidFill>
              <a:srgbClr val="00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9808" y="3913632"/>
            <a:ext cx="2103120" cy="27432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800" b="1">
                <a:solidFill>
                  <a:srgbClr val="00DDEB"/>
                </a:solidFill>
                <a:latin typeface="Aptos"/>
              </a:rPr>
              <a:t>Describe every relation with four questions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16352" y="4242816"/>
            <a:ext cx="1737360" cy="722375"/>
          </a:xfrm>
          <a:prstGeom prst="roundRect">
            <a:avLst/>
          </a:prstGeom>
          <a:solidFill>
            <a:srgbClr val="0C0E11"/>
          </a:solidFill>
          <a:ln w="22860">
            <a:solidFill>
              <a:srgbClr val="3B4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994487" y="3913632"/>
            <a:ext cx="219804" cy="60324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endParaRPr lang="en-US" sz="1600" b="1" dirty="0">
              <a:solidFill>
                <a:srgbClr val="FF9A12"/>
              </a:solidFill>
              <a:latin typeface="Aptos"/>
            </a:endParaRPr>
          </a:p>
          <a:p>
            <a:pPr algn="ctr"/>
            <a:r>
              <a:rPr sz="1600" b="1" dirty="0">
                <a:solidFill>
                  <a:srgbClr val="FF9A12"/>
                </a:solidFill>
                <a:latin typeface="Aptos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14291" y="3986784"/>
            <a:ext cx="1060354" cy="541687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endParaRPr lang="en-US" sz="1400" b="1" dirty="0">
              <a:solidFill>
                <a:srgbClr val="F5F7FA"/>
              </a:solidFill>
              <a:latin typeface="Aptos"/>
            </a:endParaRPr>
          </a:p>
          <a:p>
            <a:pPr algn="ctr"/>
            <a:r>
              <a:rPr sz="1400" b="1" dirty="0">
                <a:solidFill>
                  <a:srgbClr val="F5F7FA"/>
                </a:solidFill>
                <a:latin typeface="Aptos"/>
              </a:rPr>
              <a:t>How many?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30952" y="4096511"/>
            <a:ext cx="1225296" cy="932689"/>
          </a:xfrm>
          <a:prstGeom prst="roundRect">
            <a:avLst/>
          </a:prstGeom>
          <a:solidFill>
            <a:srgbClr val="0C0E11"/>
          </a:solidFill>
          <a:ln w="22860">
            <a:solidFill>
              <a:srgbClr val="3B4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330952" y="3986784"/>
            <a:ext cx="274320" cy="25603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600" b="1" dirty="0">
                <a:solidFill>
                  <a:srgbClr val="FF9A12"/>
                </a:solidFill>
                <a:latin typeface="Aptos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22392" y="3986784"/>
            <a:ext cx="996696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lang="en-US" sz="1400" b="1" dirty="0">
                <a:solidFill>
                  <a:srgbClr val="F5F7FA"/>
                </a:solidFill>
                <a:latin typeface="Aptos"/>
              </a:rPr>
              <a:t>How big?</a:t>
            </a:r>
            <a:endParaRPr sz="1400" b="1" dirty="0">
              <a:solidFill>
                <a:srgbClr val="F5F7FA"/>
              </a:solidFill>
              <a:latin typeface="Aptos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812280" y="4096511"/>
            <a:ext cx="1737360" cy="841248"/>
          </a:xfrm>
          <a:prstGeom prst="roundRect">
            <a:avLst/>
          </a:prstGeom>
          <a:solidFill>
            <a:srgbClr val="0C0E11"/>
          </a:solidFill>
          <a:ln w="22860">
            <a:solidFill>
              <a:srgbClr val="3B4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068312" y="3986784"/>
            <a:ext cx="274320" cy="25603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600" b="1" dirty="0">
                <a:solidFill>
                  <a:srgbClr val="FF9A12"/>
                </a:solidFill>
                <a:latin typeface="Aptos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42048" y="3986784"/>
            <a:ext cx="1234440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400" b="1">
                <a:solidFill>
                  <a:srgbClr val="F5F7FA"/>
                </a:solidFill>
                <a:latin typeface="Aptos"/>
              </a:rPr>
              <a:t>How shared?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24544" y="4048411"/>
            <a:ext cx="1737360" cy="841248"/>
          </a:xfrm>
          <a:prstGeom prst="roundRect">
            <a:avLst/>
          </a:prstGeom>
          <a:solidFill>
            <a:srgbClr val="0C0E11"/>
          </a:solidFill>
          <a:ln w="22860">
            <a:solidFill>
              <a:srgbClr val="3B4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988552" y="3931920"/>
            <a:ext cx="274320" cy="25603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600" b="1" dirty="0">
                <a:solidFill>
                  <a:srgbClr val="FF9A12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99448" y="4048411"/>
            <a:ext cx="1234440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400" b="1" dirty="0">
                <a:solidFill>
                  <a:srgbClr val="F5F7FA"/>
                </a:solidFill>
                <a:latin typeface="Aptos"/>
              </a:rPr>
              <a:t>How accessed?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" y="5321808"/>
            <a:ext cx="10698480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9A12"/>
                </a:solidFill>
                <a:latin typeface="Aptos"/>
              </a:rPr>
              <a:t>Do not begin with table translation. Begin with the application relationship.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92608" y="6172200"/>
            <a:ext cx="11612880" cy="475488"/>
          </a:xfrm>
          <a:prstGeom prst="roundRect">
            <a:avLst/>
          </a:prstGeom>
          <a:solidFill>
            <a:srgbClr val="0A0E11"/>
          </a:solidFill>
          <a:ln w="16510">
            <a:solidFill>
              <a:srgbClr val="FF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2976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RELATION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Business connection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286000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35000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CARDINALITY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5000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How many?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206240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27024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GROWTH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7024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Bounded or growing?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126480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19048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SHARING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9048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Owned or reused?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046719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110727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ACCESS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10727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 dirty="0">
                <a:solidFill>
                  <a:srgbClr val="C2CAD3"/>
                </a:solidFill>
                <a:latin typeface="Aptos"/>
              </a:rPr>
              <a:t>Read together?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966959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0030967" y="6199632"/>
            <a:ext cx="199339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DESIGN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30967" y="6355080"/>
            <a:ext cx="199339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 dirty="0">
                <a:solidFill>
                  <a:srgbClr val="C2CAD3"/>
                </a:solidFill>
                <a:latin typeface="Aptos"/>
              </a:rPr>
              <a:t>Shape follows 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704320" cy="53035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Cardinality: The Shape of the Relationship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11430000" cy="329184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400" b="0">
                <a:solidFill>
                  <a:srgbClr val="C2CAD3"/>
                </a:solidFill>
                <a:latin typeface="Aptos"/>
              </a:rPr>
              <a:t>The number of related records changes the modeling conversation.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3611880" cy="4251960"/>
          </a:xfrm>
          <a:prstGeom prst="roundRect">
            <a:avLst/>
          </a:prstGeom>
          <a:solidFill>
            <a:srgbClr val="0C1218"/>
          </a:solidFill>
          <a:ln w="22860">
            <a:solidFill>
              <a:srgbClr val="00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" y="1755648"/>
            <a:ext cx="3246120" cy="41148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2800" b="1">
                <a:solidFill>
                  <a:srgbClr val="00DDEB"/>
                </a:solidFill>
                <a:latin typeface="Aptos"/>
              </a:rPr>
              <a:t>1 :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59152"/>
            <a:ext cx="2971800" cy="58521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800" b="1">
                <a:solidFill>
                  <a:srgbClr val="F5F7FA"/>
                </a:solidFill>
                <a:latin typeface="Aptos"/>
              </a:rPr>
              <a:t>Customer → Primary Address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4984" y="3154680"/>
            <a:ext cx="1005840" cy="566928"/>
          </a:xfrm>
          <a:prstGeom prst="roundRect">
            <a:avLst/>
          </a:prstGeom>
          <a:solidFill>
            <a:srgbClr val="072130"/>
          </a:solidFill>
          <a:ln w="22860">
            <a:solidFill>
              <a:srgbClr val="1F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" y="3255264"/>
            <a:ext cx="877824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200" b="1">
                <a:solidFill>
                  <a:srgbClr val="1FA4FF"/>
                </a:solidFill>
                <a:latin typeface="Aptos"/>
              </a:rPr>
              <a:t>customer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20824" y="3438144"/>
            <a:ext cx="475488" cy="0"/>
          </a:xfrm>
          <a:prstGeom prst="line">
            <a:avLst/>
          </a:prstGeom>
          <a:ln w="31750">
            <a:solidFill>
              <a:srgbClr val="00DD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96312" y="3154680"/>
            <a:ext cx="1005840" cy="566928"/>
          </a:xfrm>
          <a:prstGeom prst="roundRect">
            <a:avLst/>
          </a:prstGeom>
          <a:solidFill>
            <a:srgbClr val="082023"/>
          </a:solidFill>
          <a:ln w="22860">
            <a:solidFill>
              <a:srgbClr val="00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78608" y="3255264"/>
            <a:ext cx="822960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200" b="1">
                <a:solidFill>
                  <a:srgbClr val="00DDEB"/>
                </a:solidFill>
                <a:latin typeface="Aptos"/>
              </a:rPr>
              <a:t>address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681728"/>
            <a:ext cx="3063240" cy="658368"/>
          </a:xfrm>
          <a:prstGeom prst="roundRect">
            <a:avLst/>
          </a:prstGeom>
          <a:solidFill>
            <a:srgbClr val="0D1215"/>
          </a:solidFill>
          <a:ln w="15240">
            <a:solidFill>
              <a:srgbClr val="3D4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4809744"/>
            <a:ext cx="2816352" cy="34747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300" b="1">
                <a:solidFill>
                  <a:srgbClr val="F5F7FA"/>
                </a:solidFill>
                <a:latin typeface="Aptos"/>
              </a:rPr>
              <a:t>Often embedded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508760"/>
            <a:ext cx="3611880" cy="4251960"/>
          </a:xfrm>
          <a:prstGeom prst="roundRect">
            <a:avLst/>
          </a:prstGeom>
          <a:solidFill>
            <a:srgbClr val="0C1218"/>
          </a:solidFill>
          <a:ln w="22860">
            <a:solidFill>
              <a:srgbClr val="FF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53712" y="1755648"/>
            <a:ext cx="3246120" cy="41148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2800" b="1">
                <a:solidFill>
                  <a:srgbClr val="FF9A12"/>
                </a:solidFill>
                <a:latin typeface="Aptos"/>
              </a:rPr>
              <a:t>1 : 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59" y="2359152"/>
            <a:ext cx="2971800" cy="58521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800" b="1">
                <a:solidFill>
                  <a:srgbClr val="F5F7FA"/>
                </a:solidFill>
                <a:latin typeface="Aptos"/>
              </a:rPr>
              <a:t>Customer → Orders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3154680"/>
            <a:ext cx="1005840" cy="566928"/>
          </a:xfrm>
          <a:prstGeom prst="roundRect">
            <a:avLst/>
          </a:prstGeom>
          <a:solidFill>
            <a:srgbClr val="072130"/>
          </a:solidFill>
          <a:ln w="22860">
            <a:solidFill>
              <a:srgbClr val="1F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73168" y="3255264"/>
            <a:ext cx="877824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200" b="1">
                <a:solidFill>
                  <a:srgbClr val="1FA4FF"/>
                </a:solidFill>
                <a:latin typeface="Aptos"/>
              </a:rPr>
              <a:t>customer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5715000" y="3035808"/>
            <a:ext cx="502920" cy="402336"/>
          </a:xfrm>
          <a:prstGeom prst="line">
            <a:avLst/>
          </a:prstGeom>
          <a:ln w="31750">
            <a:solidFill>
              <a:srgbClr val="FF9A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17920" y="2743200"/>
            <a:ext cx="1005840" cy="566928"/>
          </a:xfrm>
          <a:prstGeom prst="roundRect">
            <a:avLst/>
          </a:prstGeom>
          <a:solidFill>
            <a:srgbClr val="2A1607"/>
          </a:solidFill>
          <a:ln w="22860">
            <a:solidFill>
              <a:srgbClr val="FF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91072" y="2862072"/>
            <a:ext cx="859536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9A12"/>
                </a:solidFill>
                <a:latin typeface="Aptos"/>
              </a:rPr>
              <a:t>order 1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715000" y="3438144"/>
            <a:ext cx="502920" cy="256032"/>
          </a:xfrm>
          <a:prstGeom prst="line">
            <a:avLst/>
          </a:prstGeom>
          <a:ln w="31750">
            <a:solidFill>
              <a:srgbClr val="FF9A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217920" y="3401568"/>
            <a:ext cx="1005840" cy="566928"/>
          </a:xfrm>
          <a:prstGeom prst="roundRect">
            <a:avLst/>
          </a:prstGeom>
          <a:solidFill>
            <a:srgbClr val="2A1607"/>
          </a:solidFill>
          <a:ln w="22860">
            <a:solidFill>
              <a:srgbClr val="FF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91072" y="3520440"/>
            <a:ext cx="859536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9A12"/>
                </a:solidFill>
                <a:latin typeface="Aptos"/>
              </a:rPr>
              <a:t>order 2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715000" y="3438144"/>
            <a:ext cx="502920" cy="914400"/>
          </a:xfrm>
          <a:prstGeom prst="line">
            <a:avLst/>
          </a:prstGeom>
          <a:ln w="31750">
            <a:solidFill>
              <a:srgbClr val="FF9A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217920" y="4059936"/>
            <a:ext cx="1005840" cy="566928"/>
          </a:xfrm>
          <a:prstGeom prst="roundRect">
            <a:avLst/>
          </a:prstGeom>
          <a:solidFill>
            <a:srgbClr val="2A1607"/>
          </a:solidFill>
          <a:ln w="22860">
            <a:solidFill>
              <a:srgbClr val="FF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91072" y="4178808"/>
            <a:ext cx="859536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9A12"/>
                </a:solidFill>
                <a:latin typeface="Aptos"/>
              </a:rPr>
              <a:t>order 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681728"/>
            <a:ext cx="3063240" cy="658368"/>
          </a:xfrm>
          <a:prstGeom prst="roundRect">
            <a:avLst/>
          </a:prstGeom>
          <a:solidFill>
            <a:srgbClr val="0D1215"/>
          </a:solidFill>
          <a:ln w="15240">
            <a:solidFill>
              <a:srgbClr val="3D4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82312" y="4809744"/>
            <a:ext cx="2816352" cy="34747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300" b="1">
                <a:solidFill>
                  <a:srgbClr val="F5F7FA"/>
                </a:solidFill>
                <a:latin typeface="Aptos"/>
              </a:rPr>
              <a:t>Often separate when orders grow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75320" y="1508760"/>
            <a:ext cx="3611880" cy="4251960"/>
          </a:xfrm>
          <a:prstGeom prst="roundRect">
            <a:avLst/>
          </a:prstGeom>
          <a:solidFill>
            <a:srgbClr val="0C1218"/>
          </a:solidFill>
          <a:ln w="22860">
            <a:solidFill>
              <a:srgbClr val="AB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9912" y="1755648"/>
            <a:ext cx="3246120" cy="41148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2800" b="1">
                <a:solidFill>
                  <a:srgbClr val="AB5FFF"/>
                </a:solidFill>
                <a:latin typeface="Aptos"/>
              </a:rPr>
              <a:t>N : 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2359152"/>
            <a:ext cx="2971800" cy="58521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800" b="1">
                <a:solidFill>
                  <a:srgbClr val="F5F7FA"/>
                </a:solidFill>
                <a:latin typeface="Aptos"/>
              </a:rPr>
              <a:t>Orders ↔ Products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0" y="2944368"/>
            <a:ext cx="1005840" cy="566928"/>
          </a:xfrm>
          <a:prstGeom prst="roundRect">
            <a:avLst/>
          </a:prstGeom>
          <a:solidFill>
            <a:srgbClr val="2A1607"/>
          </a:solidFill>
          <a:ln w="22860">
            <a:solidFill>
              <a:srgbClr val="FF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59368" y="3063240"/>
            <a:ext cx="877824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200" b="1" dirty="0">
                <a:solidFill>
                  <a:srgbClr val="FF9A12"/>
                </a:solidFill>
                <a:latin typeface="Aptos"/>
              </a:rPr>
              <a:t>order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533888" y="2743200"/>
            <a:ext cx="914400" cy="566928"/>
          </a:xfrm>
          <a:prstGeom prst="roundRect">
            <a:avLst/>
          </a:prstGeom>
          <a:solidFill>
            <a:srgbClr val="1C0D28"/>
          </a:solidFill>
          <a:ln w="22860">
            <a:solidFill>
              <a:srgbClr val="AB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588752" y="2862072"/>
            <a:ext cx="822960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100" b="1">
                <a:solidFill>
                  <a:srgbClr val="AB5FFF"/>
                </a:solidFill>
                <a:latin typeface="Aptos"/>
              </a:rPr>
              <a:t>product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533888" y="3675887"/>
            <a:ext cx="914400" cy="566928"/>
          </a:xfrm>
          <a:prstGeom prst="roundRect">
            <a:avLst/>
          </a:prstGeom>
          <a:solidFill>
            <a:srgbClr val="1C0D28"/>
          </a:solidFill>
          <a:ln w="22860">
            <a:solidFill>
              <a:srgbClr val="AB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588752" y="3794760"/>
            <a:ext cx="822960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100" b="1">
                <a:solidFill>
                  <a:srgbClr val="AB5FFF"/>
                </a:solidFill>
                <a:latin typeface="Aptos"/>
              </a:rPr>
              <a:t>product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9601200" y="3026664"/>
            <a:ext cx="932688" cy="192024"/>
          </a:xfrm>
          <a:prstGeom prst="line">
            <a:avLst/>
          </a:prstGeom>
          <a:ln w="31750">
            <a:solidFill>
              <a:srgbClr val="AB5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601200" y="3456432"/>
            <a:ext cx="932688" cy="484631"/>
          </a:xfrm>
          <a:prstGeom prst="line">
            <a:avLst/>
          </a:prstGeom>
          <a:ln w="31750">
            <a:solidFill>
              <a:srgbClr val="AB5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549640" y="4681728"/>
            <a:ext cx="3063240" cy="658368"/>
          </a:xfrm>
          <a:prstGeom prst="roundRect">
            <a:avLst/>
          </a:prstGeom>
          <a:solidFill>
            <a:srgbClr val="0D1215"/>
          </a:solidFill>
          <a:ln w="15240">
            <a:solidFill>
              <a:srgbClr val="3D4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668512" y="4809744"/>
            <a:ext cx="2816352" cy="34747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300" b="1" dirty="0">
                <a:solidFill>
                  <a:srgbClr val="F5F7FA"/>
                </a:solidFill>
                <a:latin typeface="Aptos"/>
              </a:rPr>
              <a:t>Represent with references / ids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92608" y="6172200"/>
            <a:ext cx="11612880" cy="475488"/>
          </a:xfrm>
          <a:prstGeom prst="roundRect">
            <a:avLst/>
          </a:prstGeom>
          <a:solidFill>
            <a:srgbClr val="0A0E11"/>
          </a:solidFill>
          <a:ln w="16510">
            <a:solidFill>
              <a:srgbClr val="FF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2976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1:1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Usually small and owned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286000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35000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1:N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5000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Check growth carefully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206240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27024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N:M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7024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 dirty="0">
                <a:solidFill>
                  <a:srgbClr val="C2CAD3"/>
                </a:solidFill>
                <a:latin typeface="Aptos"/>
              </a:rPr>
              <a:t>Shared relationship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126480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19048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KEY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9048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 dirty="0">
                <a:solidFill>
                  <a:srgbClr val="C2CAD3"/>
                </a:solidFill>
                <a:latin typeface="Aptos"/>
              </a:rPr>
              <a:t>Cardinality is a signal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046719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110727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NOT ENOUGH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10727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Also inspect access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9966959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10030967" y="6199632"/>
            <a:ext cx="199339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NEXT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30967" y="6355080"/>
            <a:ext cx="199339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Choose a shape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704320" cy="53035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One-to-One: Embed or Reference?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11430000" cy="329184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400" b="0">
                <a:solidFill>
                  <a:srgbClr val="C2CAD3"/>
                </a:solidFill>
                <a:latin typeface="Aptos"/>
              </a:rPr>
              <a:t>A primary shipping address is a useful example of a one-to-one relation.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5349240" cy="4526280"/>
          </a:xfrm>
          <a:prstGeom prst="roundRect">
            <a:avLst/>
          </a:prstGeom>
          <a:solidFill>
            <a:srgbClr val="0C1218"/>
          </a:solidFill>
          <a:ln w="22860">
            <a:solidFill>
              <a:srgbClr val="00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64208"/>
            <a:ext cx="4846320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2300" b="1">
                <a:solidFill>
                  <a:srgbClr val="00DDEB"/>
                </a:solidFill>
                <a:latin typeface="Aptos"/>
              </a:rPr>
              <a:t>EMBED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103120"/>
            <a:ext cx="4663440" cy="1143000"/>
          </a:xfrm>
          <a:prstGeom prst="rect">
            <a:avLst/>
          </a:prstGeom>
          <a:noFill/>
        </p:spPr>
        <p:txBody>
          <a:bodyPr wrap="square" lIns="73152" tIns="36576" rIns="36576" bIns="36576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Small and bounded</a:t>
            </a:r>
          </a:p>
          <a:p>
            <a:pPr>
              <a:spcAft>
                <a:spcPts val="3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Read with the parent</a:t>
            </a:r>
          </a:p>
          <a:p>
            <a:pPr>
              <a:spcAft>
                <a:spcPts val="3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Owned by the parent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3429000"/>
            <a:ext cx="4526280" cy="1965960"/>
          </a:xfrm>
          <a:prstGeom prst="roundRect">
            <a:avLst/>
          </a:prstGeom>
          <a:solidFill>
            <a:srgbClr val="071C1F"/>
          </a:solidFill>
          <a:ln w="22860">
            <a:solidFill>
              <a:srgbClr val="00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3621024"/>
            <a:ext cx="4114800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1FA4FF"/>
                </a:solidFill>
                <a:latin typeface="Aptos"/>
              </a:rPr>
              <a:t>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977639"/>
            <a:ext cx="4160520" cy="111556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Aptos"/>
              </a:rPr>
              <a:t>{
  customerId: "CUST-1001",
  shippingAddress: { city, country }
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440680" cy="4526280"/>
          </a:xfrm>
          <a:prstGeom prst="roundRect">
            <a:avLst/>
          </a:prstGeom>
          <a:solidFill>
            <a:srgbClr val="0C1218"/>
          </a:solidFill>
          <a:ln w="22860">
            <a:solidFill>
              <a:srgbClr val="AB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664208"/>
            <a:ext cx="4937760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2300" b="1">
                <a:solidFill>
                  <a:srgbClr val="AB5FFF"/>
                </a:solidFill>
                <a:latin typeface="Aptos"/>
              </a:rPr>
              <a:t>REFERENCE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103120"/>
            <a:ext cx="4663440" cy="1143000"/>
          </a:xfrm>
          <a:prstGeom prst="rect">
            <a:avLst/>
          </a:prstGeom>
          <a:noFill/>
        </p:spPr>
        <p:txBody>
          <a:bodyPr wrap="square" lIns="73152" tIns="36576" rIns="36576" bIns="36576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Related data changes independently</a:t>
            </a:r>
          </a:p>
          <a:p>
            <a:pPr>
              <a:spcAft>
                <a:spcPts val="3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Shared across multiple parents</a:t>
            </a:r>
          </a:p>
          <a:p>
            <a:pPr>
              <a:spcAft>
                <a:spcPts val="3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Separate lifecycle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19088" y="3429000"/>
            <a:ext cx="4709160" cy="1965960"/>
          </a:xfrm>
          <a:prstGeom prst="roundRect">
            <a:avLst/>
          </a:prstGeom>
          <a:solidFill>
            <a:srgbClr val="180C24"/>
          </a:solidFill>
          <a:ln w="22860">
            <a:solidFill>
              <a:srgbClr val="AB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01968" y="3621024"/>
            <a:ext cx="4206240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1FA4FF"/>
                </a:solidFill>
                <a:latin typeface="Aptos"/>
              </a:rPr>
              <a:t>customers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3977639"/>
            <a:ext cx="4251960" cy="111556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Aptos"/>
              </a:rPr>
              <a:t>{
  customerId: "CUST-1001",
  shippingAddressId: "ADDR-44"
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5504688"/>
            <a:ext cx="10789920" cy="34747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9A12"/>
                </a:solidFill>
                <a:latin typeface="Aptos"/>
              </a:rPr>
              <a:t>The relationship is the same; only the storage location changes.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" y="6172200"/>
            <a:ext cx="11612880" cy="475488"/>
          </a:xfrm>
          <a:prstGeom prst="roundRect">
            <a:avLst/>
          </a:prstGeom>
          <a:solidFill>
            <a:srgbClr val="0A0E11"/>
          </a:solidFill>
          <a:ln w="16510">
            <a:solidFill>
              <a:srgbClr val="FF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EMBED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Together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86000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35000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REFERENCE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5000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Separate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206240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27024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DECIDE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024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Ownership + access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126480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19048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048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Growth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046719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110727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PATTERN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0727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Same relation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966959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030967" y="6199632"/>
            <a:ext cx="199339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RESULT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30967" y="6355080"/>
            <a:ext cx="199339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Different shape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704320" cy="53035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One-to-Many: Customer → 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11430000" cy="329184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400" b="0">
                <a:solidFill>
                  <a:srgbClr val="C2CAD3"/>
                </a:solidFill>
                <a:latin typeface="Aptos"/>
              </a:rPr>
              <a:t>The common question is whether the child set is bounded and naturally read with the parent.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5394960" cy="4526280"/>
          </a:xfrm>
          <a:prstGeom prst="roundRect">
            <a:avLst/>
          </a:prstGeom>
          <a:solidFill>
            <a:srgbClr val="0C1218"/>
          </a:solidFill>
          <a:ln w="22860">
            <a:solidFill>
              <a:srgbClr val="FF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64208"/>
            <a:ext cx="4846320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2200" b="1">
                <a:solidFill>
                  <a:srgbClr val="FF9A12"/>
                </a:solidFill>
                <a:latin typeface="Aptos"/>
              </a:rPr>
              <a:t>EMBEDDED ORDERS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11680"/>
            <a:ext cx="4800600" cy="1051560"/>
          </a:xfrm>
          <a:prstGeom prst="rect">
            <a:avLst/>
          </a:prstGeom>
          <a:noFill/>
        </p:spPr>
        <p:txBody>
          <a:bodyPr wrap="square" lIns="73152" tIns="36576" rIns="36576" bIns="36576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Reasonable only for small, bounded sets</a:t>
            </a:r>
          </a:p>
          <a:p>
            <a:pPr>
              <a:spcAft>
                <a:spcPts val="3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Convenient when always read with customer</a:t>
            </a:r>
          </a:p>
          <a:p>
            <a:pPr>
              <a:spcAft>
                <a:spcPts val="3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Can create very large customer documents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310128"/>
            <a:ext cx="4663440" cy="1920240"/>
          </a:xfrm>
          <a:prstGeom prst="roundRect">
            <a:avLst/>
          </a:prstGeom>
          <a:solidFill>
            <a:srgbClr val="2A1607"/>
          </a:solidFill>
          <a:ln w="22860">
            <a:solidFill>
              <a:srgbClr val="FF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3502152"/>
            <a:ext cx="4206240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1FA4FF"/>
                </a:solidFill>
                <a:latin typeface="Aptos"/>
              </a:rPr>
              <a:t>customer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22191"/>
            <a:ext cx="4251960" cy="105156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Aptos"/>
              </a:rPr>
              <a:t>orders: [
  { orderId: "ORD-1001" },
  { orderId: "ORD-1002" }
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440680" cy="4526280"/>
          </a:xfrm>
          <a:prstGeom prst="roundRect">
            <a:avLst/>
          </a:prstGeom>
          <a:solidFill>
            <a:srgbClr val="0C1218"/>
          </a:solidFill>
          <a:ln w="22860">
            <a:solidFill>
              <a:srgbClr val="1F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664208"/>
            <a:ext cx="4937760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2200" b="1">
                <a:solidFill>
                  <a:srgbClr val="1FA4FF"/>
                </a:solidFill>
                <a:latin typeface="Aptos"/>
              </a:rPr>
              <a:t>SEPARATE COLLECTION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011680"/>
            <a:ext cx="4754880" cy="1051560"/>
          </a:xfrm>
          <a:prstGeom prst="rect">
            <a:avLst/>
          </a:prstGeom>
          <a:noFill/>
        </p:spPr>
        <p:txBody>
          <a:bodyPr wrap="square" lIns="73152" tIns="36576" rIns="36576" bIns="36576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Orders can grow independently</a:t>
            </a:r>
          </a:p>
          <a:p>
            <a:pPr>
              <a:spcAft>
                <a:spcPts val="3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Orders have their own lifecycle</a:t>
            </a:r>
          </a:p>
          <a:p>
            <a:pPr>
              <a:spcAft>
                <a:spcPts val="3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Query by customerId when needed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3310128"/>
            <a:ext cx="4572000" cy="1920240"/>
          </a:xfrm>
          <a:prstGeom prst="roundRect">
            <a:avLst/>
          </a:prstGeom>
          <a:solidFill>
            <a:srgbClr val="072130"/>
          </a:solidFill>
          <a:ln w="22860">
            <a:solidFill>
              <a:srgbClr val="1F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3502152"/>
            <a:ext cx="4160520" cy="2286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1FA4FF"/>
                </a:solidFill>
                <a:latin typeface="Aptos"/>
              </a:rPr>
              <a:t>customers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22191"/>
            <a:ext cx="4160520" cy="105156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Aptos"/>
              </a:rPr>
              <a:t>{ customerId: "CUST-1001" }
orders → customerId: "CUST-1001"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522976"/>
            <a:ext cx="10698480" cy="329184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9A12"/>
                </a:solidFill>
                <a:latin typeface="Aptos"/>
              </a:rPr>
              <a:t>For growing order history, separate storage usually keeps the parent document bounded.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" y="6172200"/>
            <a:ext cx="11612880" cy="475488"/>
          </a:xfrm>
          <a:prstGeom prst="roundRect">
            <a:avLst/>
          </a:prstGeom>
          <a:solidFill>
            <a:srgbClr val="0A0E11"/>
          </a:solidFill>
          <a:ln w="16510">
            <a:solidFill>
              <a:srgbClr val="FF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1:N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Parent → many children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86000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35000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EMBED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5000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Bounded set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206240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27024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REFERENCE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024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Growing set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126480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19048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LIFECYCLE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048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Separate writes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046719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110727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QUERY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0727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Use customerId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966959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030967" y="6199632"/>
            <a:ext cx="199339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CHECK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30967" y="6355080"/>
            <a:ext cx="199339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Document size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704320" cy="53035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Many-to-Many: Orders ↔ Products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11430000" cy="329184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400" b="0">
                <a:solidFill>
                  <a:srgbClr val="C2CAD3"/>
                </a:solidFill>
                <a:latin typeface="Aptos"/>
              </a:rPr>
              <a:t>One product can appear in many orders, and each order can contain many products.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6903720" cy="4526280"/>
          </a:xfrm>
          <a:prstGeom prst="roundRect">
            <a:avLst/>
          </a:prstGeom>
          <a:solidFill>
            <a:srgbClr val="0C1218"/>
          </a:solidFill>
          <a:ln w="22860">
            <a:solidFill>
              <a:srgbClr val="AB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64208"/>
            <a:ext cx="6355080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2200" b="1">
                <a:solidFill>
                  <a:srgbClr val="AB5FFF"/>
                </a:solidFill>
                <a:latin typeface="Aptos"/>
              </a:rPr>
              <a:t>ORDER ITEMS AS REFERENCES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2011680" cy="731520"/>
          </a:xfrm>
          <a:prstGeom prst="roundRect">
            <a:avLst/>
          </a:prstGeom>
          <a:solidFill>
            <a:srgbClr val="2A1607"/>
          </a:solidFill>
          <a:ln w="22860">
            <a:solidFill>
              <a:srgbClr val="FF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359152"/>
            <a:ext cx="1828800" cy="25603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9A12"/>
                </a:solidFill>
                <a:latin typeface="Aptos"/>
              </a:rPr>
              <a:t>orders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480" y="2148840"/>
            <a:ext cx="2011680" cy="731520"/>
          </a:xfrm>
          <a:prstGeom prst="roundRect">
            <a:avLst/>
          </a:prstGeom>
          <a:solidFill>
            <a:srgbClr val="1C0D28"/>
          </a:solidFill>
          <a:ln w="22860">
            <a:solidFill>
              <a:srgbClr val="AB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74920" y="2359152"/>
            <a:ext cx="1828800" cy="25603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800" b="1">
                <a:solidFill>
                  <a:srgbClr val="AB5FFF"/>
                </a:solidFill>
                <a:latin typeface="Aptos"/>
              </a:rPr>
              <a:t>products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2" y="3246120"/>
            <a:ext cx="1600200" cy="502920"/>
          </a:xfrm>
          <a:prstGeom prst="roundRect">
            <a:avLst/>
          </a:prstGeom>
          <a:solidFill>
            <a:srgbClr val="0A191C"/>
          </a:solidFill>
          <a:ln w="22860">
            <a:solidFill>
              <a:srgbClr val="00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71800" y="3374136"/>
            <a:ext cx="1481328" cy="18288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300" b="1">
                <a:solidFill>
                  <a:srgbClr val="00DDEB"/>
                </a:solidFill>
                <a:latin typeface="Aptos"/>
              </a:rPr>
              <a:t>P100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0" y="2514600"/>
            <a:ext cx="164592" cy="987552"/>
          </a:xfrm>
          <a:prstGeom prst="line">
            <a:avLst/>
          </a:prstGeom>
          <a:ln w="31750">
            <a:solidFill>
              <a:srgbClr val="FF9A1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507992" y="2514600"/>
            <a:ext cx="475488" cy="987552"/>
          </a:xfrm>
          <a:prstGeom prst="line">
            <a:avLst/>
          </a:prstGeom>
          <a:ln w="31750">
            <a:solidFill>
              <a:srgbClr val="AB5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07792" y="3886200"/>
            <a:ext cx="1600200" cy="502920"/>
          </a:xfrm>
          <a:prstGeom prst="roundRect">
            <a:avLst/>
          </a:prstGeom>
          <a:solidFill>
            <a:srgbClr val="0A191C"/>
          </a:solidFill>
          <a:ln w="22860">
            <a:solidFill>
              <a:srgbClr val="00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71800" y="4014215"/>
            <a:ext cx="1481328" cy="18288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300" b="1">
                <a:solidFill>
                  <a:srgbClr val="00DDEB"/>
                </a:solidFill>
                <a:latin typeface="Aptos"/>
              </a:rPr>
              <a:t>P200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43200" y="2514600"/>
            <a:ext cx="164592" cy="1627632"/>
          </a:xfrm>
          <a:prstGeom prst="line">
            <a:avLst/>
          </a:prstGeom>
          <a:ln w="31750">
            <a:solidFill>
              <a:srgbClr val="FF9A1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507992" y="2514600"/>
            <a:ext cx="475488" cy="1627632"/>
          </a:xfrm>
          <a:prstGeom prst="line">
            <a:avLst/>
          </a:prstGeom>
          <a:ln w="31750">
            <a:solidFill>
              <a:srgbClr val="AB5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907792" y="4526280"/>
            <a:ext cx="1600200" cy="502920"/>
          </a:xfrm>
          <a:prstGeom prst="roundRect">
            <a:avLst/>
          </a:prstGeom>
          <a:solidFill>
            <a:srgbClr val="0A191C"/>
          </a:solidFill>
          <a:ln w="22860">
            <a:solidFill>
              <a:srgbClr val="00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71800" y="4654296"/>
            <a:ext cx="1481328" cy="18288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300" b="1">
                <a:solidFill>
                  <a:srgbClr val="00DDEB"/>
                </a:solidFill>
                <a:latin typeface="Aptos"/>
              </a:rPr>
              <a:t>P300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743200" y="2514600"/>
            <a:ext cx="164592" cy="2267712"/>
          </a:xfrm>
          <a:prstGeom prst="line">
            <a:avLst/>
          </a:prstGeom>
          <a:ln w="31750">
            <a:solidFill>
              <a:srgbClr val="FF9A1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507992" y="2514600"/>
            <a:ext cx="475488" cy="2267712"/>
          </a:xfrm>
          <a:prstGeom prst="line">
            <a:avLst/>
          </a:prstGeom>
          <a:ln w="31750">
            <a:solidFill>
              <a:srgbClr val="AB5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32688" y="5138928"/>
            <a:ext cx="5897880" cy="50292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Aptos"/>
              </a:rPr>
              <a:t>The order stores product identifiers; product definitions stay reusable.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0" y="1417320"/>
            <a:ext cx="3931920" cy="4526280"/>
          </a:xfrm>
          <a:prstGeom prst="roundRect">
            <a:avLst/>
          </a:prstGeom>
          <a:solidFill>
            <a:srgbClr val="0C1218"/>
          </a:solidFill>
          <a:ln w="22860">
            <a:solidFill>
              <a:srgbClr val="00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09560" y="1664208"/>
            <a:ext cx="3474720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2000" b="1">
                <a:solidFill>
                  <a:srgbClr val="00DDEB"/>
                </a:solidFill>
                <a:latin typeface="Aptos"/>
              </a:rPr>
              <a:t>Why not duplicate products?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18704" y="2148840"/>
            <a:ext cx="3337560" cy="2011680"/>
          </a:xfrm>
          <a:prstGeom prst="rect">
            <a:avLst/>
          </a:prstGeom>
          <a:noFill/>
        </p:spPr>
        <p:txBody>
          <a:bodyPr wrap="square" lIns="73152" tIns="36576" rIns="36576" bIns="36576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Product details change independently</a:t>
            </a:r>
          </a:p>
          <a:p>
            <a:pPr>
              <a:spcAft>
                <a:spcPts val="3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Catalog data is shared</a:t>
            </a:r>
          </a:p>
          <a:p>
            <a:pPr>
              <a:spcAft>
                <a:spcPts val="3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Avoid repeating large definitions</a:t>
            </a:r>
          </a:p>
          <a:p>
            <a:pPr>
              <a:spcAft>
                <a:spcPts val="3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Reference with stable ids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79" y="4526280"/>
            <a:ext cx="3383280" cy="914400"/>
          </a:xfrm>
          <a:prstGeom prst="roundRect">
            <a:avLst/>
          </a:prstGeom>
          <a:solidFill>
            <a:srgbClr val="071C1F"/>
          </a:solidFill>
          <a:ln w="22860">
            <a:solidFill>
              <a:srgbClr val="00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92440" y="4663440"/>
            <a:ext cx="3108960" cy="59436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Aptos"/>
              </a:rPr>
              <a:t>orders.items[]
productId → products._id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2608" y="6172200"/>
            <a:ext cx="11612880" cy="475488"/>
          </a:xfrm>
          <a:prstGeom prst="roundRect">
            <a:avLst/>
          </a:prstGeom>
          <a:solidFill>
            <a:srgbClr val="0A0E11"/>
          </a:solidFill>
          <a:ln w="16510">
            <a:solidFill>
              <a:srgbClr val="FF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976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N:M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Shared relationship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286000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35000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ORDER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5000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Many products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206240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27024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PRODUCT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7024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Many orders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126480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19048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LINK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048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Use ids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046719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110727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REUSE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10727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Keep catalog separate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966959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030967" y="6199632"/>
            <a:ext cx="199339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DESIGN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30967" y="6355080"/>
            <a:ext cx="199339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Avoid duplication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704320" cy="53035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Embed or Reference?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11430000" cy="329184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400" b="0">
                <a:solidFill>
                  <a:srgbClr val="C2CAD3"/>
                </a:solidFill>
                <a:latin typeface="Aptos"/>
              </a:rPr>
              <a:t>Use the relationship and the way the application uses the data to choose a practical shape.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5486400" cy="4526280"/>
          </a:xfrm>
          <a:prstGeom prst="roundRect">
            <a:avLst/>
          </a:prstGeom>
          <a:solidFill>
            <a:srgbClr val="0C1218"/>
          </a:solidFill>
          <a:ln w="22860">
            <a:solidFill>
              <a:srgbClr val="00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1682496"/>
            <a:ext cx="4937760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2400" b="1">
                <a:solidFill>
                  <a:srgbClr val="00DDEB"/>
                </a:solidFill>
                <a:latin typeface="Aptos"/>
              </a:rPr>
              <a:t>EMBED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12848"/>
            <a:ext cx="3657600" cy="493776"/>
          </a:xfrm>
          <a:prstGeom prst="roundRect">
            <a:avLst/>
          </a:prstGeom>
          <a:solidFill>
            <a:srgbClr val="081C1F"/>
          </a:solidFill>
          <a:ln w="15240">
            <a:solidFill>
              <a:srgbClr val="235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2194560" cy="2103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350" b="0">
                <a:solidFill>
                  <a:srgbClr val="F5F7FA"/>
                </a:solidFill>
                <a:latin typeface="Aptos"/>
              </a:rPr>
              <a:t>Read together?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30752" y="2331720"/>
            <a:ext cx="566928" cy="2103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350" b="1">
                <a:solidFill>
                  <a:srgbClr val="00DDEB"/>
                </a:solidFill>
                <a:latin typeface="Aptos"/>
              </a:rPr>
              <a:t>Yes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898648"/>
            <a:ext cx="3657600" cy="493776"/>
          </a:xfrm>
          <a:prstGeom prst="roundRect">
            <a:avLst/>
          </a:prstGeom>
          <a:solidFill>
            <a:srgbClr val="081C1F"/>
          </a:solidFill>
          <a:ln w="15240">
            <a:solidFill>
              <a:srgbClr val="235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2194560" cy="2103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350" b="0">
                <a:solidFill>
                  <a:srgbClr val="F5F7FA"/>
                </a:solidFill>
                <a:latin typeface="Aptos"/>
              </a:rPr>
              <a:t>Small and bounded?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0752" y="3017520"/>
            <a:ext cx="566928" cy="2103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350" b="1">
                <a:solidFill>
                  <a:srgbClr val="00DDEB"/>
                </a:solidFill>
                <a:latin typeface="Aptos"/>
              </a:rPr>
              <a:t>Yes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584448"/>
            <a:ext cx="3657600" cy="493776"/>
          </a:xfrm>
          <a:prstGeom prst="roundRect">
            <a:avLst/>
          </a:prstGeom>
          <a:solidFill>
            <a:srgbClr val="081C1F"/>
          </a:solidFill>
          <a:ln w="15240">
            <a:solidFill>
              <a:srgbClr val="235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2194560" cy="2103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350" b="0">
                <a:solidFill>
                  <a:srgbClr val="F5F7FA"/>
                </a:solidFill>
                <a:latin typeface="Aptos"/>
              </a:rPr>
              <a:t>Owned by parent?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3703320"/>
            <a:ext cx="566928" cy="2103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350" b="1">
                <a:solidFill>
                  <a:srgbClr val="00DDEB"/>
                </a:solidFill>
                <a:latin typeface="Aptos"/>
              </a:rPr>
              <a:t>Yes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270248"/>
            <a:ext cx="3657600" cy="493776"/>
          </a:xfrm>
          <a:prstGeom prst="roundRect">
            <a:avLst/>
          </a:prstGeom>
          <a:solidFill>
            <a:srgbClr val="081C1F"/>
          </a:solidFill>
          <a:ln w="15240">
            <a:solidFill>
              <a:srgbClr val="235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389120"/>
            <a:ext cx="2194560" cy="2103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350" b="0">
                <a:solidFill>
                  <a:srgbClr val="F5F7FA"/>
                </a:solidFill>
                <a:latin typeface="Aptos"/>
              </a:rPr>
              <a:t>Updated together?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4389120"/>
            <a:ext cx="566928" cy="2103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350" b="1">
                <a:solidFill>
                  <a:srgbClr val="00DDEB"/>
                </a:solidFill>
                <a:latin typeface="Aptos"/>
              </a:rPr>
              <a:t>Often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5074920"/>
            <a:ext cx="4800600" cy="47548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400" b="1">
                <a:solidFill>
                  <a:srgbClr val="F5F7FA"/>
                </a:solidFill>
                <a:latin typeface="Aptos"/>
              </a:rPr>
              <a:t>Typical fit: address, small preferences, bounded child data.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1417320"/>
            <a:ext cx="5413248" cy="4526280"/>
          </a:xfrm>
          <a:prstGeom prst="roundRect">
            <a:avLst/>
          </a:prstGeom>
          <a:solidFill>
            <a:srgbClr val="0C1218"/>
          </a:solidFill>
          <a:ln w="22860">
            <a:solidFill>
              <a:srgbClr val="AB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1682496"/>
            <a:ext cx="4892040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2400" b="1">
                <a:solidFill>
                  <a:srgbClr val="AB5FFF"/>
                </a:solidFill>
                <a:latin typeface="Aptos"/>
              </a:rPr>
              <a:t>REFERENCE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73952" y="2212848"/>
            <a:ext cx="3657600" cy="493776"/>
          </a:xfrm>
          <a:prstGeom prst="roundRect">
            <a:avLst/>
          </a:prstGeom>
          <a:solidFill>
            <a:srgbClr val="180C24"/>
          </a:solidFill>
          <a:ln w="15240">
            <a:solidFill>
              <a:srgbClr val="583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1112" y="2331720"/>
            <a:ext cx="2194560" cy="2103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350" b="0">
                <a:solidFill>
                  <a:srgbClr val="F5F7FA"/>
                </a:solidFill>
                <a:latin typeface="Aptos"/>
              </a:rPr>
              <a:t>Can it grow independently?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27464" y="2331720"/>
            <a:ext cx="566928" cy="2103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350" b="1">
                <a:solidFill>
                  <a:srgbClr val="AB5FFF"/>
                </a:solidFill>
                <a:latin typeface="Aptos"/>
              </a:rPr>
              <a:t>Yes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73952" y="2898648"/>
            <a:ext cx="3657600" cy="493776"/>
          </a:xfrm>
          <a:prstGeom prst="roundRect">
            <a:avLst/>
          </a:prstGeom>
          <a:solidFill>
            <a:srgbClr val="180C24"/>
          </a:solidFill>
          <a:ln w="15240">
            <a:solidFill>
              <a:srgbClr val="583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11112" y="3017520"/>
            <a:ext cx="2194560" cy="2103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350" b="0">
                <a:solidFill>
                  <a:srgbClr val="F5F7FA"/>
                </a:solidFill>
                <a:latin typeface="Aptos"/>
              </a:rPr>
              <a:t>Shared by many parents?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27464" y="3017520"/>
            <a:ext cx="566928" cy="2103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350" b="1">
                <a:solidFill>
                  <a:srgbClr val="AB5FFF"/>
                </a:solidFill>
                <a:latin typeface="Aptos"/>
              </a:rPr>
              <a:t>Yes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73952" y="3584448"/>
            <a:ext cx="3657600" cy="493776"/>
          </a:xfrm>
          <a:prstGeom prst="roundRect">
            <a:avLst/>
          </a:prstGeom>
          <a:solidFill>
            <a:srgbClr val="180C24"/>
          </a:solidFill>
          <a:ln w="15240">
            <a:solidFill>
              <a:srgbClr val="583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11112" y="3703320"/>
            <a:ext cx="2194560" cy="2103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350" b="0">
                <a:solidFill>
                  <a:srgbClr val="F5F7FA"/>
                </a:solidFill>
                <a:latin typeface="Aptos"/>
              </a:rPr>
              <a:t>Separate lifecycle?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27464" y="3703320"/>
            <a:ext cx="566928" cy="2103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350" b="1">
                <a:solidFill>
                  <a:srgbClr val="AB5FFF"/>
                </a:solidFill>
                <a:latin typeface="Aptos"/>
              </a:rPr>
              <a:t>Yes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73952" y="4270248"/>
            <a:ext cx="3657600" cy="493776"/>
          </a:xfrm>
          <a:prstGeom prst="roundRect">
            <a:avLst/>
          </a:prstGeom>
          <a:solidFill>
            <a:srgbClr val="180C24"/>
          </a:solidFill>
          <a:ln w="15240">
            <a:solidFill>
              <a:srgbClr val="583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11112" y="4389120"/>
            <a:ext cx="2194560" cy="2103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350" b="0">
                <a:solidFill>
                  <a:srgbClr val="F5F7FA"/>
                </a:solidFill>
                <a:latin typeface="Aptos"/>
              </a:rPr>
              <a:t>Often read separately?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27464" y="4389120"/>
            <a:ext cx="566928" cy="2103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350" b="1">
                <a:solidFill>
                  <a:srgbClr val="AB5FFF"/>
                </a:solidFill>
                <a:latin typeface="Aptos"/>
              </a:rPr>
              <a:t>Yes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074920"/>
            <a:ext cx="4736592" cy="47548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400" b="1">
                <a:solidFill>
                  <a:srgbClr val="F5F7FA"/>
                </a:solidFill>
                <a:latin typeface="Aptos"/>
              </a:rPr>
              <a:t>Typical fit: growing orders, shared products, reusable entities.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92608" y="6172200"/>
            <a:ext cx="11612880" cy="475488"/>
          </a:xfrm>
          <a:prstGeom prst="roundRect">
            <a:avLst/>
          </a:prstGeom>
          <a:solidFill>
            <a:srgbClr val="0A0E11"/>
          </a:solidFill>
          <a:ln w="16510">
            <a:solidFill>
              <a:srgbClr val="FF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2976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ACCESS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Read together?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286000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35000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GROWTH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5000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How large?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206240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27024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OWNERSHIP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Who owns it?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126480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19048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SHARING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9048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Is it reused?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046719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110727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LIFECYCLE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10727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Change together?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966959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0030967" y="6199632"/>
            <a:ext cx="199339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DECISION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30967" y="6355080"/>
            <a:ext cx="199339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Then choose shape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704320" cy="53035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Order Management Relationship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11430000" cy="329184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400" b="0">
                <a:solidFill>
                  <a:srgbClr val="C2CAD3"/>
                </a:solidFill>
                <a:latin typeface="Aptos"/>
              </a:rPr>
              <a:t>Apply the rules to one realistic application model.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1064240" cy="4526280"/>
          </a:xfrm>
          <a:prstGeom prst="roundRect">
            <a:avLst/>
          </a:prstGeom>
          <a:solidFill>
            <a:srgbClr val="071118"/>
          </a:solidFill>
          <a:ln w="22860">
            <a:solidFill>
              <a:srgbClr val="FF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2057400"/>
            <a:ext cx="2377440" cy="896112"/>
          </a:xfrm>
          <a:prstGeom prst="roundRect">
            <a:avLst/>
          </a:prstGeom>
          <a:solidFill>
            <a:srgbClr val="0C1218"/>
          </a:solidFill>
          <a:ln w="22860">
            <a:solidFill>
              <a:srgbClr val="1F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203704"/>
            <a:ext cx="2148840" cy="27432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800" b="1">
                <a:solidFill>
                  <a:srgbClr val="1FA4FF"/>
                </a:solidFill>
                <a:latin typeface="Aptos"/>
              </a:rPr>
              <a:t>Customer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542032"/>
            <a:ext cx="2148840" cy="18288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200" b="0">
                <a:solidFill>
                  <a:srgbClr val="C2CAD3"/>
                </a:solidFill>
                <a:latin typeface="Aptos"/>
              </a:rPr>
              <a:t>customers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69080"/>
            <a:ext cx="2377440" cy="896112"/>
          </a:xfrm>
          <a:prstGeom prst="roundRect">
            <a:avLst/>
          </a:prstGeom>
          <a:solidFill>
            <a:srgbClr val="0C1218"/>
          </a:solidFill>
          <a:ln w="22860">
            <a:solidFill>
              <a:srgbClr val="00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4215384"/>
            <a:ext cx="2148840" cy="27432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800" b="1">
                <a:solidFill>
                  <a:srgbClr val="00DDEB"/>
                </a:solidFill>
                <a:latin typeface="Aptos"/>
              </a:rPr>
              <a:t>Address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4553712"/>
            <a:ext cx="2148840" cy="18288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200" b="0">
                <a:solidFill>
                  <a:srgbClr val="C2CAD3"/>
                </a:solidFill>
                <a:latin typeface="Aptos"/>
              </a:rPr>
              <a:t>embedded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057400"/>
            <a:ext cx="2377440" cy="896112"/>
          </a:xfrm>
          <a:prstGeom prst="roundRect">
            <a:avLst/>
          </a:prstGeom>
          <a:solidFill>
            <a:srgbClr val="0C1218"/>
          </a:solidFill>
          <a:ln w="22860">
            <a:solidFill>
              <a:srgbClr val="FF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1728" y="2203704"/>
            <a:ext cx="2148840" cy="27432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9A12"/>
                </a:solidFill>
                <a:latin typeface="Aptos"/>
              </a:rPr>
              <a:t>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542032"/>
            <a:ext cx="2148840" cy="18288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200" b="0">
                <a:solidFill>
                  <a:srgbClr val="C2CAD3"/>
                </a:solidFill>
                <a:latin typeface="Aptos"/>
              </a:rPr>
              <a:t>orders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2057400"/>
            <a:ext cx="2377440" cy="896112"/>
          </a:xfrm>
          <a:prstGeom prst="roundRect">
            <a:avLst/>
          </a:prstGeom>
          <a:solidFill>
            <a:srgbClr val="0C1218"/>
          </a:solidFill>
          <a:ln w="22860">
            <a:solidFill>
              <a:srgbClr val="AB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67928" y="2203704"/>
            <a:ext cx="2148840" cy="27432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800" b="1">
                <a:solidFill>
                  <a:srgbClr val="AB5FFF"/>
                </a:solidFill>
                <a:latin typeface="Aptos"/>
              </a:rPr>
              <a:t>Product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67928" y="2542032"/>
            <a:ext cx="2148840" cy="18288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200" b="0">
                <a:solidFill>
                  <a:srgbClr val="C2CAD3"/>
                </a:solidFill>
                <a:latin typeface="Aptos"/>
              </a:rPr>
              <a:t>products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03120" y="2505456"/>
            <a:ext cx="2468880" cy="0"/>
          </a:xfrm>
          <a:prstGeom prst="line">
            <a:avLst/>
          </a:prstGeom>
          <a:ln w="38100">
            <a:solidFill>
              <a:srgbClr val="FF9A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063240" y="2148840"/>
            <a:ext cx="548640" cy="20116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9A12"/>
                </a:solidFill>
                <a:latin typeface="Aptos"/>
              </a:rPr>
              <a:t>1:N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49440" y="2505456"/>
            <a:ext cx="1508760" cy="0"/>
          </a:xfrm>
          <a:prstGeom prst="line">
            <a:avLst/>
          </a:prstGeom>
          <a:ln w="38100">
            <a:solidFill>
              <a:srgbClr val="AB5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88352" y="2148840"/>
            <a:ext cx="640080" cy="20116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200" b="1">
                <a:solidFill>
                  <a:srgbClr val="AB5FFF"/>
                </a:solidFill>
                <a:latin typeface="Aptos"/>
              </a:rPr>
              <a:t>N:M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103120" y="2880360"/>
            <a:ext cx="0" cy="1188720"/>
          </a:xfrm>
          <a:prstGeom prst="line">
            <a:avLst/>
          </a:prstGeom>
          <a:ln w="38100">
            <a:solidFill>
              <a:srgbClr val="00DD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331720" y="3337560"/>
            <a:ext cx="1234440" cy="20116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200" b="1">
                <a:solidFill>
                  <a:srgbClr val="00DDEB"/>
                </a:solidFill>
                <a:latin typeface="Aptos"/>
              </a:rPr>
              <a:t>1:1 • embed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98848" y="3703320"/>
            <a:ext cx="2514600" cy="1143000"/>
          </a:xfrm>
          <a:prstGeom prst="roundRect">
            <a:avLst/>
          </a:prstGeom>
          <a:solidFill>
            <a:srgbClr val="2A1607"/>
          </a:solidFill>
          <a:ln w="22860">
            <a:solidFill>
              <a:srgbClr val="FF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45152" y="3858768"/>
            <a:ext cx="2240280" cy="27432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9A12"/>
                </a:solidFill>
                <a:latin typeface="Aptos"/>
              </a:rPr>
              <a:t>Order document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2" y="4242816"/>
            <a:ext cx="2240280" cy="4572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Aptos"/>
              </a:rPr>
              <a:t>customerId
items[].productId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5559552"/>
            <a:ext cx="10424160" cy="29260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Aptos"/>
              </a:rPr>
              <a:t>One-to-one address is embedded; customer-to-orders is separate; product links are carried by item ids.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2608" y="6172200"/>
            <a:ext cx="11612880" cy="475488"/>
          </a:xfrm>
          <a:prstGeom prst="roundRect">
            <a:avLst/>
          </a:prstGeom>
          <a:solidFill>
            <a:srgbClr val="0A0E11"/>
          </a:solidFill>
          <a:ln w="16510">
            <a:solidFill>
              <a:srgbClr val="FF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976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CUSTOMER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Profile owner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286000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35000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ADDRESS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5000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Small + together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206240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27024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ORDERS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7024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Independent growth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126480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19048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PRODUCTS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048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Shared catalog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046719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110727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ITEM IDS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10727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Reference link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966959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0030967" y="6199632"/>
            <a:ext cx="199339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MODEL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30967" y="6355080"/>
            <a:ext cx="199339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Behavior first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704320" cy="53035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Relation-Driven Design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11430000" cy="329184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400" b="0">
                <a:solidFill>
                  <a:srgbClr val="C2CAD3"/>
                </a:solidFill>
                <a:latin typeface="Aptos"/>
              </a:rPr>
              <a:t>Four quick checks keep the model grounded in application behavior.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2331720" cy="768096"/>
          </a:xfrm>
          <a:prstGeom prst="roundRect">
            <a:avLst/>
          </a:prstGeom>
          <a:solidFill>
            <a:srgbClr val="0C1218"/>
          </a:solidFill>
          <a:ln w="22860">
            <a:solidFill>
              <a:srgbClr val="1F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1563624"/>
            <a:ext cx="2011680" cy="237744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800" b="1">
                <a:solidFill>
                  <a:srgbClr val="1FA4FF"/>
                </a:solidFill>
                <a:latin typeface="Aptos"/>
              </a:rPr>
              <a:t>How many?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417320"/>
            <a:ext cx="8183879" cy="768096"/>
          </a:xfrm>
          <a:prstGeom prst="roundRect">
            <a:avLst/>
          </a:prstGeom>
          <a:solidFill>
            <a:srgbClr val="0A0E12"/>
          </a:solidFill>
          <a:ln w="15240">
            <a:solidFill>
              <a:srgbClr val="384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93008" y="1563624"/>
            <a:ext cx="7680960" cy="25603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1:1 • 1:N • N:M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496312"/>
            <a:ext cx="2331720" cy="768096"/>
          </a:xfrm>
          <a:prstGeom prst="roundRect">
            <a:avLst/>
          </a:prstGeom>
          <a:solidFill>
            <a:srgbClr val="0C1218"/>
          </a:solidFill>
          <a:ln w="22860">
            <a:solidFill>
              <a:srgbClr val="FF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2642616"/>
            <a:ext cx="2011680" cy="237744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9A12"/>
                </a:solidFill>
                <a:latin typeface="Aptos"/>
              </a:rPr>
              <a:t>How big?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2496312"/>
            <a:ext cx="8183879" cy="768096"/>
          </a:xfrm>
          <a:prstGeom prst="roundRect">
            <a:avLst/>
          </a:prstGeom>
          <a:solidFill>
            <a:srgbClr val="0A0E12"/>
          </a:solidFill>
          <a:ln w="15240">
            <a:solidFill>
              <a:srgbClr val="384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93008" y="2642616"/>
            <a:ext cx="7680960" cy="25603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Bounded • growing • unbounded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575304"/>
            <a:ext cx="2331720" cy="768096"/>
          </a:xfrm>
          <a:prstGeom prst="roundRect">
            <a:avLst/>
          </a:prstGeom>
          <a:solidFill>
            <a:srgbClr val="0C1218"/>
          </a:solidFill>
          <a:ln w="22860">
            <a:solidFill>
              <a:srgbClr val="AB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721608"/>
            <a:ext cx="2011680" cy="237744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800" b="1">
                <a:solidFill>
                  <a:srgbClr val="AB5FFF"/>
                </a:solidFill>
                <a:latin typeface="Aptos"/>
              </a:rPr>
              <a:t>How shared?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3575304"/>
            <a:ext cx="8183879" cy="768096"/>
          </a:xfrm>
          <a:prstGeom prst="roundRect">
            <a:avLst/>
          </a:prstGeom>
          <a:solidFill>
            <a:srgbClr val="0A0E12"/>
          </a:solidFill>
          <a:ln w="15240">
            <a:solidFill>
              <a:srgbClr val="384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93008" y="3721608"/>
            <a:ext cx="7680960" cy="25603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Owned • reused • independent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654296"/>
            <a:ext cx="2331720" cy="768096"/>
          </a:xfrm>
          <a:prstGeom prst="roundRect">
            <a:avLst/>
          </a:prstGeom>
          <a:solidFill>
            <a:srgbClr val="0C1218"/>
          </a:solidFill>
          <a:ln w="22860">
            <a:solidFill>
              <a:srgbClr val="00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4800600"/>
            <a:ext cx="2011680" cy="237744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800" b="1">
                <a:solidFill>
                  <a:srgbClr val="00DDEB"/>
                </a:solidFill>
                <a:latin typeface="Aptos"/>
              </a:rPr>
              <a:t>How accessed?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120" y="4654296"/>
            <a:ext cx="8183879" cy="768096"/>
          </a:xfrm>
          <a:prstGeom prst="roundRect">
            <a:avLst/>
          </a:prstGeom>
          <a:solidFill>
            <a:srgbClr val="0A0E12"/>
          </a:solidFill>
          <a:ln w="15240">
            <a:solidFill>
              <a:srgbClr val="384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93008" y="4800600"/>
            <a:ext cx="7680960" cy="25603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Together • separately • mixed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596128"/>
            <a:ext cx="10835640" cy="384048"/>
          </a:xfrm>
          <a:prstGeom prst="roundRect">
            <a:avLst/>
          </a:prstGeom>
          <a:solidFill>
            <a:srgbClr val="2A1607"/>
          </a:solidFill>
          <a:ln w="15240">
            <a:solidFill>
              <a:srgbClr val="FF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5669280"/>
            <a:ext cx="10469880" cy="2103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400" b="1">
                <a:solidFill>
                  <a:srgbClr val="FF9A12"/>
                </a:solidFill>
                <a:latin typeface="Aptos"/>
              </a:rPr>
              <a:t>Final question: will this document shape make the application's common reads and writes simpler?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608" y="6172200"/>
            <a:ext cx="11612880" cy="475488"/>
          </a:xfrm>
          <a:prstGeom prst="roundRect">
            <a:avLst/>
          </a:prstGeom>
          <a:solidFill>
            <a:srgbClr val="0A0E11"/>
          </a:solidFill>
          <a:ln w="16510">
            <a:solidFill>
              <a:srgbClr val="FF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976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CARDINALITY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Count related data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286000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35000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SIZE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5000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Watch growth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206240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27024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SHARING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024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Control duplication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126480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19048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ACCESS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048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Model for reads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046719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110727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LIFECYCLE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10727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Model for changes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966959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0030967" y="6199632"/>
            <a:ext cx="199339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OUTCOME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30967" y="6355080"/>
            <a:ext cx="199339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Practical document shape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704320" cy="53035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Inspect Relations in mongosh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11430000" cy="329184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400" b="0">
                <a:solidFill>
                  <a:srgbClr val="C2CAD3"/>
                </a:solidFill>
                <a:latin typeface="Aptos"/>
              </a:rPr>
              <a:t>Use the shell to see the relationship represented directly in the stored documents.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1018520" cy="4526280"/>
          </a:xfrm>
          <a:prstGeom prst="roundRect">
            <a:avLst/>
          </a:prstGeom>
          <a:solidFill>
            <a:srgbClr val="0C1218"/>
          </a:solidFill>
          <a:ln w="22860">
            <a:solidFill>
              <a:srgbClr val="FF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737360"/>
            <a:ext cx="5074920" cy="1600200"/>
          </a:xfrm>
          <a:prstGeom prst="roundRect">
            <a:avLst/>
          </a:prstGeom>
          <a:solidFill>
            <a:srgbClr val="081117"/>
          </a:solidFill>
          <a:ln w="22860">
            <a:solidFill>
              <a:srgbClr val="1F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847088"/>
            <a:ext cx="4709160" cy="25603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1FA4FF"/>
                </a:solidFill>
                <a:latin typeface="Aptos"/>
              </a:rPr>
              <a:t>1. Find a customer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572000" cy="9144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Consolas"/>
              </a:rPr>
              <a:t>db.customers.findOne({ customerId: "CUST-1001" })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737360"/>
            <a:ext cx="5074920" cy="1600200"/>
          </a:xfrm>
          <a:prstGeom prst="roundRect">
            <a:avLst/>
          </a:prstGeom>
          <a:solidFill>
            <a:srgbClr val="081117"/>
          </a:solidFill>
          <a:ln w="22860">
            <a:solidFill>
              <a:srgbClr val="FF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73368" y="1847088"/>
            <a:ext cx="4709160" cy="25603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FF9A12"/>
                </a:solidFill>
                <a:latin typeface="Aptos"/>
              </a:rPr>
              <a:t>2. Find that customer's orders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40280"/>
            <a:ext cx="4572000" cy="9144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Consolas"/>
              </a:rPr>
              <a:t>db.orders.find({ customerId: "CUST-1001" })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657600"/>
            <a:ext cx="5074920" cy="1600200"/>
          </a:xfrm>
          <a:prstGeom prst="roundRect">
            <a:avLst/>
          </a:prstGeom>
          <a:solidFill>
            <a:srgbClr val="081117"/>
          </a:solidFill>
          <a:ln w="22860">
            <a:solidFill>
              <a:srgbClr val="AB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3767328"/>
            <a:ext cx="4709160" cy="25603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AB5FFF"/>
                </a:solidFill>
                <a:latin typeface="Aptos"/>
              </a:rPr>
              <a:t>3. Find orders containing a 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4572000" cy="9144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Consolas"/>
              </a:rPr>
              <a:t>db.orders.find({ "items.productId": "P100" })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657600"/>
            <a:ext cx="5074920" cy="1600200"/>
          </a:xfrm>
          <a:prstGeom prst="roundRect">
            <a:avLst/>
          </a:prstGeom>
          <a:solidFill>
            <a:srgbClr val="081117"/>
          </a:solidFill>
          <a:ln w="22860">
            <a:solidFill>
              <a:srgbClr val="00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3368" y="3767328"/>
            <a:ext cx="4709160" cy="25603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00DDEB"/>
                </a:solidFill>
                <a:latin typeface="Aptos"/>
              </a:rPr>
              <a:t>4. Inspect the embedded address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160520"/>
            <a:ext cx="4572000" cy="91440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Consolas"/>
              </a:rPr>
              <a:t>db.customers.findOne(
  { customerId: "CUST-1001" },
  { shippingAddress: 1, _id: 0 }
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532120"/>
            <a:ext cx="10332720" cy="329184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500" b="1">
                <a:solidFill>
                  <a:srgbClr val="FF9A12"/>
                </a:solidFill>
                <a:latin typeface="Aptos"/>
              </a:rPr>
              <a:t>Observe the storage decision: embedded data stays inside the document; references appear as ids.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" y="6172200"/>
            <a:ext cx="11612880" cy="475488"/>
          </a:xfrm>
          <a:prstGeom prst="roundRect">
            <a:avLst/>
          </a:prstGeom>
          <a:solidFill>
            <a:srgbClr val="0A0E11"/>
          </a:solidFill>
          <a:ln w="16510">
            <a:solidFill>
              <a:srgbClr val="FF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976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SHELL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Inspect directly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286000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35000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CUSTOMER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5000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Parent document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206240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27024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ORDERS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024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Referenced children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26480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9048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PRODUCT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048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Shared data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046719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110727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ADDRESS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0727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Embedded field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966959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0030967" y="6199632"/>
            <a:ext cx="199339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PRACTICE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30967" y="6355080"/>
            <a:ext cx="199339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Trace the links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704320" cy="53035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A Repeatable Relationship Design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11430000" cy="329184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400" b="0">
                <a:solidFill>
                  <a:srgbClr val="C2CAD3"/>
                </a:solidFill>
                <a:latin typeface="Aptos"/>
              </a:rPr>
              <a:t>Use this sequence before committing a MongoDB document shape.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" y="1874519"/>
            <a:ext cx="2267712" cy="2011680"/>
          </a:xfrm>
          <a:prstGeom prst="roundRect">
            <a:avLst/>
          </a:prstGeom>
          <a:solidFill>
            <a:srgbClr val="0A1216"/>
          </a:solidFill>
          <a:ln w="22860">
            <a:solidFill>
              <a:srgbClr val="1F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2029968"/>
            <a:ext cx="347472" cy="34747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9A12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29968"/>
            <a:ext cx="1490472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Requirement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743777"/>
            <a:ext cx="1783080" cy="510909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300" b="0" dirty="0">
                <a:solidFill>
                  <a:srgbClr val="C2CAD3"/>
                </a:solidFill>
                <a:latin typeface="Aptos"/>
              </a:rPr>
              <a:t>What does the application need?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60320" y="2880360"/>
            <a:ext cx="411480" cy="0"/>
          </a:xfrm>
          <a:prstGeom prst="line">
            <a:avLst/>
          </a:prstGeom>
          <a:ln w="31750">
            <a:solidFill>
              <a:srgbClr val="FF9A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71800" y="1874519"/>
            <a:ext cx="2057400" cy="2011680"/>
          </a:xfrm>
          <a:prstGeom prst="roundRect">
            <a:avLst/>
          </a:prstGeom>
          <a:solidFill>
            <a:srgbClr val="0A1216"/>
          </a:solidFill>
          <a:ln w="22860">
            <a:solidFill>
              <a:srgbClr val="FF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63240" y="2029968"/>
            <a:ext cx="347472" cy="34747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9A12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029968"/>
            <a:ext cx="1490472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Cardinality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542032"/>
            <a:ext cx="1691640" cy="914400"/>
          </a:xfrm>
          <a:prstGeom prst="rect">
            <a:avLst/>
          </a:prstGeom>
          <a:noFill/>
        </p:spPr>
        <p:txBody>
          <a:bodyPr wrap="none" lIns="54864" tIns="54864" rIns="54864" bIns="54864" anchor="ctr">
            <a:spAutoFit/>
          </a:bodyPr>
          <a:lstStyle/>
          <a:p>
            <a:pPr algn="ctr"/>
            <a:r>
              <a:rPr sz="1300" b="0" dirty="0">
                <a:solidFill>
                  <a:srgbClr val="C2CAD3"/>
                </a:solidFill>
                <a:latin typeface="Aptos"/>
              </a:rPr>
              <a:t>How many related records?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29200" y="2880360"/>
            <a:ext cx="411480" cy="0"/>
          </a:xfrm>
          <a:prstGeom prst="line">
            <a:avLst/>
          </a:prstGeom>
          <a:ln w="31750">
            <a:solidFill>
              <a:srgbClr val="FF9A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440680" y="1874519"/>
            <a:ext cx="2057400" cy="2011680"/>
          </a:xfrm>
          <a:prstGeom prst="roundRect">
            <a:avLst/>
          </a:prstGeom>
          <a:solidFill>
            <a:srgbClr val="0A1216"/>
          </a:solidFill>
          <a:ln w="22860">
            <a:solidFill>
              <a:srgbClr val="00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32120" y="2029968"/>
            <a:ext cx="347472" cy="34747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9A12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2029968"/>
            <a:ext cx="1490472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2743777"/>
            <a:ext cx="1737360" cy="510909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300" b="0" dirty="0">
                <a:solidFill>
                  <a:srgbClr val="C2CAD3"/>
                </a:solidFill>
                <a:latin typeface="Aptos"/>
              </a:rPr>
              <a:t>Read together or separately?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98079" y="2880360"/>
            <a:ext cx="411480" cy="0"/>
          </a:xfrm>
          <a:prstGeom prst="line">
            <a:avLst/>
          </a:prstGeom>
          <a:ln w="31750">
            <a:solidFill>
              <a:srgbClr val="FF9A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909560" y="1874519"/>
            <a:ext cx="2057400" cy="2011680"/>
          </a:xfrm>
          <a:prstGeom prst="roundRect">
            <a:avLst/>
          </a:prstGeom>
          <a:solidFill>
            <a:srgbClr val="0A1216"/>
          </a:solidFill>
          <a:ln w="22860">
            <a:solidFill>
              <a:srgbClr val="AB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01000" y="2029968"/>
            <a:ext cx="347472" cy="34747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9A12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029968"/>
            <a:ext cx="1490472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Growth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643750"/>
            <a:ext cx="1417320" cy="71096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300" b="0" dirty="0">
                <a:solidFill>
                  <a:srgbClr val="C2CAD3"/>
                </a:solidFill>
                <a:latin typeface="Aptos"/>
              </a:rPr>
              <a:t>Bounded or independently growing?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966960" y="2880360"/>
            <a:ext cx="411480" cy="0"/>
          </a:xfrm>
          <a:prstGeom prst="line">
            <a:avLst/>
          </a:prstGeom>
          <a:ln w="31750">
            <a:solidFill>
              <a:srgbClr val="FF9A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378440" y="1874519"/>
            <a:ext cx="1691640" cy="2011680"/>
          </a:xfrm>
          <a:prstGeom prst="roundRect">
            <a:avLst/>
          </a:prstGeom>
          <a:solidFill>
            <a:srgbClr val="0A1216"/>
          </a:solidFill>
          <a:ln w="22860">
            <a:solidFill>
              <a:srgbClr val="FF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451592" y="2029968"/>
            <a:ext cx="347472" cy="34747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9A12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71632" y="2029968"/>
            <a:ext cx="1188720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Shape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08792" y="2594582"/>
            <a:ext cx="978408" cy="911019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300" b="0" dirty="0">
                <a:solidFill>
                  <a:srgbClr val="C2CAD3"/>
                </a:solidFill>
                <a:latin typeface="Aptos"/>
              </a:rPr>
              <a:t>Embed, reference, or combine?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343400"/>
            <a:ext cx="10835640" cy="1143000"/>
          </a:xfrm>
          <a:prstGeom prst="roundRect">
            <a:avLst/>
          </a:prstGeom>
          <a:solidFill>
            <a:srgbClr val="2A1607"/>
          </a:solidFill>
          <a:ln w="22860">
            <a:solidFill>
              <a:srgbClr val="FF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4553712"/>
            <a:ext cx="10378440" cy="64008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700" b="1">
                <a:solidFill>
                  <a:srgbClr val="F5F7FA"/>
                </a:solidFill>
                <a:latin typeface="Aptos"/>
              </a:rPr>
              <a:t>Design around behavior — not around the source table.
A good relation model should make common application operations easy to reason about.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2608" y="6172200"/>
            <a:ext cx="11612880" cy="475488"/>
          </a:xfrm>
          <a:prstGeom prst="roundRect">
            <a:avLst/>
          </a:prstGeom>
          <a:solidFill>
            <a:srgbClr val="0A0E11"/>
          </a:solidFill>
          <a:ln w="16510">
            <a:solidFill>
              <a:srgbClr val="FF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976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REQUIREMENTS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Start with behavior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286000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35000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CARDINALITY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5000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Count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206240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27024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ACCESS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7024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Observe reads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126480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19048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GROWTH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9048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Watch size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046719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110727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SHAPE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10727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Embed / reference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966959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0030967" y="6199632"/>
            <a:ext cx="199339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RESULT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30967" y="6355080"/>
            <a:ext cx="199339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Maintainable model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704320" cy="53035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11430000" cy="329184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400" b="0">
                <a:solidFill>
                  <a:srgbClr val="C2CAD3"/>
                </a:solidFill>
                <a:latin typeface="Aptos"/>
              </a:rPr>
              <a:t>A visual checklist for modeling relationships in MongoDB.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0972800" cy="4480560"/>
          </a:xfrm>
          <a:prstGeom prst="roundRect">
            <a:avLst/>
          </a:prstGeom>
          <a:solidFill>
            <a:srgbClr val="071118"/>
          </a:solidFill>
          <a:ln w="22860">
            <a:solidFill>
              <a:srgbClr val="FF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645152" y="1874519"/>
            <a:ext cx="2880360" cy="914400"/>
          </a:xfrm>
          <a:prstGeom prst="roundRect">
            <a:avLst/>
          </a:prstGeom>
          <a:solidFill>
            <a:srgbClr val="2A1607"/>
          </a:solidFill>
          <a:ln w="22860">
            <a:solidFill>
              <a:srgbClr val="FF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73168" y="2057400"/>
            <a:ext cx="2633472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900" b="1">
                <a:solidFill>
                  <a:srgbClr val="FF9A12"/>
                </a:solidFill>
                <a:latin typeface="Aptos"/>
              </a:rPr>
              <a:t>Order Management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737360"/>
            <a:ext cx="2743200" cy="1234440"/>
          </a:xfrm>
          <a:prstGeom prst="roundRect">
            <a:avLst/>
          </a:prstGeom>
          <a:solidFill>
            <a:srgbClr val="0C1218"/>
          </a:solidFill>
          <a:ln w="22860">
            <a:solidFill>
              <a:srgbClr val="00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865376"/>
            <a:ext cx="2560320" cy="24688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800" b="1">
                <a:solidFill>
                  <a:srgbClr val="00DDEB"/>
                </a:solidFill>
                <a:latin typeface="Aptos"/>
              </a:rPr>
              <a:t>1:1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176272"/>
            <a:ext cx="2514600" cy="25603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400" b="1">
                <a:solidFill>
                  <a:srgbClr val="F5F7FA"/>
                </a:solidFill>
                <a:latin typeface="Aptos"/>
              </a:rPr>
              <a:t>Embed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523744"/>
            <a:ext cx="2514600" cy="20116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150" b="0">
                <a:solidFill>
                  <a:srgbClr val="C2CAD3"/>
                </a:solidFill>
                <a:latin typeface="Aptos"/>
              </a:rPr>
              <a:t>Small + owned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86200"/>
            <a:ext cx="2743200" cy="1234440"/>
          </a:xfrm>
          <a:prstGeom prst="roundRect">
            <a:avLst/>
          </a:prstGeom>
          <a:solidFill>
            <a:srgbClr val="0C1218"/>
          </a:solidFill>
          <a:ln w="22860">
            <a:solidFill>
              <a:srgbClr val="1F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014215"/>
            <a:ext cx="2560320" cy="24688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800" b="1">
                <a:solidFill>
                  <a:srgbClr val="1FA4FF"/>
                </a:solidFill>
                <a:latin typeface="Aptos"/>
              </a:rPr>
              <a:t>1:N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4325112"/>
            <a:ext cx="2514600" cy="25603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400" b="1">
                <a:solidFill>
                  <a:srgbClr val="F5F7FA"/>
                </a:solidFill>
                <a:latin typeface="Aptos"/>
              </a:rPr>
              <a:t>Reference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4672584"/>
            <a:ext cx="2514600" cy="20116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150" b="0">
                <a:solidFill>
                  <a:srgbClr val="C2CAD3"/>
                </a:solidFill>
                <a:latin typeface="Aptos"/>
              </a:rPr>
              <a:t>Grows independently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737360"/>
            <a:ext cx="2743200" cy="1234440"/>
          </a:xfrm>
          <a:prstGeom prst="roundRect">
            <a:avLst/>
          </a:prstGeom>
          <a:solidFill>
            <a:srgbClr val="0C1218"/>
          </a:solidFill>
          <a:ln w="22860">
            <a:solidFill>
              <a:srgbClr val="AB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19" y="1865376"/>
            <a:ext cx="2560320" cy="24688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800" b="1">
                <a:solidFill>
                  <a:srgbClr val="AB5FFF"/>
                </a:solidFill>
                <a:latin typeface="Aptos"/>
              </a:rPr>
              <a:t>N:M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7" y="2176272"/>
            <a:ext cx="2514600" cy="25603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400" b="1">
                <a:solidFill>
                  <a:srgbClr val="F5F7FA"/>
                </a:solidFill>
                <a:latin typeface="Aptos"/>
              </a:rPr>
              <a:t>Reference ids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7" y="2523744"/>
            <a:ext cx="2514600" cy="20116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150" b="0">
                <a:solidFill>
                  <a:srgbClr val="C2CAD3"/>
                </a:solidFill>
                <a:latin typeface="Aptos"/>
              </a:rPr>
              <a:t>Shared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886200"/>
            <a:ext cx="2743200" cy="1234440"/>
          </a:xfrm>
          <a:prstGeom prst="roundRect">
            <a:avLst/>
          </a:prstGeom>
          <a:solidFill>
            <a:srgbClr val="0C1218"/>
          </a:solidFill>
          <a:ln w="22860">
            <a:solidFill>
              <a:srgbClr val="FF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4014215"/>
            <a:ext cx="2560320" cy="24688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800" b="1">
                <a:solidFill>
                  <a:srgbClr val="FF9A12"/>
                </a:solidFill>
                <a:latin typeface="Aptos"/>
              </a:rPr>
              <a:t>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4325112"/>
            <a:ext cx="2514600" cy="25603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400" b="1">
                <a:solidFill>
                  <a:srgbClr val="F5F7FA"/>
                </a:solidFill>
                <a:latin typeface="Aptos"/>
              </a:rPr>
              <a:t>Design around reads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4672584"/>
            <a:ext cx="2514600" cy="20116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150" b="0">
                <a:solidFill>
                  <a:srgbClr val="C2CAD3"/>
                </a:solidFill>
                <a:latin typeface="Aptos"/>
              </a:rPr>
              <a:t>Behavior first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3657600" y="2331720"/>
            <a:ext cx="987552" cy="0"/>
          </a:xfrm>
          <a:prstGeom prst="line">
            <a:avLst/>
          </a:prstGeom>
          <a:ln w="31750">
            <a:solidFill>
              <a:srgbClr val="00DD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3657600" y="2788920"/>
            <a:ext cx="987552" cy="1645920"/>
          </a:xfrm>
          <a:prstGeom prst="line">
            <a:avLst/>
          </a:prstGeom>
          <a:ln w="31750">
            <a:solidFill>
              <a:srgbClr val="1FA4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525512" y="2331720"/>
            <a:ext cx="886968" cy="0"/>
          </a:xfrm>
          <a:prstGeom prst="line">
            <a:avLst/>
          </a:prstGeom>
          <a:ln w="31750">
            <a:solidFill>
              <a:srgbClr val="AB5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525512" y="2788920"/>
            <a:ext cx="704088" cy="1645920"/>
          </a:xfrm>
          <a:prstGeom prst="line">
            <a:avLst/>
          </a:prstGeom>
          <a:ln w="31750">
            <a:solidFill>
              <a:srgbClr val="FF9A1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063240" y="3291840"/>
            <a:ext cx="6126480" cy="38404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700" b="1">
                <a:solidFill>
                  <a:srgbClr val="F5F7FA"/>
                </a:solidFill>
                <a:latin typeface="Aptos"/>
              </a:rPr>
              <a:t>RELATION → CARDINALITY → ACCESS → DOCUMENT SHAPE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2608" y="6172200"/>
            <a:ext cx="11612880" cy="475488"/>
          </a:xfrm>
          <a:prstGeom prst="roundRect">
            <a:avLst/>
          </a:prstGeom>
          <a:solidFill>
            <a:srgbClr val="0A0E11"/>
          </a:solidFill>
          <a:ln w="16510">
            <a:solidFill>
              <a:srgbClr val="FF9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976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RELATION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Logical connection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286000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35000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CARDINALITY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5000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1:1 • 1:N • N:M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206240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27024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EMBED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7024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Keep together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126480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190488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REFERENCE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0488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Separate + id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046719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110727" y="6199632"/>
            <a:ext cx="190195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ACCESS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10727" y="6355080"/>
            <a:ext cx="190195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Model for use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966959" y="6245352"/>
            <a:ext cx="0" cy="338328"/>
          </a:xfrm>
          <a:prstGeom prst="line">
            <a:avLst/>
          </a:prstGeom>
          <a:ln w="12700">
            <a:solidFill>
              <a:srgbClr val="4046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030967" y="6199632"/>
            <a:ext cx="1993392" cy="16459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1">
                <a:solidFill>
                  <a:srgbClr val="FF9A12"/>
                </a:solidFill>
                <a:latin typeface="Aptos"/>
              </a:rPr>
              <a:t>GROWTH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30967" y="6355080"/>
            <a:ext cx="1993392" cy="21945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950" b="0">
                <a:solidFill>
                  <a:srgbClr val="C2CAD3"/>
                </a:solidFill>
                <a:latin typeface="Aptos"/>
              </a:rPr>
              <a:t>Protect document size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aed0b32-58fd-49a1-925b-0e19a34645b1}" enabled="1" method="Privileged" siteId="{97984c2b-a229-4609-8185-ae84947bc3f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920</TotalTime>
  <Words>1229</Words>
  <Application>Microsoft Office PowerPoint</Application>
  <PresentationFormat>Widescreen</PresentationFormat>
  <Paragraphs>341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2026-10-06T04:02:10Z</dcterms:modified>
  <cp:category/>
</cp:coreProperties>
</file>