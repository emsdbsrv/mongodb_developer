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536236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dirty="0">
                <a:solidFill>
                  <a:srgbClr val="F5F7F9"/>
                </a:solidFill>
                <a:latin typeface="Aptos Display"/>
              </a:rPr>
              <a:t>Requirements to Data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A repeatable design workflow for MongoDB developers.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9100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REQUIREMENTS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71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7AA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ACCESS PATTERNS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46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66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57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F5FFF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DOCUMENT SHAPE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43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DCDA5"/>
                </a:solidFill>
                <a:latin typeface="Apto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EMBED / REFERENCE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0" y="2441448"/>
            <a:ext cx="320040" cy="0"/>
          </a:xfrm>
          <a:prstGeom prst="line">
            <a:avLst/>
          </a:prstGeom>
          <a:ln w="2413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38360" y="1508760"/>
            <a:ext cx="1965960" cy="1874519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29800" y="17007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41DCE6"/>
                </a:solidFill>
                <a:latin typeface="Apto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14884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5F7F9"/>
                </a:solidFill>
                <a:latin typeface="Aptos"/>
              </a:rPr>
              <a:t>TEST THE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10881360" cy="160020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04487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9100"/>
                </a:solidFill>
                <a:latin typeface="Aptos"/>
              </a:rPr>
              <a:t>Design signal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904487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Likely direction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90448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Example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904487"/>
            <a:ext cx="3429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Why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31596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2DCDA5"/>
                </a:solidFill>
                <a:latin typeface="Aptos"/>
              </a:rPr>
              <a:t>Read together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315968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F5F7F9"/>
                </a:solidFill>
                <a:latin typeface="Aptos"/>
              </a:rPr>
              <a:t>Embed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4315968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shipping +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315968"/>
            <a:ext cx="3429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One business 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636007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37AAFF"/>
                </a:solidFill>
                <a:latin typeface="Aptos"/>
              </a:rPr>
              <a:t>Shared / independent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636007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F5F7F9"/>
                </a:solidFill>
                <a:latin typeface="Aptos"/>
              </a:rPr>
              <a:t>Reference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4636007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customer / product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636007"/>
            <a:ext cx="3429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Own lifecycle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95604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EB5041"/>
                </a:solidFill>
                <a:latin typeface="Aptos"/>
              </a:rPr>
              <a:t>Unbounded growth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956048"/>
            <a:ext cx="21945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F5F7F9"/>
                </a:solidFill>
                <a:latin typeface="Aptos"/>
              </a:rPr>
              <a:t>Separate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4956048"/>
            <a:ext cx="2743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events / history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956048"/>
            <a:ext cx="3429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0">
                <a:solidFill>
                  <a:srgbClr val="F5F7F9"/>
                </a:solidFill>
                <a:latin typeface="Aptos"/>
              </a:rPr>
              <a:t>Protect document size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596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9100"/>
                </a:solidFill>
                <a:latin typeface="Aptos"/>
              </a:rPr>
              <a:t>Design for behavior — not for the source table.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End message: explain the requirement, defend the access pattern, then show the document shape.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100"/>
                </a:solidFill>
                <a:latin typeface="Aptos Display"/>
              </a:rPr>
              <a:t>Deriving Data Structure </a:t>
            </a:r>
            <a:r>
              <a:rPr sz="3000" b="1">
                <a:solidFill>
                  <a:srgbClr val="F5F7F9"/>
                </a:solidFill>
                <a:latin typeface="Aptos Display"/>
              </a:rPr>
              <a:t>from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7F9"/>
                </a:solidFill>
                <a:latin typeface="Aptos"/>
              </a:rPr>
              <a:t>Turn business requirements and application access patterns into a MongoDB document shape.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9100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What must the system do?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40" y="3218688"/>
            <a:ext cx="640080" cy="0"/>
          </a:xfrm>
          <a:prstGeom prst="line">
            <a:avLst/>
          </a:prstGeom>
          <a:ln w="2794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1304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37AA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ACCESS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What will the app read or write?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3218688"/>
            <a:ext cx="640080" cy="0"/>
          </a:xfrm>
          <a:prstGeom prst="line">
            <a:avLst/>
          </a:prstGeom>
          <a:ln w="2794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9224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AF5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DOCUMENT SHAPE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1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What naturally belongs together?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41080" y="3218688"/>
            <a:ext cx="640080" cy="0"/>
          </a:xfrm>
          <a:prstGeom prst="line">
            <a:avLst/>
          </a:prstGeom>
          <a:ln w="2794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81160" y="2148840"/>
            <a:ext cx="2148840" cy="2148840"/>
          </a:xfrm>
          <a:prstGeom prst="roundRect">
            <a:avLst/>
          </a:prstGeom>
          <a:solidFill>
            <a:srgbClr val="11161B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90888" y="2331720"/>
            <a:ext cx="1920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DCDA5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888" y="28163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5F7F9"/>
                </a:solidFill>
                <a:latin typeface="Aptos"/>
              </a:rPr>
              <a:t>MONGODB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346704"/>
            <a:ext cx="18105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AAB2B9"/>
                </a:solidFill>
                <a:latin typeface="Aptos"/>
              </a:rPr>
              <a:t>Embed, reference, or combine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9100"/>
                </a:solidFill>
                <a:latin typeface="Aptos"/>
              </a:rPr>
              <a:t>Key idea: design for application behavior — not just for the source 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From requirements → access patterns → document shape → practical MongoDB design.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Start with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Before writing a document, capture what the Order Management application actually needs to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342900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39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9100"/>
                </a:solidFill>
                <a:latin typeface="Aptos"/>
              </a:rPr>
              <a:t>Business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1856231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Create a new customer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13432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313432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Show the order with items and shipping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0632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70632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Find a customer’s orders.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27832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227832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Update order status as the order moves through its lifecycle.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1"/>
            <a:ext cx="21031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9100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685031"/>
            <a:ext cx="2788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7F9"/>
                </a:solidFill>
                <a:latin typeface="Aptos"/>
              </a:rPr>
              <a:t>Keep product catalog data available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1325880"/>
            <a:ext cx="754380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20" y="1481328"/>
            <a:ext cx="7040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7AAFF"/>
                </a:solidFill>
                <a:latin typeface="Aptos"/>
              </a:rPr>
              <a:t>Translate requirements into data needs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8" y="1993392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4" y="2075688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Business object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2084832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Order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30568" y="2258568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407408" y="2706624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5424" y="2788920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Data that travels together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798064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items + shippingAddress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30568" y="2971800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07408" y="3419856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350215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Data queried often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3511296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orderId + customerId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30568" y="3685032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407408" y="4133087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35424" y="4215383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Data with independent 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4224527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products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30568" y="4398264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407408" y="4846320"/>
            <a:ext cx="2423160" cy="530352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35424" y="4928616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AB2B9"/>
                </a:solidFill>
                <a:latin typeface="Aptos"/>
              </a:rPr>
              <a:t>Potentially growing 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937760"/>
            <a:ext cx="43159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audit/events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30568" y="5111496"/>
            <a:ext cx="118872" cy="0"/>
          </a:xfrm>
          <a:prstGeom prst="line">
            <a:avLst/>
          </a:prstGeom>
          <a:ln w="2032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Ask first: what business behavior must the data support?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Map the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Access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The way the application reads and writes data gives strong signals for document 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731520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81328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7AAFF"/>
                </a:solidFill>
                <a:latin typeface="Aptos"/>
              </a:rPr>
              <a:t>Typical Order Management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93392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993392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Get order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103120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order + items + shipping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50992" y="1993392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51576" y="2103120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CDA5"/>
                </a:solidFill>
                <a:latin typeface="Aptos"/>
              </a:rPr>
              <a:t>Read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6624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2706624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816352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Find orders for a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816352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customerId → 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50992" y="2706624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51576" y="2816352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9100"/>
                </a:solidFill>
                <a:latin typeface="Aptos"/>
              </a:rPr>
              <a:t>Lookup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19856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3419856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352958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Update order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529584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small field update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0992" y="3419856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51576" y="3529584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F5FFF"/>
                </a:solidFill>
                <a:latin typeface="Aptos"/>
              </a:rPr>
              <a:t>Frequent write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133087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4400" y="4133087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4242816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Show product details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4242816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product catalog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50992" y="4133087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51576" y="4242816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41DCE6"/>
                </a:solidFill>
                <a:latin typeface="Aptos"/>
              </a:rPr>
              <a:t>Independent lifecycle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45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4400" y="4846320"/>
            <a:ext cx="201168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" y="4956048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Review long event history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4956048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many events over time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50992" y="4846320"/>
            <a:ext cx="1691640" cy="50292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51576" y="4956048"/>
            <a:ext cx="14904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EB5041"/>
                </a:solidFill>
                <a:latin typeface="Aptos"/>
              </a:rPr>
              <a:t>Potentially unbounded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1325880"/>
            <a:ext cx="361188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21040" y="1481328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9100"/>
                </a:solidFill>
                <a:latin typeface="Aptos"/>
              </a:rPr>
              <a:t>Design signal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7" y="1938528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DCDA5"/>
                </a:solidFill>
                <a:latin typeface="Aptos"/>
              </a:rPr>
              <a:t>Read together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1938528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Strong embedding signal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7" y="2688336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7AAFF"/>
                </a:solidFill>
                <a:latin typeface="Aptos"/>
              </a:rPr>
              <a:t>Shared elsewhere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688336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Reference signal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3438144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9100"/>
                </a:solidFill>
                <a:latin typeface="Aptos"/>
              </a:rPr>
              <a:t>Small + bounded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3438144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Embedding candidate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187952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B5041"/>
                </a:solidFill>
                <a:latin typeface="Aptos"/>
              </a:rPr>
              <a:t>Grows independently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187952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Separate collection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39327" y="4937760"/>
            <a:ext cx="10241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AF5FFF"/>
                </a:solidFill>
                <a:latin typeface="Aptos"/>
              </a:rPr>
              <a:t>Frequent partial update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4937760"/>
            <a:ext cx="1965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Keep write unit focused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Access pattern = the question the application asks of the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Identify What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Belongs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Keep naturally related data in the same document when it shares a lifecycle and is commonly read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201400" cy="443484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2286000" cy="96012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2048256"/>
            <a:ext cx="20665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395728"/>
            <a:ext cx="20665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Order documents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691640"/>
            <a:ext cx="2560320" cy="105156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0328" y="1819656"/>
            <a:ext cx="234086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 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0328" y="2167128"/>
            <a:ext cx="234086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business record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200400" y="2212848"/>
            <a:ext cx="1572768" cy="182880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09560" y="1645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82712" y="1773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orderId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084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locate order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7360920" y="2057400"/>
            <a:ext cx="548640" cy="164592"/>
          </a:xfrm>
          <a:prstGeom prst="line">
            <a:avLst/>
          </a:prstGeom>
          <a:ln w="1905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09560" y="2788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82712" y="2916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items[]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227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line items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60920" y="2907792"/>
            <a:ext cx="548640" cy="292608"/>
          </a:xfrm>
          <a:prstGeom prst="line">
            <a:avLst/>
          </a:prstGeom>
          <a:ln w="19050">
            <a:solidFill>
              <a:srgbClr val="AF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46920" y="1645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20072" y="1773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shippingAddress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084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delivery data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360920" y="2057400"/>
            <a:ext cx="2286000" cy="164592"/>
          </a:xfrm>
          <a:prstGeom prst="line">
            <a:avLst/>
          </a:prstGeom>
          <a:ln w="19050">
            <a:solidFill>
              <a:srgbClr val="2DCD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46920" y="2788920"/>
            <a:ext cx="1463040" cy="822960"/>
          </a:xfrm>
          <a:prstGeom prst="roundRect">
            <a:avLst/>
          </a:prstGeom>
          <a:solidFill>
            <a:srgbClr val="0F1418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20072" y="2916936"/>
            <a:ext cx="13167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9"/>
                </a:solidFill>
                <a:latin typeface="Aptos"/>
              </a:rPr>
              <a:t>payment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227832"/>
            <a:ext cx="1280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AAB2B9"/>
                </a:solidFill>
                <a:latin typeface="Aptos"/>
              </a:rPr>
              <a:t>payment state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60920" y="2907792"/>
            <a:ext cx="2286000" cy="292608"/>
          </a:xfrm>
          <a:prstGeom prst="line">
            <a:avLst/>
          </a:prstGeom>
          <a:ln w="19050">
            <a:solidFill>
              <a:srgbClr val="41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4400" y="4069080"/>
            <a:ext cx="3154680" cy="1234440"/>
          </a:xfrm>
          <a:prstGeom prst="roundRect">
            <a:avLst/>
          </a:prstGeom>
          <a:solidFill>
            <a:srgbClr val="0D1216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4233672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CDA5"/>
                </a:solidFill>
                <a:latin typeface="Aptos"/>
              </a:rPr>
              <a:t>Common read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5F7F9"/>
                </a:solidFill>
                <a:latin typeface="Aptos"/>
              </a:rPr>
              <a:t>Order screen can fetch one business object.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4069080"/>
            <a:ext cx="3154680" cy="1234440"/>
          </a:xfrm>
          <a:prstGeom prst="roundRect">
            <a:avLst/>
          </a:prstGeom>
          <a:solidFill>
            <a:srgbClr val="0D1216"/>
          </a:solidFill>
          <a:ln w="15240">
            <a:solidFill>
              <a:srgbClr val="41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45152" y="4233672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1DCE6"/>
                </a:solidFill>
                <a:latin typeface="Aptos"/>
              </a:rPr>
              <a:t>Shared lifecycle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5152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5F7F9"/>
                </a:solidFill>
                <a:latin typeface="Aptos"/>
              </a:rPr>
              <a:t>Shipping and payment move with the order.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069080"/>
            <a:ext cx="3154680" cy="1234440"/>
          </a:xfrm>
          <a:prstGeom prst="roundRect">
            <a:avLst/>
          </a:prstGeom>
          <a:solidFill>
            <a:srgbClr val="0D1216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11312" y="4233672"/>
            <a:ext cx="2834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9100"/>
                </a:solidFill>
                <a:latin typeface="Aptos"/>
              </a:rPr>
              <a:t>Clear ownership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452628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5F7F9"/>
                </a:solidFill>
                <a:latin typeface="Aptos"/>
              </a:rPr>
              <a:t>Order owns the data shown with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Embed when the data is naturally part of the same application read/write unit.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Watch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Growth and Cardinality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A good shape today should still work when the application accumulates more data tomorrow.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DCDA5"/>
                </a:solidFill>
                <a:latin typeface="Aptos"/>
              </a:rPr>
              <a:t>Small + bounded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Shipping address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Usually safe to embed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9" name="Rectangle 8"/>
          <p:cNvSpPr/>
          <p:nvPr/>
        </p:nvSpPr>
        <p:spPr>
          <a:xfrm>
            <a:off x="1275588" y="3767328"/>
            <a:ext cx="685800" cy="164592"/>
          </a:xfrm>
          <a:prstGeom prst="rect">
            <a:avLst/>
          </a:prstGeom>
          <a:solidFill>
            <a:srgbClr val="2DCDA5"/>
          </a:solidFill>
          <a:ln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29000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9100"/>
                </a:solidFill>
                <a:latin typeface="Aptos"/>
              </a:rPr>
              <a:t>Bounded per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Line items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Embed when order size stays reasonable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05656" y="3758182"/>
            <a:ext cx="1143000" cy="164592"/>
          </a:xfrm>
          <a:prstGeom prst="rect">
            <a:avLst/>
          </a:prstGeom>
          <a:solidFill>
            <a:srgbClr val="FF9100"/>
          </a:solidFill>
          <a:ln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09359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7AAFF"/>
                </a:solidFill>
                <a:latin typeface="Aptos"/>
              </a:rPr>
              <a:t>Independent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Orders per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Separate 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7" y="3730752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767328"/>
            <a:ext cx="1691640" cy="164592"/>
          </a:xfrm>
          <a:prstGeom prst="rect">
            <a:avLst/>
          </a:prstGeom>
          <a:solidFill>
            <a:srgbClr val="37AAFF"/>
          </a:solidFill>
          <a:ln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9719" y="1417320"/>
            <a:ext cx="2606040" cy="3337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600200"/>
            <a:ext cx="23317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5041"/>
                </a:solidFill>
                <a:latin typeface="Aptos"/>
              </a:rPr>
              <a:t>Potentially unbounded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057400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5F7F9"/>
                </a:solidFill>
                <a:latin typeface="Aptos"/>
              </a:rPr>
              <a:t>Events / audit 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69748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F7F9"/>
                </a:solidFill>
                <a:latin typeface="Aptos"/>
              </a:rPr>
              <a:t>Avoid huge embedded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721606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dirty="0">
                <a:solidFill>
                  <a:srgbClr val="AAB2B9"/>
                </a:solidFill>
                <a:latin typeface="Aptos"/>
              </a:rPr>
              <a:t>Growth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3749038"/>
            <a:ext cx="2240280" cy="164592"/>
          </a:xfrm>
          <a:prstGeom prst="rect">
            <a:avLst/>
          </a:prstGeom>
          <a:solidFill>
            <a:srgbClr val="EB5041"/>
          </a:solidFill>
          <a:ln>
            <a:solidFill>
              <a:srgbClr val="EB5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9100"/>
                </a:solidFill>
                <a:latin typeface="Aptos"/>
              </a:rPr>
              <a:t>Avoid: unbounded arrays • huge embedded history • frequently changing shared data • documents approaching size limits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Growth pattern matters as much as today’s access pattern.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Embed or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Use a short decision lens instead of a universal rule.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2578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DCDA5"/>
                </a:solidFill>
                <a:latin typeface="Aptos"/>
              </a:rPr>
              <a:t>EMBED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240280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Read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240280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Same screen / API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26664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26664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Owned by parent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26664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Natural containment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13048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13048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Small + bounded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813048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Predictable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99432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DCDA5"/>
                </a:solidFill>
                <a:latin typeface="Aptos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99432"/>
            <a:ext cx="1325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Same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599432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Changes together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417320"/>
            <a:ext cx="52578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1645920"/>
            <a:ext cx="4754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7AAFF"/>
                </a:solidFill>
                <a:latin typeface="Aptos"/>
              </a:rPr>
              <a:t>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240280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240280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Shared / reused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240280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Multiple consumers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26664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026664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Independent lifecycle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026664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Updated separately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813048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81304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Can grow independently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813048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Avoid parent 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599432"/>
            <a:ext cx="182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99432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5F7F9"/>
                </a:solidFill>
                <a:latin typeface="Aptos"/>
              </a:rPr>
              <a:t>Separate domain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599432"/>
            <a:ext cx="2468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AAB2B9"/>
                </a:solidFill>
                <a:latin typeface="Aptos"/>
              </a:rPr>
              <a:t>Own collection semantics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This is a design comparison, not a choice that can be made without application context.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Derive the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Order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Now turn the requirements into a concrete document 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1168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865376"/>
            <a:ext cx="1792224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9152"/>
            <a:ext cx="1792224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dirty="0">
                <a:solidFill>
                  <a:srgbClr val="AAB2B9"/>
                </a:solidFill>
                <a:latin typeface="Aptos"/>
              </a:rPr>
              <a:t>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737360"/>
            <a:ext cx="205740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67328" y="1865376"/>
            <a:ext cx="18379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212848"/>
            <a:ext cx="18379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collection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1325880"/>
            <a:ext cx="228600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1453895"/>
            <a:ext cx="20665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1801368"/>
            <a:ext cx="20665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collection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560320"/>
            <a:ext cx="2286000" cy="868680"/>
          </a:xfrm>
          <a:prstGeom prst="roundRect">
            <a:avLst/>
          </a:prstGeom>
          <a:solidFill>
            <a:srgbClr val="13181C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7688" y="2688336"/>
            <a:ext cx="2066543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035808"/>
            <a:ext cx="2066543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AB2B9"/>
                </a:solidFill>
                <a:latin typeface="Aptos"/>
              </a:rPr>
              <a:t>collection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176272"/>
            <a:ext cx="896112" cy="0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715000" y="1764792"/>
            <a:ext cx="795528" cy="411480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715000" y="2176272"/>
            <a:ext cx="795528" cy="813816"/>
          </a:xfrm>
          <a:prstGeom prst="line">
            <a:avLst/>
          </a:prstGeom>
          <a:ln w="25400">
            <a:solidFill>
              <a:srgbClr val="FF9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98280" y="1280160"/>
            <a:ext cx="2423160" cy="40690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1481328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9100"/>
                </a:solidFill>
                <a:latin typeface="Aptos"/>
              </a:rPr>
              <a:t>Order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938528"/>
            <a:ext cx="1965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{
  orderId: "ORD-1001",
  customerId: "CUST-1001",
  status: "CONFIRMED",
  items: [ ... ],
  shippingAddress: { ... },
  payment: { ... }
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43400"/>
            <a:ext cx="2468880" cy="1143000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50799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2DCDA5"/>
                </a:solidFill>
                <a:latin typeface="Aptos"/>
              </a:rPr>
              <a:t>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0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7F9"/>
                </a:solidFill>
                <a:latin typeface="Aptos"/>
              </a:rPr>
              <a:t>items + shippingAddress + payment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39" y="4343400"/>
            <a:ext cx="2468880" cy="1143000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85031" y="450799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37AAFF"/>
                </a:solidFill>
                <a:latin typeface="Aptos"/>
              </a:rPr>
              <a:t>Reference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00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7F9"/>
                </a:solidFill>
                <a:latin typeface="Aptos"/>
              </a:rPr>
              <a:t>customerId + productId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4343400"/>
            <a:ext cx="2468880" cy="1143000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4507992"/>
            <a:ext cx="2148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AF5FFF"/>
                </a:solidFill>
                <a:latin typeface="Aptos"/>
              </a:rPr>
              <a:t>Separate growth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0060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F5F7F9"/>
                </a:solidFill>
                <a:latin typeface="Aptos"/>
              </a:rPr>
              <a:t>orders and product catalog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The model is the result of the requirements and access-pattern decisions.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Test the Shape Against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Real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A document design is useful only if it answers the application’s common questions cleanly.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Order details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463040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80360" y="1572768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orders.findOne({ orderId })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463040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0" y="1572768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2DCDA5"/>
                </a:solidFill>
                <a:latin typeface="Aptos"/>
              </a:rPr>
              <a:t>One document read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42032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651760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Customer orders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2542032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0360" y="2651760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orders.find({ customerId 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542032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0" y="2651760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37AAFF"/>
                </a:solidFill>
                <a:latin typeface="Aptos"/>
              </a:rPr>
              <a:t>Reference lookup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21024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730752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Order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3621024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80360" y="3730752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orders.updateOne({ orderId }, { $set: { status } })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3621024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AF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3730752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F5FFF"/>
                </a:solidFill>
                <a:latin typeface="Aptos"/>
              </a:rPr>
              <a:t>Focused write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0016"/>
            <a:ext cx="1874519" cy="841248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4809744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5F7F9"/>
                </a:solidFill>
                <a:latin typeface="Aptos"/>
              </a:rPr>
              <a:t>Product details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4700016"/>
            <a:ext cx="5852160" cy="841248"/>
          </a:xfrm>
          <a:prstGeom prst="roundRect">
            <a:avLst/>
          </a:prstGeom>
          <a:solidFill>
            <a:srgbClr val="0B0F12"/>
          </a:solidFill>
          <a:ln w="15240">
            <a:solidFill>
              <a:srgbClr val="323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80360" y="4809744"/>
            <a:ext cx="5486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F5F7F9"/>
                </a:solidFill>
                <a:latin typeface="Consolas"/>
              </a:rPr>
              <a:t>products.findOne({ sku })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78240" y="4700016"/>
            <a:ext cx="2743200" cy="841248"/>
          </a:xfrm>
          <a:prstGeom prst="roundRect">
            <a:avLst/>
          </a:prstGeom>
          <a:solidFill>
            <a:srgbClr val="0E13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0" y="4809744"/>
            <a:ext cx="2377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9100"/>
                </a:solidFill>
                <a:latin typeface="Aptos"/>
              </a:rPr>
              <a:t>Independent lookup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Design check: can the common reads and writes be expressed directly against the chosen shape?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Mini Design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Make the design decision before touching the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71600"/>
            <a:ext cx="36576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9100"/>
                </a:solidFill>
                <a:latin typeface="Aptos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“The order page shows order details, the shipping address, and the current payment state.”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AAB2B9"/>
                </a:solidFill>
                <a:latin typeface="Aptos"/>
              </a:rPr>
              <a:t>Question: what belongs in the order document?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371600"/>
            <a:ext cx="324612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1600200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7AAFF"/>
                </a:solidFill>
                <a:latin typeface="Aptos"/>
              </a:rPr>
              <a:t>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240280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2402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Read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53512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953512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Same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666744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666744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Small + 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379976"/>
            <a:ext cx="228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7AAFF"/>
                </a:solidFill>
                <a:latin typeface="Apto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379976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5F7F9"/>
                </a:solidFill>
                <a:latin typeface="Aptos"/>
              </a:rPr>
              <a:t>Owned by the order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71600"/>
            <a:ext cx="3429000" cy="448056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2DC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1600200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DCDA5"/>
                </a:solidFill>
                <a:latin typeface="Aptos"/>
              </a:rPr>
              <a:t>Derived shape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40280"/>
            <a:ext cx="2788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5F7F9"/>
                </a:solidFill>
                <a:latin typeface="Aptos"/>
              </a:rPr>
              <a:t>Embed
shippingAddress
payment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416052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AB2B9"/>
                </a:solidFill>
                <a:latin typeface="Aptos"/>
              </a:rPr>
              <a:t>Then test the shape against the next few reads and writes.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Practice the design reasoning: requirement → signals → shape →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5F7F9"/>
                </a:solidFill>
                <a:latin typeface="Aptos Display"/>
              </a:rPr>
              <a:t>Practical </a:t>
            </a:r>
            <a:r>
              <a:rPr sz="3000" b="1">
                <a:solidFill>
                  <a:srgbClr val="FF9100"/>
                </a:solidFill>
                <a:latin typeface="Aptos Display"/>
              </a:rPr>
              <a:t>mongosh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5895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5F7F9"/>
                </a:solidFill>
                <a:latin typeface="Aptos"/>
              </a:rPr>
              <a:t>Use the shell to verify that the derived shape matches what you intended to store and read.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623560" cy="4526280"/>
          </a:xfrm>
          <a:prstGeom prst="roundRect">
            <a:avLst/>
          </a:prstGeom>
          <a:solidFill>
            <a:srgbClr val="0A0F13"/>
          </a:solidFill>
          <a:ln w="15240">
            <a:solidFill>
              <a:srgbClr val="FF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8952" y="1435607"/>
            <a:ext cx="5294376" cy="4306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F5F7F9"/>
                </a:solidFill>
                <a:latin typeface="Consolas"/>
              </a:rPr>
              <a:t>use orderdb
db.orders.insertOne({
  orderId: "ORD-1001",
  customerId: "CUST-1001",
  status: "PLACED",
  items: [ { sku: "LAP-001", qty: 2 } ],
  shippingAddress: {
    city: "Chennai", country: "India"
  },
  payment: { method: "CARD", status: "AUTHORIZED" }
})
db.orders.findOne({ orderId: "ORD-1001" })
db.orders.find({ customerId: "CUST-1001" })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325880"/>
            <a:ext cx="5074920" cy="4526280"/>
          </a:xfrm>
          <a:prstGeom prst="roundRect">
            <a:avLst/>
          </a:prstGeom>
          <a:solidFill>
            <a:srgbClr val="101418"/>
          </a:solidFill>
          <a:ln w="15240">
            <a:solidFill>
              <a:srgbClr val="37A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48132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7AAFF"/>
                </a:solidFill>
                <a:latin typeface="Aptos"/>
              </a:rPr>
              <a:t>What to inspect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CDA5"/>
                </a:solidFill>
                <a:latin typeface="Aptos"/>
              </a:rPr>
              <a:t>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96596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Does the order document contain the data the page reads?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B5041"/>
                </a:solidFill>
                <a:latin typeface="Aptos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278892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Are any embedded arrays likely to grow without bound?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61188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9100"/>
                </a:solidFill>
                <a:latin typeface="Aptos"/>
              </a:rPr>
              <a:t>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552" y="361188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Is each embedded field owned by the order?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434840"/>
            <a:ext cx="10972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AF5FFF"/>
                </a:solidFill>
                <a:latin typeface="Aptos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434840"/>
            <a:ext cx="34015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5F7F9"/>
                </a:solidFill>
                <a:latin typeface="Aptos"/>
              </a:rPr>
              <a:t>Can common reads avoid unnecessary reconstruction?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AAB2B9"/>
                </a:solidFill>
                <a:latin typeface="Aptos"/>
              </a:rPr>
              <a:t>The demo verifies the model; deeper CRUD and validation are covered later.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1110</Words>
  <Application>Microsoft Office PowerPoint</Application>
  <PresentationFormat>Widescreen</PresentationFormat>
  <Paragraphs>236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4</cp:revision>
  <dcterms:created xsi:type="dcterms:W3CDTF">2013-01-27T09:14:16Z</dcterms:created>
  <dcterms:modified xsi:type="dcterms:W3CDTF">2026-10-05T04:33:58Z</dcterms:modified>
  <cp:category/>
</cp:coreProperties>
</file>