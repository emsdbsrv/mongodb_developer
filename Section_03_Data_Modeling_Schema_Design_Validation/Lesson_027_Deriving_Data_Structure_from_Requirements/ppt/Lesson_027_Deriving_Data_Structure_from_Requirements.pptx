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9100"/>
                </a:solidFill>
                <a:latin typeface="Aptos Display"/>
              </a:rPr>
              <a:t>Deriving Data Structure </a:t>
            </a:r>
            <a:r>
              <a:rPr sz="3000" b="1">
                <a:solidFill>
                  <a:srgbClr val="F5F7F9"/>
                </a:solidFill>
                <a:latin typeface="Aptos Display"/>
              </a:rPr>
              <a:t>from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7F9"/>
                </a:solidFill>
                <a:latin typeface="Aptos"/>
              </a:rPr>
              <a:t>Turn business requirements and application access patterns into a MongoDB document shape.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64240" cy="452628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2148840" cy="2148840"/>
          </a:xfrm>
          <a:prstGeom prst="roundRect">
            <a:avLst/>
          </a:prstGeom>
          <a:solidFill>
            <a:srgbClr val="11161B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31720"/>
            <a:ext cx="1920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910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81635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9"/>
                </a:solidFill>
                <a:latin typeface="Aptos"/>
              </a:rP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346704"/>
            <a:ext cx="18105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2B9"/>
                </a:solidFill>
                <a:latin typeface="Aptos"/>
              </a:rPr>
              <a:t>What must the system do?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3218688"/>
            <a:ext cx="640080" cy="0"/>
          </a:xfrm>
          <a:prstGeom prst="line">
            <a:avLst/>
          </a:prstGeom>
          <a:ln w="2794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2148840"/>
            <a:ext cx="2148840" cy="2148840"/>
          </a:xfrm>
          <a:prstGeom prst="roundRect">
            <a:avLst/>
          </a:prstGeom>
          <a:solidFill>
            <a:srgbClr val="11161B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2331720"/>
            <a:ext cx="1920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7AA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81635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9"/>
                </a:solidFill>
                <a:latin typeface="Aptos"/>
              </a:rPr>
              <a:t>ACCESS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1" y="3346704"/>
            <a:ext cx="18105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2B9"/>
                </a:solidFill>
                <a:latin typeface="Aptos"/>
              </a:rPr>
              <a:t>What will the app read or write?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60" y="3218688"/>
            <a:ext cx="640080" cy="0"/>
          </a:xfrm>
          <a:prstGeom prst="line">
            <a:avLst/>
          </a:prstGeom>
          <a:ln w="2794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92240" y="2148840"/>
            <a:ext cx="2148840" cy="2148840"/>
          </a:xfrm>
          <a:prstGeom prst="roundRect">
            <a:avLst/>
          </a:prstGeom>
          <a:solidFill>
            <a:srgbClr val="11161B"/>
          </a:solidFill>
          <a:ln w="15240">
            <a:solidFill>
              <a:srgbClr val="A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331720"/>
            <a:ext cx="1920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F5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81635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9"/>
                </a:solidFill>
                <a:latin typeface="Aptos"/>
              </a:rPr>
              <a:t>DOCUMENT SHAPE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1" y="3346704"/>
            <a:ext cx="18105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2B9"/>
                </a:solidFill>
                <a:latin typeface="Aptos"/>
              </a:rPr>
              <a:t>What naturally belongs together?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41080" y="3218688"/>
            <a:ext cx="640080" cy="0"/>
          </a:xfrm>
          <a:prstGeom prst="line">
            <a:avLst/>
          </a:prstGeom>
          <a:ln w="2794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60" y="2148840"/>
            <a:ext cx="2148840" cy="2148840"/>
          </a:xfrm>
          <a:prstGeom prst="roundRect">
            <a:avLst/>
          </a:prstGeom>
          <a:solidFill>
            <a:srgbClr val="11161B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2331720"/>
            <a:ext cx="1920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DCDA5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81635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9"/>
                </a:solidFill>
                <a:latin typeface="Aptos"/>
              </a:rPr>
              <a:t>MONGODB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3346704"/>
            <a:ext cx="18105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2B9"/>
                </a:solidFill>
                <a:latin typeface="Aptos"/>
              </a:rPr>
              <a:t>Embed, reference, or combine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9204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9100"/>
                </a:solidFill>
                <a:latin typeface="Aptos"/>
              </a:rPr>
              <a:t>Key idea: design for application behavior — not just for the source 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2B9"/>
                </a:solidFill>
                <a:latin typeface="Aptos"/>
              </a:rPr>
              <a:t>From requirements → access patterns → document shape → practical MongoDB design.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9"/>
                </a:solidFill>
                <a:latin typeface="Aptos Display"/>
              </a:rPr>
              <a:t>Start with </a:t>
            </a:r>
            <a:r>
              <a:rPr sz="3000" b="1">
                <a:solidFill>
                  <a:srgbClr val="FF9100"/>
                </a:solidFill>
                <a:latin typeface="Aptos Display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9"/>
                </a:solidFill>
                <a:latin typeface="Aptos"/>
              </a:rPr>
              <a:t>Before writing a document, capture what the Order Management application actually needs to 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3429000" cy="452628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39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9100"/>
                </a:solidFill>
                <a:latin typeface="Aptos"/>
              </a:rPr>
              <a:t>Business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56231"/>
            <a:ext cx="210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56231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9"/>
                </a:solidFill>
                <a:latin typeface="Aptos"/>
              </a:rPr>
              <a:t>Create a new customer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13432"/>
            <a:ext cx="210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13432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9"/>
                </a:solidFill>
                <a:latin typeface="Aptos"/>
              </a:rPr>
              <a:t>Show the order with items and shipping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70632"/>
            <a:ext cx="210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70632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9"/>
                </a:solidFill>
                <a:latin typeface="Aptos"/>
              </a:rPr>
              <a:t>Find a customer’s orders.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27832"/>
            <a:ext cx="210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227832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9"/>
                </a:solidFill>
                <a:latin typeface="Aptos"/>
              </a:rPr>
              <a:t>Update order status as the order moves through its lifecycle.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85031"/>
            <a:ext cx="210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685031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9"/>
                </a:solidFill>
                <a:latin typeface="Aptos"/>
              </a:rPr>
              <a:t>Keep product catalog data available independently.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325880"/>
            <a:ext cx="7543800" cy="452628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481328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AAFF"/>
                </a:solidFill>
                <a:latin typeface="Aptos"/>
              </a:rPr>
              <a:t>Translate requirements into data needs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1993392"/>
            <a:ext cx="2423160" cy="530352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4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2075688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B2B9"/>
                </a:solidFill>
                <a:latin typeface="Aptos"/>
              </a:rPr>
              <a:t>Business object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084832"/>
            <a:ext cx="4315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Order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30568" y="2258568"/>
            <a:ext cx="118872" cy="0"/>
          </a:xfrm>
          <a:prstGeom prst="line">
            <a:avLst/>
          </a:prstGeom>
          <a:ln w="2032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07408" y="2706624"/>
            <a:ext cx="2423160" cy="530352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4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788920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B2B9"/>
                </a:solidFill>
                <a:latin typeface="Aptos"/>
              </a:rPr>
              <a:t>Data that travels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798064"/>
            <a:ext cx="4315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items + shippingAddress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30568" y="2971800"/>
            <a:ext cx="118872" cy="0"/>
          </a:xfrm>
          <a:prstGeom prst="line">
            <a:avLst/>
          </a:prstGeom>
          <a:ln w="2032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07408" y="3419856"/>
            <a:ext cx="2423160" cy="530352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4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350215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B2B9"/>
                </a:solidFill>
                <a:latin typeface="Aptos"/>
              </a:rPr>
              <a:t>Data queried often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3511296"/>
            <a:ext cx="4315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orderId + customerId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30568" y="3685032"/>
            <a:ext cx="118872" cy="0"/>
          </a:xfrm>
          <a:prstGeom prst="line">
            <a:avLst/>
          </a:prstGeom>
          <a:ln w="2032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407408" y="4133087"/>
            <a:ext cx="2423160" cy="530352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4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4215383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B2B9"/>
                </a:solidFill>
                <a:latin typeface="Aptos"/>
              </a:rPr>
              <a:t>Data with independent lifecycle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4224527"/>
            <a:ext cx="4315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products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30568" y="4398264"/>
            <a:ext cx="118872" cy="0"/>
          </a:xfrm>
          <a:prstGeom prst="line">
            <a:avLst/>
          </a:prstGeom>
          <a:ln w="2032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407408" y="4846320"/>
            <a:ext cx="2423160" cy="530352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4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5424" y="4928616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B2B9"/>
                </a:solidFill>
                <a:latin typeface="Aptos"/>
              </a:rPr>
              <a:t>Potentially growing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937760"/>
            <a:ext cx="4315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audit/events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30568" y="5111496"/>
            <a:ext cx="118872" cy="0"/>
          </a:xfrm>
          <a:prstGeom prst="line">
            <a:avLst/>
          </a:prstGeom>
          <a:ln w="2032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2B9"/>
                </a:solidFill>
                <a:latin typeface="Aptos"/>
              </a:rPr>
              <a:t>Ask first: what business behavior must the data support?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9"/>
                </a:solidFill>
                <a:latin typeface="Aptos Display"/>
              </a:rPr>
              <a:t>Map the </a:t>
            </a:r>
            <a:r>
              <a:rPr sz="3000" b="1">
                <a:solidFill>
                  <a:srgbClr val="FF9100"/>
                </a:solidFill>
                <a:latin typeface="Aptos Display"/>
              </a:rPr>
              <a:t>Access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9"/>
                </a:solidFill>
                <a:latin typeface="Aptos"/>
              </a:rPr>
              <a:t>The way the application reads and writes data gives strong signals for document 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7315200" cy="452628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AAFF"/>
                </a:solidFill>
                <a:latin typeface="Aptos"/>
              </a:rPr>
              <a:t>Typical Order Management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45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5F7F9"/>
                </a:solidFill>
                <a:latin typeface="Aptos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2011680" cy="50292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9"/>
                </a:solidFill>
                <a:latin typeface="Aptos"/>
              </a:rPr>
              <a:t>Get order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10312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9"/>
                </a:solidFill>
                <a:latin typeface="Aptos"/>
              </a:rPr>
              <a:t>order + items + shipping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50992" y="1993392"/>
            <a:ext cx="1691640" cy="50292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51576" y="2103120"/>
            <a:ext cx="14904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CDA5"/>
                </a:solidFill>
                <a:latin typeface="Aptos"/>
              </a:rPr>
              <a:t>Read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06624"/>
            <a:ext cx="45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5F7F9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706624"/>
            <a:ext cx="2011680" cy="50292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816352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9"/>
                </a:solidFill>
                <a:latin typeface="Aptos"/>
              </a:rPr>
              <a:t>Find orders for a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816352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9"/>
                </a:solidFill>
                <a:latin typeface="Aptos"/>
              </a:rPr>
              <a:t>customerId → 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0992" y="2706624"/>
            <a:ext cx="1691640" cy="50292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1576" y="2816352"/>
            <a:ext cx="14904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9100"/>
                </a:solidFill>
                <a:latin typeface="Aptos"/>
              </a:rPr>
              <a:t>Lookup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19856"/>
            <a:ext cx="45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5F7F9"/>
                </a:solidFill>
                <a:latin typeface="Apto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419856"/>
            <a:ext cx="2011680" cy="50292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A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529584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9"/>
                </a:solidFill>
                <a:latin typeface="Aptos"/>
              </a:rPr>
              <a:t>Update order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529584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9"/>
                </a:solidFill>
                <a:latin typeface="Aptos"/>
              </a:rPr>
              <a:t>small field update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50992" y="3419856"/>
            <a:ext cx="1691640" cy="50292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A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51576" y="3529584"/>
            <a:ext cx="14904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F5FFF"/>
                </a:solidFill>
                <a:latin typeface="Aptos"/>
              </a:rPr>
              <a:t>Frequent write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133087"/>
            <a:ext cx="45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5F7F9"/>
                </a:solidFill>
                <a:latin typeface="Apto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133087"/>
            <a:ext cx="2011680" cy="50292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4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242816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9"/>
                </a:solidFill>
                <a:latin typeface="Aptos"/>
              </a:rPr>
              <a:t>Show product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24281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9"/>
                </a:solidFill>
                <a:latin typeface="Aptos"/>
              </a:rPr>
              <a:t>product catalog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50992" y="4133087"/>
            <a:ext cx="1691640" cy="50292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4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51576" y="4242816"/>
            <a:ext cx="14904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1DCE6"/>
                </a:solidFill>
                <a:latin typeface="Aptos"/>
              </a:rPr>
              <a:t>Independent lifecycle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46320"/>
            <a:ext cx="45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F5F7F9"/>
                </a:solidFill>
                <a:latin typeface="Aptos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846320"/>
            <a:ext cx="2011680" cy="50292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EB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956048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9"/>
                </a:solidFill>
                <a:latin typeface="Aptos"/>
              </a:rPr>
              <a:t>Review long event 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4956048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9"/>
                </a:solidFill>
                <a:latin typeface="Aptos"/>
              </a:rPr>
              <a:t>many events over 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50992" y="4846320"/>
            <a:ext cx="1691640" cy="50292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EB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51576" y="4956048"/>
            <a:ext cx="14904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B5041"/>
                </a:solidFill>
                <a:latin typeface="Aptos"/>
              </a:rPr>
              <a:t>Potentially unbounded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1325880"/>
            <a:ext cx="3611880" cy="452628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148132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9100"/>
                </a:solidFill>
                <a:latin typeface="Aptos"/>
              </a:rPr>
              <a:t>Design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1938528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CDA5"/>
                </a:solidFill>
                <a:latin typeface="Aptos"/>
              </a:rPr>
              <a:t>Read together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1938528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9"/>
                </a:solidFill>
                <a:latin typeface="Aptos"/>
              </a:rPr>
              <a:t>Strong embedding signal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2688336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AAFF"/>
                </a:solidFill>
                <a:latin typeface="Aptos"/>
              </a:rPr>
              <a:t>Shared elsewhere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688336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9"/>
                </a:solidFill>
                <a:latin typeface="Aptos"/>
              </a:rPr>
              <a:t>Reference signal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7" y="3438144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100"/>
                </a:solidFill>
                <a:latin typeface="Aptos"/>
              </a:rPr>
              <a:t>Small + bounded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438144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9"/>
                </a:solidFill>
                <a:latin typeface="Aptos"/>
              </a:rPr>
              <a:t>Embedding candidate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4187952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5041"/>
                </a:solidFill>
                <a:latin typeface="Aptos"/>
              </a:rPr>
              <a:t>Grows independently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18795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9"/>
                </a:solidFill>
                <a:latin typeface="Aptos"/>
              </a:rPr>
              <a:t>Separate collection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4937760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F5FFF"/>
                </a:solidFill>
                <a:latin typeface="Aptos"/>
              </a:rPr>
              <a:t>Frequent partial update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4937760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9"/>
                </a:solidFill>
                <a:latin typeface="Aptos"/>
              </a:rPr>
              <a:t>Keep write unit focused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2B9"/>
                </a:solidFill>
                <a:latin typeface="Aptos"/>
              </a:rPr>
              <a:t>Access pattern = the question the application asks of the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9"/>
                </a:solidFill>
                <a:latin typeface="Aptos Display"/>
              </a:rPr>
              <a:t>Identify What </a:t>
            </a:r>
            <a:r>
              <a:rPr sz="3000" b="1">
                <a:solidFill>
                  <a:srgbClr val="FF9100"/>
                </a:solidFill>
                <a:latin typeface="Aptos Display"/>
              </a:rPr>
              <a:t>Belongs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9"/>
                </a:solidFill>
                <a:latin typeface="Aptos"/>
              </a:rPr>
              <a:t>Keep naturally related data in the same document when it shares a lifecycle and is commonly read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1201400" cy="443484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2286000" cy="960120"/>
          </a:xfrm>
          <a:prstGeom prst="roundRect">
            <a:avLst/>
          </a:prstGeom>
          <a:solidFill>
            <a:srgbClr val="13181C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48256"/>
            <a:ext cx="2066543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orders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95728"/>
            <a:ext cx="206654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2B9"/>
                </a:solidFill>
                <a:latin typeface="Aptos"/>
              </a:rPr>
              <a:t>Order 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691640"/>
            <a:ext cx="2560320" cy="1051560"/>
          </a:xfrm>
          <a:prstGeom prst="roundRect">
            <a:avLst/>
          </a:prstGeom>
          <a:solidFill>
            <a:srgbClr val="13181C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0328" y="1819656"/>
            <a:ext cx="2340863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Order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2167128"/>
            <a:ext cx="234086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2B9"/>
                </a:solidFill>
                <a:latin typeface="Aptos"/>
              </a:rPr>
              <a:t>business record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200400" y="2212848"/>
            <a:ext cx="1572768" cy="182880"/>
          </a:xfrm>
          <a:prstGeom prst="line">
            <a:avLst/>
          </a:prstGeom>
          <a:ln w="2540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1645920"/>
            <a:ext cx="1463040" cy="82296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1773936"/>
            <a:ext cx="13167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7F9"/>
                </a:solidFill>
                <a:latin typeface="Aptos"/>
              </a:rPr>
              <a:t>orderId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084832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AB2B9"/>
                </a:solidFill>
                <a:latin typeface="Aptos"/>
              </a:rPr>
              <a:t>locate order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360920" y="2057400"/>
            <a:ext cx="548640" cy="164592"/>
          </a:xfrm>
          <a:prstGeom prst="line">
            <a:avLst/>
          </a:prstGeom>
          <a:ln w="1905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2788920"/>
            <a:ext cx="1463040" cy="82296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A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2" y="2916936"/>
            <a:ext cx="13167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7F9"/>
                </a:solidFill>
                <a:latin typeface="Aptos"/>
              </a:rPr>
              <a:t>items[]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227832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AB2B9"/>
                </a:solidFill>
                <a:latin typeface="Aptos"/>
              </a:rPr>
              <a:t>line items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60920" y="2907792"/>
            <a:ext cx="548640" cy="292608"/>
          </a:xfrm>
          <a:prstGeom prst="line">
            <a:avLst/>
          </a:prstGeom>
          <a:ln w="19050">
            <a:solidFill>
              <a:srgbClr val="AF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46920" y="1645920"/>
            <a:ext cx="1463040" cy="82296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0072" y="1773936"/>
            <a:ext cx="13167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7F9"/>
                </a:solidFill>
                <a:latin typeface="Aptos"/>
              </a:rPr>
              <a:t>shippingAddress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084832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AB2B9"/>
                </a:solidFill>
                <a:latin typeface="Aptos"/>
              </a:rPr>
              <a:t>delivery data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360920" y="2057400"/>
            <a:ext cx="2286000" cy="164592"/>
          </a:xfrm>
          <a:prstGeom prst="line">
            <a:avLst/>
          </a:prstGeom>
          <a:ln w="19050">
            <a:solidFill>
              <a:srgbClr val="2DCD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46920" y="2788920"/>
            <a:ext cx="1463040" cy="822960"/>
          </a:xfrm>
          <a:prstGeom prst="roundRect">
            <a:avLst/>
          </a:prstGeom>
          <a:solidFill>
            <a:srgbClr val="0F1418"/>
          </a:solidFill>
          <a:ln w="15240">
            <a:solidFill>
              <a:srgbClr val="4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2916936"/>
            <a:ext cx="13167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7F9"/>
                </a:solidFill>
                <a:latin typeface="Aptos"/>
              </a:rPr>
              <a:t>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227832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AB2B9"/>
                </a:solidFill>
                <a:latin typeface="Aptos"/>
              </a:rPr>
              <a:t>payment state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60920" y="2907792"/>
            <a:ext cx="2286000" cy="292608"/>
          </a:xfrm>
          <a:prstGeom prst="line">
            <a:avLst/>
          </a:prstGeom>
          <a:ln w="19050">
            <a:solidFill>
              <a:srgbClr val="41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4069080"/>
            <a:ext cx="3154680" cy="1234440"/>
          </a:xfrm>
          <a:prstGeom prst="roundRect">
            <a:avLst/>
          </a:prstGeom>
          <a:solidFill>
            <a:srgbClr val="0D1216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233672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CDA5"/>
                </a:solidFill>
                <a:latin typeface="Aptos"/>
              </a:rPr>
              <a:t>Common 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4526280"/>
            <a:ext cx="2788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9"/>
                </a:solidFill>
                <a:latin typeface="Aptos"/>
              </a:rPr>
              <a:t>Order screen can fetch one business object.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4069080"/>
            <a:ext cx="3154680" cy="1234440"/>
          </a:xfrm>
          <a:prstGeom prst="roundRect">
            <a:avLst/>
          </a:prstGeom>
          <a:solidFill>
            <a:srgbClr val="0D1216"/>
          </a:solidFill>
          <a:ln w="15240">
            <a:solidFill>
              <a:srgbClr val="4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4233672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1DCE6"/>
                </a:solidFill>
                <a:latin typeface="Aptos"/>
              </a:rPr>
              <a:t>Shared lifecycle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4526280"/>
            <a:ext cx="2788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9"/>
                </a:solidFill>
                <a:latin typeface="Aptos"/>
              </a:rPr>
              <a:t>Shipping and payment move with the order.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069080"/>
            <a:ext cx="3154680" cy="1234440"/>
          </a:xfrm>
          <a:prstGeom prst="roundRect">
            <a:avLst/>
          </a:prstGeom>
          <a:solidFill>
            <a:srgbClr val="0D1216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4233672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9100"/>
                </a:solidFill>
                <a:latin typeface="Aptos"/>
              </a:rPr>
              <a:t>Clear ownership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4526280"/>
            <a:ext cx="2788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9"/>
                </a:solidFill>
                <a:latin typeface="Aptos"/>
              </a:rPr>
              <a:t>Order owns the data shown with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2B9"/>
                </a:solidFill>
                <a:latin typeface="Aptos"/>
              </a:rPr>
              <a:t>Embed when the data is naturally part of the same application read/write unit.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9"/>
                </a:solidFill>
                <a:latin typeface="Aptos Display"/>
              </a:rPr>
              <a:t>Watch </a:t>
            </a:r>
            <a:r>
              <a:rPr sz="3000" b="1">
                <a:solidFill>
                  <a:srgbClr val="FF9100"/>
                </a:solidFill>
                <a:latin typeface="Aptos Display"/>
              </a:rPr>
              <a:t>Growth and Cardinality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9"/>
                </a:solidFill>
                <a:latin typeface="Aptos"/>
              </a:rPr>
              <a:t>A good shape today should still work when the application accumulates more data tomorrow.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606040" cy="333756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CDA5"/>
                </a:solidFill>
                <a:latin typeface="Aptos"/>
              </a:rPr>
              <a:t>Small + bounded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9"/>
                </a:solidFill>
                <a:latin typeface="Aptos"/>
              </a:rPr>
              <a:t>Shipping address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9"/>
                </a:solidFill>
                <a:latin typeface="Aptos"/>
              </a:rPr>
              <a:t>Usually safe to embed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73075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2B9"/>
                </a:solidFill>
                <a:latin typeface="Aptos"/>
              </a:rPr>
              <a:t>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712463"/>
            <a:ext cx="685800" cy="164592"/>
          </a:xfrm>
          <a:prstGeom prst="rect">
            <a:avLst/>
          </a:prstGeom>
          <a:solidFill>
            <a:srgbClr val="2DCDA5"/>
          </a:solidFill>
          <a:ln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606040" cy="333756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00200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9100"/>
                </a:solidFill>
                <a:latin typeface="Aptos"/>
              </a:rPr>
              <a:t>Bounded per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57400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9"/>
                </a:solidFill>
                <a:latin typeface="Aptos"/>
              </a:rPr>
              <a:t>Line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9748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9"/>
                </a:solidFill>
                <a:latin typeface="Aptos"/>
              </a:rPr>
              <a:t>Embed when order size stays reasonable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73075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2B9"/>
                </a:solidFill>
                <a:latin typeface="Aptos"/>
              </a:rPr>
              <a:t>Growth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712463"/>
            <a:ext cx="1143000" cy="164592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1417320"/>
            <a:ext cx="2606040" cy="333756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00200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AAFF"/>
                </a:solidFill>
                <a:latin typeface="Aptos"/>
              </a:rPr>
              <a:t>Independent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57400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9"/>
                </a:solidFill>
                <a:latin typeface="Aptos"/>
              </a:rPr>
              <a:t>Orders per 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9748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9"/>
                </a:solidFill>
                <a:latin typeface="Aptos"/>
              </a:rPr>
              <a:t>Separate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73075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2B9"/>
                </a:solidFill>
                <a:latin typeface="Aptos"/>
              </a:rPr>
              <a:t>Growth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3712463"/>
            <a:ext cx="1691640" cy="164592"/>
          </a:xfrm>
          <a:prstGeom prst="rect">
            <a:avLst/>
          </a:prstGeom>
          <a:solidFill>
            <a:srgbClr val="37AAFF"/>
          </a:solidFill>
          <a:ln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19" y="1417320"/>
            <a:ext cx="2606040" cy="333756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EB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600200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5041"/>
                </a:solidFill>
                <a:latin typeface="Aptos"/>
              </a:rPr>
              <a:t>Potentially unbounded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057400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9"/>
                </a:solidFill>
                <a:latin typeface="Aptos"/>
              </a:rPr>
              <a:t>Events / audit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69748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9"/>
                </a:solidFill>
                <a:latin typeface="Aptos"/>
              </a:rPr>
              <a:t>Avoid huge embedded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373075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2B9"/>
                </a:solidFill>
                <a:latin typeface="Aptos"/>
              </a:rPr>
              <a:t>Growth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3712463"/>
            <a:ext cx="2240280" cy="164592"/>
          </a:xfrm>
          <a:prstGeom prst="rect">
            <a:avLst/>
          </a:prstGeom>
          <a:solidFill>
            <a:srgbClr val="EB5041"/>
          </a:solidFill>
          <a:ln>
            <a:solidFill>
              <a:srgbClr val="EB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749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9100"/>
                </a:solidFill>
                <a:latin typeface="Aptos"/>
              </a:rPr>
              <a:t>Avoid: unbounded arrays • huge embedded history • frequently changing shared data • documents approaching size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2B9"/>
                </a:solidFill>
                <a:latin typeface="Aptos"/>
              </a:rPr>
              <a:t>Growth pattern matters as much as today’s access pattern.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9"/>
                </a:solidFill>
                <a:latin typeface="Aptos Display"/>
              </a:rPr>
              <a:t>Embed or </a:t>
            </a:r>
            <a:r>
              <a:rPr sz="3000" b="1">
                <a:solidFill>
                  <a:srgbClr val="FF9100"/>
                </a:solidFill>
                <a:latin typeface="Aptos Display"/>
              </a:rPr>
              <a:t>Reference?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9"/>
                </a:solidFill>
                <a:latin typeface="Aptos"/>
              </a:rPr>
              <a:t>Use a short decision lens instead of a universal rule.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257800" cy="448056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CDA5"/>
                </a:solidFill>
                <a:latin typeface="Aptos"/>
              </a:rPr>
              <a:t>EMBED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CDA5"/>
                </a:solidFill>
                <a:latin typeface="Aptos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240280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9"/>
                </a:solidFill>
                <a:latin typeface="Aptos"/>
              </a:rPr>
              <a:t>Read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40280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2B9"/>
                </a:solidFill>
                <a:latin typeface="Aptos"/>
              </a:rPr>
              <a:t>Same screen / API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26664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CDA5"/>
                </a:solidFill>
                <a:latin typeface="Aptos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26664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9"/>
                </a:solidFill>
                <a:latin typeface="Aptos"/>
              </a:rPr>
              <a:t>Owned by parent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026664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2B9"/>
                </a:solidFill>
                <a:latin typeface="Aptos"/>
              </a:rPr>
              <a:t>Natural containment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1304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CDA5"/>
                </a:solidFill>
                <a:latin typeface="Aptos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813048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9"/>
                </a:solidFill>
                <a:latin typeface="Aptos"/>
              </a:rPr>
              <a:t>Small + bounded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813048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2B9"/>
                </a:solidFill>
                <a:latin typeface="Aptos"/>
              </a:rPr>
              <a:t>Predictable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99432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CDA5"/>
                </a:solidFill>
                <a:latin typeface="Aptos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99432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9"/>
                </a:solidFill>
                <a:latin typeface="Aptos"/>
              </a:rPr>
              <a:t>Same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599432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2B9"/>
                </a:solidFill>
                <a:latin typeface="Aptos"/>
              </a:rPr>
              <a:t>Changes together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417320"/>
            <a:ext cx="5257800" cy="448056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64592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7AAFF"/>
                </a:solidFill>
                <a:latin typeface="Aptos"/>
              </a:rPr>
              <a:t>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240280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AAFF"/>
                </a:solidFill>
                <a:latin typeface="Aptos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24028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9"/>
                </a:solidFill>
                <a:latin typeface="Aptos"/>
              </a:rPr>
              <a:t>Shared / reused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240280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2B9"/>
                </a:solidFill>
                <a:latin typeface="Aptos"/>
              </a:rPr>
              <a:t>Multiple consumers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026664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AAFF"/>
                </a:solidFill>
                <a:latin typeface="Aptos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26664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9"/>
                </a:solidFill>
                <a:latin typeface="Aptos"/>
              </a:rPr>
              <a:t>Independent lifecycle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026664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2B9"/>
                </a:solidFill>
                <a:latin typeface="Aptos"/>
              </a:rPr>
              <a:t>Updated separately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81304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AAFF"/>
                </a:solidFill>
                <a:latin typeface="Aptos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81304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9"/>
                </a:solidFill>
                <a:latin typeface="Aptos"/>
              </a:rPr>
              <a:t>Can grow independently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813048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2B9"/>
                </a:solidFill>
                <a:latin typeface="Aptos"/>
              </a:rPr>
              <a:t>Avoid parent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599432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AAFF"/>
                </a:solidFill>
                <a:latin typeface="Aptos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599432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9"/>
                </a:solidFill>
                <a:latin typeface="Aptos"/>
              </a:rPr>
              <a:t>Separate domain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599432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2B9"/>
                </a:solidFill>
                <a:latin typeface="Aptos"/>
              </a:rPr>
              <a:t>Own collection semantics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2B9"/>
                </a:solidFill>
                <a:latin typeface="Aptos"/>
              </a:rPr>
              <a:t>This is a design comparison, not a choice that can be made without application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9"/>
                </a:solidFill>
                <a:latin typeface="Aptos Display"/>
              </a:rPr>
              <a:t>Derive the </a:t>
            </a:r>
            <a:r>
              <a:rPr sz="3000" b="1">
                <a:solidFill>
                  <a:srgbClr val="FF9100"/>
                </a:solidFill>
                <a:latin typeface="Aptos Display"/>
              </a:rPr>
              <a:t>Order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9"/>
                </a:solidFill>
                <a:latin typeface="Aptos"/>
              </a:rPr>
              <a:t>Now turn the requirements into a concrete document 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011680" cy="868680"/>
          </a:xfrm>
          <a:prstGeom prst="roundRect">
            <a:avLst/>
          </a:prstGeom>
          <a:solidFill>
            <a:srgbClr val="13181C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865376"/>
            <a:ext cx="17922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Order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12848"/>
            <a:ext cx="17922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2B9"/>
                </a:solidFill>
                <a:latin typeface="Aptos"/>
              </a:rPr>
              <a:t>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737360"/>
            <a:ext cx="2057400" cy="868680"/>
          </a:xfrm>
          <a:prstGeom prst="roundRect">
            <a:avLst/>
          </a:prstGeom>
          <a:solidFill>
            <a:srgbClr val="13181C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67328" y="1865376"/>
            <a:ext cx="1837943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2212848"/>
            <a:ext cx="183794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2B9"/>
                </a:solidFill>
                <a:latin typeface="Aptos"/>
              </a:rPr>
              <a:t>collection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325880"/>
            <a:ext cx="2286000" cy="868680"/>
          </a:xfrm>
          <a:prstGeom prst="roundRect">
            <a:avLst/>
          </a:prstGeom>
          <a:solidFill>
            <a:srgbClr val="13181C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453895"/>
            <a:ext cx="2066543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1801368"/>
            <a:ext cx="206654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2B9"/>
                </a:solidFill>
                <a:latin typeface="Aptos"/>
              </a:rPr>
              <a:t>collection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560320"/>
            <a:ext cx="2286000" cy="868680"/>
          </a:xfrm>
          <a:prstGeom prst="roundRect">
            <a:avLst/>
          </a:prstGeom>
          <a:solidFill>
            <a:srgbClr val="13181C"/>
          </a:solidFill>
          <a:ln w="15240">
            <a:solidFill>
              <a:srgbClr val="A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688336"/>
            <a:ext cx="2066543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3035808"/>
            <a:ext cx="206654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2B9"/>
                </a:solidFill>
                <a:latin typeface="Aptos"/>
              </a:rPr>
              <a:t>collection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176272"/>
            <a:ext cx="896112" cy="0"/>
          </a:xfrm>
          <a:prstGeom prst="line">
            <a:avLst/>
          </a:prstGeom>
          <a:ln w="2540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715000" y="1764792"/>
            <a:ext cx="795528" cy="411480"/>
          </a:xfrm>
          <a:prstGeom prst="line">
            <a:avLst/>
          </a:prstGeom>
          <a:ln w="2540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15000" y="2176272"/>
            <a:ext cx="795528" cy="813816"/>
          </a:xfrm>
          <a:prstGeom prst="line">
            <a:avLst/>
          </a:prstGeom>
          <a:ln w="2540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98280" y="1280160"/>
            <a:ext cx="2423160" cy="406908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481328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9100"/>
                </a:solidFill>
                <a:latin typeface="Aptos"/>
              </a:rPr>
              <a:t>Order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938528"/>
            <a:ext cx="1965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9"/>
                </a:solidFill>
                <a:latin typeface="Consolas"/>
              </a:rPr>
              <a:t>{
  orderId: "ORD-1001",
  customerId: "CUST-1001",
  status: "CONFIRMED",
  items: [ ... ],
  shippingAddress: { ... },
  payment: { ... }
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43400"/>
            <a:ext cx="2468880" cy="1143000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079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DCDA5"/>
                </a:solidFill>
                <a:latin typeface="Aptos"/>
              </a:rPr>
              <a:t>Embed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06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5F7F9"/>
                </a:solidFill>
                <a:latin typeface="Aptos"/>
              </a:rPr>
              <a:t>items + shippingAddress + payment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39" y="4343400"/>
            <a:ext cx="2468880" cy="1143000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5031" y="45079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7AAFF"/>
                </a:solidFill>
                <a:latin typeface="Aptos"/>
              </a:rPr>
              <a:t>Reference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8006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5F7F9"/>
                </a:solidFill>
                <a:latin typeface="Aptos"/>
              </a:rPr>
              <a:t>customerId + productId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4343400"/>
            <a:ext cx="2468880" cy="1143000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A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5079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F5FFF"/>
                </a:solidFill>
                <a:latin typeface="Aptos"/>
              </a:rPr>
              <a:t>Separate growth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006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5F7F9"/>
                </a:solidFill>
                <a:latin typeface="Aptos"/>
              </a:rPr>
              <a:t>orders and product catalog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2B9"/>
                </a:solidFill>
                <a:latin typeface="Aptos"/>
              </a:rPr>
              <a:t>The model is the result of the requirements and access-pattern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9"/>
                </a:solidFill>
                <a:latin typeface="Aptos Display"/>
              </a:rPr>
              <a:t>Test the Shape Against </a:t>
            </a:r>
            <a:r>
              <a:rPr sz="3000" b="1">
                <a:solidFill>
                  <a:srgbClr val="FF9100"/>
                </a:solidFill>
                <a:latin typeface="Aptos Display"/>
              </a:rPr>
              <a:t>Real 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9"/>
                </a:solidFill>
                <a:latin typeface="Aptos"/>
              </a:rPr>
              <a:t>A document design is useful only if it answers the application’s common questions cleanly.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1874519" cy="841248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9"/>
                </a:solidFill>
                <a:latin typeface="Aptos"/>
              </a:rPr>
              <a:t>Order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463040"/>
            <a:ext cx="5852160" cy="841248"/>
          </a:xfrm>
          <a:prstGeom prst="roundRect">
            <a:avLst/>
          </a:prstGeom>
          <a:solidFill>
            <a:srgbClr val="0B0F12"/>
          </a:solidFill>
          <a:ln w="15240">
            <a:solidFill>
              <a:srgbClr val="32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57276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9"/>
                </a:solidFill>
                <a:latin typeface="Consolas"/>
              </a:rPr>
              <a:t>orders.findOne({ orderId 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463040"/>
            <a:ext cx="2743200" cy="841248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1572768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CDA5"/>
                </a:solidFill>
                <a:latin typeface="Aptos"/>
              </a:rPr>
              <a:t>One document 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42032"/>
            <a:ext cx="1874519" cy="841248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51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9"/>
                </a:solidFill>
                <a:latin typeface="Aptos"/>
              </a:rPr>
              <a:t>Customer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2542032"/>
            <a:ext cx="5852160" cy="841248"/>
          </a:xfrm>
          <a:prstGeom prst="roundRect">
            <a:avLst/>
          </a:prstGeom>
          <a:solidFill>
            <a:srgbClr val="0B0F12"/>
          </a:solidFill>
          <a:ln w="15240">
            <a:solidFill>
              <a:srgbClr val="32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651760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9"/>
                </a:solidFill>
                <a:latin typeface="Consolas"/>
              </a:rPr>
              <a:t>orders.find({ customerId })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542032"/>
            <a:ext cx="2743200" cy="841248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65176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AAFF"/>
                </a:solidFill>
                <a:latin typeface="Aptos"/>
              </a:rPr>
              <a:t>Reference lookup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21024"/>
            <a:ext cx="1874519" cy="841248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A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73075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9"/>
                </a:solidFill>
                <a:latin typeface="Aptos"/>
              </a:rPr>
              <a:t>Order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3621024"/>
            <a:ext cx="5852160" cy="841248"/>
          </a:xfrm>
          <a:prstGeom prst="roundRect">
            <a:avLst/>
          </a:prstGeom>
          <a:solidFill>
            <a:srgbClr val="0B0F12"/>
          </a:solidFill>
          <a:ln w="15240">
            <a:solidFill>
              <a:srgbClr val="32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3730752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9"/>
                </a:solidFill>
                <a:latin typeface="Consolas"/>
              </a:rPr>
              <a:t>orders.updateOne({ orderId }, { $set: { status } })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3621024"/>
            <a:ext cx="2743200" cy="841248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A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730752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F5FFF"/>
                </a:solidFill>
                <a:latin typeface="Aptos"/>
              </a:rPr>
              <a:t>Focused write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700016"/>
            <a:ext cx="1874519" cy="841248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809744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9"/>
                </a:solidFill>
                <a:latin typeface="Aptos"/>
              </a:rPr>
              <a:t>Product details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4700016"/>
            <a:ext cx="5852160" cy="841248"/>
          </a:xfrm>
          <a:prstGeom prst="roundRect">
            <a:avLst/>
          </a:prstGeom>
          <a:solidFill>
            <a:srgbClr val="0B0F12"/>
          </a:solidFill>
          <a:ln w="15240">
            <a:solidFill>
              <a:srgbClr val="32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4809744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9"/>
                </a:solidFill>
                <a:latin typeface="Consolas"/>
              </a:rPr>
              <a:t>products.findOne({ sku })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4700016"/>
            <a:ext cx="2743200" cy="841248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4809744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9100"/>
                </a:solidFill>
                <a:latin typeface="Aptos"/>
              </a:rPr>
              <a:t>Independent lookup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2B9"/>
                </a:solidFill>
                <a:latin typeface="Aptos"/>
              </a:rPr>
              <a:t>Design check: can the common reads and writes be expressed directly against the chosen shape?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9"/>
                </a:solidFill>
                <a:latin typeface="Aptos Display"/>
              </a:rPr>
              <a:t>Mini Design </a:t>
            </a:r>
            <a:r>
              <a:rPr sz="3000" b="1">
                <a:solidFill>
                  <a:srgbClr val="FF9100"/>
                </a:solidFill>
                <a:latin typeface="Aptos Display"/>
              </a:rPr>
              <a:t>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9"/>
                </a:solidFill>
                <a:latin typeface="Aptos"/>
              </a:rPr>
              <a:t>Make the design decision before touching the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657600" cy="448056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9100"/>
                </a:solidFill>
                <a:latin typeface="Aptos"/>
              </a:rPr>
              <a:t>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“The order page shows order details, the shipping address, and the current payment state.”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AB2B9"/>
                </a:solidFill>
                <a:latin typeface="Aptos"/>
              </a:rPr>
              <a:t>Question: what belongs in the order document?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71600"/>
            <a:ext cx="3246120" cy="448056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00200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AAFF"/>
                </a:solidFill>
                <a:latin typeface="Aptos"/>
              </a:rPr>
              <a:t>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24028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AAF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2402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Read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95351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AA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9535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Same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666744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AAFF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66674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Small + bounded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379976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AAFF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37997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Owned by the 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429000" cy="448056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60020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CDA5"/>
                </a:solidFill>
                <a:latin typeface="Aptos"/>
              </a:rPr>
              <a:t>Derived shape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240280"/>
            <a:ext cx="2788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Embed
shippingAddress
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16052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AB2B9"/>
                </a:solidFill>
                <a:latin typeface="Aptos"/>
              </a:rPr>
              <a:t>Then test the shape against the next few reads and writes.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2B9"/>
                </a:solidFill>
                <a:latin typeface="Aptos"/>
              </a:rPr>
              <a:t>Practice the design reasoning: requirement → signals → shape →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9"/>
                </a:solidFill>
                <a:latin typeface="Aptos Display"/>
              </a:rPr>
              <a:t>Practical </a:t>
            </a:r>
            <a:r>
              <a:rPr sz="3000" b="1">
                <a:solidFill>
                  <a:srgbClr val="FF9100"/>
                </a:solidFill>
                <a:latin typeface="Aptos Display"/>
              </a:rPr>
              <a:t>mongosh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9"/>
                </a:solidFill>
                <a:latin typeface="Aptos"/>
              </a:rPr>
              <a:t>Use the shell to verify that the derived shape matches what you intended to store and read.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623560" cy="4526280"/>
          </a:xfrm>
          <a:prstGeom prst="roundRect">
            <a:avLst/>
          </a:prstGeom>
          <a:solidFill>
            <a:srgbClr val="0A0F13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435607"/>
            <a:ext cx="5294376" cy="4306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5F7F9"/>
                </a:solidFill>
                <a:latin typeface="Consolas"/>
              </a:rPr>
              <a:t>use orderdb
db.orders.insertOne({
  orderId: "ORD-1001",
  customerId: "CUST-1001",
  status: "PLACED",
  items: [ { sku: "LAP-001", qty: 2 } ],
  shippingAddress: {
    city: "Chennai", country: "India"
  },
  payment: { method: "CARD", status: "AUTHORIZED" }
})
db.orders.findOne({ orderId: "ORD-1001" })
db.orders.find({ customerId: "CUST-1001" 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325880"/>
            <a:ext cx="5074920" cy="452628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48132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AAFF"/>
                </a:solidFill>
                <a:latin typeface="Aptos"/>
              </a:rPr>
              <a:t>What to inspect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6596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CDA5"/>
                </a:solidFill>
                <a:latin typeface="Aptos"/>
              </a:rPr>
              <a:t>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1965960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9"/>
                </a:solidFill>
                <a:latin typeface="Aptos"/>
              </a:rPr>
              <a:t>Does the order document contain the data the page reads?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8892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5041"/>
                </a:solidFill>
                <a:latin typeface="Aptos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2788920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9"/>
                </a:solidFill>
                <a:latin typeface="Aptos"/>
              </a:rPr>
              <a:t>Are any embedded arrays likely to grow without bound?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61188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9100"/>
                </a:solidFill>
                <a:latin typeface="Aptos"/>
              </a:rPr>
              <a:t>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3611880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9"/>
                </a:solidFill>
                <a:latin typeface="Aptos"/>
              </a:rPr>
              <a:t>Is each embedded field owned by the order?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43484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5FFF"/>
                </a:solidFill>
                <a:latin typeface="Aptos"/>
              </a:rPr>
              <a:t>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4434840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9"/>
                </a:solidFill>
                <a:latin typeface="Aptos"/>
              </a:rPr>
              <a:t>Can common reads avoid unnecessary reconstruction?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2B9"/>
                </a:solidFill>
                <a:latin typeface="Aptos"/>
              </a:rPr>
              <a:t>The demo verifies the model; deeper CRUD and validation are covered later.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9100"/>
                </a:solidFill>
                <a:latin typeface="Aptos Display"/>
              </a:rPr>
              <a:t>Key Takeaways</a:t>
            </a:r>
            <a:r>
              <a:rPr sz="3000" b="1">
                <a:solidFill>
                  <a:srgbClr val="F5F7F9"/>
                </a:solidFill>
                <a:latin typeface="Aptos Display"/>
              </a:rPr>
              <a:t> — Requirements to Data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9"/>
                </a:solidFill>
                <a:latin typeface="Aptos"/>
              </a:rPr>
              <a:t>A repeatable design workflow for MongoDB developers.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965960" cy="1874519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00784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9100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7F9"/>
                </a:solidFill>
                <a:latin typeface="Aptos"/>
              </a:rPr>
              <a:t>REQUIREMENTS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441448"/>
            <a:ext cx="320040" cy="0"/>
          </a:xfrm>
          <a:prstGeom prst="line">
            <a:avLst/>
          </a:prstGeom>
          <a:ln w="2413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1508760"/>
            <a:ext cx="1965960" cy="1874519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37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700784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AA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1488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7F9"/>
                </a:solidFill>
                <a:latin typeface="Aptos"/>
              </a:rPr>
              <a:t>ACCESS PATTERNS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6320" y="2441448"/>
            <a:ext cx="320040" cy="0"/>
          </a:xfrm>
          <a:prstGeom prst="line">
            <a:avLst/>
          </a:prstGeom>
          <a:ln w="2413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66360" y="1508760"/>
            <a:ext cx="1965960" cy="1874519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A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700784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F5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1488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7F9"/>
                </a:solidFill>
                <a:latin typeface="Aptos"/>
              </a:rPr>
              <a:t>DOCUMENT SHAPE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0" y="2441448"/>
            <a:ext cx="320040" cy="0"/>
          </a:xfrm>
          <a:prstGeom prst="line">
            <a:avLst/>
          </a:prstGeom>
          <a:ln w="2413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52360" y="1508760"/>
            <a:ext cx="1965960" cy="1874519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2D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700784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CDA5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1488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7F9"/>
                </a:solidFill>
                <a:latin typeface="Aptos"/>
              </a:rPr>
              <a:t>EMBED / REFERENCE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18320" y="2441448"/>
            <a:ext cx="320040" cy="0"/>
          </a:xfrm>
          <a:prstGeom prst="line">
            <a:avLst/>
          </a:prstGeom>
          <a:ln w="24130">
            <a:solidFill>
              <a:srgbClr val="FF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38360" y="1508760"/>
            <a:ext cx="1965960" cy="1874519"/>
          </a:xfrm>
          <a:prstGeom prst="roundRect">
            <a:avLst/>
          </a:prstGeom>
          <a:solidFill>
            <a:srgbClr val="0E1318"/>
          </a:solidFill>
          <a:ln w="15240">
            <a:solidFill>
              <a:srgbClr val="4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700784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41DCE6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1488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7F9"/>
                </a:solidFill>
                <a:latin typeface="Aptos"/>
              </a:rPr>
              <a:t>TEST THE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10881360" cy="1600200"/>
          </a:xfrm>
          <a:prstGeom prst="roundRect">
            <a:avLst/>
          </a:prstGeom>
          <a:solidFill>
            <a:srgbClr val="101418"/>
          </a:solidFill>
          <a:ln w="1524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904487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9100"/>
                </a:solidFill>
                <a:latin typeface="Aptos"/>
              </a:rPr>
              <a:t>Design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904487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9"/>
                </a:solidFill>
                <a:latin typeface="Aptos"/>
              </a:rPr>
              <a:t>Likely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904487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9"/>
                </a:solidFill>
                <a:latin typeface="Aptos"/>
              </a:rPr>
              <a:t>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904487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9"/>
                </a:solidFill>
                <a:latin typeface="Aptos"/>
              </a:rPr>
              <a:t>Why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31596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>
                <a:solidFill>
                  <a:srgbClr val="2DCDA5"/>
                </a:solidFill>
                <a:latin typeface="Aptos"/>
              </a:rPr>
              <a:t>Read together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315968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>
                <a:solidFill>
                  <a:srgbClr val="F5F7F9"/>
                </a:solidFill>
                <a:latin typeface="Aptos"/>
              </a:rPr>
              <a:t>Embed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F5F7F9"/>
                </a:solidFill>
                <a:latin typeface="Aptos"/>
              </a:rPr>
              <a:t>shipping + 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315968"/>
            <a:ext cx="3429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F5F7F9"/>
                </a:solidFill>
                <a:latin typeface="Aptos"/>
              </a:rPr>
              <a:t>One business read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636007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>
                <a:solidFill>
                  <a:srgbClr val="37AAFF"/>
                </a:solidFill>
                <a:latin typeface="Aptos"/>
              </a:rPr>
              <a:t>Shared / independent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636007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>
                <a:solidFill>
                  <a:srgbClr val="F5F7F9"/>
                </a:solidFill>
                <a:latin typeface="Aptos"/>
              </a:rPr>
              <a:t>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636007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F5F7F9"/>
                </a:solidFill>
                <a:latin typeface="Aptos"/>
              </a:rPr>
              <a:t>customer / product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636007"/>
            <a:ext cx="3429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F5F7F9"/>
                </a:solidFill>
                <a:latin typeface="Aptos"/>
              </a:rPr>
              <a:t>Own lifecycle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95604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>
                <a:solidFill>
                  <a:srgbClr val="EB5041"/>
                </a:solidFill>
                <a:latin typeface="Aptos"/>
              </a:rPr>
              <a:t>Unbounded growth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956048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>
                <a:solidFill>
                  <a:srgbClr val="F5F7F9"/>
                </a:solidFill>
                <a:latin typeface="Aptos"/>
              </a:rPr>
              <a:t>Separate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4956048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F5F7F9"/>
                </a:solidFill>
                <a:latin typeface="Aptos"/>
              </a:rPr>
              <a:t>events /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956048"/>
            <a:ext cx="3429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F5F7F9"/>
                </a:solidFill>
                <a:latin typeface="Aptos"/>
              </a:rPr>
              <a:t>Protect document size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5961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9100"/>
                </a:solidFill>
                <a:latin typeface="Aptos"/>
              </a:rPr>
              <a:t>Design for behavior — not for the source table.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2B9"/>
                </a:solidFill>
                <a:latin typeface="Aptos"/>
              </a:rPr>
              <a:t>End message: explain the requirement, defend the access pattern, then show the document shape.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