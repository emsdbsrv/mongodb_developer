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1005840"/>
          </a:xfrm>
          <a:prstGeom prst="rect">
            <a:avLst/>
          </a:prstGeom>
          <a:solidFill>
            <a:srgbClr val="30F25C"/>
          </a:solidFill>
          <a:ln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Lesson 027 — Deriving Data Structure from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ADB7BF"/>
                </a:solidFill>
                <a:latin typeface="Aptos"/>
              </a:rPr>
              <a:t>Turn business requirements and access patterns into a MongoDB document shape.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011680" cy="182880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7904" y="2359152"/>
            <a:ext cx="594360" cy="594360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17904" y="2377440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72384"/>
            <a:ext cx="16824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493008"/>
            <a:ext cx="16824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DB7BF"/>
                </a:solidFill>
                <a:latin typeface="Aptos"/>
              </a:rPr>
              <a:t>What must the system do?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52928" y="3044952"/>
            <a:ext cx="713232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9039" y="2148840"/>
            <a:ext cx="2011680" cy="182880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43983" y="2359152"/>
            <a:ext cx="594360" cy="594360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3983" y="2377440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3072384"/>
            <a:ext cx="16824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Access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3493008"/>
            <a:ext cx="16824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DB7BF"/>
                </a:solidFill>
                <a:latin typeface="Aptos"/>
              </a:rPr>
              <a:t>What will the app read/write?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79008" y="3044952"/>
            <a:ext cx="713232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75120" y="2148840"/>
            <a:ext cx="2011680" cy="182880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70064" y="2359152"/>
            <a:ext cx="594360" cy="594360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2377440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072384"/>
            <a:ext cx="16824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Document Shape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3493008"/>
            <a:ext cx="16824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DB7BF"/>
                </a:solidFill>
                <a:latin typeface="Aptos"/>
              </a:rPr>
              <a:t>What belongs together?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05088" y="3044952"/>
            <a:ext cx="713232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2148840"/>
            <a:ext cx="2011680" cy="182880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96144" y="2359152"/>
            <a:ext cx="594360" cy="594360"/>
          </a:xfrm>
          <a:prstGeom prst="ellipse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96144" y="2377440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5792" y="3072384"/>
            <a:ext cx="16824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MongoDB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3493008"/>
            <a:ext cx="168249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DB7BF"/>
                </a:solidFill>
                <a:latin typeface="Aptos"/>
              </a:rPr>
              <a:t>Embed or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57200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0F25C"/>
                </a:solidFill>
                <a:latin typeface="Aptos"/>
              </a:rPr>
              <a:t>Key idea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4965192"/>
            <a:ext cx="10287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Design the document around how the application uses the data — not only around how the source data is organized.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Start with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Extract data, behavior, and access needs before choosing a document shape.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074920" cy="16002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618488"/>
            <a:ext cx="566928" cy="566928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36776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45336"/>
            <a:ext cx="3794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984248"/>
            <a:ext cx="3794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Customers, orders, addresses, products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074920" cy="16002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0" y="1618488"/>
            <a:ext cx="566928" cy="566928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36776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545336"/>
            <a:ext cx="3794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84248"/>
            <a:ext cx="3794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Create order, update address, show 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19272"/>
            <a:ext cx="5074920" cy="16002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611879"/>
            <a:ext cx="566928" cy="566928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30168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538728"/>
            <a:ext cx="3794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Reads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39"/>
            <a:ext cx="3794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Order details, customer profile, recent orders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319272"/>
            <a:ext cx="5074920" cy="16002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0" y="3611879"/>
            <a:ext cx="566928" cy="566928"/>
          </a:xfrm>
          <a:prstGeom prst="ellipse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630168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6080A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538728"/>
            <a:ext cx="3794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Writes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977639"/>
            <a:ext cx="3794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Frequent status updates, profile changes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04688"/>
            <a:ext cx="10607040" cy="603504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623560"/>
            <a:ext cx="101498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8FA"/>
                </a:solidFill>
                <a:latin typeface="Aptos"/>
              </a:rPr>
              <a:t>Ask: “What does the application need to read together most often?”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Map the Access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Access patterns reveal which fields should live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657600" cy="448056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Application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965960"/>
            <a:ext cx="3154680" cy="566928"/>
          </a:xfrm>
          <a:prstGeom prst="roundRect">
            <a:avLst/>
          </a:prstGeom>
          <a:solidFill>
            <a:srgbClr val="0E1215"/>
          </a:solidFill>
          <a:ln w="1270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Get customer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07208"/>
            <a:ext cx="3154680" cy="566928"/>
          </a:xfrm>
          <a:prstGeom prst="roundRect">
            <a:avLst/>
          </a:prstGeom>
          <a:solidFill>
            <a:srgbClr val="0E1215"/>
          </a:solidFill>
          <a:ln w="1270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79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Get order with items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48456"/>
            <a:ext cx="3154680" cy="566928"/>
          </a:xfrm>
          <a:prstGeom prst="roundRect">
            <a:avLst/>
          </a:prstGeom>
          <a:solidFill>
            <a:srgbClr val="0E1215"/>
          </a:solidFill>
          <a:ln w="1270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67328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Update order status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489704"/>
            <a:ext cx="3154680" cy="566928"/>
          </a:xfrm>
          <a:prstGeom prst="roundRect">
            <a:avLst/>
          </a:prstGeom>
          <a:solidFill>
            <a:srgbClr val="0E1215"/>
          </a:solidFill>
          <a:ln w="1270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08576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Find orders by customer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43400" y="2240280"/>
            <a:ext cx="2057400" cy="0"/>
          </a:xfrm>
          <a:prstGeom prst="line">
            <a:avLst/>
          </a:prstGeom>
          <a:ln w="26670">
            <a:solidFill>
              <a:srgbClr val="30F2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3440" y="2130552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30F25C"/>
                </a:solidFill>
                <a:latin typeface="Aptos"/>
              </a:rPr>
              <a:t>together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3081528"/>
            <a:ext cx="2057400" cy="0"/>
          </a:xfrm>
          <a:prstGeom prst="line">
            <a:avLst/>
          </a:prstGeom>
          <a:ln w="26670">
            <a:solidFill>
              <a:srgbClr val="FFB1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63440" y="2971800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B142"/>
                </a:solidFill>
                <a:latin typeface="Aptos"/>
              </a:rPr>
              <a:t>independently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43400" y="3922776"/>
            <a:ext cx="2057400" cy="0"/>
          </a:xfrm>
          <a:prstGeom prst="line">
            <a:avLst/>
          </a:prstGeom>
          <a:ln w="26670">
            <a:solidFill>
              <a:srgbClr val="B07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63440" y="3813048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07AFF"/>
                </a:solidFill>
                <a:latin typeface="Aptos"/>
              </a:rPr>
              <a:t>frequent write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343400" y="4764024"/>
            <a:ext cx="2057400" cy="0"/>
          </a:xfrm>
          <a:prstGeom prst="line">
            <a:avLst/>
          </a:prstGeom>
          <a:ln w="26670">
            <a:solidFill>
              <a:srgbClr val="49D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3440" y="4654296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49D0FF"/>
                </a:solidFill>
                <a:latin typeface="Aptos"/>
              </a:rPr>
              <a:t>lookup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234440"/>
            <a:ext cx="4617720" cy="448056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146304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Model implication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2011680"/>
            <a:ext cx="4023360" cy="841248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2139696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5F8FA"/>
                </a:solidFill>
                <a:latin typeface="Aptos"/>
              </a:rPr>
              <a:t>Embed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103120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Read together + lifecycle together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3090672"/>
            <a:ext cx="4023360" cy="841248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32186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5F8FA"/>
                </a:solidFill>
                <a:latin typeface="Aptos"/>
              </a:rPr>
              <a:t>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182112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Reuse / independent lifecycle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4169664"/>
            <a:ext cx="4023360" cy="841248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5160" y="42976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5F8FA"/>
                </a:solidFill>
                <a:latin typeface="Aptos"/>
              </a:rPr>
              <a:t>Hybrid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4261104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Embed hot data, reference large/shared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Identify What Belongs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Group fields that are naturally read, updated, and owned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98448"/>
            <a:ext cx="6583680" cy="4526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27048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Customer profile → one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029968"/>
            <a:ext cx="5897880" cy="3182112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67712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60604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9D0FF"/>
                </a:solidFill>
                <a:latin typeface="Aptos"/>
              </a:rPr>
              <a:t>"name"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606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Arun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044952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9D0FF"/>
                </a:solidFill>
                <a:latin typeface="Aptos"/>
              </a:rPr>
              <a:t>"email"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44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arun@example.com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83864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07AFF"/>
                </a:solidFill>
                <a:latin typeface="Aptos"/>
              </a:rPr>
              <a:t>"address"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4838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{ city, state, country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B142"/>
                </a:solidFill>
                <a:latin typeface="Aptos"/>
              </a:rPr>
              <a:t>"preferences"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227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{ language, alerts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0F25C"/>
                </a:solidFill>
                <a:latin typeface="Aptos"/>
              </a:rPr>
              <a:t>"phones"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3616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8FA"/>
                </a:solidFill>
                <a:latin typeface="Aptos"/>
              </a:rPr>
              <a:t>[ ...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81888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1298448"/>
            <a:ext cx="3657600" cy="4526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1527048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Why this shape?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05740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Profile is a common read unit.</a:t>
            </a:r>
          </a:p>
          <a:p>
            <a:pPr>
              <a:spcAft>
                <a:spcPts val="9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Address changes with the profile.</a:t>
            </a:r>
          </a:p>
          <a:p>
            <a:pPr>
              <a:spcAft>
                <a:spcPts val="9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Preferences belong to the customer.</a:t>
            </a:r>
          </a:p>
          <a:p>
            <a:pPr>
              <a:spcAft>
                <a:spcPts val="9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Arrays hold repeated related values.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Choose Embed vs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Derive the relationship from ownership, reuse, growth, and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331720" cy="1097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1664208"/>
            <a:ext cx="493776" cy="493776"/>
          </a:xfrm>
          <a:prstGeom prst="ellipse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82496"/>
            <a:ext cx="49377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60020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Owned together?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39" y="1965960"/>
            <a:ext cx="411481" cy="0"/>
          </a:xfrm>
          <a:prstGeom prst="line">
            <a:avLst/>
          </a:prstGeom>
          <a:ln w="190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74720" y="1417320"/>
            <a:ext cx="2331720" cy="1097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2736" y="1664208"/>
            <a:ext cx="493776" cy="493776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1682496"/>
            <a:ext cx="49377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160020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Read together?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06440" y="1965960"/>
            <a:ext cx="411480" cy="0"/>
          </a:xfrm>
          <a:prstGeom prst="line">
            <a:avLst/>
          </a:prstGeom>
          <a:ln w="190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17920" y="1417320"/>
            <a:ext cx="2331720" cy="1097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45936" y="1664208"/>
            <a:ext cx="493776" cy="493776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682496"/>
            <a:ext cx="49377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160020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Bounded size?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49640" y="1965960"/>
            <a:ext cx="411480" cy="0"/>
          </a:xfrm>
          <a:prstGeom prst="line">
            <a:avLst/>
          </a:prstGeom>
          <a:ln w="190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961120" y="1417320"/>
            <a:ext cx="2331720" cy="1097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089136" y="1664208"/>
            <a:ext cx="493776" cy="493776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682496"/>
            <a:ext cx="49377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1600200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Shared or reusable?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3063240"/>
            <a:ext cx="4754880" cy="20574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" y="3337560"/>
            <a:ext cx="4160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30F25C"/>
                </a:solidFill>
                <a:latin typeface="Aptos"/>
              </a:rPr>
              <a:t>Embed when…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794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Data is usually read together.</a:t>
            </a:r>
          </a:p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Child lifecycle is tied to the parent.</a:t>
            </a:r>
          </a:p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Size and growth are predictable.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063240"/>
            <a:ext cx="4754880" cy="205740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337560"/>
            <a:ext cx="4160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B142"/>
                </a:solidFill>
                <a:latin typeface="Aptos"/>
              </a:rPr>
              <a:t>Reference when…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794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Data is shared or reused.</a:t>
            </a:r>
          </a:p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Child grows independently.</a:t>
            </a:r>
          </a:p>
          <a:p>
            <a:pPr>
              <a:spcAft>
                <a:spcPts val="5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Independent updates are common.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Translate Requirements into a Document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Example: order details should be returned in one read.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3749039" cy="448056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Requirement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3154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5F8FA"/>
                </a:solidFill>
                <a:latin typeface="Aptos"/>
              </a:defRPr>
            </a:pPr>
            <a:r>
              <a:t>• Show order header.</a:t>
            </a:r>
          </a:p>
          <a:p>
            <a:pPr>
              <a:spcAft>
                <a:spcPts val="1000"/>
              </a:spcAft>
              <a:defRPr sz="1600">
                <a:solidFill>
                  <a:srgbClr val="F5F8FA"/>
                </a:solidFill>
                <a:latin typeface="Aptos"/>
              </a:defRPr>
            </a:pPr>
            <a:r>
              <a:t>• Show all line items.</a:t>
            </a:r>
          </a:p>
          <a:p>
            <a:pPr>
              <a:spcAft>
                <a:spcPts val="1000"/>
              </a:spcAft>
              <a:defRPr sz="1600">
                <a:solidFill>
                  <a:srgbClr val="F5F8FA"/>
                </a:solidFill>
                <a:latin typeface="Aptos"/>
              </a:defRPr>
            </a:pPr>
            <a:r>
              <a:t>• Show totals.</a:t>
            </a:r>
          </a:p>
          <a:p>
            <a:pPr>
              <a:spcAft>
                <a:spcPts val="1000"/>
              </a:spcAft>
              <a:defRPr sz="1600">
                <a:solidFill>
                  <a:srgbClr val="F5F8FA"/>
                </a:solidFill>
                <a:latin typeface="Aptos"/>
              </a:defRPr>
            </a:pPr>
            <a:r>
              <a:t>• Show current status.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818888"/>
            <a:ext cx="3154680" cy="64008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965192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8FA"/>
                </a:solidFill>
                <a:latin typeface="Aptos"/>
              </a:rPr>
              <a:t>One read should answer the screen.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6280" y="3337560"/>
            <a:ext cx="1005840" cy="0"/>
          </a:xfrm>
          <a:prstGeom prst="line">
            <a:avLst/>
          </a:prstGeom>
          <a:ln w="38100">
            <a:solidFill>
              <a:srgbClr val="30F2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15000" y="1325880"/>
            <a:ext cx="5440680" cy="448056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orders document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103120"/>
            <a:ext cx="4709160" cy="3108960"/>
          </a:xfrm>
          <a:prstGeom prst="roundRect">
            <a:avLst/>
          </a:prstGeom>
          <a:solidFill>
            <a:srgbClr val="0E1215"/>
          </a:solidFill>
          <a:ln w="1270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267712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_id: ObjectId(...)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578608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0F25C"/>
                </a:solidFill>
                <a:latin typeface="Aptos"/>
              </a:rPr>
              <a:t>status: "SHIPPED"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9504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customer: { id, name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0F25C"/>
                </a:solidFill>
                <a:latin typeface="Aptos"/>
              </a:rPr>
              <a:t>items: [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511296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  { sku, qty, price },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822191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  { sku, qty, price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133087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43984"/>
            <a:ext cx="42519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8FA"/>
                </a:solidFill>
                <a:latin typeface="Aptos"/>
              </a:rPr>
              <a:t>total: Decimal128("...")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Watch for Growth and Cardinality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The shape must still work when the data grows.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6675120" cy="4526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Cardinality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0F25C"/>
                </a:solidFill>
                <a:latin typeface="Aptos"/>
              </a:rPr>
              <a:t>1–few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14884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8FA"/>
                </a:solidFill>
                <a:latin typeface="Aptos"/>
              </a:rPr>
              <a:t>Address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2167128"/>
            <a:ext cx="754380" cy="256032"/>
          </a:xfrm>
          <a:prstGeom prst="roundRect">
            <a:avLst/>
          </a:prstGeom>
          <a:solidFill>
            <a:srgbClr val="30F25C"/>
          </a:solidFill>
          <a:ln w="635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9140" y="214884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Usually safe to 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9D0FF"/>
                </a:solidFill>
                <a:latin typeface="Aptos"/>
              </a:rPr>
              <a:t>many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1089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8FA"/>
                </a:solidFill>
                <a:latin typeface="Aptos"/>
              </a:rPr>
              <a:t>Order items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3127248"/>
            <a:ext cx="1508760" cy="256032"/>
          </a:xfrm>
          <a:prstGeom prst="roundRect">
            <a:avLst/>
          </a:prstGeom>
          <a:solidFill>
            <a:srgbClr val="49D0FF"/>
          </a:solidFill>
          <a:ln w="635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10896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Bounded by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5A64"/>
                </a:solidFill>
                <a:latin typeface="Aptos"/>
              </a:rPr>
              <a:t>unbounded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0690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8FA"/>
                </a:solidFill>
                <a:latin typeface="Aptos"/>
              </a:rPr>
              <a:t>Events / logs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4087368"/>
            <a:ext cx="2715768" cy="256032"/>
          </a:xfrm>
          <a:prstGeom prst="roundRect">
            <a:avLst/>
          </a:prstGeom>
          <a:solidFill>
            <a:srgbClr val="FF5A64"/>
          </a:solidFill>
          <a:ln w="6350">
            <a:solidFill>
              <a:srgbClr val="FF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406908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DB7BF"/>
                </a:solidFill>
                <a:latin typeface="Aptos"/>
              </a:rPr>
              <a:t>Prefer separate collection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1280160"/>
            <a:ext cx="3520440" cy="452628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1554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5A64"/>
                </a:solidFill>
                <a:latin typeface="Aptos"/>
              </a:rPr>
              <a:t>Avoid “everything in one doc”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14884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Unbounded arrays.</a:t>
            </a:r>
          </a:p>
          <a:p>
            <a:pPr>
              <a:spcAft>
                <a:spcPts val="10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Huge embedded history.</a:t>
            </a:r>
          </a:p>
          <a:p>
            <a:pPr>
              <a:spcAft>
                <a:spcPts val="10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Frequently changing shared data.</a:t>
            </a:r>
          </a:p>
          <a:p>
            <a:pPr>
              <a:spcAft>
                <a:spcPts val="1000"/>
              </a:spcAft>
              <a:defRPr sz="1500">
                <a:solidFill>
                  <a:srgbClr val="F5F8FA"/>
                </a:solidFill>
                <a:latin typeface="Aptos"/>
              </a:defRPr>
            </a:pPr>
            <a:r>
              <a:t>• Documents approaching size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Common Modeling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A requirement-driven design avoids local optimizations that break the larger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0561320" cy="896112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508760"/>
            <a:ext cx="512064" cy="512064"/>
          </a:xfrm>
          <a:prstGeom prst="ellipse">
            <a:avLst/>
          </a:prstGeom>
          <a:solidFill>
            <a:srgbClr val="FF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51206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472184"/>
            <a:ext cx="3246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8FA"/>
                </a:solidFill>
                <a:latin typeface="Aptos"/>
              </a:rPr>
              <a:t>Copy every table 1:1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444752"/>
            <a:ext cx="5669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Source layout is not the access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10561320" cy="896112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651760"/>
            <a:ext cx="512064" cy="512064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70048"/>
            <a:ext cx="51206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15184"/>
            <a:ext cx="3246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8FA"/>
                </a:solidFill>
                <a:latin typeface="Aptos"/>
              </a:rPr>
              <a:t>Embed everything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87752"/>
            <a:ext cx="5669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Size and update patterns can explode.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11880"/>
            <a:ext cx="10561320" cy="896112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794760"/>
            <a:ext cx="512064" cy="512064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51206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758184"/>
            <a:ext cx="3246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8FA"/>
                </a:solidFill>
                <a:latin typeface="Aptos"/>
              </a:rPr>
              <a:t>Reference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730752"/>
            <a:ext cx="5669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Simple reads become join-like workflows.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754880"/>
            <a:ext cx="10561320" cy="896112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4937760"/>
            <a:ext cx="512064" cy="512064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51206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6080A"/>
                </a:solidFill>
                <a:latin typeface="Aptos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01184"/>
            <a:ext cx="3246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8FA"/>
                </a:solidFill>
                <a:latin typeface="Aptos"/>
              </a:rPr>
              <a:t>Design before requirements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873752"/>
            <a:ext cx="5669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DB7BF"/>
                </a:solidFill>
                <a:latin typeface="Aptos"/>
              </a:rPr>
              <a:t>The document shape follows assumptions, not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989320"/>
            <a:ext cx="10561320" cy="384048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044184"/>
            <a:ext cx="10241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0F25C"/>
                </a:solidFill>
                <a:latin typeface="Aptos"/>
              </a:rPr>
              <a:t>Requirement → Access Pattern → Document 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0F25C"/>
                </a:solidFill>
                <a:latin typeface="Apto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64592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5F8FA"/>
                </a:solidFill>
                <a:latin typeface="Aptos"/>
              </a:rPr>
              <a:t>Mini Design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94944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DB7BF"/>
                </a:solidFill>
                <a:latin typeface="Aptos"/>
              </a:rPr>
              <a:t>Use one business requirement and derive a document structure before writing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41832"/>
            <a:ext cx="11155680" cy="22860"/>
          </a:xfrm>
          <a:prstGeom prst="rect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606040" cy="306324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49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3896" y="1709928"/>
            <a:ext cx="694944" cy="694944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3896" y="1728216"/>
            <a:ext cx="69494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6080A"/>
                </a:solidFill>
                <a:latin typeface="Apto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78608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Requirement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35808"/>
            <a:ext cx="2148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DB7BF"/>
                </a:solidFill>
                <a:latin typeface="Aptos"/>
              </a:rPr>
              <a:t>“Customer page shows profile + addresses + preferences.”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2971800"/>
            <a:ext cx="256031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64991" y="1417320"/>
            <a:ext cx="2606040" cy="306324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FFB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15968" y="1709928"/>
            <a:ext cx="694944" cy="694944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1728216"/>
            <a:ext cx="69494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6080A"/>
                </a:solidFill>
                <a:latin typeface="Aptos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1" y="2578608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Reads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1" y="3035808"/>
            <a:ext cx="2148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DB7BF"/>
                </a:solidFill>
                <a:latin typeface="Aptos"/>
              </a:rPr>
              <a:t>Profile screen reads all three together.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1031" y="2971800"/>
            <a:ext cx="256033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27064" y="1417320"/>
            <a:ext cx="2606040" cy="306324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B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78040" y="1709928"/>
            <a:ext cx="694944" cy="694944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728216"/>
            <a:ext cx="69494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6080A"/>
                </a:solidFill>
                <a:latin typeface="Aptos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578608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035808"/>
            <a:ext cx="2148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DB7BF"/>
                </a:solidFill>
                <a:latin typeface="Aptos"/>
              </a:rPr>
              <a:t>Addresses remain bounded; preferences are small.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33104" y="2971800"/>
            <a:ext cx="256032" cy="0"/>
          </a:xfrm>
          <a:prstGeom prst="line">
            <a:avLst/>
          </a:prstGeom>
          <a:ln w="2159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89136" y="1417320"/>
            <a:ext cx="2606040" cy="3063240"/>
          </a:xfrm>
          <a:prstGeom prst="roundRect">
            <a:avLst/>
          </a:prstGeom>
          <a:solidFill>
            <a:srgbClr val="14191D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40112" y="1709928"/>
            <a:ext cx="694944" cy="694944"/>
          </a:xfrm>
          <a:prstGeom prst="ellipse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1728216"/>
            <a:ext cx="69494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6080A"/>
                </a:solidFill>
                <a:latin typeface="Aptos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2578608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3035808"/>
            <a:ext cx="2148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DB7BF"/>
                </a:solidFill>
                <a:latin typeface="Aptos"/>
              </a:rPr>
              <a:t>Embed address + preferences in customer.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" y="4892040"/>
            <a:ext cx="10058400" cy="777240"/>
          </a:xfrm>
          <a:prstGeom prst="roundRect">
            <a:avLst/>
          </a:prstGeom>
          <a:solidFill>
            <a:srgbClr val="0E1215"/>
          </a:solidFill>
          <a:ln w="1524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074920"/>
            <a:ext cx="96926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8FA"/>
                </a:solidFill>
                <a:latin typeface="Aptos"/>
              </a:rPr>
              <a:t>Then test the shape against the next 3–5 application reads.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109728" cy="749808"/>
          </a:xfrm>
          <a:prstGeom prst="rect">
            <a:avLst/>
          </a:prstGeom>
          <a:solidFill>
            <a:srgbClr val="30F25C"/>
          </a:solidFill>
          <a:ln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6527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5F8FA"/>
                </a:solidFill>
                <a:latin typeface="Aptos"/>
              </a:rPr>
              <a:t>Lesson 027 — Summary: Requirements → Data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96112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DB7BF"/>
                </a:solidFill>
                <a:latin typeface="Aptos"/>
              </a:rPr>
              <a:t>A visual checklist for deriving a MongoDB document model.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1600200"/>
            <a:ext cx="1234440" cy="1234440"/>
          </a:xfrm>
          <a:prstGeom prst="ellipse">
            <a:avLst/>
          </a:prstGeom>
          <a:solidFill>
            <a:srgbClr val="49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1234440" cy="1216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6080A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44368"/>
            <a:ext cx="187451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REQUIREMENTS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59152" y="2212848"/>
            <a:ext cx="978408" cy="0"/>
          </a:xfrm>
          <a:prstGeom prst="line">
            <a:avLst/>
          </a:prstGeom>
          <a:ln w="317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794760" y="1600200"/>
            <a:ext cx="1234440" cy="1234440"/>
          </a:xfrm>
          <a:prstGeom prst="ellipse">
            <a:avLst/>
          </a:prstGeom>
          <a:solidFill>
            <a:srgbClr val="FF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618488"/>
            <a:ext cx="1234440" cy="1216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6080A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44368"/>
            <a:ext cx="187451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ACCESS
PATTERNS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56632" y="2212848"/>
            <a:ext cx="978408" cy="0"/>
          </a:xfrm>
          <a:prstGeom prst="line">
            <a:avLst/>
          </a:prstGeom>
          <a:ln w="317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92240" y="1600200"/>
            <a:ext cx="1234440" cy="1234440"/>
          </a:xfrm>
          <a:prstGeom prst="ellipse">
            <a:avLst/>
          </a:prstGeom>
          <a:solidFill>
            <a:srgbClr val="B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18488"/>
            <a:ext cx="1234440" cy="1216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6080A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944368"/>
            <a:ext cx="187451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DOCUMENT
SHAPE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54112" y="2212848"/>
            <a:ext cx="978408" cy="0"/>
          </a:xfrm>
          <a:prstGeom prst="line">
            <a:avLst/>
          </a:prstGeom>
          <a:ln w="31750">
            <a:solidFill>
              <a:srgbClr val="F5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89720" y="1600200"/>
            <a:ext cx="1234440" cy="1234440"/>
          </a:xfrm>
          <a:prstGeom prst="ellipse">
            <a:avLst/>
          </a:prstGeom>
          <a:solidFill>
            <a:srgbClr val="30F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618488"/>
            <a:ext cx="1234440" cy="1216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6080A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944368"/>
            <a:ext cx="187451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5F8FA"/>
                </a:solidFill>
                <a:latin typeface="Aptos"/>
              </a:rPr>
              <a:t>EMBED /
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76472"/>
            <a:ext cx="1920240" cy="475488"/>
          </a:xfrm>
          <a:prstGeom prst="roundRect">
            <a:avLst/>
          </a:prstGeom>
          <a:solidFill>
            <a:srgbClr val="14191D"/>
          </a:solidFill>
          <a:ln w="1270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867912"/>
            <a:ext cx="17007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8FA"/>
                </a:solidFill>
                <a:latin typeface="Aptos"/>
              </a:rPr>
              <a:t>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3776472"/>
            <a:ext cx="4754880" cy="475488"/>
          </a:xfrm>
          <a:prstGeom prst="roundRect">
            <a:avLst/>
          </a:prstGeom>
          <a:solidFill>
            <a:srgbClr val="14191D"/>
          </a:solidFill>
          <a:ln w="1270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61488" y="3867912"/>
            <a:ext cx="45354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30F25C"/>
                </a:solidFill>
                <a:latin typeface="Aptos"/>
              </a:rPr>
              <a:t>LOOK FOR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3776472"/>
            <a:ext cx="3977639" cy="475488"/>
          </a:xfrm>
          <a:prstGeom prst="roundRect">
            <a:avLst/>
          </a:prstGeom>
          <a:solidFill>
            <a:srgbClr val="14191D"/>
          </a:solidFill>
          <a:ln w="1270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8" y="3867912"/>
            <a:ext cx="3758183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8FA"/>
                </a:solidFill>
                <a:latin typeface="Aptos"/>
              </a:rPr>
              <a:t>DESIGN SIGNAL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97680"/>
            <a:ext cx="192024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370832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8FA"/>
                </a:solidFill>
                <a:latin typeface="Aptos"/>
              </a:rPr>
              <a:t>Read together?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4297680"/>
            <a:ext cx="475488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370832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ADB7BF"/>
                </a:solidFill>
                <a:latin typeface="Aptos"/>
              </a:rPr>
              <a:t>Same screen / same API 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4297680"/>
            <a:ext cx="3977639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4370832"/>
            <a:ext cx="37947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B142"/>
                </a:solidFill>
                <a:latin typeface="Aptos"/>
              </a:rPr>
              <a:t>Favor embedding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818888"/>
            <a:ext cx="192024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892040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8FA"/>
                </a:solidFill>
                <a:latin typeface="Aptos"/>
              </a:rPr>
              <a:t>Shared / reused?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818888"/>
            <a:ext cx="475488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4892040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ADB7BF"/>
                </a:solidFill>
                <a:latin typeface="Aptos"/>
              </a:rPr>
              <a:t>Independent consumers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4818888"/>
            <a:ext cx="3977639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0" y="4892040"/>
            <a:ext cx="37947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B142"/>
                </a:solidFill>
                <a:latin typeface="Aptos"/>
              </a:rPr>
              <a:t>Favor reference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340096"/>
            <a:ext cx="192024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413248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8FA"/>
                </a:solidFill>
                <a:latin typeface="Aptos"/>
              </a:rPr>
              <a:t>Bounded growth?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51760" y="5340096"/>
            <a:ext cx="475488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0" y="5413248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ADB7BF"/>
                </a:solidFill>
                <a:latin typeface="Aptos"/>
              </a:rPr>
              <a:t>Small predictable arrays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5340096"/>
            <a:ext cx="3977639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0" y="5413248"/>
            <a:ext cx="37947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30F25C"/>
                </a:solidFill>
                <a:latin typeface="Aptos"/>
              </a:rPr>
              <a:t>Embedding is safer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5861304"/>
            <a:ext cx="192024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5934456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8FA"/>
                </a:solidFill>
                <a:latin typeface="Aptos"/>
              </a:rPr>
              <a:t>Unbounded history?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51760" y="5861304"/>
            <a:ext cx="4754880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0" y="5934456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ADB7BF"/>
                </a:solidFill>
                <a:latin typeface="Aptos"/>
              </a:rPr>
              <a:t>Events, logs, activity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06640" y="5861304"/>
            <a:ext cx="3977639" cy="429768"/>
          </a:xfrm>
          <a:prstGeom prst="roundRect">
            <a:avLst/>
          </a:prstGeom>
          <a:solidFill>
            <a:srgbClr val="0E1215"/>
          </a:solidFill>
          <a:ln w="762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0" y="5934456"/>
            <a:ext cx="37947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B142"/>
                </a:solidFill>
                <a:latin typeface="Aptos"/>
              </a:rPr>
              <a:t>Separate collection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6172200"/>
            <a:ext cx="10744200" cy="384048"/>
          </a:xfrm>
          <a:prstGeom prst="roundRect">
            <a:avLst/>
          </a:prstGeom>
          <a:solidFill>
            <a:srgbClr val="30F25C"/>
          </a:solidFill>
          <a:ln w="10160">
            <a:solidFill>
              <a:srgbClr val="30F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6236208"/>
            <a:ext cx="10469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6080A"/>
                </a:solidFill>
                <a:latin typeface="Aptos"/>
              </a:rPr>
              <a:t>DESIGN FOR BEHAVIOR — NOT FOR THE SOURCE TABLE.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DB7BF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