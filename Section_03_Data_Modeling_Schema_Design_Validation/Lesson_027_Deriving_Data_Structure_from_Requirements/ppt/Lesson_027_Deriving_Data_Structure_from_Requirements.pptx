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9100"/>
                </a:solidFill>
                <a:latin typeface="Aptos Display"/>
              </a:rPr>
              <a:t>Key Takeaways</a:t>
            </a:r>
            <a:r>
              <a:rPr sz="3000" b="1">
                <a:solidFill>
                  <a:srgbClr val="F5F7F9"/>
                </a:solidFill>
                <a:latin typeface="Aptos Display"/>
              </a:rPr>
              <a:t> — Requirements to Data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58952"/>
            <a:ext cx="10972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5F7F9"/>
                </a:solidFill>
                <a:latin typeface="Aptos"/>
              </a:rPr>
              <a:t>A repeatable design workflow for MongoDB developers.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508760"/>
            <a:ext cx="1965960" cy="1874519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700784"/>
            <a:ext cx="1783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9100"/>
                </a:solidFill>
                <a:latin typeface="Apto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5F7F9"/>
                </a:solidFill>
                <a:latin typeface="Aptos"/>
              </a:rPr>
              <a:t>REQUIREMENTS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441448"/>
            <a:ext cx="320040" cy="0"/>
          </a:xfrm>
          <a:prstGeom prst="line">
            <a:avLst/>
          </a:prstGeom>
          <a:ln w="2413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80360" y="1508760"/>
            <a:ext cx="1965960" cy="1874519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71800" y="1700784"/>
            <a:ext cx="1783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37AAFF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214884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5F7F9"/>
                </a:solidFill>
                <a:latin typeface="Aptos"/>
              </a:rPr>
              <a:t>ACCESS PATTERNS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46320" y="2441448"/>
            <a:ext cx="320040" cy="0"/>
          </a:xfrm>
          <a:prstGeom prst="line">
            <a:avLst/>
          </a:prstGeom>
          <a:ln w="2413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166360" y="1508760"/>
            <a:ext cx="1965960" cy="1874519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AF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57800" y="1700784"/>
            <a:ext cx="1783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AF5FFF"/>
                </a:solidFill>
                <a:latin typeface="Apto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214884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5F7F9"/>
                </a:solidFill>
                <a:latin typeface="Aptos"/>
              </a:rPr>
              <a:t>DOCUMENT SHAPE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2441448"/>
            <a:ext cx="320040" cy="0"/>
          </a:xfrm>
          <a:prstGeom prst="line">
            <a:avLst/>
          </a:prstGeom>
          <a:ln w="2413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52360" y="1508760"/>
            <a:ext cx="1965960" cy="1874519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543800" y="1700784"/>
            <a:ext cx="1783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2DCDA5"/>
                </a:solidFill>
                <a:latin typeface="Aptos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214884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5F7F9"/>
                </a:solidFill>
                <a:latin typeface="Aptos"/>
              </a:rPr>
              <a:t>EMBED / REFERENCE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418320" y="2441448"/>
            <a:ext cx="320040" cy="0"/>
          </a:xfrm>
          <a:prstGeom prst="line">
            <a:avLst/>
          </a:prstGeom>
          <a:ln w="2413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738360" y="1508760"/>
            <a:ext cx="1965960" cy="1874519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41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829800" y="1700784"/>
            <a:ext cx="1783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41DCE6"/>
                </a:solidFill>
                <a:latin typeface="Apto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214884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5F7F9"/>
                </a:solidFill>
                <a:latin typeface="Aptos"/>
              </a:rPr>
              <a:t>TEST THE MODEL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703320"/>
            <a:ext cx="10881360" cy="160020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3904487"/>
            <a:ext cx="1920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9100"/>
                </a:solidFill>
                <a:latin typeface="Aptos"/>
              </a:rPr>
              <a:t>Design signal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904487"/>
            <a:ext cx="2194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Likely direction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390448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Example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3904487"/>
            <a:ext cx="3429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Why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315968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1">
                <a:solidFill>
                  <a:srgbClr val="2DCDA5"/>
                </a:solidFill>
                <a:latin typeface="Aptos"/>
              </a:rPr>
              <a:t>Read together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4315968"/>
            <a:ext cx="21945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1">
                <a:solidFill>
                  <a:srgbClr val="F5F7F9"/>
                </a:solidFill>
                <a:latin typeface="Aptos"/>
              </a:rPr>
              <a:t>Embed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4315968"/>
            <a:ext cx="2743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0">
                <a:solidFill>
                  <a:srgbClr val="F5F7F9"/>
                </a:solidFill>
                <a:latin typeface="Aptos"/>
              </a:rPr>
              <a:t>shipping +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4315968"/>
            <a:ext cx="3429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0">
                <a:solidFill>
                  <a:srgbClr val="F5F7F9"/>
                </a:solidFill>
                <a:latin typeface="Aptos"/>
              </a:rPr>
              <a:t>One business read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4636007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1">
                <a:solidFill>
                  <a:srgbClr val="37AAFF"/>
                </a:solidFill>
                <a:latin typeface="Aptos"/>
              </a:rPr>
              <a:t>Shared / independent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4636007"/>
            <a:ext cx="21945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1">
                <a:solidFill>
                  <a:srgbClr val="F5F7F9"/>
                </a:solidFill>
                <a:latin typeface="Aptos"/>
              </a:rPr>
              <a:t>Reference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3480" y="4636007"/>
            <a:ext cx="2743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0">
                <a:solidFill>
                  <a:srgbClr val="F5F7F9"/>
                </a:solidFill>
                <a:latin typeface="Aptos"/>
              </a:rPr>
              <a:t>customer / product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636007"/>
            <a:ext cx="3429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0">
                <a:solidFill>
                  <a:srgbClr val="F5F7F9"/>
                </a:solidFill>
                <a:latin typeface="Aptos"/>
              </a:rPr>
              <a:t>Own lifecycle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4956048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1">
                <a:solidFill>
                  <a:srgbClr val="EB5041"/>
                </a:solidFill>
                <a:latin typeface="Aptos"/>
              </a:rPr>
              <a:t>Unbounded growth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4956048"/>
            <a:ext cx="21945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1">
                <a:solidFill>
                  <a:srgbClr val="F5F7F9"/>
                </a:solidFill>
                <a:latin typeface="Aptos"/>
              </a:rPr>
              <a:t>Separate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4956048"/>
            <a:ext cx="2743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0">
                <a:solidFill>
                  <a:srgbClr val="F5F7F9"/>
                </a:solidFill>
                <a:latin typeface="Aptos"/>
              </a:rPr>
              <a:t>events / history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4956048"/>
            <a:ext cx="3429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0">
                <a:solidFill>
                  <a:srgbClr val="F5F7F9"/>
                </a:solidFill>
                <a:latin typeface="Aptos"/>
              </a:rPr>
              <a:t>Protect document size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5596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9100"/>
                </a:solidFill>
                <a:latin typeface="Aptos"/>
              </a:rPr>
              <a:t>Design for behavior — not for the source table.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AAB2B9"/>
                </a:solidFill>
                <a:latin typeface="Aptos"/>
              </a:rPr>
              <a:t>End message: explain the requirement, defend the access pattern, then show the document shape.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9601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9100"/>
                </a:solidFill>
                <a:latin typeface="Aptos Display"/>
              </a:rPr>
              <a:t>Deriving Data Structure </a:t>
            </a:r>
            <a:r>
              <a:rPr sz="3000" b="1">
                <a:solidFill>
                  <a:srgbClr val="F5F7F9"/>
                </a:solidFill>
                <a:latin typeface="Aptos Display"/>
              </a:rPr>
              <a:t>from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58952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7F9"/>
                </a:solidFill>
                <a:latin typeface="Aptos"/>
              </a:rPr>
              <a:t>Turn business requirements and application access patterns into a MongoDB document shape.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064240" cy="452628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2148840"/>
            <a:ext cx="2148840" cy="2148840"/>
          </a:xfrm>
          <a:prstGeom prst="roundRect">
            <a:avLst/>
          </a:prstGeom>
          <a:solidFill>
            <a:srgbClr val="11161B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24128" y="2331720"/>
            <a:ext cx="1920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9100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81635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5F7F9"/>
                </a:solidFill>
                <a:latin typeface="Aptos"/>
              </a:rPr>
              <a:t>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3346704"/>
            <a:ext cx="181051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AAB2B9"/>
                </a:solidFill>
                <a:latin typeface="Aptos"/>
              </a:rPr>
              <a:t>What must the system do?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63240" y="3218688"/>
            <a:ext cx="640080" cy="0"/>
          </a:xfrm>
          <a:prstGeom prst="line">
            <a:avLst/>
          </a:prstGeom>
          <a:ln w="2794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703320" y="2148840"/>
            <a:ext cx="2148840" cy="2148840"/>
          </a:xfrm>
          <a:prstGeom prst="roundRect">
            <a:avLst/>
          </a:prstGeom>
          <a:solidFill>
            <a:srgbClr val="11161B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13048" y="2331720"/>
            <a:ext cx="1920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37AA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3048" y="281635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5F7F9"/>
                </a:solidFill>
                <a:latin typeface="Aptos"/>
              </a:rPr>
              <a:t>ACCESS 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7911" y="3346704"/>
            <a:ext cx="181051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AAB2B9"/>
                </a:solidFill>
                <a:latin typeface="Aptos"/>
              </a:rPr>
              <a:t>What will the app read or write?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52160" y="3218688"/>
            <a:ext cx="640080" cy="0"/>
          </a:xfrm>
          <a:prstGeom prst="line">
            <a:avLst/>
          </a:prstGeom>
          <a:ln w="2794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92240" y="2148840"/>
            <a:ext cx="2148840" cy="2148840"/>
          </a:xfrm>
          <a:prstGeom prst="roundRect">
            <a:avLst/>
          </a:prstGeom>
          <a:solidFill>
            <a:srgbClr val="11161B"/>
          </a:solidFill>
          <a:ln w="15240">
            <a:solidFill>
              <a:srgbClr val="AF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01968" y="2331720"/>
            <a:ext cx="1920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AF5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968" y="281635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5F7F9"/>
                </a:solidFill>
                <a:latin typeface="Aptos"/>
              </a:rPr>
              <a:t>DOCUMENT SHAPE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831" y="3346704"/>
            <a:ext cx="181051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AAB2B9"/>
                </a:solidFill>
                <a:latin typeface="Aptos"/>
              </a:rPr>
              <a:t>What naturally belongs together?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41080" y="3218688"/>
            <a:ext cx="640080" cy="0"/>
          </a:xfrm>
          <a:prstGeom prst="line">
            <a:avLst/>
          </a:prstGeom>
          <a:ln w="2794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81160" y="2148840"/>
            <a:ext cx="2148840" cy="2148840"/>
          </a:xfrm>
          <a:prstGeom prst="roundRect">
            <a:avLst/>
          </a:prstGeom>
          <a:solidFill>
            <a:srgbClr val="11161B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90888" y="2331720"/>
            <a:ext cx="1920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2DCDA5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0888" y="281635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5F7F9"/>
                </a:solidFill>
                <a:latin typeface="Aptos"/>
              </a:rPr>
              <a:t>MONGODB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3346704"/>
            <a:ext cx="181051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AAB2B9"/>
                </a:solidFill>
                <a:latin typeface="Aptos"/>
              </a:rPr>
              <a:t>Embed, reference, or combine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92040"/>
            <a:ext cx="9966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9100"/>
                </a:solidFill>
                <a:latin typeface="Aptos"/>
              </a:rPr>
              <a:t>Key idea: design for application behavior — not just for the source table.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AAB2B9"/>
                </a:solidFill>
                <a:latin typeface="Aptos"/>
              </a:rPr>
              <a:t>From requirements → access patterns → document shape → practical MongoDB design.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5F7F9"/>
                </a:solidFill>
                <a:latin typeface="Aptos Display"/>
              </a:rPr>
              <a:t>Start with </a:t>
            </a:r>
            <a:r>
              <a:rPr sz="3000" b="1">
                <a:solidFill>
                  <a:srgbClr val="FF9100"/>
                </a:solidFill>
                <a:latin typeface="Aptos Display"/>
              </a:rPr>
              <a:t>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58952"/>
            <a:ext cx="10789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5F7F9"/>
                </a:solidFill>
                <a:latin typeface="Aptos"/>
              </a:rPr>
              <a:t>Before writing a document, capture what the Order Management application actually needs to do.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3429000" cy="452628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39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9100"/>
                </a:solidFill>
                <a:latin typeface="Aptos"/>
              </a:rPr>
              <a:t>Business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56231"/>
            <a:ext cx="2103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9100"/>
                </a:solidFill>
                <a:latin typeface="Aptos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1856231"/>
            <a:ext cx="2788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7F9"/>
                </a:solidFill>
                <a:latin typeface="Aptos"/>
              </a:rPr>
              <a:t>Create a new customer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13432"/>
            <a:ext cx="2103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9100"/>
                </a:solidFill>
                <a:latin typeface="Aptos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313432"/>
            <a:ext cx="2788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7F9"/>
                </a:solidFill>
                <a:latin typeface="Aptos"/>
              </a:rPr>
              <a:t>Show the order with items and shipping information.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70632"/>
            <a:ext cx="2103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9100"/>
                </a:solidFill>
                <a:latin typeface="Aptos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770632"/>
            <a:ext cx="2788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7F9"/>
                </a:solidFill>
                <a:latin typeface="Aptos"/>
              </a:rPr>
              <a:t>Find a customer’s orders.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27832"/>
            <a:ext cx="2103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9100"/>
                </a:solidFill>
                <a:latin typeface="Apto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227832"/>
            <a:ext cx="2788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7F9"/>
                </a:solidFill>
                <a:latin typeface="Aptos"/>
              </a:rPr>
              <a:t>Update order status as the order moves through its lifecycle.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85031"/>
            <a:ext cx="2103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9100"/>
                </a:solidFill>
                <a:latin typeface="Aptos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685031"/>
            <a:ext cx="2788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7F9"/>
                </a:solidFill>
                <a:latin typeface="Aptos"/>
              </a:rPr>
              <a:t>Keep product catalog data available independently.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1325880"/>
            <a:ext cx="7543800" cy="452628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89120" y="1481328"/>
            <a:ext cx="7040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7AAFF"/>
                </a:solidFill>
                <a:latin typeface="Aptos"/>
              </a:rPr>
              <a:t>Translate requirements into data needs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7408" y="1993392"/>
            <a:ext cx="2423160" cy="530352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41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35424" y="2075688"/>
            <a:ext cx="2148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AAB2B9"/>
                </a:solidFill>
                <a:latin typeface="Aptos"/>
              </a:rPr>
              <a:t>Business object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7728" y="2084832"/>
            <a:ext cx="431596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9"/>
                </a:solidFill>
                <a:latin typeface="Aptos"/>
              </a:rPr>
              <a:t>Order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30568" y="2258568"/>
            <a:ext cx="118872" cy="0"/>
          </a:xfrm>
          <a:prstGeom prst="line">
            <a:avLst/>
          </a:prstGeom>
          <a:ln w="2032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407408" y="2706624"/>
            <a:ext cx="2423160" cy="530352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41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35424" y="2788920"/>
            <a:ext cx="2148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AAB2B9"/>
                </a:solidFill>
                <a:latin typeface="Aptos"/>
              </a:rPr>
              <a:t>Data that travels together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2798064"/>
            <a:ext cx="431596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9"/>
                </a:solidFill>
                <a:latin typeface="Aptos"/>
              </a:rPr>
              <a:t>items + shippingAddress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30568" y="2971800"/>
            <a:ext cx="118872" cy="0"/>
          </a:xfrm>
          <a:prstGeom prst="line">
            <a:avLst/>
          </a:prstGeom>
          <a:ln w="2032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407408" y="3419856"/>
            <a:ext cx="2423160" cy="530352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41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35424" y="3502152"/>
            <a:ext cx="2148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AAB2B9"/>
                </a:solidFill>
                <a:latin typeface="Aptos"/>
              </a:rPr>
              <a:t>Data queried often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7728" y="3511296"/>
            <a:ext cx="431596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9"/>
                </a:solidFill>
                <a:latin typeface="Aptos"/>
              </a:rPr>
              <a:t>orderId + customerId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30568" y="3685032"/>
            <a:ext cx="118872" cy="0"/>
          </a:xfrm>
          <a:prstGeom prst="line">
            <a:avLst/>
          </a:prstGeom>
          <a:ln w="2032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407408" y="4133087"/>
            <a:ext cx="2423160" cy="530352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41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35424" y="4215383"/>
            <a:ext cx="2148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AAB2B9"/>
                </a:solidFill>
                <a:latin typeface="Aptos"/>
              </a:rPr>
              <a:t>Data with independent lifecycle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67728" y="4224527"/>
            <a:ext cx="431596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9"/>
                </a:solidFill>
                <a:latin typeface="Aptos"/>
              </a:rPr>
              <a:t>products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30568" y="4398264"/>
            <a:ext cx="118872" cy="0"/>
          </a:xfrm>
          <a:prstGeom prst="line">
            <a:avLst/>
          </a:prstGeom>
          <a:ln w="2032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407408" y="4846320"/>
            <a:ext cx="2423160" cy="530352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41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35424" y="4928616"/>
            <a:ext cx="2148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AAB2B9"/>
                </a:solidFill>
                <a:latin typeface="Aptos"/>
              </a:rPr>
              <a:t>Potentially growing history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4937760"/>
            <a:ext cx="431596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9"/>
                </a:solidFill>
                <a:latin typeface="Aptos"/>
              </a:rPr>
              <a:t>audit/events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30568" y="5111496"/>
            <a:ext cx="118872" cy="0"/>
          </a:xfrm>
          <a:prstGeom prst="line">
            <a:avLst/>
          </a:prstGeom>
          <a:ln w="2032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AAB2B9"/>
                </a:solidFill>
                <a:latin typeface="Aptos"/>
              </a:rPr>
              <a:t>Ask first: what business behavior must the data support?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5F7F9"/>
                </a:solidFill>
                <a:latin typeface="Aptos Display"/>
              </a:rPr>
              <a:t>Map the </a:t>
            </a:r>
            <a:r>
              <a:rPr sz="3000" b="1">
                <a:solidFill>
                  <a:srgbClr val="FF9100"/>
                </a:solidFill>
                <a:latin typeface="Aptos Display"/>
              </a:rPr>
              <a:t>Access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58952"/>
            <a:ext cx="10972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5F7F9"/>
                </a:solidFill>
                <a:latin typeface="Aptos"/>
              </a:rPr>
              <a:t>The way the application reads and writes data gives strong signals for document structure.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7315200" cy="452628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481328"/>
            <a:ext cx="6675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7AAFF"/>
                </a:solidFill>
                <a:latin typeface="Aptos"/>
              </a:rPr>
              <a:t>Typical Order Management requests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93392"/>
            <a:ext cx="45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14400" y="1993392"/>
            <a:ext cx="2011680" cy="50292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2103120"/>
            <a:ext cx="1828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Get order details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2103120"/>
            <a:ext cx="24231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9"/>
                </a:solidFill>
                <a:latin typeface="Aptos"/>
              </a:rPr>
              <a:t>order + items + shipping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50992" y="1993392"/>
            <a:ext cx="1691640" cy="50292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51576" y="2103120"/>
            <a:ext cx="149047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2DCDA5"/>
                </a:solidFill>
                <a:latin typeface="Aptos"/>
              </a:rPr>
              <a:t>Read together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6624"/>
            <a:ext cx="45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14400" y="2706624"/>
            <a:ext cx="2011680" cy="50292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7552" y="2816352"/>
            <a:ext cx="1828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Find orders for a customer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816352"/>
            <a:ext cx="24231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9"/>
                </a:solidFill>
                <a:latin typeface="Aptos"/>
              </a:rPr>
              <a:t>customerId → orders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50992" y="2706624"/>
            <a:ext cx="1691640" cy="50292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51576" y="2816352"/>
            <a:ext cx="149047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9100"/>
                </a:solidFill>
                <a:latin typeface="Aptos"/>
              </a:rPr>
              <a:t>Lookup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419856"/>
            <a:ext cx="45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14400" y="3419856"/>
            <a:ext cx="2011680" cy="50292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AF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87552" y="3529584"/>
            <a:ext cx="1828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Update order 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80" y="3529584"/>
            <a:ext cx="24231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9"/>
                </a:solidFill>
                <a:latin typeface="Aptos"/>
              </a:rPr>
              <a:t>small field update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50992" y="3419856"/>
            <a:ext cx="1691640" cy="50292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AF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751576" y="3529584"/>
            <a:ext cx="149047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AF5FFF"/>
                </a:solidFill>
                <a:latin typeface="Aptos"/>
              </a:rPr>
              <a:t>Frequent write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133087"/>
            <a:ext cx="45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14400" y="4133087"/>
            <a:ext cx="2011680" cy="50292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41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7552" y="4242816"/>
            <a:ext cx="1828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Show product details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4242816"/>
            <a:ext cx="24231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9"/>
                </a:solidFill>
                <a:latin typeface="Aptos"/>
              </a:rPr>
              <a:t>product catalog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50992" y="4133087"/>
            <a:ext cx="1691640" cy="50292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41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751576" y="4242816"/>
            <a:ext cx="149047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41DCE6"/>
                </a:solidFill>
                <a:latin typeface="Aptos"/>
              </a:rPr>
              <a:t>Independent lifecycle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846320"/>
            <a:ext cx="45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14400" y="4846320"/>
            <a:ext cx="2011680" cy="50292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EB5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87552" y="4956048"/>
            <a:ext cx="1828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Review long event history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54680" y="4956048"/>
            <a:ext cx="24231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9"/>
                </a:solidFill>
                <a:latin typeface="Aptos"/>
              </a:rPr>
              <a:t>many events over time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50992" y="4846320"/>
            <a:ext cx="1691640" cy="50292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EB5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751576" y="4956048"/>
            <a:ext cx="149047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EB5041"/>
                </a:solidFill>
                <a:latin typeface="Aptos"/>
              </a:rPr>
              <a:t>Potentially unbounded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2440" y="1325880"/>
            <a:ext cx="3611880" cy="452628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21040" y="1481328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9100"/>
                </a:solidFill>
                <a:latin typeface="Aptos"/>
              </a:rPr>
              <a:t>Design signal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39327" y="1938528"/>
            <a:ext cx="102412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DCDA5"/>
                </a:solidFill>
                <a:latin typeface="Aptos"/>
              </a:rPr>
              <a:t>Read together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1938528"/>
            <a:ext cx="1965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9"/>
                </a:solidFill>
                <a:latin typeface="Aptos"/>
              </a:rPr>
              <a:t>Strong embedding signal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39327" y="2688336"/>
            <a:ext cx="102412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7AAFF"/>
                </a:solidFill>
                <a:latin typeface="Aptos"/>
              </a:rPr>
              <a:t>Shared elsewhere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2688336"/>
            <a:ext cx="1965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9"/>
                </a:solidFill>
                <a:latin typeface="Aptos"/>
              </a:rPr>
              <a:t>Reference signal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9327" y="3438144"/>
            <a:ext cx="102412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9100"/>
                </a:solidFill>
                <a:latin typeface="Aptos"/>
              </a:rPr>
              <a:t>Small + bounded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18320" y="3438144"/>
            <a:ext cx="1965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9"/>
                </a:solidFill>
                <a:latin typeface="Aptos"/>
              </a:rPr>
              <a:t>Embedding candidate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9327" y="4187952"/>
            <a:ext cx="102412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B5041"/>
                </a:solidFill>
                <a:latin typeface="Aptos"/>
              </a:rPr>
              <a:t>Grows independently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18320" y="4187952"/>
            <a:ext cx="1965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9"/>
                </a:solidFill>
                <a:latin typeface="Aptos"/>
              </a:rPr>
              <a:t>Separate collection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39327" y="4937760"/>
            <a:ext cx="102412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AF5FFF"/>
                </a:solidFill>
                <a:latin typeface="Aptos"/>
              </a:rPr>
              <a:t>Frequent partial update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0" y="4937760"/>
            <a:ext cx="1965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9"/>
                </a:solidFill>
                <a:latin typeface="Aptos"/>
              </a:rPr>
              <a:t>Keep write unit focused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AAB2B9"/>
                </a:solidFill>
                <a:latin typeface="Aptos"/>
              </a:rPr>
              <a:t>Access pattern = the question the application asks of the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5F7F9"/>
                </a:solidFill>
                <a:latin typeface="Aptos Display"/>
              </a:rPr>
              <a:t>Identify What </a:t>
            </a:r>
            <a:r>
              <a:rPr sz="3000" b="1">
                <a:solidFill>
                  <a:srgbClr val="FF9100"/>
                </a:solidFill>
                <a:latin typeface="Aptos Display"/>
              </a:rPr>
              <a:t>Belongs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58952"/>
            <a:ext cx="10698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5F7F9"/>
                </a:solidFill>
                <a:latin typeface="Aptos"/>
              </a:rPr>
              <a:t>Keep naturally related data in the same document when it shares a lifecycle and is commonly read together.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11201400" cy="443484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2286000" cy="960120"/>
          </a:xfrm>
          <a:prstGeom prst="roundRect">
            <a:avLst/>
          </a:prstGeom>
          <a:solidFill>
            <a:srgbClr val="13181C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24128" y="2048256"/>
            <a:ext cx="2066543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7F9"/>
                </a:solidFill>
                <a:latin typeface="Aptos"/>
              </a:rPr>
              <a:t>orders collection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395728"/>
            <a:ext cx="2066543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AB2B9"/>
                </a:solidFill>
                <a:latin typeface="Aptos"/>
              </a:rPr>
              <a:t>Order documents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0" y="1691640"/>
            <a:ext cx="2560320" cy="1051560"/>
          </a:xfrm>
          <a:prstGeom prst="roundRect">
            <a:avLst/>
          </a:prstGeom>
          <a:solidFill>
            <a:srgbClr val="13181C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910328" y="1819656"/>
            <a:ext cx="2340863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7F9"/>
                </a:solidFill>
                <a:latin typeface="Aptos"/>
              </a:rPr>
              <a:t>Order document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10328" y="2167128"/>
            <a:ext cx="2340863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AB2B9"/>
                </a:solidFill>
                <a:latin typeface="Aptos"/>
              </a:rPr>
              <a:t>business record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3200400" y="2212848"/>
            <a:ext cx="1572768" cy="182880"/>
          </a:xfrm>
          <a:prstGeom prst="line">
            <a:avLst/>
          </a:prstGeom>
          <a:ln w="2540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09560" y="1645920"/>
            <a:ext cx="1463040" cy="82296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82712" y="1773936"/>
            <a:ext cx="131673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F5F7F9"/>
                </a:solidFill>
                <a:latin typeface="Aptos"/>
              </a:rPr>
              <a:t>orderId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2084832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AAB2B9"/>
                </a:solidFill>
                <a:latin typeface="Aptos"/>
              </a:rPr>
              <a:t>locate order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7360920" y="2057400"/>
            <a:ext cx="548640" cy="164592"/>
          </a:xfrm>
          <a:prstGeom prst="line">
            <a:avLst/>
          </a:prstGeom>
          <a:ln w="1905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909560" y="2788920"/>
            <a:ext cx="1463040" cy="82296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AF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82712" y="2916936"/>
            <a:ext cx="131673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F5F7F9"/>
                </a:solidFill>
                <a:latin typeface="Aptos"/>
              </a:rPr>
              <a:t>items[]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3227832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AAB2B9"/>
                </a:solidFill>
                <a:latin typeface="Aptos"/>
              </a:rPr>
              <a:t>line items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60920" y="2907792"/>
            <a:ext cx="548640" cy="292608"/>
          </a:xfrm>
          <a:prstGeom prst="line">
            <a:avLst/>
          </a:prstGeom>
          <a:ln w="19050">
            <a:solidFill>
              <a:srgbClr val="AF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646920" y="1645920"/>
            <a:ext cx="1463040" cy="82296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20072" y="1773936"/>
            <a:ext cx="131673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F5F7F9"/>
                </a:solidFill>
                <a:latin typeface="Aptos"/>
              </a:rPr>
              <a:t>shippingAddress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2084832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AAB2B9"/>
                </a:solidFill>
                <a:latin typeface="Aptos"/>
              </a:rPr>
              <a:t>delivery data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7360920" y="2057400"/>
            <a:ext cx="2286000" cy="164592"/>
          </a:xfrm>
          <a:prstGeom prst="line">
            <a:avLst/>
          </a:prstGeom>
          <a:ln w="19050">
            <a:solidFill>
              <a:srgbClr val="2DCD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646920" y="2788920"/>
            <a:ext cx="1463040" cy="82296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41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20072" y="2916936"/>
            <a:ext cx="131673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F5F7F9"/>
                </a:solidFill>
                <a:latin typeface="Aptos"/>
              </a:rPr>
              <a:t>payment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60" y="3227832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AAB2B9"/>
                </a:solidFill>
                <a:latin typeface="Aptos"/>
              </a:rPr>
              <a:t>payment state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60920" y="2907792"/>
            <a:ext cx="2286000" cy="292608"/>
          </a:xfrm>
          <a:prstGeom prst="line">
            <a:avLst/>
          </a:prstGeom>
          <a:ln w="19050">
            <a:solidFill>
              <a:srgbClr val="41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4400" y="4069080"/>
            <a:ext cx="3154680" cy="1234440"/>
          </a:xfrm>
          <a:prstGeom prst="roundRect">
            <a:avLst/>
          </a:prstGeom>
          <a:solidFill>
            <a:srgbClr val="0D1216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78992" y="4233672"/>
            <a:ext cx="2834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DCDA5"/>
                </a:solidFill>
                <a:latin typeface="Aptos"/>
              </a:rPr>
              <a:t>Common read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" y="4526280"/>
            <a:ext cx="2788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5F7F9"/>
                </a:solidFill>
                <a:latin typeface="Aptos"/>
              </a:rPr>
              <a:t>Order screen can fetch one business object.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60" y="4069080"/>
            <a:ext cx="3154680" cy="1234440"/>
          </a:xfrm>
          <a:prstGeom prst="roundRect">
            <a:avLst/>
          </a:prstGeom>
          <a:solidFill>
            <a:srgbClr val="0D1216"/>
          </a:solidFill>
          <a:ln w="15240">
            <a:solidFill>
              <a:srgbClr val="41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45152" y="4233672"/>
            <a:ext cx="2834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41DCE6"/>
                </a:solidFill>
                <a:latin typeface="Aptos"/>
              </a:rPr>
              <a:t>Shared lifecycle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45152" y="4526280"/>
            <a:ext cx="2788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5F7F9"/>
                </a:solidFill>
                <a:latin typeface="Aptos"/>
              </a:rPr>
              <a:t>Shipping and payment move with the order.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4069080"/>
            <a:ext cx="3154680" cy="1234440"/>
          </a:xfrm>
          <a:prstGeom prst="roundRect">
            <a:avLst/>
          </a:prstGeom>
          <a:solidFill>
            <a:srgbClr val="0D1216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11312" y="4233672"/>
            <a:ext cx="2834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9100"/>
                </a:solidFill>
                <a:latin typeface="Aptos"/>
              </a:rPr>
              <a:t>Clear ownership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12" y="4526280"/>
            <a:ext cx="2788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5F7F9"/>
                </a:solidFill>
                <a:latin typeface="Aptos"/>
              </a:rPr>
              <a:t>Order owns the data shown with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AAB2B9"/>
                </a:solidFill>
                <a:latin typeface="Aptos"/>
              </a:rPr>
              <a:t>Embed when the data is naturally part of the same application read/write unit.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5F7F9"/>
                </a:solidFill>
                <a:latin typeface="Aptos Display"/>
              </a:rPr>
              <a:t>Watch </a:t>
            </a:r>
            <a:r>
              <a:rPr sz="3000" b="1">
                <a:solidFill>
                  <a:srgbClr val="FF9100"/>
                </a:solidFill>
                <a:latin typeface="Aptos Display"/>
              </a:rPr>
              <a:t>Growth and Cardinality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58952"/>
            <a:ext cx="10972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5F7F9"/>
                </a:solidFill>
                <a:latin typeface="Aptos"/>
              </a:rPr>
              <a:t>A good shape today should still work when the application accumulates more data tomorrow.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606040" cy="333756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23317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DCDA5"/>
                </a:solidFill>
                <a:latin typeface="Aptos"/>
              </a:rPr>
              <a:t>Small + bounded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2331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5F7F9"/>
                </a:solidFill>
                <a:latin typeface="Aptos"/>
              </a:rPr>
              <a:t>Shipping address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2331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9"/>
                </a:solidFill>
                <a:latin typeface="Aptos"/>
              </a:rPr>
              <a:t>Usually safe to embed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730752"/>
            <a:ext cx="914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AB2B9"/>
                </a:solidFill>
                <a:latin typeface="Aptos"/>
              </a:rPr>
              <a:t>Growth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3712463"/>
            <a:ext cx="685800" cy="164592"/>
          </a:xfrm>
          <a:prstGeom prst="rect">
            <a:avLst/>
          </a:prstGeom>
          <a:solidFill>
            <a:srgbClr val="2DCDA5"/>
          </a:solidFill>
          <a:ln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429000" y="1417320"/>
            <a:ext cx="2606040" cy="333756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66160" y="1600200"/>
            <a:ext cx="23317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9100"/>
                </a:solidFill>
                <a:latin typeface="Aptos"/>
              </a:rPr>
              <a:t>Bounded per order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057400"/>
            <a:ext cx="2331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5F7F9"/>
                </a:solidFill>
                <a:latin typeface="Aptos"/>
              </a:rPr>
              <a:t>Line items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697480"/>
            <a:ext cx="2331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9"/>
                </a:solidFill>
                <a:latin typeface="Aptos"/>
              </a:rPr>
              <a:t>Embed when order size stays reasonable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730752"/>
            <a:ext cx="914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AB2B9"/>
                </a:solidFill>
                <a:latin typeface="Aptos"/>
              </a:rPr>
              <a:t>Growth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3712463"/>
            <a:ext cx="1143000" cy="164592"/>
          </a:xfrm>
          <a:prstGeom prst="rect">
            <a:avLst/>
          </a:prstGeom>
          <a:solidFill>
            <a:srgbClr val="FF9100"/>
          </a:solidFill>
          <a:ln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309359" y="1417320"/>
            <a:ext cx="2606040" cy="333756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46520" y="1600200"/>
            <a:ext cx="23317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7AAFF"/>
                </a:solidFill>
                <a:latin typeface="Aptos"/>
              </a:rPr>
              <a:t>Independent 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057400"/>
            <a:ext cx="2331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5F7F9"/>
                </a:solidFill>
                <a:latin typeface="Aptos"/>
              </a:rPr>
              <a:t>Orders per customer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697480"/>
            <a:ext cx="2331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9"/>
                </a:solidFill>
                <a:latin typeface="Aptos"/>
              </a:rPr>
              <a:t>Separate collection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7" y="3730752"/>
            <a:ext cx="914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AB2B9"/>
                </a:solidFill>
                <a:latin typeface="Aptos"/>
              </a:rPr>
              <a:t>Growth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03720" y="3712463"/>
            <a:ext cx="1691640" cy="164592"/>
          </a:xfrm>
          <a:prstGeom prst="rect">
            <a:avLst/>
          </a:prstGeom>
          <a:solidFill>
            <a:srgbClr val="37AAFF"/>
          </a:solidFill>
          <a:ln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89719" y="1417320"/>
            <a:ext cx="2606040" cy="333756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EB5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26880" y="1600200"/>
            <a:ext cx="23317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B5041"/>
                </a:solidFill>
                <a:latin typeface="Aptos"/>
              </a:rPr>
              <a:t>Potentially unbounded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057400"/>
            <a:ext cx="2331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5F7F9"/>
                </a:solidFill>
                <a:latin typeface="Aptos"/>
              </a:rPr>
              <a:t>Events / audit history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697480"/>
            <a:ext cx="2331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9"/>
                </a:solidFill>
                <a:latin typeface="Aptos"/>
              </a:rPr>
              <a:t>Avoid huge embedded history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7" y="3730752"/>
            <a:ext cx="914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AB2B9"/>
                </a:solidFill>
                <a:latin typeface="Aptos"/>
              </a:rPr>
              <a:t>Growth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84080" y="3712463"/>
            <a:ext cx="2240280" cy="164592"/>
          </a:xfrm>
          <a:prstGeom prst="rect">
            <a:avLst/>
          </a:prstGeom>
          <a:solidFill>
            <a:srgbClr val="EB5041"/>
          </a:solidFill>
          <a:ln>
            <a:solidFill>
              <a:srgbClr val="EB5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31520" y="507492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9100"/>
                </a:solidFill>
                <a:latin typeface="Aptos"/>
              </a:rPr>
              <a:t>Avoid: unbounded arrays • huge embedded history • frequently changing shared data • documents approaching size limits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AAB2B9"/>
                </a:solidFill>
                <a:latin typeface="Aptos"/>
              </a:rPr>
              <a:t>Growth pattern matters as much as today’s access pattern.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5F7F9"/>
                </a:solidFill>
                <a:latin typeface="Aptos Display"/>
              </a:rPr>
              <a:t>Embed or </a:t>
            </a:r>
            <a:r>
              <a:rPr sz="3000" b="1">
                <a:solidFill>
                  <a:srgbClr val="FF9100"/>
                </a:solidFill>
                <a:latin typeface="Aptos Display"/>
              </a:rPr>
              <a:t>Reference?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58952"/>
            <a:ext cx="10698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5F7F9"/>
                </a:solidFill>
                <a:latin typeface="Aptos"/>
              </a:rPr>
              <a:t>Use a short decision lens instead of a universal rule.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257800" cy="448056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645920"/>
            <a:ext cx="4754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DCDA5"/>
                </a:solidFill>
                <a:latin typeface="Aptos"/>
              </a:rPr>
              <a:t>EMBED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1828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DCDA5"/>
                </a:solidFill>
                <a:latin typeface="Aptos"/>
              </a:rPr>
              <a:t>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240280"/>
            <a:ext cx="13258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9"/>
                </a:solidFill>
                <a:latin typeface="Aptos"/>
              </a:rPr>
              <a:t>Read together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240280"/>
            <a:ext cx="26517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B2B9"/>
                </a:solidFill>
                <a:latin typeface="Aptos"/>
              </a:rPr>
              <a:t>Same screen / API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26664"/>
            <a:ext cx="1828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DCDA5"/>
                </a:solidFill>
                <a:latin typeface="Aptos"/>
              </a:rP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26664"/>
            <a:ext cx="13258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9"/>
                </a:solidFill>
                <a:latin typeface="Aptos"/>
              </a:rPr>
              <a:t>Owned by parent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026664"/>
            <a:ext cx="26517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B2B9"/>
                </a:solidFill>
                <a:latin typeface="Aptos"/>
              </a:rPr>
              <a:t>Natural containment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13048"/>
            <a:ext cx="1828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DCDA5"/>
                </a:solidFill>
                <a:latin typeface="Aptos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13048"/>
            <a:ext cx="13258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9"/>
                </a:solidFill>
                <a:latin typeface="Aptos"/>
              </a:rPr>
              <a:t>Small + bounded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813048"/>
            <a:ext cx="26517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B2B9"/>
                </a:solidFill>
                <a:latin typeface="Aptos"/>
              </a:rPr>
              <a:t>Predictable 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99432"/>
            <a:ext cx="1828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DCDA5"/>
                </a:solidFill>
                <a:latin typeface="Aptos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599432"/>
            <a:ext cx="13258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9"/>
                </a:solidFill>
                <a:latin typeface="Aptos"/>
              </a:rPr>
              <a:t>Same lifecycle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4599432"/>
            <a:ext cx="26517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B2B9"/>
                </a:solidFill>
                <a:latin typeface="Aptos"/>
              </a:rPr>
              <a:t>Changes together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1417320"/>
            <a:ext cx="5257800" cy="448056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0" y="1645920"/>
            <a:ext cx="4754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7AAFF"/>
                </a:solidFill>
                <a:latin typeface="Aptos"/>
              </a:rPr>
              <a:t>REFERENCE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240280"/>
            <a:ext cx="1828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7AAFF"/>
                </a:solidFill>
                <a:latin typeface="Aptos"/>
              </a:rPr>
              <a:t>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240280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9"/>
                </a:solidFill>
                <a:latin typeface="Aptos"/>
              </a:rPr>
              <a:t>Shared / reused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2240280"/>
            <a:ext cx="2468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B2B9"/>
                </a:solidFill>
                <a:latin typeface="Aptos"/>
              </a:rPr>
              <a:t>Multiple consumers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026664"/>
            <a:ext cx="1828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7AAFF"/>
                </a:solidFill>
                <a:latin typeface="Aptos"/>
              </a:rPr>
              <a:t>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026664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9"/>
                </a:solidFill>
                <a:latin typeface="Aptos"/>
              </a:rPr>
              <a:t>Independent lifecycle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3026664"/>
            <a:ext cx="2468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B2B9"/>
                </a:solidFill>
                <a:latin typeface="Aptos"/>
              </a:rPr>
              <a:t>Updated separately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813048"/>
            <a:ext cx="1828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7AAFF"/>
                </a:solidFill>
                <a:latin typeface="Aptos"/>
              </a:rPr>
              <a:t>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381304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9"/>
                </a:solidFill>
                <a:latin typeface="Aptos"/>
              </a:rPr>
              <a:t>Can grow independently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3813048"/>
            <a:ext cx="2468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B2B9"/>
                </a:solidFill>
                <a:latin typeface="Aptos"/>
              </a:rPr>
              <a:t>Avoid parent growth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4599432"/>
            <a:ext cx="1828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7AAFF"/>
                </a:solidFill>
                <a:latin typeface="Aptos"/>
              </a:rPr>
              <a:t>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599432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9"/>
                </a:solidFill>
                <a:latin typeface="Aptos"/>
              </a:rPr>
              <a:t>Separate domain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4599432"/>
            <a:ext cx="2468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B2B9"/>
                </a:solidFill>
                <a:latin typeface="Aptos"/>
              </a:rPr>
              <a:t>Own collection semantics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AAB2B9"/>
                </a:solidFill>
                <a:latin typeface="Aptos"/>
              </a:rPr>
              <a:t>This is a design comparison, not a choice that can be made without application context.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5F7F9"/>
                </a:solidFill>
                <a:latin typeface="Aptos Display"/>
              </a:rPr>
              <a:t>Derive the </a:t>
            </a:r>
            <a:r>
              <a:rPr sz="3000" b="1">
                <a:solidFill>
                  <a:srgbClr val="FF9100"/>
                </a:solidFill>
                <a:latin typeface="Aptos Display"/>
              </a:rPr>
              <a:t>Order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58952"/>
            <a:ext cx="10698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5F7F9"/>
                </a:solidFill>
                <a:latin typeface="Aptos"/>
              </a:rPr>
              <a:t>Now turn the requirements into a concrete document structure.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2011680" cy="868680"/>
          </a:xfrm>
          <a:prstGeom prst="roundRect">
            <a:avLst/>
          </a:prstGeom>
          <a:solidFill>
            <a:srgbClr val="13181C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1865376"/>
            <a:ext cx="1792224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7F9"/>
                </a:solidFill>
                <a:latin typeface="Aptos"/>
              </a:rPr>
              <a:t>Order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212848"/>
            <a:ext cx="1792224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AB2B9"/>
                </a:solidFill>
                <a:latin typeface="Aptos"/>
              </a:rPr>
              <a:t>application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1737360"/>
            <a:ext cx="2057400" cy="868680"/>
          </a:xfrm>
          <a:prstGeom prst="roundRect">
            <a:avLst/>
          </a:prstGeom>
          <a:solidFill>
            <a:srgbClr val="13181C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767328" y="1865376"/>
            <a:ext cx="1837943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7F9"/>
                </a:solidFill>
                <a:latin typeface="Aptos"/>
              </a:rPr>
              <a:t>orders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2212848"/>
            <a:ext cx="1837943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AB2B9"/>
                </a:solidFill>
                <a:latin typeface="Aptos"/>
              </a:rPr>
              <a:t>collection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1325880"/>
            <a:ext cx="2286000" cy="868680"/>
          </a:xfrm>
          <a:prstGeom prst="roundRect">
            <a:avLst/>
          </a:prstGeom>
          <a:solidFill>
            <a:srgbClr val="13181C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47688" y="1453895"/>
            <a:ext cx="2066543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7F9"/>
                </a:solidFill>
                <a:latin typeface="Aptos"/>
              </a:rPr>
              <a:t>customers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7688" y="1801368"/>
            <a:ext cx="2066543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AB2B9"/>
                </a:solidFill>
                <a:latin typeface="Aptos"/>
              </a:rPr>
              <a:t>collection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2560320"/>
            <a:ext cx="2286000" cy="868680"/>
          </a:xfrm>
          <a:prstGeom prst="roundRect">
            <a:avLst/>
          </a:prstGeom>
          <a:solidFill>
            <a:srgbClr val="13181C"/>
          </a:solidFill>
          <a:ln w="15240">
            <a:solidFill>
              <a:srgbClr val="AF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47688" y="2688336"/>
            <a:ext cx="2066543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7F9"/>
                </a:solidFill>
                <a:latin typeface="Aptos"/>
              </a:rPr>
              <a:t>products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3035808"/>
            <a:ext cx="2066543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AB2B9"/>
                </a:solidFill>
                <a:latin typeface="Aptos"/>
              </a:rPr>
              <a:t>collection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43200" y="2176272"/>
            <a:ext cx="896112" cy="0"/>
          </a:xfrm>
          <a:prstGeom prst="line">
            <a:avLst/>
          </a:prstGeom>
          <a:ln w="2540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715000" y="1764792"/>
            <a:ext cx="795528" cy="411480"/>
          </a:xfrm>
          <a:prstGeom prst="line">
            <a:avLst/>
          </a:prstGeom>
          <a:ln w="2540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715000" y="2176272"/>
            <a:ext cx="795528" cy="813816"/>
          </a:xfrm>
          <a:prstGeom prst="line">
            <a:avLst/>
          </a:prstGeom>
          <a:ln w="2540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98280" y="1280160"/>
            <a:ext cx="2423160" cy="406908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26880" y="1481328"/>
            <a:ext cx="1965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9100"/>
                </a:solidFill>
                <a:latin typeface="Aptos"/>
              </a:rPr>
              <a:t>Order document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1938528"/>
            <a:ext cx="19659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F5F7F9"/>
                </a:solidFill>
                <a:latin typeface="Consolas"/>
              </a:rPr>
              <a:t>{
  orderId: "ORD-1001",
  customerId: "CUST-1001",
  status: "CONFIRMED",
  items: [ ... ],
  shippingAddress: { ... },
  payment: { ... }
}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343400"/>
            <a:ext cx="2468880" cy="1143000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6112" y="4507992"/>
            <a:ext cx="2148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2DCDA5"/>
                </a:solidFill>
                <a:latin typeface="Aptos"/>
              </a:rPr>
              <a:t>Embed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06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F5F7F9"/>
                </a:solidFill>
                <a:latin typeface="Aptos"/>
              </a:rPr>
              <a:t>items + shippingAddress + payment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20439" y="4343400"/>
            <a:ext cx="2468880" cy="1143000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85031" y="4507992"/>
            <a:ext cx="2148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37AAFF"/>
                </a:solidFill>
                <a:latin typeface="Aptos"/>
              </a:rPr>
              <a:t>Reference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006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F5F7F9"/>
                </a:solidFill>
                <a:latin typeface="Aptos"/>
              </a:rPr>
              <a:t>customerId + productId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59" y="4343400"/>
            <a:ext cx="2468880" cy="1143000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AF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73952" y="4507992"/>
            <a:ext cx="2148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AF5FFF"/>
                </a:solidFill>
                <a:latin typeface="Aptos"/>
              </a:rPr>
              <a:t>Separate growth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8006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F5F7F9"/>
                </a:solidFill>
                <a:latin typeface="Aptos"/>
              </a:rPr>
              <a:t>orders and product catalog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AAB2B9"/>
                </a:solidFill>
                <a:latin typeface="Aptos"/>
              </a:rPr>
              <a:t>The model is the result of the requirements and access-pattern decisions.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5F7F9"/>
                </a:solidFill>
                <a:latin typeface="Aptos Display"/>
              </a:rPr>
              <a:t>Test the Shape Against </a:t>
            </a:r>
            <a:r>
              <a:rPr sz="3000" b="1">
                <a:solidFill>
                  <a:srgbClr val="FF9100"/>
                </a:solidFill>
                <a:latin typeface="Aptos Display"/>
              </a:rPr>
              <a:t>Real Reads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58952"/>
            <a:ext cx="10789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5F7F9"/>
                </a:solidFill>
                <a:latin typeface="Aptos"/>
              </a:rPr>
              <a:t>A document design is useful only if it answers the application’s common questions cleanly.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63040"/>
            <a:ext cx="1874519" cy="841248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572768"/>
            <a:ext cx="1645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Order details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463040"/>
            <a:ext cx="5852160" cy="841248"/>
          </a:xfrm>
          <a:prstGeom prst="roundRect">
            <a:avLst/>
          </a:prstGeom>
          <a:solidFill>
            <a:srgbClr val="0B0F12"/>
          </a:solidFill>
          <a:ln w="15240">
            <a:solidFill>
              <a:srgbClr val="323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880360" y="1572768"/>
            <a:ext cx="5486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F5F7F9"/>
                </a:solidFill>
                <a:latin typeface="Consolas"/>
              </a:rPr>
              <a:t>orders.findOne({ orderId })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463040"/>
            <a:ext cx="2743200" cy="841248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0" y="1572768"/>
            <a:ext cx="2377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2DCDA5"/>
                </a:solidFill>
                <a:latin typeface="Aptos"/>
              </a:rPr>
              <a:t>One document read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542032"/>
            <a:ext cx="1874519" cy="841248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2651760"/>
            <a:ext cx="1645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Customer orders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97480" y="2542032"/>
            <a:ext cx="5852160" cy="841248"/>
          </a:xfrm>
          <a:prstGeom prst="roundRect">
            <a:avLst/>
          </a:prstGeom>
          <a:solidFill>
            <a:srgbClr val="0B0F12"/>
          </a:solidFill>
          <a:ln w="15240">
            <a:solidFill>
              <a:srgbClr val="323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80360" y="2651760"/>
            <a:ext cx="5486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F5F7F9"/>
                </a:solidFill>
                <a:latin typeface="Consolas"/>
              </a:rPr>
              <a:t>orders.find({ customerId })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2542032"/>
            <a:ext cx="2743200" cy="841248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961120" y="2651760"/>
            <a:ext cx="2377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37AAFF"/>
                </a:solidFill>
                <a:latin typeface="Aptos"/>
              </a:rPr>
              <a:t>Reference lookup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621024"/>
            <a:ext cx="1874519" cy="841248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AF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3730752"/>
            <a:ext cx="1645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Order status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97480" y="3621024"/>
            <a:ext cx="5852160" cy="841248"/>
          </a:xfrm>
          <a:prstGeom prst="roundRect">
            <a:avLst/>
          </a:prstGeom>
          <a:solidFill>
            <a:srgbClr val="0B0F12"/>
          </a:solidFill>
          <a:ln w="15240">
            <a:solidFill>
              <a:srgbClr val="323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880360" y="3730752"/>
            <a:ext cx="5486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F5F7F9"/>
                </a:solidFill>
                <a:latin typeface="Consolas"/>
              </a:rPr>
              <a:t>orders.updateOne({ orderId }, { $set: { status } })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78240" y="3621024"/>
            <a:ext cx="2743200" cy="841248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AF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61120" y="3730752"/>
            <a:ext cx="2377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AF5FFF"/>
                </a:solidFill>
                <a:latin typeface="Aptos"/>
              </a:rPr>
              <a:t>Focused write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700016"/>
            <a:ext cx="1874519" cy="841248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2" y="4809744"/>
            <a:ext cx="1645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Product details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7480" y="4700016"/>
            <a:ext cx="5852160" cy="841248"/>
          </a:xfrm>
          <a:prstGeom prst="roundRect">
            <a:avLst/>
          </a:prstGeom>
          <a:solidFill>
            <a:srgbClr val="0B0F12"/>
          </a:solidFill>
          <a:ln w="15240">
            <a:solidFill>
              <a:srgbClr val="323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880360" y="4809744"/>
            <a:ext cx="5486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F5F7F9"/>
                </a:solidFill>
                <a:latin typeface="Consolas"/>
              </a:rPr>
              <a:t>products.findOne({ sku })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78240" y="4700016"/>
            <a:ext cx="2743200" cy="841248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961120" y="4809744"/>
            <a:ext cx="2377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9100"/>
                </a:solidFill>
                <a:latin typeface="Aptos"/>
              </a:rPr>
              <a:t>Independent lookup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AAB2B9"/>
                </a:solidFill>
                <a:latin typeface="Aptos"/>
              </a:rPr>
              <a:t>Design check: can the common reads and writes be expressed directly against the chosen shape?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5F7F9"/>
                </a:solidFill>
                <a:latin typeface="Aptos Display"/>
              </a:rPr>
              <a:t>Mini Design </a:t>
            </a:r>
            <a:r>
              <a:rPr sz="3000" b="1">
                <a:solidFill>
                  <a:srgbClr val="FF9100"/>
                </a:solidFill>
                <a:latin typeface="Aptos Display"/>
              </a:rPr>
              <a:t>Exercise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58952"/>
            <a:ext cx="10972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5F7F9"/>
                </a:solidFill>
                <a:latin typeface="Aptos"/>
              </a:rPr>
              <a:t>Make the design decision before touching the database.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71600"/>
            <a:ext cx="3657600" cy="448056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9100"/>
                </a:solidFill>
                <a:latin typeface="Aptos"/>
              </a:rPr>
              <a:t>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7F9"/>
                </a:solidFill>
                <a:latin typeface="Aptos"/>
              </a:rPr>
              <a:t>“The order page shows order details, the shipping address, and the current payment state.”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49039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AAB2B9"/>
                </a:solidFill>
                <a:latin typeface="Aptos"/>
              </a:rPr>
              <a:t>Question: what belongs in the order document?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371600"/>
            <a:ext cx="3246120" cy="448056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1600200"/>
            <a:ext cx="2788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37AAFF"/>
                </a:solidFill>
                <a:latin typeface="Aptos"/>
              </a:rPr>
              <a:t>Signals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240280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7AAFF"/>
                </a:solidFill>
                <a:latin typeface="Aptos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24028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9"/>
                </a:solidFill>
                <a:latin typeface="Aptos"/>
              </a:rPr>
              <a:t>Read together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2953512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7AAFF"/>
                </a:solidFill>
                <a:latin typeface="Apto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953512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9"/>
                </a:solidFill>
                <a:latin typeface="Aptos"/>
              </a:rPr>
              <a:t>Same lifecycle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666744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7AAFF"/>
                </a:solidFill>
                <a:latin typeface="Aptos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666744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9"/>
                </a:solidFill>
                <a:latin typeface="Aptos"/>
              </a:rPr>
              <a:t>Small + bounded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4379976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7AAFF"/>
                </a:solidFill>
                <a:latin typeface="Aptos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4379976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9"/>
                </a:solidFill>
                <a:latin typeface="Aptos"/>
              </a:rPr>
              <a:t>Owned by the order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371600"/>
            <a:ext cx="3429000" cy="448056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66760" y="1600200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2DCDA5"/>
                </a:solidFill>
                <a:latin typeface="Aptos"/>
              </a:rPr>
              <a:t>Derived shape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240280"/>
            <a:ext cx="2788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7F9"/>
                </a:solidFill>
                <a:latin typeface="Aptos"/>
              </a:rPr>
              <a:t>Embed
shippingAddress
payment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5632" y="4160520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AAB2B9"/>
                </a:solidFill>
                <a:latin typeface="Aptos"/>
              </a:rPr>
              <a:t>Then test the shape against the next few reads and writes.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AAB2B9"/>
                </a:solidFill>
                <a:latin typeface="Aptos"/>
              </a:rPr>
              <a:t>Practice the design reasoning: requirement → signals → shape → test.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5F7F9"/>
                </a:solidFill>
                <a:latin typeface="Aptos Display"/>
              </a:rPr>
              <a:t>Practical </a:t>
            </a:r>
            <a:r>
              <a:rPr sz="3000" b="1">
                <a:solidFill>
                  <a:srgbClr val="FF9100"/>
                </a:solidFill>
                <a:latin typeface="Aptos Display"/>
              </a:rPr>
              <a:t>mongosh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58952"/>
            <a:ext cx="10972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5F7F9"/>
                </a:solidFill>
                <a:latin typeface="Aptos"/>
              </a:rPr>
              <a:t>Use the shell to verify that the derived shape matches what you intended to store and read.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5623560" cy="4526280"/>
          </a:xfrm>
          <a:prstGeom prst="roundRect">
            <a:avLst/>
          </a:prstGeom>
          <a:solidFill>
            <a:srgbClr val="0A0F13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8952" y="1435607"/>
            <a:ext cx="5294376" cy="43068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F5F7F9"/>
                </a:solidFill>
                <a:latin typeface="Consolas"/>
              </a:rPr>
              <a:t>use orderdb
db.orders.insertOne({
  orderId: "ORD-1001",
  customerId: "CUST-1001",
  status: "PLACED",
  items: [ { sku: "LAP-001", qty: 2 } ],
  shippingAddress: {
    city: "Chennai", country: "India"
  },
  payment: { method: "CARD", status: "AUTHORIZED" }
})
db.orders.findOne({ orderId: "ORD-1001" })
db.orders.find({ customerId: "CUST-1001" })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1325880"/>
            <a:ext cx="5074920" cy="452628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66560" y="1481328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7AAFF"/>
                </a:solidFill>
                <a:latin typeface="Aptos"/>
              </a:rPr>
              <a:t>What to inspect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965960"/>
            <a:ext cx="10972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DCDA5"/>
                </a:solidFill>
                <a:latin typeface="Aptos"/>
              </a:rPr>
              <a:t>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5552" y="1965960"/>
            <a:ext cx="340156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9"/>
                </a:solidFill>
                <a:latin typeface="Aptos"/>
              </a:rPr>
              <a:t>Does the order document contain the data the page reads?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88920"/>
            <a:ext cx="10972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B5041"/>
                </a:solidFill>
                <a:latin typeface="Aptos"/>
              </a:rPr>
              <a:t>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5552" y="2788920"/>
            <a:ext cx="340156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9"/>
                </a:solidFill>
                <a:latin typeface="Aptos"/>
              </a:rPr>
              <a:t>Are any embedded arrays likely to grow without bound?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611880"/>
            <a:ext cx="10972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9100"/>
                </a:solidFill>
                <a:latin typeface="Aptos"/>
              </a:rPr>
              <a:t>Ownership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5552" y="3611880"/>
            <a:ext cx="340156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9"/>
                </a:solidFill>
                <a:latin typeface="Aptos"/>
              </a:rPr>
              <a:t>Is each embedded field owned by the order?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4434840"/>
            <a:ext cx="10972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AF5FFF"/>
                </a:solidFill>
                <a:latin typeface="Aptos"/>
              </a:rPr>
              <a:t>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4434840"/>
            <a:ext cx="340156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9"/>
                </a:solidFill>
                <a:latin typeface="Aptos"/>
              </a:rPr>
              <a:t>Can common reads avoid unnecessary reconstruction?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AAB2B9"/>
                </a:solidFill>
                <a:latin typeface="Aptos"/>
              </a:rPr>
              <a:t>The demo verifies the model; deeper CRUD and validation are covered later.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2ae551e3-0043-40f0-9a67-12d995049d50}" enabled="1" method="Standard" siteId="{97984c2b-a229-4609-8185-ae84947bc3f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1113</Words>
  <Application>Microsoft Office PowerPoint</Application>
  <PresentationFormat>Widescreen</PresentationFormat>
  <Paragraphs>236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Avishesh Jha</cp:lastModifiedBy>
  <cp:revision>2</cp:revision>
  <dcterms:created xsi:type="dcterms:W3CDTF">2013-01-27T09:14:16Z</dcterms:created>
  <dcterms:modified xsi:type="dcterms:W3CDTF">2026-10-02T12:09:12Z</dcterms:modified>
  <cp:category/>
</cp:coreProperties>
</file>