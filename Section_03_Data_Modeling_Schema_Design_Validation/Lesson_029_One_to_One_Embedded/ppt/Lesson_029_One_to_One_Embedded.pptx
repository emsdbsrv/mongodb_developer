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12700">
            <a:solidFill>
              <a:srgbClr val="1C4D2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029 — One-to-One — Embedded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325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tightly related one-to-one object inside the parent document.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58368" y="1965960"/>
            <a:ext cx="4754880" cy="3337560"/>
          </a:xfrm>
          <a:prstGeom prst="roundRect">
            <a:avLst>
              <a:gd name="adj" fmla="val 4110"/>
            </a:avLst>
          </a:prstGeom>
          <a:solidFill>
            <a:srgbClr val="0A110C"/>
          </a:solidFill>
          <a:ln w="15240">
            <a:solidFill>
              <a:srgbClr val="2C6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677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AVATAR / CUSTOMER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Bangalore • RR Nagar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187952" y="2514600"/>
            <a:ext cx="868680" cy="868680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16552" y="26883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100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715000" y="1965960"/>
            <a:ext cx="5806440" cy="3337560"/>
          </a:xfrm>
          <a:prstGeom prst="roundRect">
            <a:avLst>
              <a:gd name="adj" fmla="val 4110"/>
            </a:avLst>
          </a:prstGeom>
          <a:solidFill>
            <a:srgbClr val="0A110C"/>
          </a:solidFill>
          <a:ln w="15240">
            <a:solidFill>
              <a:srgbClr val="2C6A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16752" y="2267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DOCUMENT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16752" y="2743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321040" y="2715768"/>
            <a:ext cx="594360" cy="384048"/>
          </a:xfrm>
          <a:prstGeom prst="chevron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7432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016752" y="34015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embedded inside the same document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016752" y="4041648"/>
            <a:ext cx="128016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9904" y="4059936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access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52360" y="4041648"/>
            <a:ext cx="141732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25512" y="4059936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data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34272" y="4041648"/>
            <a:ext cx="132588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424" y="4059936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one-to-one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“One-to-One” Means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850392"/>
            <a:ext cx="548640" cy="54864"/>
          </a:xfrm>
          <a:prstGeom prst="rect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5097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parent document owns one related object.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1508760"/>
            <a:ext cx="3749040" cy="4206240"/>
          </a:xfrm>
          <a:prstGeom prst="roundRect">
            <a:avLst>
              <a:gd name="adj" fmla="val 3659"/>
            </a:avLst>
          </a:prstGeom>
          <a:solidFill>
            <a:srgbClr val="0E120F"/>
          </a:solidFill>
          <a:ln w="15240">
            <a:solidFill>
              <a:srgbClr val="28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45152" y="1508760"/>
            <a:ext cx="6858000" cy="4206240"/>
          </a:xfrm>
          <a:prstGeom prst="roundRect">
            <a:avLst>
              <a:gd name="adj" fmla="val 3261"/>
            </a:avLst>
          </a:prstGeom>
          <a:solidFill>
            <a:srgbClr val="0E120F"/>
          </a:solidFill>
          <a:ln w="15240">
            <a:solidFill>
              <a:srgbClr val="28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RELATIONSHIP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78992" y="2423160"/>
            <a:ext cx="1143000" cy="1143000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53312" y="2761488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100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331720" y="2770632"/>
            <a:ext cx="868680" cy="411480"/>
          </a:xfrm>
          <a:prstGeom prst="rightArrow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2395728"/>
            <a:ext cx="822960" cy="1234440"/>
          </a:xfrm>
          <a:prstGeom prst="roundRect">
            <a:avLst>
              <a:gd name="adj" fmla="val 13333"/>
            </a:avLst>
          </a:prstGeom>
          <a:solidFill>
            <a:srgbClr val="101E14"/>
          </a:solidFill>
          <a:ln w="15240">
            <a:solidFill>
              <a:srgbClr val="39FF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11296" y="277063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related object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914400" y="461772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related data has a clear upper bound.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92040" y="1783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SHAPE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92040" y="2267712"/>
            <a:ext cx="2971800" cy="2834640"/>
          </a:xfrm>
          <a:prstGeom prst="roundRect">
            <a:avLst>
              <a:gd name="adj" fmla="val 4839"/>
            </a:avLst>
          </a:prstGeom>
          <a:solidFill>
            <a:srgbClr val="08100B"/>
          </a:solidFill>
          <a:ln w="15240">
            <a:solidFill>
              <a:srgbClr val="214C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56632" y="2395728"/>
            <a:ext cx="2642616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"Avi",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location: 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city: "Bangalore",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area: "RR Nagar"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83880" y="2331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child object is part of the parent document.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183880" y="33832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together • write together • bounded growth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83880" y="4343400"/>
            <a:ext cx="91440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4361688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17152" y="4343400"/>
            <a:ext cx="141732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90304" y="4361688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together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Embedding Fits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850392"/>
            <a:ext cx="548640" cy="54864"/>
          </a:xfrm>
          <a:prstGeom prst="rect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5097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at ownership, access, growth, and lifecycle.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5074920" cy="1600200"/>
          </a:xfrm>
          <a:prstGeom prst="roundRect">
            <a:avLst>
              <a:gd name="adj" fmla="val 8571"/>
            </a:avLst>
          </a:prstGeom>
          <a:solidFill>
            <a:srgbClr val="0C130F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1847088"/>
            <a:ext cx="475488" cy="475488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91109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0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17739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OWNERSHIP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1396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related object belongs to Avi.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642616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 this data?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1572768"/>
            <a:ext cx="5074920" cy="1600200"/>
          </a:xfrm>
          <a:prstGeom prst="roundRect">
            <a:avLst>
              <a:gd name="adj" fmla="val 8571"/>
            </a:avLst>
          </a:prstGeom>
          <a:solidFill>
            <a:srgbClr val="0C130F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3368" y="1847088"/>
            <a:ext cx="475488" cy="475488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911096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0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040880" y="17739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40880" y="21396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 and the related object are read together.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040880" y="2642616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screens need both?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3566160"/>
            <a:ext cx="5074920" cy="1600200"/>
          </a:xfrm>
          <a:prstGeom prst="roundRect">
            <a:avLst>
              <a:gd name="adj" fmla="val 8571"/>
            </a:avLst>
          </a:prstGeom>
          <a:solidFill>
            <a:srgbClr val="0C130F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6968" y="3840480"/>
            <a:ext cx="475488" cy="475488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90448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0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54480" y="376732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1330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related object stays small and bounded.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463600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it grow without limit?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72200" y="3566160"/>
            <a:ext cx="5074920" cy="1600200"/>
          </a:xfrm>
          <a:prstGeom prst="roundRect">
            <a:avLst>
              <a:gd name="adj" fmla="val 8571"/>
            </a:avLst>
          </a:prstGeom>
          <a:solidFill>
            <a:srgbClr val="0C130F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73368" y="3840480"/>
            <a:ext cx="475488" cy="475488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73368" y="390448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0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40880" y="376732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LIFECYCLE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40880" y="41330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related object changes with the parent.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040880" y="463600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Should it live and die together?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One-to-One Embedded Document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850392"/>
            <a:ext cx="548640" cy="54864"/>
          </a:xfrm>
          <a:prstGeom prst="rect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5097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related object sits directly inside Avi’s document.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1481328"/>
            <a:ext cx="6629400" cy="4526280"/>
          </a:xfrm>
          <a:prstGeom prst="roundRect">
            <a:avLst>
              <a:gd name="adj" fmla="val 3030"/>
            </a:avLst>
          </a:prstGeom>
          <a:solidFill>
            <a:srgbClr val="09100C"/>
          </a:solidFill>
          <a:ln w="15240">
            <a:solidFill>
              <a:srgbClr val="2A633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556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96112" y="2176272"/>
            <a:ext cx="5989320" cy="3429000"/>
          </a:xfrm>
          <a:prstGeom prst="roundRect">
            <a:avLst>
              <a:gd name="adj" fmla="val 4000"/>
            </a:avLst>
          </a:prstGeom>
          <a:solidFill>
            <a:srgbClr val="08100B"/>
          </a:solidFill>
          <a:ln w="15240">
            <a:solidFill>
              <a:srgbClr val="214C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0704" y="2304288"/>
            <a:ext cx="5660136" cy="3172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_id: ObjectId("..."),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"Avi",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location: "Bangalore",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homeAddress: {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area: "RR Nagar",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city: "Bangalore",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country: "India"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26680" y="17556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26680" y="2176272"/>
            <a:ext cx="82296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99832" y="219456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26680" y="2880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EMBEDDED OBJECT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26680" y="3246120"/>
            <a:ext cx="3383280" cy="1143000"/>
          </a:xfrm>
          <a:prstGeom prst="roundRect">
            <a:avLst>
              <a:gd name="adj" fmla="val 12000"/>
            </a:avLst>
          </a:prstGeom>
          <a:solidFill>
            <a:srgbClr val="101A13"/>
          </a:solidFill>
          <a:ln w="15240">
            <a:solidFill>
              <a:srgbClr val="2A63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73568" y="345643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homeAddress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973568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bounded object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6680" y="4645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26680" y="504748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read returns both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Parent and Embedded Data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850392"/>
            <a:ext cx="548640" cy="54864"/>
          </a:xfrm>
          <a:prstGeom prst="rect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5097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Avi’s profile and home address come back in one document read.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57800" cy="822960"/>
          </a:xfrm>
          <a:prstGeom prst="roundRect">
            <a:avLst>
              <a:gd name="adj" fmla="val 16667"/>
            </a:avLst>
          </a:prstGeom>
          <a:solidFill>
            <a:srgbClr val="08100B"/>
          </a:solidFill>
          <a:ln w="15240">
            <a:solidFill>
              <a:srgbClr val="214C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60934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db.customers.findOne({ name: "Avi" })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1481328"/>
            <a:ext cx="5166360" cy="4206240"/>
          </a:xfrm>
          <a:prstGeom prst="roundRect">
            <a:avLst>
              <a:gd name="adj" fmla="val 3261"/>
            </a:avLst>
          </a:prstGeom>
          <a:solidFill>
            <a:srgbClr val="0A110D"/>
          </a:solidFill>
          <a:ln w="15240">
            <a:solidFill>
              <a:srgbClr val="2A63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0528" y="17556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RETURNED DOCUMENT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73952" y="2148840"/>
            <a:ext cx="4526280" cy="2697480"/>
          </a:xfrm>
          <a:prstGeom prst="roundRect">
            <a:avLst>
              <a:gd name="adj" fmla="val 5085"/>
            </a:avLst>
          </a:prstGeom>
          <a:solidFill>
            <a:srgbClr val="08100B"/>
          </a:solidFill>
          <a:ln w="15240">
            <a:solidFill>
              <a:srgbClr val="214C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38544" y="2276856"/>
            <a:ext cx="419709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"Avi",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location: "Bangalore",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homeAddress: 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area: "RR Nagar",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city: "Bangalore"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view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3218688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101710"/>
          </a:solidFill>
          <a:ln w="15240">
            <a:solidFill>
              <a:srgbClr val="2255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31012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8680" y="3840480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101710"/>
          </a:solidFill>
          <a:ln w="15240">
            <a:solidFill>
              <a:srgbClr val="2255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931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68680" y="4462272"/>
            <a:ext cx="3154680" cy="457200"/>
          </a:xfrm>
          <a:prstGeom prst="roundRect">
            <a:avLst>
              <a:gd name="adj" fmla="val 30000"/>
            </a:avLst>
          </a:prstGeom>
          <a:solidFill>
            <a:srgbClr val="101710"/>
          </a:solidFill>
          <a:ln w="15240">
            <a:solidFill>
              <a:srgbClr val="2255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55371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homeAddress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Not Split It into Two Documents?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850392"/>
            <a:ext cx="548640" cy="54864"/>
          </a:xfrm>
          <a:prstGeom prst="rect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5097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Splitting a small, tightly coupled one-to-one object can add lookup work.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938528"/>
            <a:ext cx="2331720" cy="1005840"/>
          </a:xfrm>
          <a:prstGeom prst="roundRect">
            <a:avLst>
              <a:gd name="adj" fmla="val 13636"/>
            </a:avLst>
          </a:prstGeom>
          <a:solidFill>
            <a:srgbClr val="0E120F"/>
          </a:solidFill>
          <a:ln w="15240">
            <a:solidFill>
              <a:srgbClr val="28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46120" y="2221992"/>
            <a:ext cx="731520" cy="384048"/>
          </a:xfrm>
          <a:prstGeom prst="rightArrow">
            <a:avLst/>
          </a:prstGeom>
          <a:solidFill>
            <a:srgbClr val="FFB54A"/>
          </a:solidFill>
          <a:ln w="12700">
            <a:solidFill>
              <a:srgbClr val="FFB5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0520" y="1938528"/>
            <a:ext cx="2743200" cy="1005840"/>
          </a:xfrm>
          <a:prstGeom prst="roundRect">
            <a:avLst>
              <a:gd name="adj" fmla="val 13636"/>
            </a:avLst>
          </a:prstGeom>
          <a:solidFill>
            <a:srgbClr val="0E120F"/>
          </a:solidFill>
          <a:ln w="15240">
            <a:solidFill>
              <a:srgbClr val="285B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7408" y="2194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address document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7240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B5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 lookup path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EMBEDDED MODEL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1938528"/>
            <a:ext cx="4663440" cy="2240280"/>
          </a:xfrm>
          <a:prstGeom prst="roundRect">
            <a:avLst>
              <a:gd name="adj" fmla="val 6122"/>
            </a:avLst>
          </a:prstGeom>
          <a:solidFill>
            <a:srgbClr val="0C140F"/>
          </a:solidFill>
          <a:ln w="15240">
            <a:solidFill>
              <a:srgbClr val="285B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222199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001000" y="2578608"/>
            <a:ext cx="2651760" cy="1005840"/>
          </a:xfrm>
          <a:prstGeom prst="roundRect">
            <a:avLst>
              <a:gd name="adj" fmla="val 13636"/>
            </a:avLst>
          </a:prstGeom>
          <a:solidFill>
            <a:srgbClr val="122017"/>
          </a:solidFill>
          <a:ln w="15240">
            <a:solidFill>
              <a:srgbClr val="2B653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2862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homeAddress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48056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document read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77240" y="507492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especially useful when the child is small, bounded, and almost always needed with the parent.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Design Checks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850392"/>
            <a:ext cx="548640" cy="54864"/>
          </a:xfrm>
          <a:prstGeom prst="rect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5097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 is a modeling decision, not just a syntax choice.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3232" y="1536192"/>
            <a:ext cx="10744200" cy="822960"/>
          </a:xfrm>
          <a:prstGeom prst="roundRect">
            <a:avLst>
              <a:gd name="adj" fmla="val 16667"/>
            </a:avLst>
          </a:prstGeom>
          <a:solidFill>
            <a:srgbClr val="0B120E"/>
          </a:solidFill>
          <a:ln w="15240">
            <a:solidFill>
              <a:srgbClr val="214C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783080"/>
            <a:ext cx="566928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013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755648" y="16916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together?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1682496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 when parent + child are commonly returned together.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2615184"/>
            <a:ext cx="10744200" cy="822960"/>
          </a:xfrm>
          <a:prstGeom prst="roundRect">
            <a:avLst>
              <a:gd name="adj" fmla="val 16667"/>
            </a:avLst>
          </a:prstGeom>
          <a:solidFill>
            <a:srgbClr val="0B120E"/>
          </a:solidFill>
          <a:ln w="15240">
            <a:solidFill>
              <a:srgbClr val="214C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2862072"/>
            <a:ext cx="566928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88036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55648" y="27706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enough?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49040" y="2761488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embedded object bounded and predictable.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" y="3694176"/>
            <a:ext cx="10744200" cy="822960"/>
          </a:xfrm>
          <a:prstGeom prst="roundRect">
            <a:avLst>
              <a:gd name="adj" fmla="val 16667"/>
            </a:avLst>
          </a:prstGeom>
          <a:solidFill>
            <a:srgbClr val="0B120E"/>
          </a:solidFill>
          <a:ln w="15240">
            <a:solidFill>
              <a:srgbClr val="214C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3941064"/>
            <a:ext cx="566928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935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55648" y="3849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lifecycle?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749040" y="384048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Updates to the child should naturally follow the parent.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3232" y="4773168"/>
            <a:ext cx="10744200" cy="822960"/>
          </a:xfrm>
          <a:prstGeom prst="roundRect">
            <a:avLst>
              <a:gd name="adj" fmla="val 16667"/>
            </a:avLst>
          </a:prstGeom>
          <a:solidFill>
            <a:srgbClr val="0B120E"/>
          </a:solidFill>
          <a:ln w="15240">
            <a:solidFill>
              <a:srgbClr val="214C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5020056"/>
            <a:ext cx="566928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038344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755648" y="4928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ownership?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749040" y="4919472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parent should clearly own the embedded object.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It in mongosh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850392"/>
            <a:ext cx="548640" cy="54864"/>
          </a:xfrm>
          <a:prstGeom prst="rect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5097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demo keeps one-to-one data inside Avi’s document.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537960" cy="4526280"/>
          </a:xfrm>
          <a:prstGeom prst="roundRect">
            <a:avLst>
              <a:gd name="adj" fmla="val 3030"/>
            </a:avLst>
          </a:prstGeom>
          <a:solidFill>
            <a:srgbClr val="08100B"/>
          </a:solidFill>
          <a:ln w="15240">
            <a:solidFill>
              <a:srgbClr val="214C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572768"/>
            <a:ext cx="6208776" cy="4270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Lesson029_Embedded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db.customers.insertOne({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"Avi",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location: "Bangalore",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homeAddress: {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area: "RR Nagar",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city: "Bangalore",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country: "India"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B8F5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43800" y="1444752"/>
            <a:ext cx="3886200" cy="4526280"/>
          </a:xfrm>
          <a:prstGeom prst="roundRect">
            <a:avLst>
              <a:gd name="adj" fmla="val 3529"/>
            </a:avLst>
          </a:prstGeom>
          <a:solidFill>
            <a:srgbClr val="0C150F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45552" y="1755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OBSERVE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45552" y="2240280"/>
            <a:ext cx="310896" cy="310896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02752" y="22128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parent document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45552" y="2953512"/>
            <a:ext cx="310896" cy="310896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02752" y="29260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embedded object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845552" y="3666744"/>
            <a:ext cx="310896" cy="310896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02752" y="36393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read path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45552" y="4379976"/>
            <a:ext cx="310896" cy="310896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435254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second collection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Embedding vs a Reference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850392"/>
            <a:ext cx="548640" cy="54864"/>
          </a:xfrm>
          <a:prstGeom prst="rect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95097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decision depends on the relationship—not on a universal rule.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3232" y="1536192"/>
            <a:ext cx="5230368" cy="4069080"/>
          </a:xfrm>
          <a:prstGeom prst="roundRect">
            <a:avLst>
              <a:gd name="adj" fmla="val 3371"/>
            </a:avLst>
          </a:prstGeom>
          <a:solidFill>
            <a:srgbClr val="0B120E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45352" y="1536192"/>
            <a:ext cx="5230368" cy="4069080"/>
          </a:xfrm>
          <a:prstGeom prst="roundRect">
            <a:avLst>
              <a:gd name="adj" fmla="val 3371"/>
            </a:avLst>
          </a:prstGeom>
          <a:solidFill>
            <a:srgbClr val="0B120E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28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4128" y="23042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when the related object is: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24128" y="2816352"/>
            <a:ext cx="228600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834640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24128" y="3346704"/>
            <a:ext cx="228600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36499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24128" y="3877056"/>
            <a:ext cx="228600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895344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by the parent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24128" y="4407408"/>
            <a:ext cx="228600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4425696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together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65392" y="1828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0DD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65392" y="23042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Consider when the related object is: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565392" y="2816352"/>
            <a:ext cx="274320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38544" y="283464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65392" y="3346704"/>
            <a:ext cx="274320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38544" y="3364992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65392" y="3877056"/>
            <a:ext cx="274320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544" y="389534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independently queried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65392" y="4407408"/>
            <a:ext cx="2743200" cy="320040"/>
          </a:xfrm>
          <a:prstGeom prst="roundRect">
            <a:avLst>
              <a:gd name="adj" fmla="val 45714"/>
            </a:avLst>
          </a:prstGeom>
          <a:solidFill>
            <a:srgbClr val="153A1D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4425696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independently growing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1440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this lesson: Avi’s bounded address belongs naturally inside the customer document.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Takeaways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C8D1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one-to-one relationship can be modeled as one compact, owned object inside the parent.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68680" y="2057400"/>
            <a:ext cx="1828800" cy="1828800"/>
          </a:xfrm>
          <a:prstGeom prst="ellipse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61872" y="2706624"/>
            <a:ext cx="1024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100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154680" y="1993392"/>
            <a:ext cx="3246120" cy="1956816"/>
          </a:xfrm>
          <a:prstGeom prst="roundRect">
            <a:avLst>
              <a:gd name="adj" fmla="val 7009"/>
            </a:avLst>
          </a:prstGeom>
          <a:solidFill>
            <a:srgbClr val="0E1A11"/>
          </a:solidFill>
          <a:ln w="15240">
            <a:solidFill>
              <a:srgbClr val="39FF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93008" y="2395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homeAddress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493008" y="28529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RR Nagar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06040" y="2743200"/>
            <a:ext cx="594360" cy="347472"/>
          </a:xfrm>
          <a:prstGeom prst="rightArrow">
            <a:avLst/>
          </a:prstGeom>
          <a:solidFill>
            <a:srgbClr val="39FF58"/>
          </a:solidFill>
          <a:ln w="12700">
            <a:solidFill>
              <a:srgbClr val="39FF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12280" y="2057400"/>
            <a:ext cx="2121408" cy="950976"/>
          </a:xfrm>
          <a:prstGeom prst="roundRect">
            <a:avLst>
              <a:gd name="adj" fmla="val 14423"/>
            </a:avLst>
          </a:prstGeom>
          <a:solidFill>
            <a:srgbClr val="0B120E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76872" y="220370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76872" y="2505456"/>
            <a:ext cx="1783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the relationship around access and ownership.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12280" y="3319272"/>
            <a:ext cx="2121408" cy="950976"/>
          </a:xfrm>
          <a:prstGeom prst="roundRect">
            <a:avLst>
              <a:gd name="adj" fmla="val 14423"/>
            </a:avLst>
          </a:prstGeom>
          <a:solidFill>
            <a:srgbClr val="0B120E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76872" y="346557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76872" y="3767328"/>
            <a:ext cx="1783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Embed when the related object is small and bounded.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057400"/>
            <a:ext cx="2121408" cy="950976"/>
          </a:xfrm>
          <a:prstGeom prst="roundRect">
            <a:avLst>
              <a:gd name="adj" fmla="val 14423"/>
            </a:avLst>
          </a:prstGeom>
          <a:solidFill>
            <a:srgbClr val="0B120E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54312" y="220370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54312" y="2505456"/>
            <a:ext cx="1783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parent and child lifecycle naturally aligned.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9720" y="3319272"/>
            <a:ext cx="2121408" cy="950976"/>
          </a:xfrm>
          <a:prstGeom prst="roundRect">
            <a:avLst>
              <a:gd name="adj" fmla="val 14423"/>
            </a:avLst>
          </a:prstGeom>
          <a:solidFill>
            <a:srgbClr val="0B120E"/>
          </a:solidFill>
          <a:ln w="15240">
            <a:solidFill>
              <a:srgbClr val="245A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54312" y="346557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54312" y="3767328"/>
            <a:ext cx="1783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read can return the full object graph needed by the application.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68680" y="4315968"/>
            <a:ext cx="10442448" cy="960120"/>
          </a:xfrm>
          <a:prstGeom prst="roundRect">
            <a:avLst>
              <a:gd name="adj" fmla="val 14286"/>
            </a:avLst>
          </a:prstGeom>
          <a:solidFill>
            <a:srgbClr val="08110B"/>
          </a:solidFill>
          <a:ln w="15240">
            <a:solidFill>
              <a:srgbClr val="2B63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70432" y="459028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9FF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 • Bangalore • RR Nagar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251960" y="4590288"/>
            <a:ext cx="635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Parent + one bounded child → one document → one read path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5624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B8A8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029 — One-to-One — Embedded</dc:title>
  <dc:subject>MongoDB One-to-One Embedded</dc:subject>
  <dc:creator>OpenAI</dc:creator>
  <cp:lastModifiedBy>OpenAI</cp:lastModifiedBy>
  <cp:revision>1</cp:revision>
  <dcterms:created xsi:type="dcterms:W3CDTF">2026-09-26T07:59:23Z</dcterms:created>
  <dcterms:modified xsi:type="dcterms:W3CDTF">2026-09-26T07:59:23Z</dcterms:modified>
</cp:coreProperties>
</file>