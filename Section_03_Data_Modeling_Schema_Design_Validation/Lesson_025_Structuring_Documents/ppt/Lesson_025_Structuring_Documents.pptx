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56032"/>
            <a:ext cx="54864" cy="5029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1B3A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654710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Developer Learning Path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31089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31089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025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481328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Structuring Documents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application requirements into clear, readable MongoDB documents.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1024128" cy="274320"/>
          </a:xfrm>
          <a:prstGeom prst="roundRect">
            <a:avLst>
              <a:gd name="adj" fmla="val 26667"/>
            </a:avLst>
          </a:prstGeom>
          <a:solidFill>
            <a:srgbClr val="0D160D"/>
          </a:solidFill>
          <a:ln w="12700">
            <a:solidFill>
              <a:srgbClr val="5F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5526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32461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0D160D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2552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OBJECT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24612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0D160D"/>
          </a:solidFill>
          <a:ln w="12700">
            <a:solidFill>
              <a:srgbClr val="B6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2552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6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60920" y="960120"/>
            <a:ext cx="3977640" cy="4800600"/>
          </a:xfrm>
          <a:prstGeom prst="roundRect">
            <a:avLst>
              <a:gd name="adj" fmla="val 2759"/>
            </a:avLst>
          </a:prstGeom>
          <a:solidFill>
            <a:srgbClr val="081008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754112" y="18288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customerId: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217152" y="18288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10021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54112" y="241401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217152" y="241401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"Asha"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54112" y="29992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contact: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17152" y="29992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… 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54112" y="35844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addresses: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17152" y="35844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… ]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54112" y="416966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preferences: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17152" y="416966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… }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2668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931152" y="2834640"/>
            <a:ext cx="429768" cy="0"/>
          </a:xfrm>
          <a:prstGeom prst="line">
            <a:avLst/>
          </a:prstGeom>
          <a:noFill/>
          <a:ln w="31750">
            <a:solidFill>
              <a:srgbClr val="39FF14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818120" y="52852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document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mirrors the way the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uses data.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5800" y="5897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→ ACCESS PATTERN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31089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025 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57400" y="19202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use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shape should follow how the application reads and writes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743200" cy="658368"/>
          </a:xfrm>
          <a:prstGeom prst="roundRect">
            <a:avLst>
              <a:gd name="adj" fmla="val 16667"/>
            </a:avLst>
          </a:prstGeom>
          <a:solidFill>
            <a:srgbClr val="0B130B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7276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Requirement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2743200" cy="658368"/>
          </a:xfrm>
          <a:prstGeom prst="roundRect">
            <a:avLst>
              <a:gd name="adj" fmla="val 16667"/>
            </a:avLst>
          </a:prstGeom>
          <a:solidFill>
            <a:srgbClr val="0B130B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157276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Access pattern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63840" y="1417320"/>
            <a:ext cx="2743200" cy="658368"/>
          </a:xfrm>
          <a:prstGeom prst="roundRect">
            <a:avLst>
              <a:gd name="adj" fmla="val 16667"/>
            </a:avLst>
          </a:prstGeom>
          <a:solidFill>
            <a:srgbClr val="0B130B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28432" y="157276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Document shape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1746504"/>
            <a:ext cx="777240" cy="0"/>
          </a:xfrm>
          <a:prstGeom prst="line">
            <a:avLst/>
          </a:prstGeom>
          <a:noFill/>
          <a:ln w="25400">
            <a:solidFill>
              <a:srgbClr val="39FF1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040880" y="1746504"/>
            <a:ext cx="777240" cy="0"/>
          </a:xfrm>
          <a:prstGeom prst="line">
            <a:avLst/>
          </a:prstGeom>
          <a:noFill/>
          <a:ln w="25400">
            <a:solidFill>
              <a:srgbClr val="39FF1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2487168"/>
            <a:ext cx="2743200" cy="1481328"/>
          </a:xfrm>
          <a:prstGeom prst="roundRect">
            <a:avLst>
              <a:gd name="adj" fmla="val 7407"/>
            </a:avLst>
          </a:prstGeom>
          <a:solidFill>
            <a:srgbClr val="0B100B"/>
          </a:solidFill>
          <a:ln w="15240">
            <a:solidFill>
              <a:srgbClr val="1D34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67004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“Show customer profile”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3127248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one customer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contact + preferences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7680" y="2487168"/>
            <a:ext cx="2743200" cy="1481328"/>
          </a:xfrm>
          <a:prstGeom prst="roundRect">
            <a:avLst>
              <a:gd name="adj" fmla="val 7407"/>
            </a:avLst>
          </a:prstGeom>
          <a:solidFill>
            <a:srgbClr val="0B100B"/>
          </a:solidFill>
          <a:ln w="15240">
            <a:solidFill>
              <a:srgbClr val="1D34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267004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“List recent orders”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62272" y="3127248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orders by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and date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63840" y="2487168"/>
            <a:ext cx="2743200" cy="1481328"/>
          </a:xfrm>
          <a:prstGeom prst="roundRect">
            <a:avLst>
              <a:gd name="adj" fmla="val 7407"/>
            </a:avLst>
          </a:prstGeom>
          <a:solidFill>
            <a:srgbClr val="0B100B"/>
          </a:solidFill>
          <a:ln w="15240">
            <a:solidFill>
              <a:srgbClr val="1D34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28432" y="267004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“Edit shipping city”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28432" y="3127248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 small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field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4315968"/>
            <a:ext cx="9875520" cy="1234440"/>
          </a:xfrm>
          <a:prstGeom prst="roundRect">
            <a:avLst>
              <a:gd name="adj" fmla="val 8889"/>
            </a:avLst>
          </a:prstGeom>
          <a:solidFill>
            <a:srgbClr val="091209"/>
          </a:solidFill>
          <a:ln w="15240">
            <a:solidFill>
              <a:srgbClr val="2443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526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rule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48280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start by copying tables or classes.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32120" y="48280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questions the application must answer.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31089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025 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57400" y="19202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data by how it is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tightly related fields together when they are commonly read or changed together.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080E08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2148840"/>
            <a:ext cx="4133088" cy="658368"/>
          </a:xfrm>
          <a:prstGeom prst="roundRect">
            <a:avLst>
              <a:gd name="adj" fmla="val 16667"/>
            </a:avLst>
          </a:prstGeom>
          <a:solidFill>
            <a:srgbClr val="0B110B"/>
          </a:solidFill>
          <a:ln w="15240">
            <a:solidFill>
              <a:srgbClr val="2541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67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23160" y="2267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· email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2971800"/>
            <a:ext cx="4133088" cy="658368"/>
          </a:xfrm>
          <a:prstGeom prst="roundRect">
            <a:avLst>
              <a:gd name="adj" fmla="val 16667"/>
            </a:avLst>
          </a:prstGeom>
          <a:solidFill>
            <a:srgbClr val="0D1B0D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0906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23160" y="30906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 · address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3794760"/>
            <a:ext cx="4133088" cy="658368"/>
          </a:xfrm>
          <a:prstGeom prst="roundRect">
            <a:avLst>
              <a:gd name="adj" fmla="val 16667"/>
            </a:avLst>
          </a:prstGeom>
          <a:solidFill>
            <a:srgbClr val="0B110B"/>
          </a:solidFill>
          <a:ln w="15240">
            <a:solidFill>
              <a:srgbClr val="2541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9136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23160" y="39136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· alerts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0120" y="4617720"/>
            <a:ext cx="4133088" cy="658368"/>
          </a:xfrm>
          <a:prstGeom prst="roundRect">
            <a:avLst>
              <a:gd name="adj" fmla="val 16667"/>
            </a:avLst>
          </a:prstGeom>
          <a:solidFill>
            <a:srgbClr val="0B110B"/>
          </a:solidFill>
          <a:ln w="15240">
            <a:solidFill>
              <a:srgbClr val="2541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7365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23160" y="47365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lastLogin · status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0" y="1481328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0B120B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149961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42048" y="14630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Fields commonly needed together can live together.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43600" y="2807208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0B120B"/>
          </a:solidFill>
          <a:ln w="15240">
            <a:solidFill>
              <a:srgbClr val="5FE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282549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42048" y="27889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groups should have obvious ownership.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943600" y="4133088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0B120B"/>
          </a:solidFill>
          <a:ln w="15240">
            <a:solidFill>
              <a:srgbClr val="B6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415137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42048" y="41148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structures that grow without control.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961888" y="5504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DOCUMENT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25512" y="55046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multiple logical groups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31089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025 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57400" y="19202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nesting to show ownership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objects make relationships between fields visible inside the document.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81728" y="2578608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0C190C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285292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32688" y="1417320"/>
            <a:ext cx="2423160" cy="841248"/>
          </a:xfrm>
          <a:prstGeom prst="roundRect">
            <a:avLst>
              <a:gd name="adj" fmla="val 13043"/>
            </a:avLst>
          </a:prstGeom>
          <a:solidFill>
            <a:srgbClr val="0A110A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53619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60704" y="1865376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· phone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2688" y="4343400"/>
            <a:ext cx="2423160" cy="841248"/>
          </a:xfrm>
          <a:prstGeom prst="roundRect">
            <a:avLst>
              <a:gd name="adj" fmla="val 13043"/>
            </a:avLst>
          </a:prstGeom>
          <a:solidFill>
            <a:srgbClr val="0A110A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446227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60704" y="4791456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· alerts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3104" y="1417320"/>
            <a:ext cx="2423160" cy="841248"/>
          </a:xfrm>
          <a:prstGeom prst="roundRect">
            <a:avLst>
              <a:gd name="adj" fmla="val 13043"/>
            </a:avLst>
          </a:prstGeom>
          <a:solidFill>
            <a:srgbClr val="0A110A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153619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61120" y="1865376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· country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33104" y="4343400"/>
            <a:ext cx="2423160" cy="841248"/>
          </a:xfrm>
          <a:prstGeom prst="roundRect">
            <a:avLst>
              <a:gd name="adj" fmla="val 13043"/>
            </a:avLst>
          </a:prstGeom>
          <a:solidFill>
            <a:srgbClr val="0A110A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446227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61120" y="4791456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· team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55848" y="1856232"/>
            <a:ext cx="1325880" cy="914400"/>
          </a:xfrm>
          <a:prstGeom prst="line">
            <a:avLst/>
          </a:prstGeom>
          <a:noFill/>
          <a:ln w="25400">
            <a:solidFill>
              <a:srgbClr val="39FF1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55848" y="4754880"/>
            <a:ext cx="1325880" cy="-1399032"/>
          </a:xfrm>
          <a:prstGeom prst="line">
            <a:avLst/>
          </a:prstGeom>
          <a:noFill/>
          <a:ln w="25400">
            <a:solidFill>
              <a:srgbClr val="39FF1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33104" y="1856232"/>
            <a:ext cx="-1362456" cy="914400"/>
          </a:xfrm>
          <a:prstGeom prst="line">
            <a:avLst/>
          </a:prstGeom>
          <a:noFill/>
          <a:ln w="25400">
            <a:solidFill>
              <a:srgbClr val="39FF1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33104" y="4754880"/>
            <a:ext cx="-1362456" cy="-1399032"/>
          </a:xfrm>
          <a:prstGeom prst="line">
            <a:avLst/>
          </a:prstGeom>
          <a:noFill/>
          <a:ln w="25400">
            <a:solidFill>
              <a:srgbClr val="39FF1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169664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becomes visible.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31089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025 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57400" y="19202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arrays for repeated values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Arrays model lists that belong naturally to one document.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417320"/>
            <a:ext cx="4937760" cy="4315968"/>
          </a:xfrm>
          <a:prstGeom prst="roundRect">
            <a:avLst>
              <a:gd name="adj" fmla="val 2542"/>
            </a:avLst>
          </a:prstGeom>
          <a:solidFill>
            <a:srgbClr val="080D08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556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89888" y="2057400"/>
            <a:ext cx="3401568" cy="475488"/>
          </a:xfrm>
          <a:prstGeom prst="roundRect">
            <a:avLst>
              <a:gd name="adj" fmla="val 23077"/>
            </a:avLst>
          </a:prstGeom>
          <a:solidFill>
            <a:srgbClr val="0D190D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2139696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19472" y="21396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B7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89888" y="2734056"/>
            <a:ext cx="3401568" cy="475488"/>
          </a:xfrm>
          <a:prstGeom prst="roundRect">
            <a:avLst>
              <a:gd name="adj" fmla="val 23077"/>
            </a:avLst>
          </a:prstGeom>
          <a:solidFill>
            <a:srgbClr val="0B120B"/>
          </a:solidFill>
          <a:ln w="15240">
            <a:solidFill>
              <a:srgbClr val="2441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68" y="281635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19472" y="28163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B7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89888" y="3410712"/>
            <a:ext cx="3401568" cy="475488"/>
          </a:xfrm>
          <a:prstGeom prst="roundRect">
            <a:avLst>
              <a:gd name="adj" fmla="val 23077"/>
            </a:avLst>
          </a:prstGeom>
          <a:solidFill>
            <a:srgbClr val="0B120B"/>
          </a:solidFill>
          <a:ln w="15240">
            <a:solidFill>
              <a:srgbClr val="2441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" y="349300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9472" y="34930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B7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89888" y="4087368"/>
            <a:ext cx="3401568" cy="475488"/>
          </a:xfrm>
          <a:prstGeom prst="roundRect">
            <a:avLst>
              <a:gd name="adj" fmla="val 23077"/>
            </a:avLst>
          </a:prstGeom>
          <a:solidFill>
            <a:srgbClr val="0B120B"/>
          </a:solidFill>
          <a:ln w="15240">
            <a:solidFill>
              <a:srgbClr val="2441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72768" y="416966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19472" y="4169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B7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1024128" cy="384048"/>
          </a:xfrm>
          <a:prstGeom prst="roundRect">
            <a:avLst>
              <a:gd name="adj" fmla="val 28571"/>
            </a:avLst>
          </a:prstGeom>
          <a:solidFill>
            <a:srgbClr val="0B120B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59105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 array when values repeat.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199632" y="2779776"/>
            <a:ext cx="1024128" cy="384048"/>
          </a:xfrm>
          <a:prstGeom prst="roundRect">
            <a:avLst>
              <a:gd name="adj" fmla="val 28571"/>
            </a:avLst>
          </a:prstGeom>
          <a:solidFill>
            <a:srgbClr val="0B120B"/>
          </a:solidFill>
          <a:ln w="15240">
            <a:solidFill>
              <a:srgbClr val="5FE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279806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06640" y="27614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 position matters when sequence matters.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199632" y="3986784"/>
            <a:ext cx="1024128" cy="384048"/>
          </a:xfrm>
          <a:prstGeom prst="roundRect">
            <a:avLst>
              <a:gd name="adj" fmla="val 28571"/>
            </a:avLst>
          </a:prstGeom>
          <a:solidFill>
            <a:srgbClr val="0B120B"/>
          </a:solidFill>
          <a:ln w="15240">
            <a:solidFill>
              <a:srgbClr val="B6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400507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06640" y="39684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list size bounded and practical.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31089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025 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57400" y="19202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documents readable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document can be flexible without becoming difficult to understand or maintain.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NESTING DEPTH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3108960" cy="2468880"/>
          </a:xfrm>
          <a:prstGeom prst="roundRect">
            <a:avLst>
              <a:gd name="adj" fmla="val 2963"/>
            </a:avLst>
          </a:prstGeom>
          <a:solidFill>
            <a:srgbClr val="081008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9032" y="2295144"/>
            <a:ext cx="2706624" cy="2048256"/>
          </a:xfrm>
          <a:prstGeom prst="roundRect">
            <a:avLst>
              <a:gd name="adj" fmla="val 3571"/>
            </a:avLst>
          </a:prstGeom>
          <a:solidFill>
            <a:srgbClr val="081008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9384" y="2715768"/>
            <a:ext cx="2304288" cy="1627632"/>
          </a:xfrm>
          <a:prstGeom prst="roundRect">
            <a:avLst>
              <a:gd name="adj" fmla="val 4494"/>
            </a:avLst>
          </a:prstGeom>
          <a:solidFill>
            <a:srgbClr val="081008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9736" y="3136392"/>
            <a:ext cx="1901952" cy="1207008"/>
          </a:xfrm>
          <a:prstGeom prst="roundRect">
            <a:avLst>
              <a:gd name="adj" fmla="val 6061"/>
            </a:avLst>
          </a:prstGeom>
          <a:solidFill>
            <a:srgbClr val="081008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0088" y="3557016"/>
            <a:ext cx="1499616" cy="786384"/>
          </a:xfrm>
          <a:prstGeom prst="roundRect">
            <a:avLst>
              <a:gd name="adj" fmla="val 9302"/>
            </a:avLst>
          </a:prstGeom>
          <a:solidFill>
            <a:srgbClr val="101A10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8712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3264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city: "Chennai"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" y="4873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Readable depth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9264" y="5184648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nesting → harder queries, updates and debugging.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760720" y="1463040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0A110A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59105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names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88352" y="1563624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`shippingAddress.city` over vague fields.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60720" y="2688336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0A110A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8163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shape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88352" y="2788920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field meaning across documents.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760720" y="3913632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0A110A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40416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depth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88352" y="4014216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 for meaning, not just because nesting is possible.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31089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025 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57400" y="19202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clear document boundary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what belongs together before adding more fields.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4983480" cy="4526280"/>
          </a:xfrm>
          <a:prstGeom prst="roundRect">
            <a:avLst>
              <a:gd name="adj" fmla="val 2424"/>
            </a:avLst>
          </a:prstGeom>
          <a:solidFill>
            <a:srgbClr val="0A120A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45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COHESIVE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2688" y="2084832"/>
            <a:ext cx="4434840" cy="2514600"/>
          </a:xfrm>
          <a:prstGeom prst="roundRect">
            <a:avLst>
              <a:gd name="adj" fmla="val 4364"/>
            </a:avLst>
          </a:prstGeom>
          <a:solidFill>
            <a:srgbClr val="0E180E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3408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1872" y="2788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7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0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61872" y="31729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7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0" y="3172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35570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7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35570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… 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1872" y="39410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7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60320" y="3941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… 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9560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order data stays together.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55080" y="1417320"/>
            <a:ext cx="5166360" cy="4526280"/>
          </a:xfrm>
          <a:prstGeom prst="roundRect">
            <a:avLst>
              <a:gd name="adj" fmla="val 2424"/>
            </a:avLst>
          </a:prstGeom>
          <a:solidFill>
            <a:srgbClr val="080E08"/>
          </a:solidFill>
          <a:ln w="15240">
            <a:solidFill>
              <a:srgbClr val="1F2C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1645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0" y="2240280"/>
            <a:ext cx="1572768" cy="612648"/>
          </a:xfrm>
          <a:prstGeom prst="roundRect">
            <a:avLst>
              <a:gd name="adj" fmla="val 17910"/>
            </a:avLst>
          </a:prstGeom>
          <a:solidFill>
            <a:srgbClr val="0C120C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40487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0" y="2926080"/>
            <a:ext cx="1572768" cy="612648"/>
          </a:xfrm>
          <a:prstGeom prst="roundRect">
            <a:avLst>
              <a:gd name="adj" fmla="val 17910"/>
            </a:avLst>
          </a:prstGeom>
          <a:solidFill>
            <a:srgbClr val="0C120C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309067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0" y="3794760"/>
            <a:ext cx="1572768" cy="612648"/>
          </a:xfrm>
          <a:prstGeom prst="roundRect">
            <a:avLst>
              <a:gd name="adj" fmla="val 17910"/>
            </a:avLst>
          </a:prstGeom>
          <a:solidFill>
            <a:srgbClr val="0C120C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395935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87968" y="2560320"/>
            <a:ext cx="256032" cy="365760"/>
          </a:xfrm>
          <a:prstGeom prst="line">
            <a:avLst/>
          </a:prstGeom>
          <a:noFill/>
          <a:ln w="25400">
            <a:solidFill>
              <a:srgbClr val="FF6B6B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247888" y="3794760"/>
            <a:ext cx="896112" cy="-274320"/>
          </a:xfrm>
          <a:prstGeom prst="line">
            <a:avLst/>
          </a:prstGeom>
          <a:noFill/>
          <a:ln w="25400">
            <a:solidFill>
              <a:srgbClr val="FF6B6B"/>
            </a:solidFill>
            <a:prstDash val="dash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6675120" y="495604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many boundaries create more work.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31089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025 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57400" y="19202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 well-structured customer document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shape from left to right: identity → contact → preferences → history.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5806440" cy="4526280"/>
          </a:xfrm>
          <a:prstGeom prst="roundRect">
            <a:avLst>
              <a:gd name="adj" fmla="val 2424"/>
            </a:avLst>
          </a:prstGeom>
          <a:solidFill>
            <a:srgbClr val="071007"/>
          </a:solidFill>
          <a:ln w="15240">
            <a:solidFill>
              <a:srgbClr val="2443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316736"/>
            <a:ext cx="54864" cy="44897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463040"/>
            <a:ext cx="5440680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customerId: 10021,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"Asha",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contact: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"asha@example.com",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phone: "+91-90000-10021"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preferences: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language: "en",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alerts: true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 ["vip", "mobile"]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1481328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0B120B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22592" y="149961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15984" y="149961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scalar fields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0" y="2487168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0B120B"/>
          </a:solidFill>
          <a:ln w="15240">
            <a:solidFill>
              <a:srgbClr val="5FE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2592" y="250545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15984" y="25054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object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49440" y="3493008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0B120B"/>
          </a:solidFill>
          <a:ln w="15240">
            <a:solidFill>
              <a:srgbClr val="B6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351129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15984" y="351129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object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49440" y="4498848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0B120B"/>
          </a:solidFill>
          <a:ln w="15240">
            <a:solidFill>
              <a:srgbClr val="FFB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2592" y="451713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VALUES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15984" y="451713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49440" y="5285232"/>
            <a:ext cx="4297680" cy="548640"/>
          </a:xfrm>
          <a:prstGeom prst="roundRect">
            <a:avLst>
              <a:gd name="adj" fmla="val 20000"/>
            </a:avLst>
          </a:prstGeom>
          <a:solidFill>
            <a:srgbClr val="0C190C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8896" y="5413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section has one clear purpose.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31089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025 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57400" y="19202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structuring mistakes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does not mean random. Make the document predictable.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444752"/>
            <a:ext cx="5212080" cy="1572768"/>
          </a:xfrm>
          <a:prstGeom prst="roundRect">
            <a:avLst>
              <a:gd name="adj" fmla="val 6977"/>
            </a:avLst>
          </a:prstGeom>
          <a:solidFill>
            <a:srgbClr val="0A100A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276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flat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1609344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Dozens of unrelated top-level fields.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41832" y="2267712"/>
            <a:ext cx="4663440" cy="0"/>
          </a:xfrm>
          <a:prstGeom prst="line">
            <a:avLst/>
          </a:prstGeom>
          <a:noFill/>
          <a:ln w="12700">
            <a:solidFill>
              <a:srgbClr val="315431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941832" y="24323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91056" y="24048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into logical groups.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36792" y="1444752"/>
            <a:ext cx="5212080" cy="1572768"/>
          </a:xfrm>
          <a:prstGeom prst="roundRect">
            <a:avLst>
              <a:gd name="adj" fmla="val 6977"/>
            </a:avLst>
          </a:prstGeom>
          <a:solidFill>
            <a:srgbClr val="0A100A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6276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deep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09560" y="1609344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objects only because they can be.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65392" y="2267712"/>
            <a:ext cx="4663440" cy="0"/>
          </a:xfrm>
          <a:prstGeom prst="line">
            <a:avLst/>
          </a:prstGeom>
          <a:noFill/>
          <a:ln w="12700">
            <a:solidFill>
              <a:srgbClr val="315431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6565392" y="24323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14616" y="24048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ownership obvious.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3232" y="3502152"/>
            <a:ext cx="5212080" cy="1572768"/>
          </a:xfrm>
          <a:prstGeom prst="roundRect">
            <a:avLst>
              <a:gd name="adj" fmla="val 6977"/>
            </a:avLst>
          </a:prstGeom>
          <a:solidFill>
            <a:srgbClr val="0A100A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6850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Huge lists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86000" y="3666744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Arrays that grow without a practical bound.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41832" y="4325112"/>
            <a:ext cx="4663440" cy="0"/>
          </a:xfrm>
          <a:prstGeom prst="line">
            <a:avLst/>
          </a:prstGeom>
          <a:noFill/>
          <a:ln w="12700">
            <a:solidFill>
              <a:srgbClr val="315431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41832" y="44897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91056" y="44622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Re-check the boundary.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36792" y="3502152"/>
            <a:ext cx="5212080" cy="1572768"/>
          </a:xfrm>
          <a:prstGeom prst="roundRect">
            <a:avLst>
              <a:gd name="adj" fmla="val 6977"/>
            </a:avLst>
          </a:prstGeom>
          <a:solidFill>
            <a:srgbClr val="0A100A"/>
          </a:solidFill>
          <a:ln w="15240">
            <a:solidFill>
              <a:srgbClr val="3154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36850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names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09560" y="3666744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Fields whose meaning depends on context.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65392" y="4325112"/>
            <a:ext cx="4663440" cy="0"/>
          </a:xfrm>
          <a:prstGeom prst="line">
            <a:avLst/>
          </a:prstGeom>
          <a:noFill/>
          <a:ln w="12700">
            <a:solidFill>
              <a:srgbClr val="315431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6565392" y="44897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14616" y="44622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explicit names.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31089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025 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57400" y="19202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Structuring Documents —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rules to turn requirements into a clean document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00600" y="1847088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0B130B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2148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4920" y="25786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266944" y="2743200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274320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"Asha"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66944" y="3236976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3236976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… 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66944" y="3730752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373075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… 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66944" y="4224528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42245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… 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4773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640080" y="141732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091109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156362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18379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access patterns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for the questions the app asks.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0" y="498348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091109"/>
          </a:solidFill>
          <a:ln w="15240">
            <a:solidFill>
              <a:srgbClr val="5FE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51297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80360" y="54041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related fields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80360" y="5715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commonly used data together.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98080" y="141732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091109"/>
          </a:solidFill>
          <a:ln w="15240">
            <a:solidFill>
              <a:srgbClr val="B6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156362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6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5240" y="18379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 with purpose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3524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objects to show ownership.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555480" y="320040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091109"/>
          </a:solidFill>
          <a:ln w="15240">
            <a:solidFill>
              <a:srgbClr val="FFB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33467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92640" y="36210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arrays for lists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9264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values belong in arrays.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498080" y="498348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091109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51297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35240" y="54041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it readable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635240" y="5715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7C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names + practical depth.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697480" y="1984248"/>
            <a:ext cx="2103120" cy="438912"/>
          </a:xfrm>
          <a:prstGeom prst="line">
            <a:avLst/>
          </a:prstGeom>
          <a:noFill/>
          <a:ln w="21590">
            <a:solidFill>
              <a:srgbClr val="315431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663440" y="5120640"/>
            <a:ext cx="566928" cy="-347472"/>
          </a:xfrm>
          <a:prstGeom prst="line">
            <a:avLst/>
          </a:prstGeom>
          <a:noFill/>
          <a:ln w="21590">
            <a:solidFill>
              <a:srgbClr val="315431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7498080" y="1984248"/>
            <a:ext cx="-109728" cy="411480"/>
          </a:xfrm>
          <a:prstGeom prst="line">
            <a:avLst/>
          </a:prstGeom>
          <a:noFill/>
          <a:ln w="21590">
            <a:solidFill>
              <a:srgbClr val="315431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555480" y="3730752"/>
            <a:ext cx="-2148840" cy="-118872"/>
          </a:xfrm>
          <a:prstGeom prst="line">
            <a:avLst/>
          </a:prstGeom>
          <a:noFill/>
          <a:ln w="21590">
            <a:solidFill>
              <a:srgbClr val="315431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7498080" y="5486400"/>
            <a:ext cx="-201168" cy="-594360"/>
          </a:xfrm>
          <a:prstGeom prst="line">
            <a:avLst/>
          </a:prstGeom>
          <a:noFill/>
          <a:ln w="21590">
            <a:solidFill>
              <a:srgbClr val="315431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057400" y="6144768"/>
            <a:ext cx="8092440" cy="384048"/>
          </a:xfrm>
          <a:prstGeom prst="roundRect">
            <a:avLst>
              <a:gd name="adj" fmla="val 19048"/>
            </a:avLst>
          </a:prstGeom>
          <a:solidFill>
            <a:srgbClr val="102410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0" y="6199632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FOLLOWS ACCESS PATTERNS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31089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025 — Structuring Documents</dc:title>
  <dc:subject>MongoDB Developer Learning Path</dc:subject>
  <dc:creator>OpenAI</dc:creator>
  <cp:lastModifiedBy>OpenAI</cp:lastModifiedBy>
  <cp:revision>1</cp:revision>
  <dcterms:created xsi:type="dcterms:W3CDTF">2026-09-25T17:22:15Z</dcterms:created>
  <dcterms:modified xsi:type="dcterms:W3CDTF">2026-09-25T17:22:15Z</dcterms:modified>
</cp:coreProperties>
</file>