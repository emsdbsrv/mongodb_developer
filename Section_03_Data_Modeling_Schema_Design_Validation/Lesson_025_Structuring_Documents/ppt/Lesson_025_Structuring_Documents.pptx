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256032"/>
            <a:ext cx="1417320" cy="329184"/>
          </a:xfrm>
          <a:prstGeom prst="roundRect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301752"/>
            <a:ext cx="128930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0B0E12"/>
                </a:solidFill>
                <a:latin typeface="Aptos"/>
              </a:rPr>
              <a:t>STRUCTURING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74980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F5F7FA"/>
                </a:solidFill>
                <a:latin typeface="Aptos"/>
              </a:rPr>
              <a:t>Structure Data the Way
Your Application Thinks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2057400"/>
            <a:ext cx="7223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EE4EB"/>
                </a:solidFill>
                <a:latin typeface="Aptos"/>
              </a:rPr>
              <a:t>Design practical MongoDB documents from business requirements, access patterns, and natural relationships.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822960"/>
            <a:ext cx="3977639" cy="475488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01583" y="109728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8C18"/>
                </a:solidFill>
                <a:latin typeface="Aptos"/>
              </a:rPr>
              <a:t>Document Structure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6760" y="1691640"/>
            <a:ext cx="2880360" cy="2606040"/>
          </a:xfrm>
          <a:prstGeom prst="roundRect">
            <a:avLst/>
          </a:prstGeom>
          <a:solidFill>
            <a:srgbClr val="0B0E12"/>
          </a:solidFill>
          <a:ln w="1905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9912" y="1810512"/>
            <a:ext cx="273405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8C18"/>
                </a:solidFill>
                <a:latin typeface="Aptos"/>
              </a:rPr>
              <a:t>ORDER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3648" y="2212848"/>
            <a:ext cx="1234440" cy="502920"/>
          </a:xfrm>
          <a:prstGeom prst="roundRect">
            <a:avLst/>
          </a:prstGeom>
          <a:solidFill>
            <a:srgbClr val="11161C"/>
          </a:solidFill>
          <a:ln w="19050">
            <a:solidFill>
              <a:srgbClr val="8F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2331720"/>
            <a:ext cx="108813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8F69F0"/>
                </a:solidFill>
                <a:latin typeface="Aptos"/>
              </a:rPr>
              <a:t>customer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48672" y="2212848"/>
            <a:ext cx="987552" cy="502920"/>
          </a:xfrm>
          <a:prstGeom prst="roundRect">
            <a:avLst/>
          </a:prstGeom>
          <a:solidFill>
            <a:srgbClr val="11161C"/>
          </a:solidFill>
          <a:ln w="1905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21824" y="2331720"/>
            <a:ext cx="84124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F97FF"/>
                </a:solidFill>
                <a:latin typeface="Aptos"/>
              </a:rPr>
              <a:t>items[]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13648" y="2880360"/>
            <a:ext cx="2322576" cy="502920"/>
          </a:xfrm>
          <a:prstGeom prst="roundRect">
            <a:avLst/>
          </a:prstGeom>
          <a:solidFill>
            <a:srgbClr val="11161C"/>
          </a:solidFill>
          <a:ln w="19050">
            <a:solidFill>
              <a:srgbClr val="45C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999232"/>
            <a:ext cx="21762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5C5DE"/>
                </a:solidFill>
                <a:latin typeface="Aptos"/>
              </a:rPr>
              <a:t>shippingAddress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13648" y="3547872"/>
            <a:ext cx="2322576" cy="502920"/>
          </a:xfrm>
          <a:prstGeom prst="roundRect">
            <a:avLst/>
          </a:prstGeom>
          <a:solidFill>
            <a:srgbClr val="11161C"/>
          </a:solidFill>
          <a:ln w="1905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3666744"/>
            <a:ext cx="21762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8C18"/>
                </a:solidFill>
                <a:latin typeface="Aptos"/>
              </a:rPr>
              <a:t>payment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4343400"/>
            <a:ext cx="2697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Consolas"/>
              </a:rPr>
              <a:t>{ orderId, customer,
  items: [ ... ], shippingAddress, payment 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779008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A4AEBA"/>
                </a:solidFill>
                <a:latin typeface="Aptos"/>
              </a:rPr>
              <a:t>One document can hold the business object, its nested objects, and its natural collections.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7FA"/>
                </a:solidFill>
                <a:latin typeface="Aptos"/>
              </a:rPr>
              <a:t>Why Document Structure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13816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4AEBA"/>
                </a:solidFill>
                <a:latin typeface="Aptos"/>
              </a:rPr>
              <a:t>The goal is not “no schema”; the goal is a model that is understandable, useful, and aligned with the application.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383280" cy="1920240"/>
          </a:xfrm>
          <a:prstGeom prst="roundRect">
            <a:avLst/>
          </a:prstGeom>
          <a:solidFill>
            <a:srgbClr val="11161C"/>
          </a:solidFill>
          <a:ln w="1905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627632"/>
            <a:ext cx="502920" cy="502920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502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B0E12"/>
                </a:solidFill>
                <a:latin typeface="Aptos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160020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F97FF"/>
                </a:solidFill>
                <a:latin typeface="Aptos"/>
              </a:rPr>
              <a:t>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2011680"/>
            <a:ext cx="2240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How will the application fetch the data?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1417320"/>
            <a:ext cx="3383280" cy="1920240"/>
          </a:xfrm>
          <a:prstGeom prst="roundRect">
            <a:avLst/>
          </a:prstGeom>
          <a:solidFill>
            <a:srgbClr val="11161C"/>
          </a:solidFill>
          <a:ln w="1905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97679" y="1627632"/>
            <a:ext cx="502920" cy="502920"/>
          </a:xfrm>
          <a:prstGeom prst="ellipse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1719072"/>
            <a:ext cx="502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B0E12"/>
                </a:solidFill>
                <a:latin typeface="Aptos"/>
              </a:rPr>
              <a:t>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160020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8C18"/>
                </a:solidFill>
                <a:latin typeface="Aptos"/>
              </a:rPr>
              <a:t>WRITE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9472" y="2011680"/>
            <a:ext cx="2240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What changes independently and how often?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08975" y="1417320"/>
            <a:ext cx="3383280" cy="1920240"/>
          </a:xfrm>
          <a:prstGeom prst="roundRect">
            <a:avLst/>
          </a:prstGeom>
          <a:solidFill>
            <a:srgbClr val="11161C"/>
          </a:solidFill>
          <a:ln w="19050">
            <a:solidFill>
              <a:srgbClr val="8F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73567" y="1627632"/>
            <a:ext cx="502920" cy="502920"/>
          </a:xfrm>
          <a:prstGeom prst="ellipse">
            <a:avLst/>
          </a:prstGeom>
          <a:solidFill>
            <a:srgbClr val="8F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3567" y="1719072"/>
            <a:ext cx="502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B0E12"/>
                </a:solidFill>
                <a:latin typeface="Aptos"/>
              </a:rPr>
              <a:t>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59" y="160020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8F69F0"/>
                </a:solidFill>
                <a:latin typeface="Aptos"/>
              </a:rPr>
              <a:t>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59" y="2011680"/>
            <a:ext cx="2240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What can become large or unbounded?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3075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8C18"/>
                </a:solidFill>
                <a:latin typeface="Aptos"/>
              </a:rPr>
              <a:t>A simple design loop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2"/>
            <a:ext cx="2423160" cy="128016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8368" y="4315968"/>
            <a:ext cx="384048" cy="384048"/>
          </a:xfrm>
          <a:prstGeom prst="ellipse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379976"/>
            <a:ext cx="384048" cy="173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B0E12"/>
                </a:solidFill>
                <a:latin typeface="Aptos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4288536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Aptos"/>
              </a:rPr>
              <a:t>Requirement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736592"/>
            <a:ext cx="2103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4AEBA"/>
                </a:solidFill>
                <a:latin typeface="Aptos"/>
              </a:rPr>
              <a:t>What does the business need?</a:t>
            </a:r>
          </a:p>
        </p:txBody>
      </p:sp>
      <p:sp>
        <p:nvSpPr>
          <p:cNvPr id="26" name="Chevron 25"/>
          <p:cNvSpPr/>
          <p:nvPr/>
        </p:nvSpPr>
        <p:spPr>
          <a:xfrm>
            <a:off x="3090672" y="4590288"/>
            <a:ext cx="201168" cy="201168"/>
          </a:xfrm>
          <a:prstGeom prst="chevron">
            <a:avLst/>
          </a:prstGeom>
          <a:solidFill>
            <a:srgbClr val="A4AE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37560" y="4142232"/>
            <a:ext cx="2423160" cy="128016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47288" y="4315968"/>
            <a:ext cx="384048" cy="384048"/>
          </a:xfrm>
          <a:prstGeom prst="ellipse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7288" y="4379976"/>
            <a:ext cx="384048" cy="173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B0E12"/>
                </a:solidFill>
                <a:latin typeface="Apto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04487" y="4288536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Aptos"/>
              </a:rPr>
              <a:t>Access Pattern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7288" y="4736592"/>
            <a:ext cx="2103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4AEBA"/>
                </a:solidFill>
                <a:latin typeface="Aptos"/>
              </a:rPr>
              <a:t>What will the app read/write?</a:t>
            </a:r>
          </a:p>
        </p:txBody>
      </p:sp>
      <p:sp>
        <p:nvSpPr>
          <p:cNvPr id="32" name="Chevron 31"/>
          <p:cNvSpPr/>
          <p:nvPr/>
        </p:nvSpPr>
        <p:spPr>
          <a:xfrm>
            <a:off x="5879592" y="4590288"/>
            <a:ext cx="201168" cy="201168"/>
          </a:xfrm>
          <a:prstGeom prst="chevron">
            <a:avLst/>
          </a:prstGeom>
          <a:solidFill>
            <a:srgbClr val="A4AE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26479" y="4142232"/>
            <a:ext cx="2423160" cy="128016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236207" y="4315968"/>
            <a:ext cx="384048" cy="384048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6207" y="4379976"/>
            <a:ext cx="384048" cy="173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B0E12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3407" y="4288536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Aptos"/>
              </a:rPr>
              <a:t>Document Shape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7" y="4736592"/>
            <a:ext cx="2103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4AEBA"/>
                </a:solidFill>
                <a:latin typeface="Aptos"/>
              </a:rPr>
              <a:t>What belongs together?</a:t>
            </a:r>
          </a:p>
        </p:txBody>
      </p:sp>
      <p:sp>
        <p:nvSpPr>
          <p:cNvPr id="38" name="Chevron 37"/>
          <p:cNvSpPr/>
          <p:nvPr/>
        </p:nvSpPr>
        <p:spPr>
          <a:xfrm>
            <a:off x="8668511" y="4590288"/>
            <a:ext cx="201168" cy="201168"/>
          </a:xfrm>
          <a:prstGeom prst="chevron">
            <a:avLst/>
          </a:prstGeom>
          <a:solidFill>
            <a:srgbClr val="A4AE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915399" y="4142232"/>
            <a:ext cx="2423160" cy="128016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025127" y="4315968"/>
            <a:ext cx="384048" cy="384048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25127" y="4379976"/>
            <a:ext cx="384048" cy="173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B0E12"/>
                </a:solidFill>
                <a:latin typeface="Aptos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82327" y="4288536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Aptos"/>
              </a:rPr>
              <a:t>Boundary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25127" y="4736592"/>
            <a:ext cx="2103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4AEBA"/>
                </a:solidFill>
                <a:latin typeface="Aptos"/>
              </a:rPr>
              <a:t>What should stay separate?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7FA"/>
                </a:solidFill>
                <a:latin typeface="Aptos"/>
              </a:rPr>
              <a:t>Start With the Business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13816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4AEBA"/>
                </a:solidFill>
                <a:latin typeface="Aptos"/>
              </a:rPr>
              <a:t>Before choosing fields, decide what the application actually needs to keep together.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074920" cy="452628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72768"/>
            <a:ext cx="4389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8C18"/>
                </a:solidFill>
                <a:latin typeface="Aptos"/>
              </a:rPr>
              <a:t>Order Requirement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892807"/>
            <a:ext cx="43891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4AEBA"/>
                </a:solidFill>
                <a:latin typeface="Aptos"/>
              </a:rPr>
              <a:t>The application needs one order view with the data commonly shown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1463040" cy="329184"/>
          </a:xfrm>
          <a:prstGeom prst="roundRect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2286000"/>
            <a:ext cx="133502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Order 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67712"/>
            <a:ext cx="2788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orderId, orderDate, status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463040" cy="329184"/>
          </a:xfrm>
          <a:prstGeom prst="roundRect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926080"/>
            <a:ext cx="133502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Customer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907792"/>
            <a:ext cx="2788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customerId or embedded customer details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20440"/>
            <a:ext cx="1463040" cy="329184"/>
          </a:xfrm>
          <a:prstGeom prst="roundRect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566160"/>
            <a:ext cx="133502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Line items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547872"/>
            <a:ext cx="2788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one or more product entries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60520"/>
            <a:ext cx="1463040" cy="329184"/>
          </a:xfrm>
          <a:prstGeom prst="roundRect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4206240"/>
            <a:ext cx="133502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187952"/>
            <a:ext cx="2788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shipping address information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00600"/>
            <a:ext cx="1463040" cy="329184"/>
          </a:xfrm>
          <a:prstGeom prst="roundRect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4846320"/>
            <a:ext cx="133502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Payment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4828032"/>
            <a:ext cx="2788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payment method and status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06440" y="1325880"/>
            <a:ext cx="5897880" cy="4526280"/>
          </a:xfrm>
          <a:prstGeom prst="roundRect">
            <a:avLst/>
          </a:prstGeom>
          <a:solidFill>
            <a:srgbClr val="11161C"/>
          </a:solidFill>
          <a:ln w="1524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62472" y="1572768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F97FF"/>
                </a:solidFill>
                <a:latin typeface="Aptos"/>
              </a:rPr>
              <a:t>From Requirement to Shape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2472" y="1892807"/>
            <a:ext cx="5303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4AEBA"/>
                </a:solidFill>
                <a:latin typeface="Aptos"/>
              </a:rPr>
              <a:t>Ask a few practical questions before you design the document.</a:t>
            </a:r>
          </a:p>
        </p:txBody>
      </p:sp>
      <p:sp>
        <p:nvSpPr>
          <p:cNvPr id="26" name="Oval 25"/>
          <p:cNvSpPr/>
          <p:nvPr/>
        </p:nvSpPr>
        <p:spPr>
          <a:xfrm>
            <a:off x="6089904" y="2377440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72784" y="2286000"/>
            <a:ext cx="1051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97FF"/>
                </a:solidFill>
                <a:latin typeface="Aptos"/>
              </a:rPr>
              <a:t>Together?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2286000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Is it usually read with the order?</a:t>
            </a:r>
          </a:p>
        </p:txBody>
      </p:sp>
      <p:sp>
        <p:nvSpPr>
          <p:cNvPr id="29" name="Oval 28"/>
          <p:cNvSpPr/>
          <p:nvPr/>
        </p:nvSpPr>
        <p:spPr>
          <a:xfrm>
            <a:off x="6089904" y="2944368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4" y="2852928"/>
            <a:ext cx="1051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97FF"/>
                </a:solidFill>
                <a:latin typeface="Aptos"/>
              </a:rPr>
              <a:t>Shared?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2852928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Does another workflow own the same data?</a:t>
            </a:r>
          </a:p>
        </p:txBody>
      </p:sp>
      <p:sp>
        <p:nvSpPr>
          <p:cNvPr id="32" name="Oval 31"/>
          <p:cNvSpPr/>
          <p:nvPr/>
        </p:nvSpPr>
        <p:spPr>
          <a:xfrm>
            <a:off x="6089904" y="3511296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2784" y="3419856"/>
            <a:ext cx="1051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97FF"/>
                </a:solidFill>
                <a:latin typeface="Aptos"/>
              </a:rPr>
              <a:t>Growing?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3419856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Could the list grow without a useful bound?</a:t>
            </a:r>
          </a:p>
        </p:txBody>
      </p:sp>
      <p:sp>
        <p:nvSpPr>
          <p:cNvPr id="35" name="Oval 34"/>
          <p:cNvSpPr/>
          <p:nvPr/>
        </p:nvSpPr>
        <p:spPr>
          <a:xfrm>
            <a:off x="6089904" y="4078224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72784" y="3986784"/>
            <a:ext cx="1051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97FF"/>
                </a:solidFill>
                <a:latin typeface="Aptos"/>
              </a:rPr>
              <a:t>Changing?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3986784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Does it have an independent update lifecycle?</a:t>
            </a:r>
          </a:p>
        </p:txBody>
      </p:sp>
      <p:sp>
        <p:nvSpPr>
          <p:cNvPr id="38" name="Oval 37"/>
          <p:cNvSpPr/>
          <p:nvPr/>
        </p:nvSpPr>
        <p:spPr>
          <a:xfrm>
            <a:off x="6089904" y="4645152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2784" y="4553712"/>
            <a:ext cx="1051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97FF"/>
                </a:solidFill>
                <a:latin typeface="Aptos"/>
              </a:rPr>
              <a:t>Queryable?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0920" y="4553712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What fields will users search or filter on?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8C18"/>
                </a:solidFill>
                <a:latin typeface="Aptos"/>
              </a:rPr>
              <a:t>Good document design is an application-design decision, not a copy of an existing relational table.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7FA"/>
                </a:solidFill>
                <a:latin typeface="Aptos"/>
              </a:rPr>
              <a:t>Flat vs. Nested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13816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4AEBA"/>
                </a:solidFill>
                <a:latin typeface="Aptos"/>
              </a:rPr>
              <a:t>Choose a shape that makes the common business object easy to read and work with.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71600"/>
            <a:ext cx="5440680" cy="4251960"/>
          </a:xfrm>
          <a:prstGeom prst="roundRect">
            <a:avLst/>
          </a:prstGeom>
          <a:solidFill>
            <a:srgbClr val="11161C"/>
          </a:solidFill>
          <a:ln w="1524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60020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F97FF"/>
                </a:solidFill>
                <a:latin typeface="Aptos"/>
              </a:rPr>
              <a:t>Flat shape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20240"/>
            <a:ext cx="4754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4AEBA"/>
                </a:solidFill>
                <a:latin typeface="Aptos"/>
              </a:rPr>
              <a:t>All fields live at the same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331720"/>
            <a:ext cx="45262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Consolas"/>
              </a:rPr>
              <a:t>{
  orderId: "ORD-1001",
  customerId: "CUST-001",
  city: "Chennai",
  country: "India",
  productId: "P100",
  qty: 2,
  price: 499.50
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864608"/>
            <a:ext cx="4617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4AEBA"/>
                </a:solidFill>
                <a:latin typeface="Aptos"/>
              </a:rPr>
              <a:t>Simple at first, but relationships become harder to see.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371600"/>
            <a:ext cx="5687568" cy="425196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600200"/>
            <a:ext cx="5074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8C18"/>
                </a:solidFill>
                <a:latin typeface="Aptos"/>
              </a:rPr>
              <a:t>Nested 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1920240"/>
            <a:ext cx="50749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4AEBA"/>
                </a:solidFill>
                <a:latin typeface="Aptos"/>
              </a:rPr>
              <a:t>Related information stays inside its natural object.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240280"/>
            <a:ext cx="50292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Consolas"/>
              </a:rPr>
              <a:t>{
  orderId: "ORD-1001",
  customer: { customerId, ... },
  items: [ { productId, qty, price } ],
  shippingAddress: { city, country },
  payment: { method, status }
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82512" y="5074920"/>
            <a:ext cx="1874519" cy="329184"/>
          </a:xfrm>
          <a:prstGeom prst="roundRect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5120640"/>
            <a:ext cx="174650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RELATED DATA TOGETHER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5102352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Aptos"/>
              </a:rPr>
              <a:t>Natural hierarchy for an order.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7FA"/>
                </a:solidFill>
                <a:latin typeface="Aptos"/>
              </a:rPr>
              <a:t>Order Management: Build the Document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13816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4AEBA"/>
                </a:solidFill>
                <a:latin typeface="Aptos"/>
              </a:rPr>
              <a:t>A single order is the running example used to make document structure concrete.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11137392" cy="452628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645152" y="1691640"/>
            <a:ext cx="2907792" cy="640080"/>
          </a:xfrm>
          <a:prstGeom prst="roundRect">
            <a:avLst/>
          </a:prstGeom>
          <a:solidFill>
            <a:srgbClr val="11161C"/>
          </a:solidFill>
          <a:ln w="2540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36592" y="1865376"/>
            <a:ext cx="272491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8C18"/>
                </a:solidFill>
                <a:latin typeface="Aptos"/>
              </a:rPr>
              <a:t>ORDER DOCUMENT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788920"/>
            <a:ext cx="1828800" cy="960120"/>
          </a:xfrm>
          <a:prstGeom prst="roundRect">
            <a:avLst/>
          </a:prstGeom>
          <a:solidFill>
            <a:srgbClr val="11161C"/>
          </a:solidFill>
          <a:ln w="19050">
            <a:solidFill>
              <a:srgbClr val="8F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2916936"/>
            <a:ext cx="1682496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8F69F0"/>
                </a:solidFill>
                <a:latin typeface="Aptos"/>
              </a:rPr>
              <a:t>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3273552"/>
            <a:ext cx="168249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4AEBA"/>
                </a:solidFill>
                <a:latin typeface="Aptos"/>
              </a:rPr>
              <a:t>nested object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743200" y="2331720"/>
            <a:ext cx="3355848" cy="457200"/>
          </a:xfrm>
          <a:prstGeom prst="line">
            <a:avLst/>
          </a:prstGeom>
          <a:ln w="19050">
            <a:solidFill>
              <a:srgbClr val="8F69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187952" y="2788920"/>
            <a:ext cx="1828800" cy="960120"/>
          </a:xfrm>
          <a:prstGeom prst="roundRect">
            <a:avLst/>
          </a:prstGeom>
          <a:solidFill>
            <a:srgbClr val="11161C"/>
          </a:solidFill>
          <a:ln w="1905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1104" y="2916936"/>
            <a:ext cx="1682496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2F97FF"/>
                </a:solidFill>
                <a:latin typeface="Aptos"/>
              </a:rPr>
              <a:t>items[]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4" y="3273552"/>
            <a:ext cx="168249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4AEBA"/>
                </a:solidFill>
                <a:latin typeface="Aptos"/>
              </a:rPr>
              <a:t>array of objects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102352" y="2331720"/>
            <a:ext cx="996696" cy="457200"/>
          </a:xfrm>
          <a:prstGeom prst="line">
            <a:avLst/>
          </a:prstGeom>
          <a:ln w="19050">
            <a:solidFill>
              <a:srgbClr val="2F9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675120" y="2788920"/>
            <a:ext cx="1828800" cy="960120"/>
          </a:xfrm>
          <a:prstGeom prst="roundRect">
            <a:avLst/>
          </a:prstGeom>
          <a:solidFill>
            <a:srgbClr val="11161C"/>
          </a:solidFill>
          <a:ln w="19050">
            <a:solidFill>
              <a:srgbClr val="45C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48272" y="2916936"/>
            <a:ext cx="1682496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45C5DE"/>
                </a:solidFill>
                <a:latin typeface="Aptos"/>
              </a:rPr>
              <a:t>shippingAddress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48272" y="3273552"/>
            <a:ext cx="168249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4AEBA"/>
                </a:solidFill>
                <a:latin typeface="Aptos"/>
              </a:rPr>
              <a:t>nested object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9048" y="2331720"/>
            <a:ext cx="1490472" cy="457200"/>
          </a:xfrm>
          <a:prstGeom prst="line">
            <a:avLst/>
          </a:prstGeom>
          <a:ln w="19050">
            <a:solidFill>
              <a:srgbClr val="45C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89720" y="2788920"/>
            <a:ext cx="1828800" cy="960120"/>
          </a:xfrm>
          <a:prstGeom prst="roundRect">
            <a:avLst/>
          </a:prstGeom>
          <a:solidFill>
            <a:srgbClr val="11161C"/>
          </a:solidFill>
          <a:ln w="1905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2872" y="2916936"/>
            <a:ext cx="1682496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8C18"/>
                </a:solidFill>
                <a:latin typeface="Aptos"/>
              </a:rPr>
              <a:t>payment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3273552"/>
            <a:ext cx="1682496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4AEBA"/>
                </a:solidFill>
                <a:latin typeface="Aptos"/>
              </a:rPr>
              <a:t>nested object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9048" y="2331720"/>
            <a:ext cx="4005072" cy="457200"/>
          </a:xfrm>
          <a:prstGeom prst="line">
            <a:avLst/>
          </a:prstGeom>
          <a:ln w="19050">
            <a:solidFill>
              <a:srgbClr val="FF8C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234440" y="4617720"/>
            <a:ext cx="1737360" cy="329184"/>
          </a:xfrm>
          <a:prstGeom prst="roundRect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8448" y="4663440"/>
            <a:ext cx="160934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0B0E12"/>
                </a:solidFill>
                <a:latin typeface="Aptos"/>
              </a:rPr>
              <a:t>orderId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4617720"/>
            <a:ext cx="1737360" cy="329184"/>
          </a:xfrm>
          <a:prstGeom prst="roundRect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8728" y="4663440"/>
            <a:ext cx="160934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0B0E12"/>
                </a:solidFill>
                <a:latin typeface="Aptos"/>
              </a:rPr>
              <a:t>orderDate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0" y="4617720"/>
            <a:ext cx="1737360" cy="329184"/>
          </a:xfrm>
          <a:prstGeom prst="roundRect">
            <a:avLst/>
          </a:prstGeom>
          <a:solidFill>
            <a:srgbClr val="8F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79008" y="4663440"/>
            <a:ext cx="160934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0B0E12"/>
                </a:solidFill>
                <a:latin typeface="Aptos"/>
              </a:rPr>
              <a:t>status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80" y="4617720"/>
            <a:ext cx="1737360" cy="329184"/>
          </a:xfrm>
          <a:prstGeom prst="roundRect">
            <a:avLst/>
          </a:prstGeom>
          <a:solidFill>
            <a:srgbClr val="45C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9288" y="4663440"/>
            <a:ext cx="160934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0B0E12"/>
                </a:solidFill>
                <a:latin typeface="Aptos"/>
              </a:rPr>
              <a:t>customerId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" y="5074920"/>
            <a:ext cx="9966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5F7FA"/>
                </a:solidFill>
                <a:latin typeface="Aptos"/>
              </a:rPr>
              <a:t>Top-level fields establish the identity and state; nested fields organize related business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7FA"/>
                </a:solidFill>
                <a:latin typeface="Aptos"/>
              </a:rPr>
              <a:t>Embedded Objects: Keep Closely Related Data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13816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4AEBA"/>
                </a:solidFill>
                <a:latin typeface="Aptos"/>
              </a:rPr>
              <a:t>An embedded document is a structured object stored inside its parent document.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" y="1353312"/>
            <a:ext cx="7040880" cy="4434840"/>
          </a:xfrm>
          <a:prstGeom prst="roundRect">
            <a:avLst/>
          </a:prstGeom>
          <a:solidFill>
            <a:srgbClr val="11161C"/>
          </a:solidFill>
          <a:ln w="1524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600200"/>
            <a:ext cx="6309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8C18"/>
                </a:solidFill>
                <a:latin typeface="Aptos"/>
              </a:rPr>
              <a:t>Example: shippingAddress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103120"/>
            <a:ext cx="6309360" cy="297180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395728"/>
            <a:ext cx="21488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A"/>
                </a:solidFill>
                <a:latin typeface="Consolas"/>
              </a:rPr>
              <a:t>order = {
  orderId: "ORD-1001",
  status: "CONFIRMED",
  shippingAddress: {
     city: "Chennai",
     country: "India"
  }
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3337560"/>
            <a:ext cx="1965960" cy="329184"/>
          </a:xfrm>
          <a:prstGeom prst="roundRect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9976" y="3383279"/>
            <a:ext cx="183794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0B0E12"/>
                </a:solidFill>
                <a:latin typeface="Aptos"/>
              </a:rPr>
              <a:t>shippingAddress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767328"/>
            <a:ext cx="1965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4AEBA"/>
                </a:solidFill>
                <a:latin typeface="Aptos"/>
              </a:rPr>
              <a:t>Nested object
inside the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353312"/>
            <a:ext cx="3931920" cy="443484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8431" y="1600200"/>
            <a:ext cx="3429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F97FF"/>
                </a:solidFill>
                <a:latin typeface="Aptos"/>
              </a:rPr>
              <a:t>Good fit when…</a:t>
            </a:r>
          </a:p>
        </p:txBody>
      </p:sp>
      <p:sp>
        <p:nvSpPr>
          <p:cNvPr id="14" name="Oval 13"/>
          <p:cNvSpPr/>
          <p:nvPr/>
        </p:nvSpPr>
        <p:spPr>
          <a:xfrm>
            <a:off x="8065008" y="2322576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240280"/>
            <a:ext cx="299008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Read with parent</a:t>
            </a:r>
          </a:p>
        </p:txBody>
      </p:sp>
      <p:sp>
        <p:nvSpPr>
          <p:cNvPr id="16" name="Oval 15"/>
          <p:cNvSpPr/>
          <p:nvPr/>
        </p:nvSpPr>
        <p:spPr>
          <a:xfrm>
            <a:off x="8065008" y="2980944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898648"/>
            <a:ext cx="299008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Same ownership</a:t>
            </a:r>
          </a:p>
        </p:txBody>
      </p:sp>
      <p:sp>
        <p:nvSpPr>
          <p:cNvPr id="18" name="Oval 17"/>
          <p:cNvSpPr/>
          <p:nvPr/>
        </p:nvSpPr>
        <p:spPr>
          <a:xfrm>
            <a:off x="8065008" y="3639311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3557015"/>
            <a:ext cx="299008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Small and bounded</a:t>
            </a:r>
          </a:p>
        </p:txBody>
      </p:sp>
      <p:sp>
        <p:nvSpPr>
          <p:cNvPr id="20" name="Oval 19"/>
          <p:cNvSpPr/>
          <p:nvPr/>
        </p:nvSpPr>
        <p:spPr>
          <a:xfrm>
            <a:off x="8065008" y="4297679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215383"/>
            <a:ext cx="299008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Natural business object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498348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4AEBA"/>
                </a:solidFill>
                <a:latin typeface="Aptos"/>
              </a:rPr>
              <a:t>Example: address details used whenever the order is shown.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7FA"/>
                </a:solidFill>
                <a:latin typeface="Aptos"/>
              </a:rPr>
              <a:t>Arrays of Embedded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13816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4AEBA"/>
                </a:solidFill>
                <a:latin typeface="Aptos"/>
              </a:rPr>
              <a:t>Use an array when one parent naturally owns multiple related items.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71600"/>
            <a:ext cx="7543800" cy="429768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609344"/>
            <a:ext cx="6903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F97FF"/>
                </a:solidFill>
                <a:latin typeface="Aptos"/>
              </a:rPr>
              <a:t>items[] inside an order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417320" cy="329184"/>
          </a:xfrm>
          <a:prstGeom prst="roundRect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5" y="2286000"/>
            <a:ext cx="128930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0B0E12"/>
                </a:solidFill>
                <a:latin typeface="Aptos"/>
              </a:rPr>
              <a:t>items[]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2084831"/>
            <a:ext cx="1508760" cy="2148840"/>
          </a:xfrm>
          <a:prstGeom prst="roundRect">
            <a:avLst/>
          </a:prstGeom>
          <a:solidFill>
            <a:srgbClr val="11161C"/>
          </a:solidFill>
          <a:ln w="1778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60" y="2286000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8C18"/>
                </a:solidFill>
                <a:latin typeface="Aptos"/>
              </a:rPr>
              <a:t>Item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0591" y="2770632"/>
            <a:ext cx="127101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productId
qty
price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2084831"/>
            <a:ext cx="1508760" cy="2148840"/>
          </a:xfrm>
          <a:prstGeom prst="roundRect">
            <a:avLst/>
          </a:prstGeom>
          <a:solidFill>
            <a:srgbClr val="11161C"/>
          </a:solidFill>
          <a:ln w="17780">
            <a:solidFill>
              <a:srgbClr val="8F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59" y="2286000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8F69F0"/>
                </a:solidFill>
                <a:latin typeface="Aptos"/>
              </a:rPr>
              <a:t>Item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770632"/>
            <a:ext cx="127101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productId
qty
price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084831"/>
            <a:ext cx="1508760" cy="2148840"/>
          </a:xfrm>
          <a:prstGeom prst="roundRect">
            <a:avLst/>
          </a:prstGeom>
          <a:solidFill>
            <a:srgbClr val="11161C"/>
          </a:solidFill>
          <a:ln w="17780">
            <a:solidFill>
              <a:srgbClr val="8F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59" y="2286000"/>
            <a:ext cx="1325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8F69F0"/>
                </a:solidFill>
                <a:latin typeface="Aptos"/>
              </a:rPr>
              <a:t>Item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2770632"/>
            <a:ext cx="127101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Aptos"/>
              </a:rPr>
              <a:t>productId
qty
price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167128" y="2414016"/>
            <a:ext cx="164592" cy="740664"/>
          </a:xfrm>
          <a:prstGeom prst="line">
            <a:avLst/>
          </a:prstGeom>
          <a:ln w="25400">
            <a:solidFill>
              <a:srgbClr val="2F9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167128" y="2414016"/>
            <a:ext cx="1993392" cy="740664"/>
          </a:xfrm>
          <a:prstGeom prst="line">
            <a:avLst/>
          </a:prstGeom>
          <a:ln w="25400">
            <a:solidFill>
              <a:srgbClr val="2F9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167128" y="2414016"/>
            <a:ext cx="3822192" cy="740664"/>
          </a:xfrm>
          <a:prstGeom prst="line">
            <a:avLst/>
          </a:prstGeom>
          <a:ln w="25400">
            <a:solidFill>
              <a:srgbClr val="2F9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9808" y="4617720"/>
            <a:ext cx="6903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The items are part of the order. They travel with the parent document and can be read as one business object.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1371600"/>
            <a:ext cx="3520440" cy="4297680"/>
          </a:xfrm>
          <a:prstGeom prst="roundRect">
            <a:avLst/>
          </a:prstGeom>
          <a:solidFill>
            <a:srgbClr val="11161C"/>
          </a:solidFill>
          <a:ln w="1524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912" y="1609344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8C18"/>
                </a:solidFill>
                <a:latin typeface="Aptos"/>
              </a:rPr>
              <a:t>Watch the growth</a:t>
            </a:r>
          </a:p>
        </p:txBody>
      </p:sp>
      <p:sp>
        <p:nvSpPr>
          <p:cNvPr id="24" name="Oval 23"/>
          <p:cNvSpPr/>
          <p:nvPr/>
        </p:nvSpPr>
        <p:spPr>
          <a:xfrm>
            <a:off x="8467344" y="2322576"/>
            <a:ext cx="73152" cy="73152"/>
          </a:xfrm>
          <a:prstGeom prst="ellipse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31936" y="2240280"/>
            <a:ext cx="271576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Small or bounded arrays are easier to reason about</a:t>
            </a:r>
          </a:p>
        </p:txBody>
      </p:sp>
      <p:sp>
        <p:nvSpPr>
          <p:cNvPr id="26" name="Oval 25"/>
          <p:cNvSpPr/>
          <p:nvPr/>
        </p:nvSpPr>
        <p:spPr>
          <a:xfrm>
            <a:off x="8467344" y="3127248"/>
            <a:ext cx="73152" cy="73152"/>
          </a:xfrm>
          <a:prstGeom prst="ellipse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31936" y="3044952"/>
            <a:ext cx="271576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Large or unbounded arrays need a different design discussion</a:t>
            </a:r>
          </a:p>
        </p:txBody>
      </p:sp>
      <p:sp>
        <p:nvSpPr>
          <p:cNvPr id="28" name="Oval 27"/>
          <p:cNvSpPr/>
          <p:nvPr/>
        </p:nvSpPr>
        <p:spPr>
          <a:xfrm>
            <a:off x="8467344" y="3931920"/>
            <a:ext cx="73152" cy="73152"/>
          </a:xfrm>
          <a:prstGeom prst="ellipse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31936" y="3849624"/>
            <a:ext cx="271576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Choose based on access patterns and lifecycle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7FA"/>
                </a:solidFill>
                <a:latin typeface="Aptos"/>
              </a:rPr>
              <a:t>Shape and Naming: Make the Document Obvious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13816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4AEBA"/>
                </a:solidFill>
                <a:latin typeface="Aptos"/>
              </a:rPr>
              <a:t>Readable field names and consistent nesting reduce cognitive load for developers.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53312"/>
            <a:ext cx="5349240" cy="4526280"/>
          </a:xfrm>
          <a:prstGeom prst="roundRect">
            <a:avLst/>
          </a:prstGeom>
          <a:solidFill>
            <a:srgbClr val="11161C"/>
          </a:solidFill>
          <a:ln w="15240">
            <a:solidFill>
              <a:srgbClr val="EB53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00200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B534C"/>
                </a:solidFill>
                <a:latin typeface="Aptos"/>
              </a:rPr>
              <a:t>Avoid ambiguous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40280"/>
            <a:ext cx="45720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Consolas"/>
              </a:rPr>
              <a:t>{
  d1: "ORD-1001",
  x: { c: "Chennai" },
  l: [ ... ],
  p: { s: "OK" }
}</a:t>
            </a:r>
          </a:p>
        </p:txBody>
      </p:sp>
      <p:sp>
        <p:nvSpPr>
          <p:cNvPr id="8" name="Oval 7"/>
          <p:cNvSpPr/>
          <p:nvPr/>
        </p:nvSpPr>
        <p:spPr>
          <a:xfrm>
            <a:off x="758952" y="4370831"/>
            <a:ext cx="73152" cy="73152"/>
          </a:xfrm>
          <a:prstGeom prst="ellipse">
            <a:avLst/>
          </a:prstGeom>
          <a:solidFill>
            <a:srgbClr val="EB5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315968"/>
            <a:ext cx="4206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EE4EB"/>
                </a:solidFill>
                <a:latin typeface="Aptos"/>
              </a:rPr>
              <a:t>Hard to discover</a:t>
            </a:r>
          </a:p>
        </p:txBody>
      </p:sp>
      <p:sp>
        <p:nvSpPr>
          <p:cNvPr id="10" name="Oval 9"/>
          <p:cNvSpPr/>
          <p:nvPr/>
        </p:nvSpPr>
        <p:spPr>
          <a:xfrm>
            <a:off x="758952" y="4736592"/>
            <a:ext cx="73152" cy="73152"/>
          </a:xfrm>
          <a:prstGeom prst="ellipse">
            <a:avLst/>
          </a:prstGeom>
          <a:solidFill>
            <a:srgbClr val="EB5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681728"/>
            <a:ext cx="4206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EE4EB"/>
                </a:solidFill>
                <a:latin typeface="Aptos"/>
              </a:rPr>
              <a:t>Meaning hidden in abbreviations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353312"/>
            <a:ext cx="5669280" cy="452628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60020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8C18"/>
                </a:solidFill>
                <a:latin typeface="Aptos"/>
              </a:rPr>
              <a:t>Prefer business meaning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2240280"/>
            <a:ext cx="50749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5F7FA"/>
                </a:solidFill>
                <a:latin typeface="Consolas"/>
              </a:rPr>
              <a:t>{
  orderId: "ORD-1001",
  shippingAddress: { city: "Chennai" },
  items: [ { productId, quantity, price } ],
  payment: { method, status }
}</a:t>
            </a:r>
          </a:p>
        </p:txBody>
      </p:sp>
      <p:sp>
        <p:nvSpPr>
          <p:cNvPr id="15" name="Oval 14"/>
          <p:cNvSpPr/>
          <p:nvPr/>
        </p:nvSpPr>
        <p:spPr>
          <a:xfrm>
            <a:off x="6336792" y="4425696"/>
            <a:ext cx="73152" cy="73152"/>
          </a:xfrm>
          <a:prstGeom prst="ellipse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4370832"/>
            <a:ext cx="4480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EE4EB"/>
                </a:solidFill>
                <a:latin typeface="Aptos"/>
              </a:rPr>
              <a:t>Self-describing fields</a:t>
            </a:r>
          </a:p>
        </p:txBody>
      </p:sp>
      <p:sp>
        <p:nvSpPr>
          <p:cNvPr id="17" name="Oval 16"/>
          <p:cNvSpPr/>
          <p:nvPr/>
        </p:nvSpPr>
        <p:spPr>
          <a:xfrm>
            <a:off x="6336792" y="4791455"/>
            <a:ext cx="73152" cy="73152"/>
          </a:xfrm>
          <a:prstGeom prst="ellipse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736592"/>
            <a:ext cx="4480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EE4EB"/>
                </a:solidFill>
                <a:latin typeface="Aptos"/>
              </a:rPr>
              <a:t>Consistent nesting</a:t>
            </a:r>
          </a:p>
        </p:txBody>
      </p:sp>
      <p:sp>
        <p:nvSpPr>
          <p:cNvPr id="19" name="Oval 18"/>
          <p:cNvSpPr/>
          <p:nvPr/>
        </p:nvSpPr>
        <p:spPr>
          <a:xfrm>
            <a:off x="6336792" y="5157216"/>
            <a:ext cx="73152" cy="73152"/>
          </a:xfrm>
          <a:prstGeom prst="ellipse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5102352"/>
            <a:ext cx="4480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EE4EB"/>
                </a:solidFill>
                <a:latin typeface="Aptos"/>
              </a:rPr>
              <a:t>Easy to discuss in code review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7FA"/>
                </a:solidFill>
                <a:latin typeface="Aptos"/>
              </a:rPr>
              <a:t>Design for Growth, Size, and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13816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4AEBA"/>
                </a:solidFill>
                <a:latin typeface="Aptos"/>
              </a:rPr>
              <a:t>A structure can be correct today and still become a problem when data grows or lifecycles diverge.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89888"/>
            <a:ext cx="5285232" cy="1627632"/>
          </a:xfrm>
          <a:prstGeom prst="roundRect">
            <a:avLst/>
          </a:prstGeom>
          <a:solidFill>
            <a:srgbClr val="171D25"/>
          </a:solidFill>
          <a:ln w="1778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91056"/>
            <a:ext cx="1051560" cy="329184"/>
          </a:xfrm>
          <a:prstGeom prst="roundRect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36776"/>
            <a:ext cx="92354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48256"/>
            <a:ext cx="47091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Could this field set or array grow dramatically?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389888"/>
            <a:ext cx="5285232" cy="1627632"/>
          </a:xfrm>
          <a:prstGeom prst="roundRect">
            <a:avLst/>
          </a:prstGeom>
          <a:solidFill>
            <a:srgbClr val="171D25"/>
          </a:solidFill>
          <a:ln w="17780">
            <a:solidFill>
              <a:srgbClr val="8F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591056"/>
            <a:ext cx="1051560" cy="329184"/>
          </a:xfrm>
          <a:prstGeom prst="roundRect">
            <a:avLst/>
          </a:prstGeom>
          <a:solidFill>
            <a:srgbClr val="8F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636776"/>
            <a:ext cx="92354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OWNERSHIP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048256"/>
            <a:ext cx="47091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Does another workflow manage it independently?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0128"/>
            <a:ext cx="5285232" cy="1627632"/>
          </a:xfrm>
          <a:prstGeom prst="roundRect">
            <a:avLst/>
          </a:prstGeom>
          <a:solidFill>
            <a:srgbClr val="171D25"/>
          </a:solidFill>
          <a:ln w="1778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511296"/>
            <a:ext cx="1051560" cy="329184"/>
          </a:xfrm>
          <a:prstGeom prst="roundRect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557016"/>
            <a:ext cx="92354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68496"/>
            <a:ext cx="47091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Will it change often without the parent?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3310128"/>
            <a:ext cx="5285232" cy="1627632"/>
          </a:xfrm>
          <a:prstGeom prst="roundRect">
            <a:avLst/>
          </a:prstGeom>
          <a:solidFill>
            <a:srgbClr val="171D25"/>
          </a:solidFill>
          <a:ln w="17780">
            <a:solidFill>
              <a:srgbClr val="45C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3511296"/>
            <a:ext cx="1051560" cy="329184"/>
          </a:xfrm>
          <a:prstGeom prst="roundRect">
            <a:avLst/>
          </a:prstGeom>
          <a:solidFill>
            <a:srgbClr val="45C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557016"/>
            <a:ext cx="92354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ACCESS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968496"/>
            <a:ext cx="47091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Is it normally needed with the parent?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4406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8C18"/>
                </a:solidFill>
                <a:latin typeface="Aptos"/>
              </a:rPr>
              <a:t>Rule of thumb: keep naturally together data together, but do not force large, shared, or independently managed data into one document.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7FA"/>
                </a:solidFill>
                <a:latin typeface="Aptos"/>
              </a:rPr>
              <a:t>Let Access Patterns Drive the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13816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4AEBA"/>
                </a:solidFill>
                <a:latin typeface="Aptos"/>
              </a:rPr>
              <a:t>Start with the questions the application asks, then design the path to the answer.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703320" cy="4526280"/>
          </a:xfrm>
          <a:prstGeom prst="roundRect">
            <a:avLst/>
          </a:prstGeom>
          <a:solidFill>
            <a:srgbClr val="11161C"/>
          </a:solidFill>
          <a:ln w="1524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609344"/>
            <a:ext cx="3154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F97FF"/>
                </a:solidFill>
                <a:latin typeface="Aptos"/>
              </a:rPr>
              <a:t>Business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240280"/>
            <a:ext cx="1097280" cy="329184"/>
          </a:xfrm>
          <a:prstGeom prst="roundRect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5" y="2286000"/>
            <a:ext cx="96926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Show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58568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Aptos"/>
              </a:rPr>
              <a:t>Need order + items + shipping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990088"/>
            <a:ext cx="1097280" cy="329184"/>
          </a:xfrm>
          <a:prstGeom prst="roundRect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" y="3035808"/>
            <a:ext cx="96926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List 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008376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Aptos"/>
              </a:rPr>
              <a:t>Need order status + 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739896"/>
            <a:ext cx="1097280" cy="329184"/>
          </a:xfrm>
          <a:prstGeom prst="roundRect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" y="3785615"/>
            <a:ext cx="96926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Reuse product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758183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Aptos"/>
              </a:rPr>
              <a:t>Product has its own lifecycle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4489704"/>
            <a:ext cx="1097280" cy="329184"/>
          </a:xfrm>
          <a:prstGeom prst="roundRect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" y="4535424"/>
            <a:ext cx="96926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Track payment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507992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Aptos"/>
              </a:rPr>
              <a:t>Payment may need its own controls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1353312"/>
            <a:ext cx="3154680" cy="452628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82312" y="1609344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8C18"/>
                </a:solidFill>
                <a:latin typeface="Aptos"/>
              </a:rPr>
              <a:t>Model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8032" y="228600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Aptos"/>
              </a:rPr>
              <a:t>Together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0" y="2267712"/>
            <a:ext cx="1143000" cy="329184"/>
          </a:xfrm>
          <a:prstGeom prst="roundRect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9048" y="2313432"/>
            <a:ext cx="101498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Embed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3035808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Aptos"/>
              </a:rPr>
              <a:t>Shared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3017520"/>
            <a:ext cx="1143000" cy="329184"/>
          </a:xfrm>
          <a:prstGeom prst="roundRect">
            <a:avLst/>
          </a:prstGeom>
          <a:solidFill>
            <a:srgbClr val="8F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9048" y="3063239"/>
            <a:ext cx="101498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Reference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3785615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Aptos"/>
              </a:rPr>
              <a:t>Bounded 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3767328"/>
            <a:ext cx="1143000" cy="329184"/>
          </a:xfrm>
          <a:prstGeom prst="roundRect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9048" y="3813048"/>
            <a:ext cx="101498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Array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4535424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Aptos"/>
              </a:rPr>
              <a:t>Mixed needs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0" y="4517136"/>
            <a:ext cx="1143000" cy="329184"/>
          </a:xfrm>
          <a:prstGeom prst="roundRect">
            <a:avLst/>
          </a:prstGeom>
          <a:solidFill>
            <a:srgbClr val="45C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9048" y="4562856"/>
            <a:ext cx="101498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Hybrid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1353312"/>
            <a:ext cx="3703320" cy="4526280"/>
          </a:xfrm>
          <a:prstGeom prst="roundRect">
            <a:avLst/>
          </a:prstGeom>
          <a:solidFill>
            <a:srgbClr val="11161C"/>
          </a:solidFill>
          <a:ln w="1524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57031" y="1609344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F97FF"/>
                </a:solidFill>
                <a:latin typeface="Aptos"/>
              </a:rPr>
              <a:t>Document 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031" y="2240280"/>
            <a:ext cx="3063240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5F7FA"/>
                </a:solidFill>
                <a:latin typeface="Aptos"/>
              </a:rPr>
              <a:t>orderId
customer
items[]
shippingAddress
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493776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A4AEBA"/>
                </a:solidFill>
                <a:latin typeface="Aptos"/>
              </a:rPr>
              <a:t>The document shape should make the common read path obvious.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206240" y="3611880"/>
            <a:ext cx="320040" cy="0"/>
          </a:xfrm>
          <a:prstGeom prst="line">
            <a:avLst/>
          </a:prstGeom>
          <a:ln w="25400">
            <a:solidFill>
              <a:srgbClr val="FF8C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680960" y="3611880"/>
            <a:ext cx="320040" cy="0"/>
          </a:xfrm>
          <a:prstGeom prst="line">
            <a:avLst/>
          </a:prstGeom>
          <a:ln w="25400">
            <a:solidFill>
              <a:srgbClr val="FF8C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7FA"/>
                </a:solidFill>
                <a:latin typeface="Aptos"/>
              </a:rPr>
              <a:t>Hands-On: Shape an Order Document in mongosh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13816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4AEBA"/>
                </a:solidFill>
                <a:latin typeface="Aptos"/>
              </a:rPr>
              <a:t>Build a document that mirrors the business object before moving into deeper querying and updates later.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35024"/>
            <a:ext cx="7360920" cy="4663440"/>
          </a:xfrm>
          <a:prstGeom prst="roundRect">
            <a:avLst/>
          </a:prstGeom>
          <a:solidFill>
            <a:srgbClr val="11161C"/>
          </a:solidFill>
          <a:ln w="1524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81912"/>
            <a:ext cx="1051560" cy="329184"/>
          </a:xfrm>
          <a:prstGeom prst="roundRect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627632"/>
            <a:ext cx="923543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B0E12"/>
                </a:solidFill>
                <a:latin typeface="Aptos"/>
              </a:rPr>
              <a:t>mongosh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93392"/>
            <a:ext cx="6812280" cy="342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use order_modeling
db.orders.drop()
db.orders.insertOne({
  orderId: "ORD-1001",
  orderDate: new Date(),
  status: "CONFIRMED",
  customer: { customerId: "CUST-001", segment: "Enterprise" },
  items: [
    { productId: "P100", quantity: 2, price: 499.50 },
    { productId: "P200", quantity: 1, price: 25.50 }
  ],
  shippingAddress: { city: "Chennai", country: "India" },
  payment: { method: "CARD", status: "AUTHORIZED" }
})
db.orders.findOne({ orderId: "ORD-1001" }).pretty()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1335024"/>
            <a:ext cx="3675887" cy="4663440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4464" y="160020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F97FF"/>
                </a:solidFill>
                <a:latin typeface="Aptos"/>
              </a:rPr>
              <a:t>What to notice</a:t>
            </a:r>
          </a:p>
        </p:txBody>
      </p:sp>
      <p:sp>
        <p:nvSpPr>
          <p:cNvPr id="11" name="Oval 10"/>
          <p:cNvSpPr/>
          <p:nvPr/>
        </p:nvSpPr>
        <p:spPr>
          <a:xfrm>
            <a:off x="8321040" y="2304288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2221992"/>
            <a:ext cx="2834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customer is a nested object</a:t>
            </a:r>
          </a:p>
        </p:txBody>
      </p:sp>
      <p:sp>
        <p:nvSpPr>
          <p:cNvPr id="13" name="Oval 12"/>
          <p:cNvSpPr/>
          <p:nvPr/>
        </p:nvSpPr>
        <p:spPr>
          <a:xfrm>
            <a:off x="8321040" y="2962656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85632" y="2880360"/>
            <a:ext cx="2834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items is an array of objects</a:t>
            </a:r>
          </a:p>
        </p:txBody>
      </p:sp>
      <p:sp>
        <p:nvSpPr>
          <p:cNvPr id="15" name="Oval 14"/>
          <p:cNvSpPr/>
          <p:nvPr/>
        </p:nvSpPr>
        <p:spPr>
          <a:xfrm>
            <a:off x="8321040" y="3621024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3538728"/>
            <a:ext cx="2834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shippingAddress is nested</a:t>
            </a:r>
          </a:p>
        </p:txBody>
      </p:sp>
      <p:sp>
        <p:nvSpPr>
          <p:cNvPr id="17" name="Oval 16"/>
          <p:cNvSpPr/>
          <p:nvPr/>
        </p:nvSpPr>
        <p:spPr>
          <a:xfrm>
            <a:off x="8321040" y="4279392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5632" y="4197096"/>
            <a:ext cx="2834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payment is nested</a:t>
            </a:r>
          </a:p>
        </p:txBody>
      </p:sp>
      <p:sp>
        <p:nvSpPr>
          <p:cNvPr id="19" name="Oval 18"/>
          <p:cNvSpPr/>
          <p:nvPr/>
        </p:nvSpPr>
        <p:spPr>
          <a:xfrm>
            <a:off x="8321040" y="4937759"/>
            <a:ext cx="73152" cy="73152"/>
          </a:xfrm>
          <a:prstGeom prst="ellipse">
            <a:avLst/>
          </a:prstGeom>
          <a:solidFill>
            <a:srgbClr val="2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85632" y="4855464"/>
            <a:ext cx="2834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one order is one business document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02752" y="5285232"/>
            <a:ext cx="2606040" cy="329184"/>
          </a:xfrm>
          <a:prstGeom prst="roundRect">
            <a:avLst/>
          </a:prstGeom>
          <a:solidFill>
            <a:srgbClr val="FF8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5330952"/>
            <a:ext cx="247802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0B0E12"/>
                </a:solidFill>
                <a:latin typeface="Aptos"/>
              </a:rPr>
              <a:t>Model first • query second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4747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Aptos"/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13816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A4AEBA"/>
                </a:solidFill>
                <a:latin typeface="Aptos"/>
              </a:rPr>
              <a:t>Structure the document around the way the application uses the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26864" y="1481328"/>
            <a:ext cx="2944368" cy="749808"/>
          </a:xfrm>
          <a:prstGeom prst="roundRect">
            <a:avLst/>
          </a:prstGeom>
          <a:solidFill>
            <a:srgbClr val="171D25"/>
          </a:solidFill>
          <a:ln w="2540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36592" y="1700784"/>
            <a:ext cx="272491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8C18"/>
                </a:solidFill>
                <a:latin typeface="Aptos"/>
              </a:rPr>
              <a:t>APPLICATION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28800"/>
            <a:ext cx="2788920" cy="713232"/>
          </a:xfrm>
          <a:prstGeom prst="roundRect">
            <a:avLst/>
          </a:prstGeom>
          <a:solidFill>
            <a:srgbClr val="11161C"/>
          </a:solidFill>
          <a:ln w="1778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002536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2F97FF"/>
                </a:solidFill>
                <a:latin typeface="Aptos"/>
              </a:rPr>
              <a:t>Requirements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069080"/>
            <a:ext cx="2788920" cy="713232"/>
          </a:xfrm>
          <a:prstGeom prst="roundRect">
            <a:avLst/>
          </a:prstGeom>
          <a:solidFill>
            <a:srgbClr val="11161C"/>
          </a:solidFill>
          <a:ln w="17780">
            <a:solidFill>
              <a:srgbClr val="45C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4242816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45C5DE"/>
                </a:solidFill>
                <a:latin typeface="Aptos"/>
              </a:rPr>
              <a:t>Access Patterns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1828800"/>
            <a:ext cx="2788920" cy="713232"/>
          </a:xfrm>
          <a:prstGeom prst="roundRect">
            <a:avLst/>
          </a:prstGeom>
          <a:solidFill>
            <a:srgbClr val="11161C"/>
          </a:solidFill>
          <a:ln w="17780">
            <a:solidFill>
              <a:srgbClr val="8F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7" y="2002536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8F69F0"/>
                </a:solidFill>
                <a:latin typeface="Aptos"/>
              </a:rPr>
              <a:t>Nested Objects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4069080"/>
            <a:ext cx="2788920" cy="713232"/>
          </a:xfrm>
          <a:prstGeom prst="roundRect">
            <a:avLst/>
          </a:prstGeom>
          <a:solidFill>
            <a:srgbClr val="11161C"/>
          </a:solidFill>
          <a:ln w="1778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3648" y="4242816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2F97FF"/>
                </a:solidFill>
                <a:latin typeface="Aptos"/>
              </a:rPr>
              <a:t>Arrays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60" y="4800600"/>
            <a:ext cx="2788920" cy="713232"/>
          </a:xfrm>
          <a:prstGeom prst="roundRect">
            <a:avLst/>
          </a:prstGeom>
          <a:solidFill>
            <a:srgbClr val="11161C"/>
          </a:solidFill>
          <a:ln w="1778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4488" y="4974336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8C18"/>
                </a:solidFill>
                <a:latin typeface="Aptos"/>
              </a:rPr>
              <a:t>Growth &amp; Ownership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2185416"/>
            <a:ext cx="2441448" cy="45720"/>
          </a:xfrm>
          <a:prstGeom prst="line">
            <a:avLst/>
          </a:prstGeom>
          <a:ln w="22860">
            <a:solidFill>
              <a:srgbClr val="2F9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657600" y="2231136"/>
            <a:ext cx="2441448" cy="2194560"/>
          </a:xfrm>
          <a:prstGeom prst="line">
            <a:avLst/>
          </a:prstGeom>
          <a:ln w="22860">
            <a:solidFill>
              <a:srgbClr val="45C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099048" y="2185416"/>
            <a:ext cx="1490472" cy="45720"/>
          </a:xfrm>
          <a:prstGeom prst="line">
            <a:avLst/>
          </a:prstGeom>
          <a:ln w="22860">
            <a:solidFill>
              <a:srgbClr val="8F69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9048" y="2231136"/>
            <a:ext cx="1490472" cy="2194560"/>
          </a:xfrm>
          <a:prstGeom prst="line">
            <a:avLst/>
          </a:prstGeom>
          <a:ln w="22860">
            <a:solidFill>
              <a:srgbClr val="2F9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089904" y="2231136"/>
            <a:ext cx="9144" cy="2569464"/>
          </a:xfrm>
          <a:prstGeom prst="line">
            <a:avLst/>
          </a:prstGeom>
          <a:ln w="22860">
            <a:solidFill>
              <a:srgbClr val="FF8C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5669280"/>
            <a:ext cx="2560320" cy="658368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FF8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806440"/>
            <a:ext cx="841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8C18"/>
                </a:solidFill>
                <a:latin typeface="Aptos"/>
              </a:rPr>
              <a:t>Embed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5769864"/>
            <a:ext cx="14813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5F7FA"/>
                </a:solidFill>
                <a:latin typeface="Aptos"/>
              </a:rPr>
              <a:t>Close, bounded 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0" y="5669280"/>
            <a:ext cx="2560320" cy="658368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2F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0" y="5806440"/>
            <a:ext cx="841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F97FF"/>
                </a:solidFill>
                <a:latin typeface="Aptos"/>
              </a:rPr>
              <a:t>Array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5769864"/>
            <a:ext cx="14813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5F7FA"/>
                </a:solidFill>
                <a:latin typeface="Aptos"/>
              </a:rPr>
              <a:t>Multiple owned items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5669280"/>
            <a:ext cx="2560320" cy="658368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8F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5806440"/>
            <a:ext cx="841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F69F0"/>
                </a:solidFill>
                <a:latin typeface="Aptos"/>
              </a:rPr>
              <a:t>Reference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96912" y="5769864"/>
            <a:ext cx="14813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5F7FA"/>
                </a:solidFill>
                <a:latin typeface="Aptos"/>
              </a:rPr>
              <a:t>Shared or independent data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35440" y="5669280"/>
            <a:ext cx="2560320" cy="658368"/>
          </a:xfrm>
          <a:prstGeom prst="roundRect">
            <a:avLst/>
          </a:prstGeom>
          <a:solidFill>
            <a:srgbClr val="171D25"/>
          </a:solidFill>
          <a:ln w="15240">
            <a:solidFill>
              <a:srgbClr val="45C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5806440"/>
            <a:ext cx="841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5C5DE"/>
                </a:solidFill>
                <a:latin typeface="Aptos"/>
              </a:rPr>
              <a:t>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77272" y="5769864"/>
            <a:ext cx="14813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5F7FA"/>
                </a:solidFill>
                <a:latin typeface="Aptos"/>
              </a:rPr>
              <a:t>Mix patterns when needed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