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0" cy="91440"/>
          </a:xfrm>
          <a:prstGeom prst="rect">
            <a:avLst/>
          </a:prstGeom>
          <a:solidFill>
            <a:srgbClr val="39E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86384"/>
            <a:ext cx="10789920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100" b="1">
                <a:solidFill>
                  <a:srgbClr val="F5F8F6"/>
                </a:solidFill>
                <a:latin typeface="Aptos"/>
              </a:rPr>
              <a:t>Lesson 030 — One-to-Many — Embedded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36192"/>
            <a:ext cx="10789920" cy="4754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0">
                <a:solidFill>
                  <a:srgbClr val="AAB4B0"/>
                </a:solidFill>
                <a:latin typeface="Aptos"/>
              </a:rPr>
              <a:t>Model related data with an embedded array inside one parent document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331720"/>
            <a:ext cx="3063240" cy="2560320"/>
          </a:xfrm>
          <a:prstGeom prst="roundRect">
            <a:avLst/>
          </a:prstGeom>
          <a:solidFill>
            <a:srgbClr val="0D1412"/>
          </a:solidFill>
          <a:ln w="15240">
            <a:solidFill>
              <a:srgbClr val="2A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578608"/>
            <a:ext cx="24688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9E85A"/>
                </a:solidFill>
                <a:latin typeface="Aptos"/>
              </a:rPr>
              <a:t>PARENT DOCUMENT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999232"/>
            <a:ext cx="24688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700" b="1">
                <a:solidFill>
                  <a:srgbClr val="F5F8F6"/>
                </a:solidFill>
                <a:latin typeface="Aptos"/>
              </a:rPr>
              <a:t>Avi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547872"/>
            <a:ext cx="24688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0">
                <a:solidFill>
                  <a:srgbClr val="AAB4B0"/>
                </a:solidFill>
                <a:latin typeface="Aptos"/>
              </a:rPr>
              <a:t>Bangalore • RR Nagar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069080"/>
            <a:ext cx="246888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800" b="0">
                <a:solidFill>
                  <a:srgbClr val="39E85A"/>
                </a:solidFill>
                <a:latin typeface="Aptos"/>
              </a:rPr>
              <a:t>orders: [ ... ]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977639" y="3246120"/>
            <a:ext cx="1051560" cy="502920"/>
          </a:xfrm>
          <a:prstGeom prst="rightArrow">
            <a:avLst/>
          </a:prstGeom>
          <a:solidFill>
            <a:srgbClr val="39E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257800" y="2331720"/>
            <a:ext cx="5623560" cy="2560320"/>
          </a:xfrm>
          <a:prstGeom prst="roundRect">
            <a:avLst/>
          </a:prstGeom>
          <a:solidFill>
            <a:srgbClr val="0D1412"/>
          </a:solidFill>
          <a:ln w="15240">
            <a:solidFill>
              <a:srgbClr val="2A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32120" y="2578608"/>
            <a:ext cx="5074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39E85A"/>
                </a:solidFill>
                <a:latin typeface="Aptos"/>
              </a:rPr>
              <a:t>EMBEDDED RELATED ITEMS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32120" y="3246120"/>
            <a:ext cx="1417320" cy="868680"/>
          </a:xfrm>
          <a:prstGeom prst="roundRect">
            <a:avLst/>
          </a:prstGeom>
          <a:solidFill>
            <a:srgbClr val="0A1A11"/>
          </a:solidFill>
          <a:ln w="15240">
            <a:solidFill>
              <a:srgbClr val="39E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32120" y="3511296"/>
            <a:ext cx="141732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F5F8F6"/>
                </a:solidFill>
                <a:latin typeface="Aptos"/>
              </a:rPr>
              <a:t>Order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96328" y="3246120"/>
            <a:ext cx="1417320" cy="868680"/>
          </a:xfrm>
          <a:prstGeom prst="roundRect">
            <a:avLst/>
          </a:prstGeom>
          <a:solidFill>
            <a:srgbClr val="0A1A11"/>
          </a:solidFill>
          <a:ln w="15240">
            <a:solidFill>
              <a:srgbClr val="39E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96328" y="3511296"/>
            <a:ext cx="141732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F5F8F6"/>
                </a:solidFill>
                <a:latin typeface="Aptos"/>
              </a:rPr>
              <a:t>Order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0536" y="3246120"/>
            <a:ext cx="1417320" cy="868680"/>
          </a:xfrm>
          <a:prstGeom prst="roundRect">
            <a:avLst/>
          </a:prstGeom>
          <a:solidFill>
            <a:srgbClr val="0A1A11"/>
          </a:solidFill>
          <a:ln w="15240">
            <a:solidFill>
              <a:srgbClr val="39E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0536" y="3511296"/>
            <a:ext cx="141732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F5F8F6"/>
                </a:solidFill>
                <a:latin typeface="Aptos"/>
              </a:rPr>
              <a:t>Order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2120" y="4370832"/>
            <a:ext cx="50749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0">
                <a:solidFill>
                  <a:srgbClr val="AAB4B0"/>
                </a:solidFill>
                <a:latin typeface="Aptos"/>
              </a:rPr>
              <a:t>One parent + multiple related items in the same document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658368" cy="73152"/>
          </a:xfrm>
          <a:prstGeom prst="rect">
            <a:avLst/>
          </a:prstGeom>
          <a:solidFill>
            <a:srgbClr val="39E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One-to-Many as an Embedded Pattern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00200"/>
            <a:ext cx="3657600" cy="4526280"/>
          </a:xfrm>
          <a:prstGeom prst="roundRect">
            <a:avLst/>
          </a:prstGeom>
          <a:solidFill>
            <a:srgbClr val="0D1412"/>
          </a:solidFill>
          <a:ln w="15240">
            <a:solidFill>
              <a:srgbClr val="2A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30175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39E85A"/>
                </a:solidFill>
                <a:latin typeface="Aptos"/>
              </a:rPr>
              <a:t>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301752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3000" b="1">
                <a:solidFill>
                  <a:srgbClr val="F5F8F6"/>
                </a:solidFill>
                <a:latin typeface="Aptos"/>
              </a:rPr>
              <a:t>Avi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52928"/>
            <a:ext cx="301752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0">
                <a:solidFill>
                  <a:srgbClr val="AAB4B0"/>
                </a:solidFill>
                <a:latin typeface="Aptos"/>
              </a:rPr>
              <a:t>Bangalore • RR Nagar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63240" y="3749039"/>
            <a:ext cx="1600200" cy="0"/>
          </a:xfrm>
          <a:prstGeom prst="line">
            <a:avLst/>
          </a:prstGeom>
          <a:ln w="25400">
            <a:solidFill>
              <a:srgbClr val="39E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063240" y="4343400"/>
            <a:ext cx="1600200" cy="0"/>
          </a:xfrm>
          <a:prstGeom prst="line">
            <a:avLst/>
          </a:prstGeom>
          <a:ln w="25400">
            <a:solidFill>
              <a:srgbClr val="39E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063240" y="4937760"/>
            <a:ext cx="1600200" cy="0"/>
          </a:xfrm>
          <a:prstGeom prst="line">
            <a:avLst/>
          </a:prstGeom>
          <a:ln w="25400">
            <a:solidFill>
              <a:srgbClr val="39E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709160" y="1874519"/>
            <a:ext cx="22860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39E85A"/>
                </a:solidFill>
                <a:latin typeface="Aptos"/>
              </a:rPr>
              <a:t>MANY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3456432"/>
            <a:ext cx="2240280" cy="475488"/>
          </a:xfrm>
          <a:prstGeom prst="roundRect">
            <a:avLst/>
          </a:prstGeom>
          <a:solidFill>
            <a:srgbClr val="0A1811"/>
          </a:solidFill>
          <a:ln w="15240">
            <a:solidFill>
              <a:srgbClr val="39E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3547872"/>
            <a:ext cx="20574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F5F8F6"/>
                </a:solidFill>
                <a:latin typeface="Aptos"/>
              </a:rPr>
              <a:t>Order 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09160" y="4114800"/>
            <a:ext cx="2240280" cy="475488"/>
          </a:xfrm>
          <a:prstGeom prst="roundRect">
            <a:avLst/>
          </a:prstGeom>
          <a:solidFill>
            <a:srgbClr val="0A1811"/>
          </a:solidFill>
          <a:ln w="15240">
            <a:solidFill>
              <a:srgbClr val="39E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4206240"/>
            <a:ext cx="20574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F5F8F6"/>
                </a:solidFill>
                <a:latin typeface="Aptos"/>
              </a:rPr>
              <a:t>Order 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9160" y="4773168"/>
            <a:ext cx="2240280" cy="475488"/>
          </a:xfrm>
          <a:prstGeom prst="roundRect">
            <a:avLst/>
          </a:prstGeom>
          <a:solidFill>
            <a:srgbClr val="0A1811"/>
          </a:solidFill>
          <a:ln w="15240">
            <a:solidFill>
              <a:srgbClr val="39E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0600" y="4864607"/>
            <a:ext cx="20574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F5F8F6"/>
                </a:solidFill>
                <a:latin typeface="Aptos"/>
              </a:rPr>
              <a:t>Order 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1600200"/>
            <a:ext cx="4069080" cy="4526280"/>
          </a:xfrm>
          <a:prstGeom prst="roundRect">
            <a:avLst/>
          </a:prstGeom>
          <a:solidFill>
            <a:srgbClr val="0D1412"/>
          </a:solidFill>
          <a:ln w="15240">
            <a:solidFill>
              <a:srgbClr val="2A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09560" y="1901952"/>
            <a:ext cx="32918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39E85A"/>
                </a:solidFill>
                <a:latin typeface="Aptos"/>
              </a:rPr>
              <a:t>Why embed?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2487168"/>
            <a:ext cx="324612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F5F8F6"/>
                </a:solidFill>
                <a:latin typeface="Aptos"/>
              </a:defRPr>
            </a:pPr>
            <a:r>
              <a:t>• Related items are naturally owned by Avi.</a:t>
            </a:r>
          </a:p>
          <a:p>
            <a:pPr>
              <a:spcAft>
                <a:spcPts val="400"/>
              </a:spcAft>
              <a:defRPr sz="1800">
                <a:solidFill>
                  <a:srgbClr val="F5F8F6"/>
                </a:solidFill>
                <a:latin typeface="Aptos"/>
              </a:defRPr>
            </a:pPr>
            <a:r>
              <a:t>• The number of child items is small or bounded.</a:t>
            </a:r>
          </a:p>
          <a:p>
            <a:pPr>
              <a:spcAft>
                <a:spcPts val="400"/>
              </a:spcAft>
              <a:defRPr sz="1800">
                <a:solidFill>
                  <a:srgbClr val="F5F8F6"/>
                </a:solidFill>
                <a:latin typeface="Aptos"/>
              </a:defRPr>
            </a:pPr>
            <a:r>
              <a:t>• The application often reads them together.</a:t>
            </a:r>
          </a:p>
          <a:p>
            <a:pPr>
              <a:spcAft>
                <a:spcPts val="400"/>
              </a:spcAft>
              <a:defRPr sz="1800">
                <a:solidFill>
                  <a:srgbClr val="F5F8F6"/>
                </a:solidFill>
                <a:latin typeface="Aptos"/>
              </a:defRPr>
            </a:pPr>
            <a:r>
              <a:t>• Keeping them together can simplify reads.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658368" cy="73152"/>
          </a:xfrm>
          <a:prstGeom prst="rect">
            <a:avLst/>
          </a:prstGeom>
          <a:solidFill>
            <a:srgbClr val="39E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Document Shape: One Parent, Many Embedded Items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00200"/>
            <a:ext cx="6400800" cy="4526280"/>
          </a:xfrm>
          <a:prstGeom prst="roundRect">
            <a:avLst/>
          </a:prstGeom>
          <a:solidFill>
            <a:srgbClr val="070C0B"/>
          </a:solidFill>
          <a:ln w="15240">
            <a:solidFill>
              <a:srgbClr val="2A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728216"/>
            <a:ext cx="6071616" cy="4270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t>{</a:t>
            </a:r>
          </a:p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t>  name: "Avi",</a:t>
            </a:r>
          </a:p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t>  location: "Bangalore, RR Nagar",</a:t>
            </a:r>
          </a:p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t>  orders: [</a:t>
            </a:r>
          </a:p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t>    { orderId: "O1001", total: 2500 },</a:t>
            </a:r>
          </a:p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t>    { orderId: "O1002", total: 4200 },</a:t>
            </a:r>
          </a:p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t>    { orderId: "O1003", total: 1800 }</a:t>
            </a:r>
          </a:p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t>  ]</a:t>
            </a:r>
          </a:p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600200"/>
            <a:ext cx="4251960" cy="4526280"/>
          </a:xfrm>
          <a:prstGeom prst="roundRect">
            <a:avLst/>
          </a:prstGeom>
          <a:solidFill>
            <a:srgbClr val="0D1412"/>
          </a:solidFill>
          <a:ln w="15240">
            <a:solidFill>
              <a:srgbClr val="2A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35240" y="1901952"/>
            <a:ext cx="34747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100" b="1">
                <a:solidFill>
                  <a:srgbClr val="39E85A"/>
                </a:solidFill>
                <a:latin typeface="Aptos"/>
              </a:rPr>
              <a:t>Shape rules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487168"/>
            <a:ext cx="338328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F5F8F6"/>
                </a:solidFill>
                <a:latin typeface="Aptos"/>
              </a:defRPr>
            </a:pPr>
            <a:r>
              <a:t>• Parent fields stay at the top level.</a:t>
            </a:r>
          </a:p>
          <a:p>
            <a:pPr>
              <a:spcAft>
                <a:spcPts val="400"/>
              </a:spcAft>
              <a:defRPr sz="1800">
                <a:solidFill>
                  <a:srgbClr val="F5F8F6"/>
                </a:solidFill>
                <a:latin typeface="Aptos"/>
              </a:defRPr>
            </a:pPr>
            <a:r>
              <a:t>• Related items become an array.</a:t>
            </a:r>
          </a:p>
          <a:p>
            <a:pPr>
              <a:spcAft>
                <a:spcPts val="400"/>
              </a:spcAft>
              <a:defRPr sz="1800">
                <a:solidFill>
                  <a:srgbClr val="F5F8F6"/>
                </a:solidFill>
                <a:latin typeface="Aptos"/>
              </a:defRPr>
            </a:pPr>
            <a:r>
              <a:t>• Each array element has a predictable shape.</a:t>
            </a:r>
          </a:p>
          <a:p>
            <a:pPr>
              <a:spcAft>
                <a:spcPts val="400"/>
              </a:spcAft>
              <a:defRPr sz="1800">
                <a:solidFill>
                  <a:srgbClr val="F5F8F6"/>
                </a:solidFill>
                <a:latin typeface="Aptos"/>
              </a:defRPr>
            </a:pPr>
            <a:r>
              <a:t>• The relationship is visible in one document.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658368" cy="73152"/>
          </a:xfrm>
          <a:prstGeom prst="rect">
            <a:avLst/>
          </a:prstGeom>
          <a:solidFill>
            <a:srgbClr val="39E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When Embedded One-to-Many Fits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5257800" cy="1828800"/>
          </a:xfrm>
          <a:prstGeom prst="roundRect">
            <a:avLst/>
          </a:prstGeom>
          <a:solidFill>
            <a:srgbClr val="0B1210"/>
          </a:solidFill>
          <a:ln w="15240">
            <a:solidFill>
              <a:srgbClr val="2A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965960"/>
            <a:ext cx="1325880" cy="347472"/>
          </a:xfrm>
          <a:prstGeom prst="roundRect">
            <a:avLst/>
          </a:prstGeom>
          <a:solidFill>
            <a:srgbClr val="124A28"/>
          </a:solidFill>
          <a:ln w="15240">
            <a:solidFill>
              <a:srgbClr val="39E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002536"/>
            <a:ext cx="1179576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BOUNDED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160" y="2011679"/>
            <a:ext cx="3063240" cy="10058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F5F8F6"/>
                </a:solidFill>
                <a:latin typeface="Aptos"/>
              </a:rPr>
              <a:t>Small or moderate number of related items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737360"/>
            <a:ext cx="5257800" cy="1828800"/>
          </a:xfrm>
          <a:prstGeom prst="roundRect">
            <a:avLst/>
          </a:prstGeom>
          <a:solidFill>
            <a:srgbClr val="0B1210"/>
          </a:solidFill>
          <a:ln w="15240">
            <a:solidFill>
              <a:srgbClr val="2A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92240" y="1965960"/>
            <a:ext cx="1325880" cy="347472"/>
          </a:xfrm>
          <a:prstGeom prst="roundRect">
            <a:avLst/>
          </a:prstGeom>
          <a:solidFill>
            <a:srgbClr val="124A28"/>
          </a:solidFill>
          <a:ln w="15240">
            <a:solidFill>
              <a:srgbClr val="39E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2002536"/>
            <a:ext cx="1179576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TOGETHER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9" y="2011679"/>
            <a:ext cx="3063240" cy="10058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F5F8F6"/>
                </a:solidFill>
                <a:latin typeface="Aptos"/>
              </a:rPr>
              <a:t>Parent and children are usually read together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977639"/>
            <a:ext cx="5257800" cy="1828800"/>
          </a:xfrm>
          <a:prstGeom prst="roundRect">
            <a:avLst/>
          </a:prstGeom>
          <a:solidFill>
            <a:srgbClr val="0B1210"/>
          </a:solidFill>
          <a:ln w="15240">
            <a:solidFill>
              <a:srgbClr val="2A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" y="4206240"/>
            <a:ext cx="1325880" cy="347472"/>
          </a:xfrm>
          <a:prstGeom prst="roundRect">
            <a:avLst/>
          </a:prstGeom>
          <a:solidFill>
            <a:srgbClr val="124A28"/>
          </a:solidFill>
          <a:ln w="15240">
            <a:solidFill>
              <a:srgbClr val="39E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4242816"/>
            <a:ext cx="1179576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OWNED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4251959"/>
            <a:ext cx="3063240" cy="10058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F5F8F6"/>
                </a:solidFill>
                <a:latin typeface="Aptos"/>
              </a:rPr>
              <a:t>Child data belongs naturally to the parent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977639"/>
            <a:ext cx="5257800" cy="1828800"/>
          </a:xfrm>
          <a:prstGeom prst="roundRect">
            <a:avLst/>
          </a:prstGeom>
          <a:solidFill>
            <a:srgbClr val="0B1210"/>
          </a:solidFill>
          <a:ln w="15240">
            <a:solidFill>
              <a:srgbClr val="2A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92240" y="4206240"/>
            <a:ext cx="1325880" cy="347472"/>
          </a:xfrm>
          <a:prstGeom prst="roundRect">
            <a:avLst/>
          </a:prstGeom>
          <a:solidFill>
            <a:srgbClr val="124A28"/>
          </a:solidFill>
          <a:ln w="15240">
            <a:solidFill>
              <a:srgbClr val="39E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65392" y="4242816"/>
            <a:ext cx="1179576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SIMPLE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9" y="4251959"/>
            <a:ext cx="3063240" cy="10058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F5F8F6"/>
                </a:solidFill>
                <a:latin typeface="Aptos"/>
              </a:rPr>
              <a:t>Single-document reads keep application logic simple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658368" cy="73152"/>
          </a:xfrm>
          <a:prstGeom prst="rect">
            <a:avLst/>
          </a:prstGeom>
          <a:solidFill>
            <a:srgbClr val="39E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Reading Embedded Items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5669280" cy="2331720"/>
          </a:xfrm>
          <a:prstGeom prst="roundRect">
            <a:avLst/>
          </a:prstGeom>
          <a:solidFill>
            <a:srgbClr val="070C0B"/>
          </a:solidFill>
          <a:ln w="15240">
            <a:solidFill>
              <a:srgbClr val="2A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773936"/>
            <a:ext cx="5340096" cy="20756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700">
                <a:solidFill>
                  <a:srgbClr val="F5F8F6"/>
                </a:solidFill>
                <a:latin typeface="Consolas"/>
              </a:defRPr>
            </a:pPr>
            <a:r>
              <a:t>db.people.findOne(</a:t>
            </a:r>
          </a:p>
          <a:p>
            <a:pPr>
              <a:spcAft>
                <a:spcPts val="0"/>
              </a:spcAft>
              <a:defRPr sz="1700">
                <a:solidFill>
                  <a:srgbClr val="F5F8F6"/>
                </a:solidFill>
                <a:latin typeface="Consolas"/>
              </a:defRPr>
            </a:pPr>
            <a:r>
              <a:t>  { name: "Avi" },</a:t>
            </a:r>
          </a:p>
          <a:p>
            <a:pPr>
              <a:spcAft>
                <a:spcPts val="0"/>
              </a:spcAft>
              <a:defRPr sz="1700">
                <a:solidFill>
                  <a:srgbClr val="F5F8F6"/>
                </a:solidFill>
                <a:latin typeface="Consolas"/>
              </a:defRPr>
            </a:pPr>
            <a:r>
              <a:t>  { _id: 0, name: 1, orders: 1 }</a:t>
            </a:r>
          </a:p>
          <a:p>
            <a:pPr>
              <a:spcAft>
                <a:spcPts val="0"/>
              </a:spcAft>
              <a:defRPr sz="1700">
                <a:solidFill>
                  <a:srgbClr val="F5F8F6"/>
                </a:solidFill>
                <a:latin typeface="Consolas"/>
              </a:defRPr>
            </a:pPr>
            <a: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1645920"/>
            <a:ext cx="4892040" cy="4434840"/>
          </a:xfrm>
          <a:prstGeom prst="roundRect">
            <a:avLst/>
          </a:prstGeom>
          <a:solidFill>
            <a:srgbClr val="0D1412"/>
          </a:solidFill>
          <a:ln w="15240">
            <a:solidFill>
              <a:srgbClr val="2A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1920240"/>
            <a:ext cx="42062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39E85A"/>
                </a:solidFill>
                <a:latin typeface="Aptos"/>
              </a:rPr>
              <a:t>What the application gets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2514600"/>
            <a:ext cx="4160520" cy="694944"/>
          </a:xfrm>
          <a:prstGeom prst="roundRect">
            <a:avLst/>
          </a:prstGeom>
          <a:solidFill>
            <a:srgbClr val="0A1911"/>
          </a:solidFill>
          <a:ln w="15240">
            <a:solidFill>
              <a:srgbClr val="2A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78040" y="2606040"/>
            <a:ext cx="14173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39E85A"/>
                </a:solidFill>
                <a:latin typeface="Aptos"/>
              </a:rPr>
              <a:t>1 document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2606040"/>
            <a:ext cx="214884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0">
                <a:solidFill>
                  <a:srgbClr val="F5F8F6"/>
                </a:solidFill>
                <a:latin typeface="Aptos"/>
              </a:rPr>
              <a:t>Avi profile + orders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0" y="3429000"/>
            <a:ext cx="4160520" cy="694944"/>
          </a:xfrm>
          <a:prstGeom prst="roundRect">
            <a:avLst/>
          </a:prstGeom>
          <a:solidFill>
            <a:srgbClr val="0A1911"/>
          </a:solidFill>
          <a:ln w="15240">
            <a:solidFill>
              <a:srgbClr val="2A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78040" y="3520440"/>
            <a:ext cx="14173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39E85A"/>
                </a:solidFill>
                <a:latin typeface="Aptos"/>
              </a:rPr>
              <a:t>1 array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3520440"/>
            <a:ext cx="214884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0">
                <a:solidFill>
                  <a:srgbClr val="F5F8F6"/>
                </a:solidFill>
                <a:latin typeface="Aptos"/>
              </a:rPr>
              <a:t>All embedded orders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4343400"/>
            <a:ext cx="4160520" cy="694944"/>
          </a:xfrm>
          <a:prstGeom prst="roundRect">
            <a:avLst/>
          </a:prstGeom>
          <a:solidFill>
            <a:srgbClr val="0A1911"/>
          </a:solidFill>
          <a:ln w="15240">
            <a:solidFill>
              <a:srgbClr val="2A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78040" y="4434840"/>
            <a:ext cx="14173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39E85A"/>
                </a:solidFill>
                <a:latin typeface="Aptos"/>
              </a:rPr>
              <a:t>1 read path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4434840"/>
            <a:ext cx="214884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0">
                <a:solidFill>
                  <a:srgbClr val="F5F8F6"/>
                </a:solidFill>
                <a:latin typeface="Aptos"/>
              </a:rPr>
              <a:t>No join required for this shape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658368" cy="73152"/>
          </a:xfrm>
          <a:prstGeom prst="rect">
            <a:avLst/>
          </a:prstGeom>
          <a:solidFill>
            <a:srgbClr val="39E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Updating an Embedded Array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6537960" cy="4526280"/>
          </a:xfrm>
          <a:prstGeom prst="roundRect">
            <a:avLst/>
          </a:prstGeom>
          <a:solidFill>
            <a:srgbClr val="070C0B"/>
          </a:solidFill>
          <a:ln w="15240">
            <a:solidFill>
              <a:srgbClr val="2A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728216"/>
            <a:ext cx="6208776" cy="4270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t>db.people.updateOne(</a:t>
            </a:r>
          </a:p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t>  { name: "Avi" },</a:t>
            </a:r>
          </a:p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t>  {</a:t>
            </a:r>
          </a:p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t>    $push: {</a:t>
            </a:r>
          </a:p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t>      orders: {</a:t>
            </a:r>
          </a:p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t>        orderId: "O1004",</a:t>
            </a:r>
          </a:p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t>        total: 3100</a:t>
            </a:r>
          </a:p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t>      }</a:t>
            </a:r>
          </a:p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600200"/>
            <a:ext cx="4114800" cy="4526280"/>
          </a:xfrm>
          <a:prstGeom prst="roundRect">
            <a:avLst/>
          </a:prstGeom>
          <a:solidFill>
            <a:srgbClr val="0D1412"/>
          </a:solidFill>
          <a:ln w="15240">
            <a:solidFill>
              <a:srgbClr val="2A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901952"/>
            <a:ext cx="34290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100" b="1">
                <a:solidFill>
                  <a:srgbClr val="39E85A"/>
                </a:solidFill>
                <a:latin typeface="Aptos"/>
              </a:rPr>
              <a:t>Developer 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542032"/>
            <a:ext cx="324612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F5F8F6"/>
                </a:solidFill>
                <a:latin typeface="Aptos"/>
              </a:defRPr>
            </a:pPr>
            <a:r>
              <a:t>• $push adds another embedded item.</a:t>
            </a:r>
          </a:p>
          <a:p>
            <a:pPr>
              <a:spcAft>
                <a:spcPts val="400"/>
              </a:spcAft>
              <a:defRPr sz="1800">
                <a:solidFill>
                  <a:srgbClr val="F5F8F6"/>
                </a:solidFill>
                <a:latin typeface="Aptos"/>
              </a:defRPr>
            </a:pPr>
            <a:r>
              <a:t>• The parent document remains the unit of access.</a:t>
            </a:r>
          </a:p>
          <a:p>
            <a:pPr>
              <a:spcAft>
                <a:spcPts val="400"/>
              </a:spcAft>
              <a:defRPr sz="1800">
                <a:solidFill>
                  <a:srgbClr val="F5F8F6"/>
                </a:solidFill>
                <a:latin typeface="Aptos"/>
              </a:defRPr>
            </a:pPr>
            <a:r>
              <a:t>• Bounded growth is important for this design.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658368" cy="73152"/>
          </a:xfrm>
          <a:prstGeom prst="rect">
            <a:avLst/>
          </a:prstGeom>
          <a:solidFill>
            <a:srgbClr val="39E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Watch the Array Size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5212080" cy="4206240"/>
          </a:xfrm>
          <a:prstGeom prst="roundRect">
            <a:avLst/>
          </a:prstGeom>
          <a:solidFill>
            <a:srgbClr val="0D1412"/>
          </a:solidFill>
          <a:ln w="15240">
            <a:solidFill>
              <a:srgbClr val="2A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93392"/>
            <a:ext cx="1828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39E85A"/>
                </a:solidFill>
                <a:latin typeface="Aptos"/>
              </a:rPr>
              <a:t>GOOD 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542032"/>
            <a:ext cx="43434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400" b="1">
                <a:solidFill>
                  <a:srgbClr val="F5F8F6"/>
                </a:solidFill>
                <a:latin typeface="Aptos"/>
              </a:rPr>
              <a:t>Avi → 3 orders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" y="4754880"/>
            <a:ext cx="731520" cy="502920"/>
          </a:xfrm>
          <a:prstGeom prst="rect">
            <a:avLst/>
          </a:prstGeom>
          <a:solidFill>
            <a:srgbClr val="39E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03120" y="4343400"/>
            <a:ext cx="731520" cy="914400"/>
          </a:xfrm>
          <a:prstGeom prst="rect">
            <a:avLst/>
          </a:prstGeom>
          <a:solidFill>
            <a:srgbClr val="39E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154679" y="3931920"/>
            <a:ext cx="731520" cy="1325880"/>
          </a:xfrm>
          <a:prstGeom prst="rect">
            <a:avLst/>
          </a:prstGeom>
          <a:solidFill>
            <a:srgbClr val="39E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440680"/>
            <a:ext cx="34747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0">
                <a:solidFill>
                  <a:srgbClr val="AAB4B0"/>
                </a:solidFill>
                <a:latin typeface="Aptos"/>
              </a:rPr>
              <a:t>bounded growth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91640"/>
            <a:ext cx="5349240" cy="4206240"/>
          </a:xfrm>
          <a:prstGeom prst="roundRect">
            <a:avLst/>
          </a:prstGeom>
          <a:solidFill>
            <a:srgbClr val="0D1412"/>
          </a:solidFill>
          <a:ln w="15240">
            <a:solidFill>
              <a:srgbClr val="2A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993392"/>
            <a:ext cx="20116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39E85A"/>
                </a:solidFill>
                <a:latin typeface="Aptos"/>
              </a:rPr>
              <a:t>RISK SIGNALS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560320"/>
            <a:ext cx="416052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F5F8F6"/>
                </a:solidFill>
                <a:latin typeface="Aptos"/>
              </a:defRPr>
            </a:pPr>
            <a:r>
              <a:t>• The child array can grow without a practical bound.</a:t>
            </a:r>
          </a:p>
          <a:p>
            <a:pPr>
              <a:spcAft>
                <a:spcPts val="400"/>
              </a:spcAft>
              <a:defRPr sz="1800">
                <a:solidFill>
                  <a:srgbClr val="F5F8F6"/>
                </a:solidFill>
                <a:latin typeface="Aptos"/>
              </a:defRPr>
            </a:pPr>
            <a:r>
              <a:t>• The parent document becomes very large.</a:t>
            </a:r>
          </a:p>
          <a:p>
            <a:pPr>
              <a:spcAft>
                <a:spcPts val="400"/>
              </a:spcAft>
              <a:defRPr sz="1800">
                <a:solidFill>
                  <a:srgbClr val="F5F8F6"/>
                </a:solidFill>
                <a:latin typeface="Aptos"/>
              </a:defRPr>
            </a:pPr>
            <a:r>
              <a:t>• Children are updated independently and frequently.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658368" cy="73152"/>
          </a:xfrm>
          <a:prstGeom prst="rect">
            <a:avLst/>
          </a:prstGeom>
          <a:solidFill>
            <a:srgbClr val="39E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Embedded vs Separate Child Collection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45920"/>
            <a:ext cx="5303520" cy="4480560"/>
          </a:xfrm>
          <a:prstGeom prst="roundRect">
            <a:avLst/>
          </a:prstGeom>
          <a:solidFill>
            <a:srgbClr val="0D1412"/>
          </a:solidFill>
          <a:ln w="15240">
            <a:solidFill>
              <a:srgbClr val="2A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20240"/>
            <a:ext cx="12801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39E85A"/>
                </a:solidFill>
                <a:latin typeface="Aptos"/>
              </a:rPr>
              <a:t>EMBED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41448"/>
            <a:ext cx="219456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100" b="1">
                <a:solidFill>
                  <a:srgbClr val="F5F8F6"/>
                </a:solidFill>
                <a:latin typeface="Aptos"/>
              </a:rPr>
              <a:t>Avi document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54680"/>
            <a:ext cx="41605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F5F8F6"/>
                </a:solidFill>
                <a:latin typeface="Aptos"/>
              </a:rPr>
              <a:t>✓ orders[] inside Avi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13048"/>
            <a:ext cx="41605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F5F8F6"/>
                </a:solidFill>
                <a:latin typeface="Aptos"/>
              </a:rPr>
              <a:t>✓ simple single-document read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471416"/>
            <a:ext cx="41605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F5F8F6"/>
                </a:solidFill>
                <a:latin typeface="Aptos"/>
              </a:rPr>
              <a:t>✓ best for bounded child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45920"/>
            <a:ext cx="5303520" cy="4480560"/>
          </a:xfrm>
          <a:prstGeom prst="roundRect">
            <a:avLst/>
          </a:prstGeom>
          <a:solidFill>
            <a:srgbClr val="0D1412"/>
          </a:solidFill>
          <a:ln w="15240">
            <a:solidFill>
              <a:srgbClr val="2A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920240"/>
            <a:ext cx="1645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39E85A"/>
                </a:solidFill>
                <a:latin typeface="Aptos"/>
              </a:rPr>
              <a:t>SEPARATE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441448"/>
            <a:ext cx="333756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100" b="1">
                <a:solidFill>
                  <a:srgbClr val="F5F8F6"/>
                </a:solidFill>
                <a:latin typeface="Aptos"/>
              </a:rPr>
              <a:t>Avi + orders collection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154680"/>
            <a:ext cx="420624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F5F8F6"/>
                </a:solidFill>
                <a:latin typeface="Aptos"/>
              </a:rPr>
              <a:t>→ orders stored independently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813048"/>
            <a:ext cx="420624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F5F8F6"/>
                </a:solidFill>
                <a:latin typeface="Aptos"/>
              </a:rPr>
              <a:t>→ better for unbounded growth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471416"/>
            <a:ext cx="420624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F5F8F6"/>
                </a:solidFill>
                <a:latin typeface="Aptos"/>
              </a:rPr>
              <a:t>→ useful when children are accessed alone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658368" cy="73152"/>
          </a:xfrm>
          <a:prstGeom prst="rect">
            <a:avLst/>
          </a:prstGeom>
          <a:solidFill>
            <a:srgbClr val="39E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3385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Demo Focus: Avi's Embedded Orders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6537960" cy="4343400"/>
          </a:xfrm>
          <a:prstGeom prst="roundRect">
            <a:avLst/>
          </a:prstGeom>
          <a:solidFill>
            <a:srgbClr val="070C0B"/>
          </a:solidFill>
          <a:ln w="15240">
            <a:solidFill>
              <a:srgbClr val="2A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773936"/>
            <a:ext cx="6208776" cy="4087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use lesson030_demo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db.people.insertOne({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  name: "Avi",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  location: "Bangalore, RR Nagar",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  orders: [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    { orderId: "O1001", total: 2500 },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    { orderId: "O1002", total: 4200 }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  ]</a:t>
            </a:r>
          </a:p>
          <a:p>
            <a:pPr>
              <a:spcAft>
                <a:spcPts val="0"/>
              </a:spcAft>
              <a:defRPr sz="1500">
                <a:solidFill>
                  <a:srgbClr val="F5F8F6"/>
                </a:solidFill>
                <a:latin typeface="Consolas"/>
              </a:defRPr>
            </a:pPr>
            <a:r>
              <a:t>})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645920"/>
            <a:ext cx="4114800" cy="4343400"/>
          </a:xfrm>
          <a:prstGeom prst="roundRect">
            <a:avLst/>
          </a:prstGeom>
          <a:solidFill>
            <a:srgbClr val="0D1412"/>
          </a:solidFill>
          <a:ln w="15240">
            <a:solidFill>
              <a:srgbClr val="2A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920240"/>
            <a:ext cx="33832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100" b="1">
                <a:solidFill>
                  <a:srgbClr val="39E85A"/>
                </a:solidFill>
                <a:latin typeface="Aptos"/>
              </a:rPr>
              <a:t>Demo sequence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560320"/>
            <a:ext cx="32461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F5F8F6"/>
                </a:solidFill>
                <a:latin typeface="Aptos"/>
              </a:defRPr>
            </a:pPr>
            <a:r>
              <a:t>• Create one parent document.</a:t>
            </a:r>
          </a:p>
          <a:p>
            <a:pPr>
              <a:spcAft>
                <a:spcPts val="400"/>
              </a:spcAft>
              <a:defRPr sz="1800">
                <a:solidFill>
                  <a:srgbClr val="F5F8F6"/>
                </a:solidFill>
                <a:latin typeface="Aptos"/>
              </a:defRPr>
            </a:pPr>
            <a:r>
              <a:t>• Embed multiple related items.</a:t>
            </a:r>
          </a:p>
          <a:p>
            <a:pPr>
              <a:spcAft>
                <a:spcPts val="400"/>
              </a:spcAft>
              <a:defRPr sz="1800">
                <a:solidFill>
                  <a:srgbClr val="F5F8F6"/>
                </a:solidFill>
                <a:latin typeface="Aptos"/>
              </a:defRPr>
            </a:pPr>
            <a:r>
              <a:t>• Read the array.</a:t>
            </a:r>
          </a:p>
          <a:p>
            <a:pPr>
              <a:spcAft>
                <a:spcPts val="400"/>
              </a:spcAft>
              <a:defRPr sz="1800">
                <a:solidFill>
                  <a:srgbClr val="F5F8F6"/>
                </a:solidFill>
                <a:latin typeface="Aptos"/>
              </a:defRPr>
            </a:pPr>
            <a:r>
              <a:t>• Add one more embedded item.</a:t>
            </a:r>
          </a:p>
          <a:p>
            <a:pPr>
              <a:spcAft>
                <a:spcPts val="400"/>
              </a:spcAft>
              <a:defRPr sz="1800">
                <a:solidFill>
                  <a:srgbClr val="F5F8F6"/>
                </a:solidFill>
                <a:latin typeface="Aptos"/>
              </a:defRPr>
            </a:pPr>
            <a:r>
              <a:t>• Query the embedded relationship.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38912"/>
            <a:ext cx="107899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One-to-Many — Embedded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051560" cy="73152"/>
          </a:xfrm>
          <a:prstGeom prst="rect">
            <a:avLst/>
          </a:prstGeom>
          <a:solidFill>
            <a:srgbClr val="39E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70432"/>
            <a:ext cx="10515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0">
                <a:solidFill>
                  <a:srgbClr val="AAB4B0"/>
                </a:solidFill>
                <a:latin typeface="Aptos"/>
              </a:rPr>
              <a:t>A graphic recap of the pattern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057400"/>
            <a:ext cx="2240280" cy="1874519"/>
          </a:xfrm>
          <a:prstGeom prst="roundRect">
            <a:avLst/>
          </a:prstGeom>
          <a:solidFill>
            <a:srgbClr val="0A1411"/>
          </a:solidFill>
          <a:ln w="15240">
            <a:solidFill>
              <a:srgbClr val="39E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2304288"/>
            <a:ext cx="192024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9E85A"/>
                </a:solidFill>
                <a:latin typeface="Aptos"/>
              </a:rPr>
              <a:t>Avi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834640"/>
            <a:ext cx="1920240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000" b="1">
                <a:solidFill>
                  <a:srgbClr val="F5F8F6"/>
                </a:solidFill>
                <a:latin typeface="Aptos"/>
              </a:rPr>
              <a:t>Avi
Bangalore • RR Nagar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852928" y="2670048"/>
            <a:ext cx="475488" cy="502920"/>
          </a:xfrm>
          <a:prstGeom prst="rightArrow">
            <a:avLst/>
          </a:prstGeom>
          <a:solidFill>
            <a:srgbClr val="39E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46120" y="2057400"/>
            <a:ext cx="2240280" cy="1874519"/>
          </a:xfrm>
          <a:prstGeom prst="roundRect">
            <a:avLst/>
          </a:prstGeom>
          <a:solidFill>
            <a:srgbClr val="0A1411"/>
          </a:solidFill>
          <a:ln w="15240">
            <a:solidFill>
              <a:srgbClr val="39E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10712" y="2304288"/>
            <a:ext cx="192024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9E85A"/>
                </a:solidFill>
                <a:latin typeface="Aptos"/>
              </a:rPr>
              <a:t>ARRAY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0712" y="2834640"/>
            <a:ext cx="1920240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000" b="1">
                <a:solidFill>
                  <a:srgbClr val="F5F8F6"/>
                </a:solidFill>
                <a:latin typeface="Aptos"/>
              </a:rPr>
              <a:t>orders[]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504688" y="2670048"/>
            <a:ext cx="475488" cy="502920"/>
          </a:xfrm>
          <a:prstGeom prst="rightArrow">
            <a:avLst/>
          </a:prstGeom>
          <a:solidFill>
            <a:srgbClr val="39E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97880" y="2057400"/>
            <a:ext cx="2240280" cy="1874519"/>
          </a:xfrm>
          <a:prstGeom prst="roundRect">
            <a:avLst/>
          </a:prstGeom>
          <a:solidFill>
            <a:srgbClr val="0A1411"/>
          </a:solidFill>
          <a:ln w="15240">
            <a:solidFill>
              <a:srgbClr val="39E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62472" y="2304288"/>
            <a:ext cx="192024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9E85A"/>
                </a:solidFill>
                <a:latin typeface="Aptos"/>
              </a:rPr>
              <a:t>READ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62472" y="2834640"/>
            <a:ext cx="1920240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000" b="1">
                <a:solidFill>
                  <a:srgbClr val="F5F8F6"/>
                </a:solidFill>
                <a:latin typeface="Aptos"/>
              </a:rPr>
              <a:t>Read together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156448" y="2670048"/>
            <a:ext cx="475488" cy="502920"/>
          </a:xfrm>
          <a:prstGeom prst="rightArrow">
            <a:avLst/>
          </a:prstGeom>
          <a:solidFill>
            <a:srgbClr val="39E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549640" y="2057400"/>
            <a:ext cx="2240280" cy="1874519"/>
          </a:xfrm>
          <a:prstGeom prst="roundRect">
            <a:avLst/>
          </a:prstGeom>
          <a:solidFill>
            <a:srgbClr val="0A1411"/>
          </a:solidFill>
          <a:ln w="15240">
            <a:solidFill>
              <a:srgbClr val="39E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14232" y="2304288"/>
            <a:ext cx="192024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9E85A"/>
                </a:solidFill>
                <a:latin typeface="Aptos"/>
              </a:rPr>
              <a:t>GROWTH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14232" y="2834640"/>
            <a:ext cx="1920240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000" b="1">
                <a:solidFill>
                  <a:srgbClr val="F5F8F6"/>
                </a:solidFill>
                <a:latin typeface="Aptos"/>
              </a:rPr>
              <a:t>Keep bounded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343400"/>
            <a:ext cx="10652760" cy="1417320"/>
          </a:xfrm>
          <a:prstGeom prst="roundRect">
            <a:avLst/>
          </a:prstGeom>
          <a:solidFill>
            <a:srgbClr val="08120D"/>
          </a:solidFill>
          <a:ln w="15240">
            <a:solidFill>
              <a:srgbClr val="2A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572000"/>
            <a:ext cx="411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39E85A"/>
                </a:solidFill>
                <a:latin typeface="Aptos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4507992"/>
            <a:ext cx="1938528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50" b="1">
                <a:solidFill>
                  <a:srgbClr val="F5F8F6"/>
                </a:solidFill>
                <a:latin typeface="Aptos"/>
              </a:rPr>
              <a:t>Embed when children are bounded.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4572000"/>
            <a:ext cx="411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39E85A"/>
                </a:solidFill>
                <a:latin typeface="Aptos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87368" y="4507992"/>
            <a:ext cx="1938528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50" b="1">
                <a:solidFill>
                  <a:srgbClr val="F5F8F6"/>
                </a:solidFill>
                <a:latin typeface="Aptos"/>
              </a:rPr>
              <a:t>Keep frequently co-read data together.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572000"/>
            <a:ext cx="411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39E85A"/>
                </a:solidFill>
                <a:latin typeface="Aptos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93408" y="4507992"/>
            <a:ext cx="1938528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50" b="1">
                <a:solidFill>
                  <a:srgbClr val="F5F8F6"/>
                </a:solidFill>
                <a:latin typeface="Aptos"/>
              </a:rPr>
              <a:t>Use a predictable array shape.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23960" y="4572000"/>
            <a:ext cx="411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39E85A"/>
                </a:solidFill>
                <a:latin typeface="Apto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99448" y="4507992"/>
            <a:ext cx="1938528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50" b="1">
                <a:solidFill>
                  <a:srgbClr val="F5F8F6"/>
                </a:solidFill>
                <a:latin typeface="Aptos"/>
              </a:rPr>
              <a:t>Reconsider embedding when growth or access becomes independent.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8680" y="5989320"/>
            <a:ext cx="10469880" cy="429768"/>
          </a:xfrm>
          <a:prstGeom prst="roundRect">
            <a:avLst/>
          </a:prstGeom>
          <a:solidFill>
            <a:srgbClr val="39E85A"/>
          </a:solidFill>
          <a:ln w="15240">
            <a:solidFill>
              <a:srgbClr val="39E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6071616"/>
            <a:ext cx="102870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050808"/>
                </a:solidFill>
                <a:latin typeface="Aptos"/>
              </a:rPr>
              <a:t>Pattern: Parent document → embedded child array → simple document-level access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