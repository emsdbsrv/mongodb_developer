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A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_wide_colorful_educational_infographic_poster_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5486400" cy="658368"/>
          </a:xfrm>
          <a:prstGeom prst="rect">
            <a:avLst/>
          </a:prstGeom>
          <a:solidFill>
            <a:srgbClr val="08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01168" y="54864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5F7FA"/>
                </a:solidFill>
                <a:latin typeface="Aptos"/>
              </a:rPr>
              <a:t>One-to-One — 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" y="429768"/>
            <a:ext cx="5212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EC6D2"/>
                </a:solidFill>
                <a:latin typeface="Aptos"/>
              </a:rPr>
              <a:t>Order Management: order → referenced document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58600" y="6510528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BEC6D2"/>
                </a:solidFill>
                <a:latin typeface="Aptos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" y="27432"/>
            <a:ext cx="8366760" cy="1051560"/>
          </a:xfrm>
          <a:prstGeom prst="rect">
            <a:avLst/>
          </a:prstGeom>
          <a:solidFill>
            <a:srgbClr val="08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56032" y="91440"/>
            <a:ext cx="2734056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100" b="1">
                <a:solidFill>
                  <a:srgbClr val="F5F7FA"/>
                </a:solidFill>
                <a:latin typeface="Aptos Display"/>
              </a:rPr>
              <a:t>One-to-One 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98064" y="91440"/>
            <a:ext cx="5340095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100" b="1" dirty="0">
                <a:solidFill>
                  <a:srgbClr val="FF9100"/>
                </a:solidFill>
                <a:latin typeface="Aptos Display"/>
              </a:rPr>
              <a:t>References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621792"/>
            <a:ext cx="7772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BEC6D2"/>
                </a:solidFill>
                <a:latin typeface="Aptos Display"/>
              </a:rPr>
              <a:t>Learn how MongoDB connects one related document through an explicit reference.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A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47472"/>
            <a:ext cx="8046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7FA"/>
                </a:solidFill>
                <a:latin typeface="Aptos"/>
              </a:rPr>
              <a:t>One-to-One — 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987552"/>
            <a:ext cx="9966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BEC6D2"/>
                </a:solidFill>
                <a:latin typeface="Aptos"/>
              </a:rPr>
              <a:t>Keep the related object in a separate collection and connect it with an identifier.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778240" y="256032"/>
            <a:ext cx="2971800" cy="1371600"/>
          </a:xfrm>
          <a:prstGeom prst="roundRect">
            <a:avLst/>
          </a:prstGeom>
          <a:solidFill>
            <a:srgbClr val="0F141C"/>
          </a:solidFill>
          <a:ln w="22860">
            <a:solidFill>
              <a:srgbClr val="FF9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942832" y="329184"/>
            <a:ext cx="264261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9100"/>
                </a:solidFill>
                <a:latin typeface="Aptos"/>
              </a:rPr>
              <a:t>In this lesson, you will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0" y="713232"/>
            <a:ext cx="265176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F5F7FA"/>
                </a:solidFill>
                <a:latin typeface="Aptos"/>
              </a:defRPr>
            </a:pPr>
            <a:r>
              <a:t>• Model a one-to-one reference</a:t>
            </a:r>
          </a:p>
          <a:p>
            <a:pPr>
              <a:spcAft>
                <a:spcPts val="400"/>
              </a:spcAft>
              <a:defRPr sz="1200">
                <a:solidFill>
                  <a:srgbClr val="F5F7FA"/>
                </a:solidFill>
                <a:latin typeface="Aptos"/>
              </a:defRPr>
            </a:pPr>
            <a:r>
              <a:t>• Store the related document separately</a:t>
            </a:r>
          </a:p>
          <a:p>
            <a:pPr>
              <a:spcAft>
                <a:spcPts val="400"/>
              </a:spcAft>
              <a:defRPr sz="1200">
                <a:solidFill>
                  <a:srgbClr val="F5F7FA"/>
                </a:solidFill>
                <a:latin typeface="Aptos"/>
              </a:defRPr>
            </a:pPr>
            <a:r>
              <a:t>• Connect documents with ObjectId</a:t>
            </a:r>
          </a:p>
          <a:p>
            <a:pPr>
              <a:spcAft>
                <a:spcPts val="400"/>
              </a:spcAft>
              <a:defRPr sz="1200">
                <a:solidFill>
                  <a:srgbClr val="F5F7FA"/>
                </a:solidFill>
                <a:latin typeface="Aptos"/>
              </a:defRPr>
            </a:pPr>
            <a:r>
              <a:t>• Query related data when needed</a:t>
            </a:r>
          </a:p>
          <a:p>
            <a:pPr>
              <a:spcAft>
                <a:spcPts val="400"/>
              </a:spcAft>
              <a:defRPr sz="1200">
                <a:solidFill>
                  <a:srgbClr val="F5F7FA"/>
                </a:solidFill>
                <a:latin typeface="Aptos"/>
              </a:defRPr>
            </a:pPr>
            <a:r>
              <a:t>• Understand when references fit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691640"/>
            <a:ext cx="3657600" cy="4434840"/>
          </a:xfrm>
          <a:prstGeom prst="roundRect">
            <a:avLst/>
          </a:prstGeom>
          <a:solidFill>
            <a:srgbClr val="0F141C"/>
          </a:solidFill>
          <a:ln w="22860">
            <a:solidFill>
              <a:srgbClr val="FF9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76072" y="1764792"/>
            <a:ext cx="332841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9100"/>
                </a:solidFill>
                <a:latin typeface="Aptos"/>
              </a:rPr>
              <a:t>What is a one-to-one reference?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240280"/>
            <a:ext cx="31546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F5F7FA"/>
                </a:solidFill>
                <a:latin typeface="Aptos"/>
              </a:defRPr>
            </a:pPr>
            <a:r>
              <a:t>• One parent document points to one related document.</a:t>
            </a:r>
          </a:p>
          <a:p>
            <a:pPr>
              <a:spcAft>
                <a:spcPts val="400"/>
              </a:spcAft>
              <a:defRPr sz="1800">
                <a:solidFill>
                  <a:srgbClr val="F5F7FA"/>
                </a:solidFill>
                <a:latin typeface="Aptos"/>
              </a:defRPr>
            </a:pPr>
            <a:r>
              <a:t>• The related object lives in its own collection.</a:t>
            </a:r>
          </a:p>
          <a:p>
            <a:pPr>
              <a:spcAft>
                <a:spcPts val="400"/>
              </a:spcAft>
              <a:defRPr sz="1800">
                <a:solidFill>
                  <a:srgbClr val="F5F7FA"/>
                </a:solidFill>
                <a:latin typeface="Aptos"/>
              </a:defRPr>
            </a:pPr>
            <a:r>
              <a:t>• A reference such as ObjectId links the two documents.</a:t>
            </a:r>
          </a:p>
          <a:p>
            <a:pPr>
              <a:spcAft>
                <a:spcPts val="400"/>
              </a:spcAft>
              <a:defRPr sz="1800">
                <a:solidFill>
                  <a:srgbClr val="F5F7FA"/>
                </a:solidFill>
                <a:latin typeface="Aptos"/>
              </a:defRPr>
            </a:pPr>
            <a:r>
              <a:t>• The application resolves the relationship when needed.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691640"/>
            <a:ext cx="3611880" cy="4434840"/>
          </a:xfrm>
          <a:prstGeom prst="roundRect">
            <a:avLst/>
          </a:prstGeom>
          <a:solidFill>
            <a:srgbClr val="0F141C"/>
          </a:solidFill>
          <a:ln w="22860">
            <a:solidFill>
              <a:srgbClr val="2DB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07992" y="1764792"/>
            <a:ext cx="32826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9100"/>
                </a:solidFill>
                <a:latin typeface="Aptos"/>
              </a:rPr>
              <a:t>Order Management model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63440" y="2377440"/>
            <a:ext cx="1371600" cy="1051560"/>
          </a:xfrm>
          <a:prstGeom prst="roundRect">
            <a:avLst/>
          </a:prstGeom>
          <a:solidFill>
            <a:srgbClr val="081C2D"/>
          </a:solidFill>
          <a:ln w="22860">
            <a:solidFill>
              <a:srgbClr val="2DB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828031" y="2450592"/>
            <a:ext cx="104241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9100"/>
                </a:solidFill>
                <a:latin typeface="Aptos"/>
              </a:rPr>
              <a:t>orders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2724912"/>
            <a:ext cx="1005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5F7FA"/>
                </a:solidFill>
                <a:latin typeface="Aptos"/>
              </a:rPr>
              <a:t>orderId
invoiceId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2377440"/>
            <a:ext cx="1234440" cy="1051560"/>
          </a:xfrm>
          <a:prstGeom prst="roundRect">
            <a:avLst/>
          </a:prstGeom>
          <a:solidFill>
            <a:srgbClr val="1B0E2C"/>
          </a:solidFill>
          <a:ln w="22860">
            <a:solidFill>
              <a:srgbClr val="AF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65392" y="2450592"/>
            <a:ext cx="9052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9100"/>
                </a:solidFill>
                <a:latin typeface="Aptos"/>
              </a:rPr>
              <a:t>invoices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5392" y="2724912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5F7FA"/>
                </a:solidFill>
                <a:latin typeface="Aptos"/>
              </a:rPr>
              <a:t>invoiceId
amount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5000" y="2761488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9100"/>
                </a:solidFill>
                <a:latin typeface="Aptos"/>
              </a:rPr>
              <a:t>one-to-one
reference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99432" y="3840480"/>
            <a:ext cx="3090672" cy="1143000"/>
          </a:xfrm>
          <a:prstGeom prst="roundRect">
            <a:avLst/>
          </a:prstGeom>
          <a:solidFill>
            <a:srgbClr val="050C14"/>
          </a:solidFill>
          <a:ln w="22860">
            <a:solidFill>
              <a:srgbClr val="2DB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727448" y="3950208"/>
            <a:ext cx="2834639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F5F7FA"/>
                </a:solidFill>
                <a:latin typeface="Courier New"/>
              </a:rPr>
              <a:t>{ orderId: "ORD-1001",
  invoiceId: ObjectId("...") }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0" y="1691640"/>
            <a:ext cx="3474720" cy="4434840"/>
          </a:xfrm>
          <a:prstGeom prst="roundRect">
            <a:avLst/>
          </a:prstGeom>
          <a:solidFill>
            <a:srgbClr val="0F141C"/>
          </a:solidFill>
          <a:ln w="22860">
            <a:solidFill>
              <a:srgbClr val="FF9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394192" y="1764792"/>
            <a:ext cx="314553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9100"/>
                </a:solidFill>
                <a:latin typeface="Aptos"/>
              </a:rPr>
              <a:t>Why use a reference?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85632" y="2240280"/>
            <a:ext cx="288036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>
                <a:solidFill>
                  <a:srgbClr val="F5F7FA"/>
                </a:solidFill>
                <a:latin typeface="Aptos"/>
              </a:defRPr>
            </a:pPr>
            <a:r>
              <a:t>• Large or complex related object</a:t>
            </a:r>
          </a:p>
          <a:p>
            <a:pPr>
              <a:spcAft>
                <a:spcPts val="400"/>
              </a:spcAft>
              <a:defRPr sz="1700">
                <a:solidFill>
                  <a:srgbClr val="F5F7FA"/>
                </a:solidFill>
                <a:latin typeface="Aptos"/>
              </a:defRPr>
            </a:pPr>
            <a:r>
              <a:t>• Frequently updated independently</a:t>
            </a:r>
          </a:p>
          <a:p>
            <a:pPr>
              <a:spcAft>
                <a:spcPts val="400"/>
              </a:spcAft>
              <a:defRPr sz="1700">
                <a:solidFill>
                  <a:srgbClr val="F5F7FA"/>
                </a:solidFill>
                <a:latin typeface="Aptos"/>
              </a:defRPr>
            </a:pPr>
            <a:r>
              <a:t>• Different lifecycle or access pattern</a:t>
            </a:r>
          </a:p>
          <a:p>
            <a:pPr>
              <a:spcAft>
                <a:spcPts val="400"/>
              </a:spcAft>
              <a:defRPr sz="1700">
                <a:solidFill>
                  <a:srgbClr val="F5F7FA"/>
                </a:solidFill>
                <a:latin typeface="Aptos"/>
              </a:defRPr>
            </a:pPr>
            <a:r>
              <a:t>• Avoid growing the parent document</a:t>
            </a:r>
          </a:p>
          <a:p>
            <a:pPr>
              <a:spcAft>
                <a:spcPts val="400"/>
              </a:spcAft>
              <a:defRPr sz="1700">
                <a:solidFill>
                  <a:srgbClr val="F5F7FA"/>
                </a:solidFill>
                <a:latin typeface="Aptos"/>
              </a:defRPr>
            </a:pPr>
            <a:r>
              <a:t>• Separate security or ownership boundary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85632" y="4892040"/>
            <a:ext cx="2834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9100"/>
                </a:solidFill>
                <a:latin typeface="Aptos"/>
              </a:rPr>
              <a:t>Core idea: the link is stored; the related data stays separate.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658600" y="6510528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BEC6D2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A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47472"/>
            <a:ext cx="8046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7FA"/>
                </a:solidFill>
                <a:latin typeface="Aptos"/>
              </a:rPr>
              <a:t>How the Reference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987552"/>
            <a:ext cx="9966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BEC6D2"/>
                </a:solidFill>
                <a:latin typeface="Aptos"/>
              </a:rPr>
              <a:t>The parent keeps an identifier; the related document keeps the full object.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778240" y="256032"/>
            <a:ext cx="2971800" cy="1371600"/>
          </a:xfrm>
          <a:prstGeom prst="roundRect">
            <a:avLst/>
          </a:prstGeom>
          <a:solidFill>
            <a:srgbClr val="0F141C"/>
          </a:solidFill>
          <a:ln w="22860">
            <a:solidFill>
              <a:srgbClr val="FF9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942832" y="329184"/>
            <a:ext cx="264261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9100"/>
                </a:solidFill>
                <a:latin typeface="Aptos"/>
              </a:rPr>
              <a:t>In this lesson, you will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0" y="713232"/>
            <a:ext cx="265176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F5F7FA"/>
                </a:solidFill>
                <a:latin typeface="Aptos"/>
              </a:defRPr>
            </a:pPr>
            <a:r>
              <a:t>• Model a one-to-one reference</a:t>
            </a:r>
          </a:p>
          <a:p>
            <a:pPr>
              <a:spcAft>
                <a:spcPts val="400"/>
              </a:spcAft>
              <a:defRPr sz="1200">
                <a:solidFill>
                  <a:srgbClr val="F5F7FA"/>
                </a:solidFill>
                <a:latin typeface="Aptos"/>
              </a:defRPr>
            </a:pPr>
            <a:r>
              <a:t>• Store the related document separately</a:t>
            </a:r>
          </a:p>
          <a:p>
            <a:pPr>
              <a:spcAft>
                <a:spcPts val="400"/>
              </a:spcAft>
              <a:defRPr sz="1200">
                <a:solidFill>
                  <a:srgbClr val="F5F7FA"/>
                </a:solidFill>
                <a:latin typeface="Aptos"/>
              </a:defRPr>
            </a:pPr>
            <a:r>
              <a:t>• Connect documents with ObjectId</a:t>
            </a:r>
          </a:p>
          <a:p>
            <a:pPr>
              <a:spcAft>
                <a:spcPts val="400"/>
              </a:spcAft>
              <a:defRPr sz="1200">
                <a:solidFill>
                  <a:srgbClr val="F5F7FA"/>
                </a:solidFill>
                <a:latin typeface="Aptos"/>
              </a:defRPr>
            </a:pPr>
            <a:r>
              <a:t>• Query related data when needed</a:t>
            </a:r>
          </a:p>
          <a:p>
            <a:pPr>
              <a:spcAft>
                <a:spcPts val="400"/>
              </a:spcAft>
              <a:defRPr sz="1200">
                <a:solidFill>
                  <a:srgbClr val="F5F7FA"/>
                </a:solidFill>
                <a:latin typeface="Aptos"/>
              </a:defRPr>
            </a:pPr>
            <a:r>
              <a:t>• Understand when references fit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691640"/>
            <a:ext cx="3383280" cy="4480560"/>
          </a:xfrm>
          <a:prstGeom prst="roundRect">
            <a:avLst/>
          </a:prstGeom>
          <a:solidFill>
            <a:srgbClr val="0F141C"/>
          </a:solidFill>
          <a:ln w="22860">
            <a:solidFill>
              <a:srgbClr val="2DB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1792" y="1764792"/>
            <a:ext cx="30540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9100"/>
                </a:solidFill>
                <a:latin typeface="Aptos"/>
              </a:rPr>
              <a:t>1. Parent document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4088" y="2286000"/>
            <a:ext cx="2880360" cy="2011680"/>
          </a:xfrm>
          <a:prstGeom prst="roundRect">
            <a:avLst/>
          </a:prstGeom>
          <a:solidFill>
            <a:srgbClr val="050C14"/>
          </a:solidFill>
          <a:ln w="22860">
            <a:solidFill>
              <a:srgbClr val="2DB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32104" y="2395728"/>
            <a:ext cx="2624328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F5F7FA"/>
                </a:solidFill>
                <a:latin typeface="Courier New"/>
              </a:rPr>
              <a:t>{
  orderNumber: "ORD-1001",
  customerId: ObjectId("..."),
  invoiceId: ObjectId("...")
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572000"/>
            <a:ext cx="2697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DBEFF"/>
                </a:solidFill>
                <a:latin typeface="Aptos"/>
              </a:rPr>
              <a:t>stores the reference only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691640"/>
            <a:ext cx="3566160" cy="4480560"/>
          </a:xfrm>
          <a:prstGeom prst="roundRect">
            <a:avLst/>
          </a:prstGeom>
          <a:solidFill>
            <a:srgbClr val="0F141C"/>
          </a:solidFill>
          <a:ln w="22860">
            <a:solidFill>
              <a:srgbClr val="AF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62272" y="1764792"/>
            <a:ext cx="323697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9100"/>
                </a:solidFill>
                <a:latin typeface="Aptos"/>
              </a:rPr>
              <a:t>2. Related document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53712" y="2286000"/>
            <a:ext cx="3063240" cy="2240280"/>
          </a:xfrm>
          <a:prstGeom prst="roundRect">
            <a:avLst/>
          </a:prstGeom>
          <a:solidFill>
            <a:srgbClr val="050C14"/>
          </a:solidFill>
          <a:ln w="22860">
            <a:solidFill>
              <a:srgbClr val="AF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681728" y="2395728"/>
            <a:ext cx="2807208" cy="2057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F5F7FA"/>
                </a:solidFill>
                <a:latin typeface="Courier New"/>
              </a:rPr>
              <a:t>{
  _id: ObjectId("..."),
  invoiceNumber: "INV-5001",
  amount: 1299.00,
  status: "PAID"
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457200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AF5AFF"/>
                </a:solidFill>
                <a:latin typeface="Aptos"/>
              </a:rPr>
              <a:t>stores the full object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83879" y="1691640"/>
            <a:ext cx="3520440" cy="4480560"/>
          </a:xfrm>
          <a:prstGeom prst="roundRect">
            <a:avLst/>
          </a:prstGeom>
          <a:solidFill>
            <a:srgbClr val="0F141C"/>
          </a:solidFill>
          <a:ln w="22860">
            <a:solidFill>
              <a:srgbClr val="FF9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48471" y="1764792"/>
            <a:ext cx="31912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9100"/>
                </a:solidFill>
                <a:latin typeface="Aptos"/>
              </a:rPr>
              <a:t>3. Application read path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23317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5F7FA"/>
                </a:solidFill>
                <a:latin typeface="Aptos"/>
              </a:rPr>
              <a:t>Order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49640" y="28346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9100"/>
                </a:solidFill>
                <a:latin typeface="Aptos"/>
              </a:rPr>
              <a:t>↓  invoiceId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49640" y="34290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>
                <a:solidFill>
                  <a:srgbClr val="2DBEFF"/>
                </a:solidFill>
                <a:latin typeface="Aptos"/>
              </a:rPr>
              <a:t>Query / $lookup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49640" y="3977639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9100"/>
                </a:solidFill>
                <a:latin typeface="Aptos"/>
              </a:rPr>
              <a:t>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49640" y="44348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5F7FA"/>
                </a:solidFill>
                <a:latin typeface="Aptos"/>
              </a:rPr>
              <a:t>Invoice details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658600" y="6510528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BEC6D2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A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47472"/>
            <a:ext cx="8046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7FA"/>
                </a:solidFill>
                <a:latin typeface="Aptos"/>
              </a:rPr>
              <a:t>Choosing One-to-One Referencing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987552"/>
            <a:ext cx="9966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BEC6D2"/>
                </a:solidFill>
                <a:latin typeface="Aptos"/>
              </a:rPr>
              <a:t>Check independence, growth, access and lifecycle before separating the data.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778240" y="256032"/>
            <a:ext cx="2971800" cy="1371600"/>
          </a:xfrm>
          <a:prstGeom prst="roundRect">
            <a:avLst/>
          </a:prstGeom>
          <a:solidFill>
            <a:srgbClr val="0F141C"/>
          </a:solidFill>
          <a:ln w="22860">
            <a:solidFill>
              <a:srgbClr val="FF9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942832" y="329184"/>
            <a:ext cx="264261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9100"/>
                </a:solidFill>
                <a:latin typeface="Aptos"/>
              </a:rPr>
              <a:t>In this lesson, you will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0" y="713232"/>
            <a:ext cx="265176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F5F7FA"/>
                </a:solidFill>
                <a:latin typeface="Aptos"/>
              </a:defRPr>
            </a:pPr>
            <a:r>
              <a:t>• Model a one-to-one reference</a:t>
            </a:r>
          </a:p>
          <a:p>
            <a:pPr>
              <a:spcAft>
                <a:spcPts val="400"/>
              </a:spcAft>
              <a:defRPr sz="1200">
                <a:solidFill>
                  <a:srgbClr val="F5F7FA"/>
                </a:solidFill>
                <a:latin typeface="Aptos"/>
              </a:defRPr>
            </a:pPr>
            <a:r>
              <a:t>• Store the related document separately</a:t>
            </a:r>
          </a:p>
          <a:p>
            <a:pPr>
              <a:spcAft>
                <a:spcPts val="400"/>
              </a:spcAft>
              <a:defRPr sz="1200">
                <a:solidFill>
                  <a:srgbClr val="F5F7FA"/>
                </a:solidFill>
                <a:latin typeface="Aptos"/>
              </a:defRPr>
            </a:pPr>
            <a:r>
              <a:t>• Connect documents with ObjectId</a:t>
            </a:r>
          </a:p>
          <a:p>
            <a:pPr>
              <a:spcAft>
                <a:spcPts val="400"/>
              </a:spcAft>
              <a:defRPr sz="1200">
                <a:solidFill>
                  <a:srgbClr val="F5F7FA"/>
                </a:solidFill>
                <a:latin typeface="Aptos"/>
              </a:defRPr>
            </a:pPr>
            <a:r>
              <a:t>• Query related data when needed</a:t>
            </a:r>
          </a:p>
          <a:p>
            <a:pPr>
              <a:spcAft>
                <a:spcPts val="400"/>
              </a:spcAft>
              <a:defRPr sz="1200">
                <a:solidFill>
                  <a:srgbClr val="F5F7FA"/>
                </a:solidFill>
                <a:latin typeface="Aptos"/>
              </a:defRPr>
            </a:pPr>
            <a:r>
              <a:t>• Understand when references fit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737360"/>
            <a:ext cx="11064240" cy="822960"/>
          </a:xfrm>
          <a:prstGeom prst="roundRect">
            <a:avLst/>
          </a:prstGeom>
          <a:solidFill>
            <a:srgbClr val="0D1219"/>
          </a:solidFill>
          <a:ln w="22860">
            <a:solidFill>
              <a:srgbClr val="2DB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90195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2DBEFF"/>
                </a:solidFill>
                <a:latin typeface="Aptos"/>
              </a:rPr>
              <a:t>INDEPENDENCE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1901952"/>
            <a:ext cx="8138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5F7FA"/>
                </a:solidFill>
                <a:latin typeface="Aptos"/>
              </a:rPr>
              <a:t>Can the related object be updated by itself?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788920"/>
            <a:ext cx="11064240" cy="822960"/>
          </a:xfrm>
          <a:prstGeom prst="roundRect">
            <a:avLst/>
          </a:prstGeom>
          <a:solidFill>
            <a:srgbClr val="0D1219"/>
          </a:solidFill>
          <a:ln w="22860">
            <a:solidFill>
              <a:srgbClr val="AF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5351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AF5AFF"/>
                </a:solidFill>
                <a:latin typeface="Aptos"/>
              </a:rPr>
              <a:t>SIZE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2953512"/>
            <a:ext cx="8138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5F7FA"/>
                </a:solidFill>
                <a:latin typeface="Aptos"/>
              </a:rPr>
              <a:t>Could the object become large or complex?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3840479"/>
            <a:ext cx="11064240" cy="822960"/>
          </a:xfrm>
          <a:prstGeom prst="roundRect">
            <a:avLst/>
          </a:prstGeom>
          <a:solidFill>
            <a:srgbClr val="0D1219"/>
          </a:solidFill>
          <a:ln w="22860">
            <a:solidFill>
              <a:srgbClr val="FF9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4005071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9100"/>
                </a:solidFill>
                <a:latin typeface="Aptos"/>
              </a:rPr>
              <a:t>ACCESS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4005071"/>
            <a:ext cx="8138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5F7FA"/>
                </a:solidFill>
                <a:latin typeface="Aptos"/>
              </a:rPr>
              <a:t>Is it often queried separately?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4892040"/>
            <a:ext cx="11064240" cy="822960"/>
          </a:xfrm>
          <a:prstGeom prst="roundRect">
            <a:avLst/>
          </a:prstGeom>
          <a:solidFill>
            <a:srgbClr val="0D1219"/>
          </a:solidFill>
          <a:ln w="22860">
            <a:solidFill>
              <a:srgbClr val="00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" y="5056631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0D2BE"/>
                </a:solidFill>
                <a:latin typeface="Aptos"/>
              </a:rPr>
              <a:t>LIFECYCLE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5056631"/>
            <a:ext cx="8138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5F7FA"/>
                </a:solidFill>
                <a:latin typeface="Aptos"/>
              </a:rPr>
              <a:t>Can it live longer or shorter than the parent?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08076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9100"/>
                </a:solidFill>
                <a:latin typeface="Aptos"/>
              </a:rPr>
              <a:t>A stronger reference signal appears when several answers point to independent management.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658600" y="6510528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BEC6D2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A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47472"/>
            <a:ext cx="8046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7FA"/>
                </a:solidFill>
                <a:latin typeface="Aptos"/>
              </a:rPr>
              <a:t>Reference vs Embedded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987552"/>
            <a:ext cx="9966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BEC6D2"/>
                </a:solidFill>
                <a:latin typeface="Aptos"/>
              </a:rPr>
              <a:t>The same business relationship can use different document shapes.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778240" y="256032"/>
            <a:ext cx="2971800" cy="1371600"/>
          </a:xfrm>
          <a:prstGeom prst="roundRect">
            <a:avLst/>
          </a:prstGeom>
          <a:solidFill>
            <a:srgbClr val="0F141C"/>
          </a:solidFill>
          <a:ln w="22860">
            <a:solidFill>
              <a:srgbClr val="FF9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942832" y="329184"/>
            <a:ext cx="264261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9100"/>
                </a:solidFill>
                <a:latin typeface="Aptos"/>
              </a:rPr>
              <a:t>In this lesson, you will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0" y="713232"/>
            <a:ext cx="265176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F5F7FA"/>
                </a:solidFill>
                <a:latin typeface="Aptos"/>
              </a:defRPr>
            </a:pPr>
            <a:r>
              <a:t>• Model a one-to-one reference</a:t>
            </a:r>
          </a:p>
          <a:p>
            <a:pPr>
              <a:spcAft>
                <a:spcPts val="400"/>
              </a:spcAft>
              <a:defRPr sz="1200">
                <a:solidFill>
                  <a:srgbClr val="F5F7FA"/>
                </a:solidFill>
                <a:latin typeface="Aptos"/>
              </a:defRPr>
            </a:pPr>
            <a:r>
              <a:t>• Store the related document separately</a:t>
            </a:r>
          </a:p>
          <a:p>
            <a:pPr>
              <a:spcAft>
                <a:spcPts val="400"/>
              </a:spcAft>
              <a:defRPr sz="1200">
                <a:solidFill>
                  <a:srgbClr val="F5F7FA"/>
                </a:solidFill>
                <a:latin typeface="Aptos"/>
              </a:defRPr>
            </a:pPr>
            <a:r>
              <a:t>• Connect documents with ObjectId</a:t>
            </a:r>
          </a:p>
          <a:p>
            <a:pPr>
              <a:spcAft>
                <a:spcPts val="400"/>
              </a:spcAft>
              <a:defRPr sz="1200">
                <a:solidFill>
                  <a:srgbClr val="F5F7FA"/>
                </a:solidFill>
                <a:latin typeface="Aptos"/>
              </a:defRPr>
            </a:pPr>
            <a:r>
              <a:t>• Query related data when needed</a:t>
            </a:r>
          </a:p>
          <a:p>
            <a:pPr>
              <a:spcAft>
                <a:spcPts val="400"/>
              </a:spcAft>
              <a:defRPr sz="1200">
                <a:solidFill>
                  <a:srgbClr val="F5F7FA"/>
                </a:solidFill>
                <a:latin typeface="Aptos"/>
              </a:defRPr>
            </a:pPr>
            <a:r>
              <a:t>• Understand when references fit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737360"/>
            <a:ext cx="5440680" cy="4434840"/>
          </a:xfrm>
          <a:prstGeom prst="roundRect">
            <a:avLst/>
          </a:prstGeom>
          <a:solidFill>
            <a:srgbClr val="0F141C"/>
          </a:solidFill>
          <a:ln w="22860">
            <a:solidFill>
              <a:srgbClr val="AF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1792" y="1810512"/>
            <a:ext cx="51114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9100"/>
                </a:solidFill>
                <a:latin typeface="Aptos"/>
              </a:rPr>
              <a:t>Referenced one-to-one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2240280"/>
            <a:ext cx="4892040" cy="2926080"/>
          </a:xfrm>
          <a:prstGeom prst="roundRect">
            <a:avLst/>
          </a:prstGeom>
          <a:solidFill>
            <a:srgbClr val="050C14"/>
          </a:solidFill>
          <a:ln w="22860">
            <a:solidFill>
              <a:srgbClr val="AF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8" y="2350008"/>
            <a:ext cx="4636007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F5F7FA"/>
                </a:solidFill>
                <a:latin typeface="Courier New"/>
              </a:rPr>
              <a:t>orders
{
  orderNumber: "ORD-1001",
  invoiceId: ObjectId("...")
}
invoices
{
  _id: ObjectId("..."),
  invoiceNumber: "INV-5001",
  amount: 1299.00
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349240"/>
            <a:ext cx="4617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F5F7FA"/>
                </a:solidFill>
                <a:latin typeface="Aptos"/>
              </a:defRPr>
            </a:pPr>
            <a:r>
              <a:t>• Smaller parent document</a:t>
            </a:r>
          </a:p>
          <a:p>
            <a:pPr>
              <a:spcAft>
                <a:spcPts val="400"/>
              </a:spcAft>
              <a:defRPr sz="1400">
                <a:solidFill>
                  <a:srgbClr val="F5F7FA"/>
                </a:solidFill>
                <a:latin typeface="Aptos"/>
              </a:defRPr>
            </a:pPr>
            <a:r>
              <a:t>• Independent invoice updates</a:t>
            </a:r>
          </a:p>
          <a:p>
            <a:pPr>
              <a:spcAft>
                <a:spcPts val="400"/>
              </a:spcAft>
              <a:defRPr sz="1400">
                <a:solidFill>
                  <a:srgbClr val="F5F7FA"/>
                </a:solidFill>
                <a:latin typeface="Aptos"/>
              </a:defRPr>
            </a:pPr>
            <a:r>
              <a:t>• Separate lifecycle</a:t>
            </a:r>
          </a:p>
          <a:p>
            <a:pPr>
              <a:spcAft>
                <a:spcPts val="400"/>
              </a:spcAft>
              <a:defRPr sz="1400">
                <a:solidFill>
                  <a:srgbClr val="F5F7FA"/>
                </a:solidFill>
                <a:latin typeface="Aptos"/>
              </a:defRPr>
            </a:pPr>
            <a:r>
              <a:t>• Extra query or $lookup when details are needed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737360"/>
            <a:ext cx="5440680" cy="4434840"/>
          </a:xfrm>
          <a:prstGeom prst="roundRect">
            <a:avLst/>
          </a:prstGeom>
          <a:solidFill>
            <a:srgbClr val="0F141C"/>
          </a:solidFill>
          <a:ln w="22860">
            <a:solidFill>
              <a:srgbClr val="FF9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28231" y="1810512"/>
            <a:ext cx="51114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9100"/>
                </a:solidFill>
                <a:latin typeface="Aptos"/>
              </a:rPr>
              <a:t>Embedded one-to-one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19672" y="2240280"/>
            <a:ext cx="4892040" cy="2514600"/>
          </a:xfrm>
          <a:prstGeom prst="roundRect">
            <a:avLst/>
          </a:prstGeom>
          <a:solidFill>
            <a:srgbClr val="050C14"/>
          </a:solidFill>
          <a:ln w="22860">
            <a:solidFill>
              <a:srgbClr val="FF9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47688" y="2350008"/>
            <a:ext cx="4636007" cy="2331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F5F7FA"/>
                </a:solidFill>
                <a:latin typeface="Courier New"/>
              </a:rPr>
              <a:t>orders
{
  orderNumber: "ORD-1001",
  shippingAddress: {
    city: "Chennai",
    country: "India"
  }
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498348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F5F7FA"/>
                </a:solidFill>
                <a:latin typeface="Aptos"/>
              </a:defRPr>
            </a:pPr>
            <a:r>
              <a:t>• One document read</a:t>
            </a:r>
          </a:p>
          <a:p>
            <a:pPr>
              <a:spcAft>
                <a:spcPts val="400"/>
              </a:spcAft>
              <a:defRPr sz="1400">
                <a:solidFill>
                  <a:srgbClr val="F5F7FA"/>
                </a:solidFill>
                <a:latin typeface="Aptos"/>
              </a:defRPr>
            </a:pPr>
            <a:r>
              <a:t>• Simple access path</a:t>
            </a:r>
          </a:p>
          <a:p>
            <a:pPr>
              <a:spcAft>
                <a:spcPts val="400"/>
              </a:spcAft>
              <a:defRPr sz="1400">
                <a:solidFill>
                  <a:srgbClr val="F5F7FA"/>
                </a:solidFill>
                <a:latin typeface="Aptos"/>
              </a:defRPr>
            </a:pPr>
            <a:r>
              <a:t>• Best for small, bounded, co-owned data</a:t>
            </a:r>
          </a:p>
          <a:p>
            <a:pPr>
              <a:spcAft>
                <a:spcPts val="400"/>
              </a:spcAft>
              <a:defRPr sz="1400">
                <a:solidFill>
                  <a:srgbClr val="F5F7FA"/>
                </a:solidFill>
                <a:latin typeface="Aptos"/>
              </a:defRPr>
            </a:pPr>
            <a:r>
              <a:t>• No separate relationship lookup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6263640"/>
            <a:ext cx="8503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9100"/>
                </a:solidFill>
                <a:latin typeface="Aptos"/>
              </a:rPr>
              <a:t>Decision follows application behavior — not a universal rule.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658600" y="6510528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BEC6D2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A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47472"/>
            <a:ext cx="8046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7FA"/>
                </a:solidFill>
                <a:latin typeface="Aptos"/>
              </a:rPr>
              <a:t>Querying the 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987552"/>
            <a:ext cx="9966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BEC6D2"/>
                </a:solidFill>
                <a:latin typeface="Aptos"/>
              </a:rPr>
              <a:t>A reference is stored as data; the application chooses how to resolve it.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778240" y="256032"/>
            <a:ext cx="2971800" cy="1371600"/>
          </a:xfrm>
          <a:prstGeom prst="roundRect">
            <a:avLst/>
          </a:prstGeom>
          <a:solidFill>
            <a:srgbClr val="0F141C"/>
          </a:solidFill>
          <a:ln w="22860">
            <a:solidFill>
              <a:srgbClr val="FF9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942832" y="329184"/>
            <a:ext cx="264261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9100"/>
                </a:solidFill>
                <a:latin typeface="Aptos"/>
              </a:rPr>
              <a:t>In this lesson, you will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0" y="713232"/>
            <a:ext cx="265176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F5F7FA"/>
                </a:solidFill>
                <a:latin typeface="Aptos"/>
              </a:defRPr>
            </a:pPr>
            <a:r>
              <a:t>• Model a one-to-one reference</a:t>
            </a:r>
          </a:p>
          <a:p>
            <a:pPr>
              <a:spcAft>
                <a:spcPts val="400"/>
              </a:spcAft>
              <a:defRPr sz="1200">
                <a:solidFill>
                  <a:srgbClr val="F5F7FA"/>
                </a:solidFill>
                <a:latin typeface="Aptos"/>
              </a:defRPr>
            </a:pPr>
            <a:r>
              <a:t>• Store the related document separately</a:t>
            </a:r>
          </a:p>
          <a:p>
            <a:pPr>
              <a:spcAft>
                <a:spcPts val="400"/>
              </a:spcAft>
              <a:defRPr sz="1200">
                <a:solidFill>
                  <a:srgbClr val="F5F7FA"/>
                </a:solidFill>
                <a:latin typeface="Aptos"/>
              </a:defRPr>
            </a:pPr>
            <a:r>
              <a:t>• Connect documents with ObjectId</a:t>
            </a:r>
          </a:p>
          <a:p>
            <a:pPr>
              <a:spcAft>
                <a:spcPts val="400"/>
              </a:spcAft>
              <a:defRPr sz="1200">
                <a:solidFill>
                  <a:srgbClr val="F5F7FA"/>
                </a:solidFill>
                <a:latin typeface="Aptos"/>
              </a:defRPr>
            </a:pPr>
            <a:r>
              <a:t>• Query related data when needed</a:t>
            </a:r>
          </a:p>
          <a:p>
            <a:pPr>
              <a:spcAft>
                <a:spcPts val="400"/>
              </a:spcAft>
              <a:defRPr sz="1200">
                <a:solidFill>
                  <a:srgbClr val="F5F7FA"/>
                </a:solidFill>
                <a:latin typeface="Aptos"/>
              </a:defRPr>
            </a:pPr>
            <a:r>
              <a:t>• Understand when references fit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37360"/>
            <a:ext cx="6675120" cy="4389120"/>
          </a:xfrm>
          <a:prstGeom prst="roundRect">
            <a:avLst/>
          </a:prstGeom>
          <a:solidFill>
            <a:srgbClr val="050C14"/>
          </a:solidFill>
          <a:ln w="22860">
            <a:solidFill>
              <a:srgbClr val="2DB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0936" y="1847088"/>
            <a:ext cx="6419088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F5F7FA"/>
                </a:solidFill>
                <a:latin typeface="Courier New"/>
              </a:rPr>
              <a:t>// Find the order
db.orders.findOne({ orderNumber: "ORD-1001" })
// Resolve invoice details with $lookup
db.orders.aggregate([
  { $lookup: {
      from: "invoices",
      localField: "invoiceId",
      foreignField: "_id",
      as: "invoice"
  } }
])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1737360"/>
            <a:ext cx="4160520" cy="4389120"/>
          </a:xfrm>
          <a:prstGeom prst="roundRect">
            <a:avLst/>
          </a:prstGeom>
          <a:solidFill>
            <a:srgbClr val="0F141C"/>
          </a:solidFill>
          <a:ln w="22860">
            <a:solidFill>
              <a:srgbClr val="FF9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62671" y="1810512"/>
            <a:ext cx="383133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9100"/>
                </a:solidFill>
                <a:latin typeface="Aptos"/>
              </a:rPr>
              <a:t>What the learner should notice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2331720"/>
            <a:ext cx="36118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>
                <a:solidFill>
                  <a:srgbClr val="F5F7FA"/>
                </a:solidFill>
                <a:latin typeface="Aptos"/>
              </a:defRPr>
            </a:pPr>
            <a:r>
              <a:t>• The order stores invoiceId, not the complete invoice.</a:t>
            </a:r>
          </a:p>
          <a:p>
            <a:pPr>
              <a:spcAft>
                <a:spcPts val="400"/>
              </a:spcAft>
              <a:defRPr sz="1700">
                <a:solidFill>
                  <a:srgbClr val="F5F7FA"/>
                </a:solidFill>
                <a:latin typeface="Aptos"/>
              </a:defRPr>
            </a:pPr>
            <a:r>
              <a:t>• `$lookup` combines related data during a read.</a:t>
            </a:r>
          </a:p>
          <a:p>
            <a:pPr>
              <a:spcAft>
                <a:spcPts val="400"/>
              </a:spcAft>
              <a:defRPr sz="1700">
                <a:solidFill>
                  <a:srgbClr val="F5F7FA"/>
                </a:solidFill>
                <a:latin typeface="Aptos"/>
              </a:defRPr>
            </a:pPr>
            <a:r>
              <a:t>• A separate query is another valid application pattern.</a:t>
            </a:r>
          </a:p>
          <a:p>
            <a:pPr>
              <a:spcAft>
                <a:spcPts val="400"/>
              </a:spcAft>
              <a:defRPr sz="1700">
                <a:solidFill>
                  <a:srgbClr val="F5F7FA"/>
                </a:solidFill>
                <a:latin typeface="Aptos"/>
              </a:defRPr>
            </a:pPr>
            <a:r>
              <a:t>• The reference does not automatically create a join.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516636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FF9100"/>
                </a:solidFill>
                <a:latin typeface="Aptos"/>
              </a:rPr>
              <a:t>Reference = explicit link + explicit read strategy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658600" y="6510528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BEC6D2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A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47472"/>
            <a:ext cx="8046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7FA"/>
                </a:solidFill>
                <a:latin typeface="Aptos"/>
              </a:rPr>
              <a:t>Hands-On mongosh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987552"/>
            <a:ext cx="9966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BEC6D2"/>
                </a:solidFill>
                <a:latin typeface="Aptos"/>
              </a:rPr>
              <a:t>Build one order and one related invoice, then resolve the relationship.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778240" y="256032"/>
            <a:ext cx="2971800" cy="1371600"/>
          </a:xfrm>
          <a:prstGeom prst="roundRect">
            <a:avLst/>
          </a:prstGeom>
          <a:solidFill>
            <a:srgbClr val="0F141C"/>
          </a:solidFill>
          <a:ln w="22860">
            <a:solidFill>
              <a:srgbClr val="FF9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942832" y="329184"/>
            <a:ext cx="264261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9100"/>
                </a:solidFill>
                <a:latin typeface="Aptos"/>
              </a:rPr>
              <a:t>In this lesson, you will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0" y="713232"/>
            <a:ext cx="265176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F5F7FA"/>
                </a:solidFill>
                <a:latin typeface="Aptos"/>
              </a:defRPr>
            </a:pPr>
            <a:r>
              <a:t>• Model a one-to-one reference</a:t>
            </a:r>
          </a:p>
          <a:p>
            <a:pPr>
              <a:spcAft>
                <a:spcPts val="400"/>
              </a:spcAft>
              <a:defRPr sz="1200">
                <a:solidFill>
                  <a:srgbClr val="F5F7FA"/>
                </a:solidFill>
                <a:latin typeface="Aptos"/>
              </a:defRPr>
            </a:pPr>
            <a:r>
              <a:t>• Store the related document separately</a:t>
            </a:r>
          </a:p>
          <a:p>
            <a:pPr>
              <a:spcAft>
                <a:spcPts val="400"/>
              </a:spcAft>
              <a:defRPr sz="1200">
                <a:solidFill>
                  <a:srgbClr val="F5F7FA"/>
                </a:solidFill>
                <a:latin typeface="Aptos"/>
              </a:defRPr>
            </a:pPr>
            <a:r>
              <a:t>• Connect documents with ObjectId</a:t>
            </a:r>
          </a:p>
          <a:p>
            <a:pPr>
              <a:spcAft>
                <a:spcPts val="400"/>
              </a:spcAft>
              <a:defRPr sz="1200">
                <a:solidFill>
                  <a:srgbClr val="F5F7FA"/>
                </a:solidFill>
                <a:latin typeface="Aptos"/>
              </a:defRPr>
            </a:pPr>
            <a:r>
              <a:t>• Query related data when needed</a:t>
            </a:r>
          </a:p>
          <a:p>
            <a:pPr>
              <a:spcAft>
                <a:spcPts val="400"/>
              </a:spcAft>
              <a:defRPr sz="1200">
                <a:solidFill>
                  <a:srgbClr val="F5F7FA"/>
                </a:solidFill>
                <a:latin typeface="Aptos"/>
              </a:defRPr>
            </a:pPr>
            <a:r>
              <a:t>• Understand when references fit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37360"/>
            <a:ext cx="6812280" cy="4480560"/>
          </a:xfrm>
          <a:prstGeom prst="roundRect">
            <a:avLst/>
          </a:prstGeom>
          <a:solidFill>
            <a:srgbClr val="050C14"/>
          </a:solidFill>
          <a:ln w="22860">
            <a:solidFill>
              <a:srgbClr val="AF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0936" y="1847088"/>
            <a:ext cx="6556248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F5F7FA"/>
                </a:solidFill>
                <a:latin typeface="Courier New"/>
              </a:rPr>
              <a:t>use orderdb_references
db.invoices.insertOne({
  _id: ObjectId(),
  invoiceNumber: "INV-5001",
  amount: 1299.00,
  status: "PAID"
})
// capture the id
const invoiceId = db.invoices.findOne({ invoiceNumber: "INV-5001" })._id
db.orders.insertOne({
  orderNumber: "ORD-1001",
  invoiceId: invoiceId,
  status: "CONFIRMED"
})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43800" y="1737360"/>
            <a:ext cx="4114800" cy="4480560"/>
          </a:xfrm>
          <a:prstGeom prst="roundRect">
            <a:avLst/>
          </a:prstGeom>
          <a:solidFill>
            <a:srgbClr val="0F141C"/>
          </a:solidFill>
          <a:ln w="22860">
            <a:solidFill>
              <a:srgbClr val="2DB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08392" y="1810512"/>
            <a:ext cx="378561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9100"/>
                </a:solidFill>
                <a:latin typeface="Aptos"/>
              </a:rPr>
              <a:t>Observe the 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20" y="2331720"/>
            <a:ext cx="352044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F5F7FA"/>
                </a:solidFill>
                <a:latin typeface="Aptos"/>
              </a:defRPr>
            </a:pPr>
            <a:r>
              <a:t>• Two collections</a:t>
            </a:r>
          </a:p>
          <a:p>
            <a:pPr>
              <a:spcAft>
                <a:spcPts val="400"/>
              </a:spcAft>
              <a:defRPr sz="1800">
                <a:solidFill>
                  <a:srgbClr val="F5F7FA"/>
                </a:solidFill>
                <a:latin typeface="Aptos"/>
              </a:defRPr>
            </a:pPr>
            <a:r>
              <a:t>• One invoice document</a:t>
            </a:r>
          </a:p>
          <a:p>
            <a:pPr>
              <a:spcAft>
                <a:spcPts val="400"/>
              </a:spcAft>
              <a:defRPr sz="1800">
                <a:solidFill>
                  <a:srgbClr val="F5F7FA"/>
                </a:solidFill>
                <a:latin typeface="Aptos"/>
              </a:defRPr>
            </a:pPr>
            <a:r>
              <a:t>• One order document</a:t>
            </a:r>
          </a:p>
          <a:p>
            <a:pPr>
              <a:spcAft>
                <a:spcPts val="400"/>
              </a:spcAft>
              <a:defRPr sz="1800">
                <a:solidFill>
                  <a:srgbClr val="F5F7FA"/>
                </a:solidFill>
                <a:latin typeface="Aptos"/>
              </a:defRPr>
            </a:pPr>
            <a:r>
              <a:t>• ObjectId links them</a:t>
            </a:r>
          </a:p>
          <a:p>
            <a:pPr>
              <a:spcAft>
                <a:spcPts val="400"/>
              </a:spcAft>
              <a:defRPr sz="1800">
                <a:solidFill>
                  <a:srgbClr val="F5F7FA"/>
                </a:solidFill>
                <a:latin typeface="Aptos"/>
              </a:defRPr>
            </a:pPr>
            <a:r>
              <a:t>• Parent remains compact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658600" y="6510528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BEC6D2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A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47472"/>
            <a:ext cx="8046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7FA"/>
                </a:solidFill>
                <a:latin typeface="Aptos"/>
              </a:rPr>
              <a:t>Independent Updates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987552"/>
            <a:ext cx="9966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BEC6D2"/>
                </a:solidFill>
                <a:latin typeface="Aptos"/>
              </a:rPr>
              <a:t>One benefit of references is that the related document can change independently.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778240" y="256032"/>
            <a:ext cx="2971800" cy="1371600"/>
          </a:xfrm>
          <a:prstGeom prst="roundRect">
            <a:avLst/>
          </a:prstGeom>
          <a:solidFill>
            <a:srgbClr val="0F141C"/>
          </a:solidFill>
          <a:ln w="22860">
            <a:solidFill>
              <a:srgbClr val="FF9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942832" y="329184"/>
            <a:ext cx="264261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9100"/>
                </a:solidFill>
                <a:latin typeface="Aptos"/>
              </a:rPr>
              <a:t>In this lesson, you will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0" y="713232"/>
            <a:ext cx="265176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F5F7FA"/>
                </a:solidFill>
                <a:latin typeface="Aptos"/>
              </a:defRPr>
            </a:pPr>
            <a:r>
              <a:t>• Model a one-to-one reference</a:t>
            </a:r>
          </a:p>
          <a:p>
            <a:pPr>
              <a:spcAft>
                <a:spcPts val="400"/>
              </a:spcAft>
              <a:defRPr sz="1200">
                <a:solidFill>
                  <a:srgbClr val="F5F7FA"/>
                </a:solidFill>
                <a:latin typeface="Aptos"/>
              </a:defRPr>
            </a:pPr>
            <a:r>
              <a:t>• Store the related document separately</a:t>
            </a:r>
          </a:p>
          <a:p>
            <a:pPr>
              <a:spcAft>
                <a:spcPts val="400"/>
              </a:spcAft>
              <a:defRPr sz="1200">
                <a:solidFill>
                  <a:srgbClr val="F5F7FA"/>
                </a:solidFill>
                <a:latin typeface="Aptos"/>
              </a:defRPr>
            </a:pPr>
            <a:r>
              <a:t>• Connect documents with ObjectId</a:t>
            </a:r>
          </a:p>
          <a:p>
            <a:pPr>
              <a:spcAft>
                <a:spcPts val="400"/>
              </a:spcAft>
              <a:defRPr sz="1200">
                <a:solidFill>
                  <a:srgbClr val="F5F7FA"/>
                </a:solidFill>
                <a:latin typeface="Aptos"/>
              </a:defRPr>
            </a:pPr>
            <a:r>
              <a:t>• Query related data when needed</a:t>
            </a:r>
          </a:p>
          <a:p>
            <a:pPr>
              <a:spcAft>
                <a:spcPts val="400"/>
              </a:spcAft>
              <a:defRPr sz="1200">
                <a:solidFill>
                  <a:srgbClr val="F5F7FA"/>
                </a:solidFill>
                <a:latin typeface="Aptos"/>
              </a:defRPr>
            </a:pPr>
            <a:r>
              <a:t>• Understand when references fit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37360"/>
            <a:ext cx="5394960" cy="4480560"/>
          </a:xfrm>
          <a:prstGeom prst="roundRect">
            <a:avLst/>
          </a:prstGeom>
          <a:solidFill>
            <a:srgbClr val="0F141C"/>
          </a:solidFill>
          <a:ln w="22860">
            <a:solidFill>
              <a:srgbClr val="AF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7512" y="1810512"/>
            <a:ext cx="506577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9100"/>
                </a:solidFill>
                <a:latin typeface="Aptos"/>
              </a:rPr>
              <a:t>Update the related document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331720"/>
            <a:ext cx="4800600" cy="1554480"/>
          </a:xfrm>
          <a:prstGeom prst="roundRect">
            <a:avLst/>
          </a:prstGeom>
          <a:solidFill>
            <a:srgbClr val="050C14"/>
          </a:solidFill>
          <a:ln w="22860">
            <a:solidFill>
              <a:srgbClr val="AF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05256" y="2441448"/>
            <a:ext cx="4544568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F5F7FA"/>
                </a:solidFill>
                <a:latin typeface="Courier New"/>
              </a:rPr>
              <a:t>db.invoices.updateOne(
  { invoiceNumber: "INV-5001" },
  { $set: { status: "PAID",
            amount: 1349.00 } }
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343400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F5F7FA"/>
                </a:solidFill>
                <a:latin typeface="Aptos"/>
              </a:rPr>
              <a:t>The order keeps the same invoiceId.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737360"/>
            <a:ext cx="5394960" cy="4480560"/>
          </a:xfrm>
          <a:prstGeom prst="roundRect">
            <a:avLst/>
          </a:prstGeom>
          <a:solidFill>
            <a:srgbClr val="0F141C"/>
          </a:solidFill>
          <a:ln w="22860">
            <a:solidFill>
              <a:srgbClr val="FF9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28231" y="1810512"/>
            <a:ext cx="506577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9100"/>
                </a:solidFill>
                <a:latin typeface="Aptos"/>
              </a:rPr>
              <a:t>When this pattern helps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331720"/>
            <a:ext cx="46634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F5F7FA"/>
                </a:solidFill>
                <a:latin typeface="Aptos"/>
              </a:defRPr>
            </a:pPr>
            <a:r>
              <a:t>• Invoice changes without rewriting the order</a:t>
            </a:r>
          </a:p>
          <a:p>
            <a:pPr>
              <a:spcAft>
                <a:spcPts val="400"/>
              </a:spcAft>
              <a:defRPr sz="1800">
                <a:solidFill>
                  <a:srgbClr val="F5F7FA"/>
                </a:solidFill>
                <a:latin typeface="Aptos"/>
              </a:defRPr>
            </a:pPr>
            <a:r>
              <a:t>• Invoice is queried independently</a:t>
            </a:r>
          </a:p>
          <a:p>
            <a:pPr>
              <a:spcAft>
                <a:spcPts val="400"/>
              </a:spcAft>
              <a:defRPr sz="1800">
                <a:solidFill>
                  <a:srgbClr val="F5F7FA"/>
                </a:solidFill>
                <a:latin typeface="Aptos"/>
              </a:defRPr>
            </a:pPr>
            <a:r>
              <a:t>• Different lifecycle from the order</a:t>
            </a:r>
          </a:p>
          <a:p>
            <a:pPr>
              <a:spcAft>
                <a:spcPts val="400"/>
              </a:spcAft>
              <a:defRPr sz="1800">
                <a:solidFill>
                  <a:srgbClr val="F5F7FA"/>
                </a:solidFill>
                <a:latin typeface="Aptos"/>
              </a:defRPr>
            </a:pPr>
            <a:r>
              <a:t>• Reference keeps the parent document smaller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658600" y="6510528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BEC6D2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A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47472"/>
            <a:ext cx="8046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7FA"/>
                </a:solidFill>
                <a:latin typeface="Aptos"/>
              </a:rPr>
              <a:t>Practical Design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987552"/>
            <a:ext cx="9966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BEC6D2"/>
                </a:solidFill>
                <a:latin typeface="Aptos"/>
              </a:rPr>
              <a:t>Use the relationship signals to justify the document shape.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778240" y="256032"/>
            <a:ext cx="2971800" cy="1371600"/>
          </a:xfrm>
          <a:prstGeom prst="roundRect">
            <a:avLst/>
          </a:prstGeom>
          <a:solidFill>
            <a:srgbClr val="0F141C"/>
          </a:solidFill>
          <a:ln w="22860">
            <a:solidFill>
              <a:srgbClr val="FF9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942832" y="329184"/>
            <a:ext cx="264261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9100"/>
                </a:solidFill>
                <a:latin typeface="Aptos"/>
              </a:rPr>
              <a:t>In this lesson, you will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0" y="713232"/>
            <a:ext cx="265176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F5F7FA"/>
                </a:solidFill>
                <a:latin typeface="Aptos"/>
              </a:defRPr>
            </a:pPr>
            <a:r>
              <a:t>• Model a one-to-one reference</a:t>
            </a:r>
          </a:p>
          <a:p>
            <a:pPr>
              <a:spcAft>
                <a:spcPts val="400"/>
              </a:spcAft>
              <a:defRPr sz="1200">
                <a:solidFill>
                  <a:srgbClr val="F5F7FA"/>
                </a:solidFill>
                <a:latin typeface="Aptos"/>
              </a:defRPr>
            </a:pPr>
            <a:r>
              <a:t>• Store the related document separately</a:t>
            </a:r>
          </a:p>
          <a:p>
            <a:pPr>
              <a:spcAft>
                <a:spcPts val="400"/>
              </a:spcAft>
              <a:defRPr sz="1200">
                <a:solidFill>
                  <a:srgbClr val="F5F7FA"/>
                </a:solidFill>
                <a:latin typeface="Aptos"/>
              </a:defRPr>
            </a:pPr>
            <a:r>
              <a:t>• Connect documents with ObjectId</a:t>
            </a:r>
          </a:p>
          <a:p>
            <a:pPr>
              <a:spcAft>
                <a:spcPts val="400"/>
              </a:spcAft>
              <a:defRPr sz="1200">
                <a:solidFill>
                  <a:srgbClr val="F5F7FA"/>
                </a:solidFill>
                <a:latin typeface="Aptos"/>
              </a:defRPr>
            </a:pPr>
            <a:r>
              <a:t>• Query related data when needed</a:t>
            </a:r>
          </a:p>
          <a:p>
            <a:pPr>
              <a:spcAft>
                <a:spcPts val="400"/>
              </a:spcAft>
              <a:defRPr sz="1200">
                <a:solidFill>
                  <a:srgbClr val="F5F7FA"/>
                </a:solidFill>
                <a:latin typeface="Aptos"/>
              </a:defRPr>
            </a:pPr>
            <a:r>
              <a:t>• Understand when references fit</a:t>
            </a:r>
          </a:p>
        </p:txBody>
      </p:sp>
      <p:sp>
        <p:nvSpPr>
          <p:cNvPr id="7" name="Oval 6"/>
          <p:cNvSpPr/>
          <p:nvPr/>
        </p:nvSpPr>
        <p:spPr>
          <a:xfrm>
            <a:off x="658368" y="1783080"/>
            <a:ext cx="502920" cy="502920"/>
          </a:xfrm>
          <a:prstGeom prst="ellipse">
            <a:avLst/>
          </a:prstGeom>
          <a:solidFill>
            <a:srgbClr val="2DBEFF"/>
          </a:solidFill>
          <a:ln>
            <a:solidFill>
              <a:srgbClr val="2DB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" y="1837943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80A0E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828800"/>
            <a:ext cx="9692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5F7FA"/>
                </a:solidFill>
                <a:latin typeface="Aptos"/>
              </a:rPr>
              <a:t>Is the related object independently managed?</a:t>
            </a:r>
          </a:p>
        </p:txBody>
      </p:sp>
      <p:sp>
        <p:nvSpPr>
          <p:cNvPr id="10" name="Oval 9"/>
          <p:cNvSpPr/>
          <p:nvPr/>
        </p:nvSpPr>
        <p:spPr>
          <a:xfrm>
            <a:off x="658368" y="2770632"/>
            <a:ext cx="502920" cy="502920"/>
          </a:xfrm>
          <a:prstGeom prst="ellipse">
            <a:avLst/>
          </a:prstGeom>
          <a:solidFill>
            <a:srgbClr val="AF5AFF"/>
          </a:solidFill>
          <a:ln>
            <a:solidFill>
              <a:srgbClr val="AF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368" y="2825496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80A0E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816352"/>
            <a:ext cx="9692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5F7FA"/>
                </a:solidFill>
                <a:latin typeface="Aptos"/>
              </a:rPr>
              <a:t>Can it grow or become complex?</a:t>
            </a:r>
          </a:p>
        </p:txBody>
      </p:sp>
      <p:sp>
        <p:nvSpPr>
          <p:cNvPr id="13" name="Oval 12"/>
          <p:cNvSpPr/>
          <p:nvPr/>
        </p:nvSpPr>
        <p:spPr>
          <a:xfrm>
            <a:off x="658368" y="3758184"/>
            <a:ext cx="502920" cy="502920"/>
          </a:xfrm>
          <a:prstGeom prst="ellipse">
            <a:avLst/>
          </a:prstGeom>
          <a:solidFill>
            <a:srgbClr val="FF9100"/>
          </a:solidFill>
          <a:ln>
            <a:solidFill>
              <a:srgbClr val="FF9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8368" y="3813048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80A0E"/>
                </a:solidFill>
                <a:latin typeface="Apto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803904"/>
            <a:ext cx="9692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5F7FA"/>
                </a:solidFill>
                <a:latin typeface="Aptos"/>
              </a:rPr>
              <a:t>Is it often accessed on its own?</a:t>
            </a:r>
          </a:p>
        </p:txBody>
      </p:sp>
      <p:sp>
        <p:nvSpPr>
          <p:cNvPr id="16" name="Oval 15"/>
          <p:cNvSpPr/>
          <p:nvPr/>
        </p:nvSpPr>
        <p:spPr>
          <a:xfrm>
            <a:off x="658368" y="4745736"/>
            <a:ext cx="502920" cy="502920"/>
          </a:xfrm>
          <a:prstGeom prst="ellipse">
            <a:avLst/>
          </a:prstGeom>
          <a:solidFill>
            <a:srgbClr val="00D2BE"/>
          </a:solidFill>
          <a:ln>
            <a:solidFill>
              <a:srgbClr val="00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8368" y="480060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80A0E"/>
                </a:solidFill>
                <a:latin typeface="Apto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791456"/>
            <a:ext cx="9692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5F7FA"/>
                </a:solidFill>
                <a:latin typeface="Aptos"/>
              </a:rPr>
              <a:t>Does it have a different lifecycle?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580644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FF9100"/>
                </a:solidFill>
                <a:latin typeface="Aptos"/>
              </a:rPr>
              <a:t>More “yes” answers → stronger case for a separate referenced document.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658600" y="6510528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BEC6D2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A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7FA"/>
                </a:solidFill>
                <a:latin typeface="Aptos"/>
              </a:rPr>
              <a:t>One-to-One — 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144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9100"/>
                </a:solidFill>
                <a:latin typeface="Aptos"/>
              </a:rPr>
              <a:t>REFERENCE → SEPARATE DOCUMENT → RESOLVE WHEN NEEDED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2560320" cy="2011680"/>
          </a:xfrm>
          <a:prstGeom prst="roundRect">
            <a:avLst/>
          </a:prstGeom>
          <a:solidFill>
            <a:srgbClr val="0F141C"/>
          </a:solidFill>
          <a:ln w="22860">
            <a:solidFill>
              <a:srgbClr val="2DB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13232" y="1901952"/>
            <a:ext cx="223113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9100"/>
                </a:solidFill>
                <a:latin typeface="Aptos"/>
              </a:rPr>
              <a:t>RELATION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514600"/>
            <a:ext cx="2148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5F7FA"/>
                </a:solidFill>
                <a:latin typeface="Aptos"/>
              </a:rPr>
              <a:t>1 parent → 1 related document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828800"/>
            <a:ext cx="2560320" cy="2011680"/>
          </a:xfrm>
          <a:prstGeom prst="roundRect">
            <a:avLst/>
          </a:prstGeom>
          <a:solidFill>
            <a:srgbClr val="0F141C"/>
          </a:solidFill>
          <a:ln w="22860">
            <a:solidFill>
              <a:srgbClr val="AF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593592" y="1901952"/>
            <a:ext cx="223113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9100"/>
                </a:solidFill>
                <a:latin typeface="Aptos"/>
              </a:rPr>
              <a:t>LINK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30168" y="2514600"/>
            <a:ext cx="2148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5F7FA"/>
                </a:solidFill>
                <a:latin typeface="Aptos"/>
              </a:rPr>
              <a:t>ObjectId / reference field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59" y="1828800"/>
            <a:ext cx="2560320" cy="2011680"/>
          </a:xfrm>
          <a:prstGeom prst="roundRect">
            <a:avLst/>
          </a:prstGeom>
          <a:solidFill>
            <a:srgbClr val="0F141C"/>
          </a:solidFill>
          <a:ln w="22860">
            <a:solidFill>
              <a:srgbClr val="FF9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73951" y="1901952"/>
            <a:ext cx="223113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9100"/>
                </a:solidFill>
                <a:latin typeface="Aptos"/>
              </a:rPr>
              <a:t>ACCESS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0527" y="2514600"/>
            <a:ext cx="2148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5F7FA"/>
                </a:solidFill>
                <a:latin typeface="Aptos"/>
              </a:rPr>
              <a:t>query or $lookup when needed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89719" y="1828800"/>
            <a:ext cx="2560320" cy="2011680"/>
          </a:xfrm>
          <a:prstGeom prst="roundRect">
            <a:avLst/>
          </a:prstGeom>
          <a:solidFill>
            <a:srgbClr val="0F141C"/>
          </a:solidFill>
          <a:ln w="22860">
            <a:solidFill>
              <a:srgbClr val="00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354311" y="1901952"/>
            <a:ext cx="223113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9100"/>
                </a:solidFill>
                <a:latin typeface="Aptos"/>
              </a:rPr>
              <a:t>SIGNAL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90888" y="2514600"/>
            <a:ext cx="2148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5F7FA"/>
                </a:solidFill>
                <a:latin typeface="Aptos"/>
              </a:rPr>
              <a:t>independent size, lifecycle, or access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251960"/>
            <a:ext cx="11064240" cy="1508760"/>
          </a:xfrm>
          <a:prstGeom prst="roundRect">
            <a:avLst/>
          </a:prstGeom>
          <a:solidFill>
            <a:srgbClr val="0F141C"/>
          </a:solidFill>
          <a:ln w="22860">
            <a:solidFill>
              <a:srgbClr val="FF9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13232" y="4325112"/>
            <a:ext cx="107350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9100"/>
                </a:solidFill>
                <a:latin typeface="Aptos"/>
              </a:rPr>
              <a:t>Order Management mental model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709160"/>
            <a:ext cx="9966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5F7FA"/>
                </a:solidFill>
                <a:latin typeface="Aptos"/>
              </a:rPr>
              <a:t>orders  ── invoiceId ──▶  invoices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98932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BEC6D2"/>
                </a:solidFill>
                <a:latin typeface="Aptos"/>
              </a:rPr>
              <a:t>Keep relationships explicit. Keep independently managed data separate. Resolve related data deliberately.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658600" y="6510528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BEC6D2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2ae551e3-0043-40f0-9a67-12d995049d50}" enabled="1" method="Standard" siteId="{97984c2b-a229-4609-8185-ae84947bc3fc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1243</Words>
  <Application>Microsoft Office PowerPoint</Application>
  <PresentationFormat>Widescreen</PresentationFormat>
  <Paragraphs>176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Avishesh Jha</cp:lastModifiedBy>
  <cp:revision>2</cp:revision>
  <dcterms:created xsi:type="dcterms:W3CDTF">2013-01-27T09:14:16Z</dcterms:created>
  <dcterms:modified xsi:type="dcterms:W3CDTF">2026-10-02T12:12:19Z</dcterms:modified>
  <cp:category/>
</cp:coreProperties>
</file>