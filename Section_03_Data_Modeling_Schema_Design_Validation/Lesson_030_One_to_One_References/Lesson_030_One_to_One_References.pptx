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wide_colorful_educational_infographic_poster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8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548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297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6D2"/>
                </a:solidFill>
                <a:latin typeface="Aptos"/>
              </a:rPr>
              <a:t>Order Management: order → referenced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" y="27432"/>
            <a:ext cx="8366760" cy="1051560"/>
          </a:xfrm>
          <a:prstGeom prst="rect">
            <a:avLst/>
          </a:prstGeom>
          <a:solidFill>
            <a:srgbClr val="08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144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5F7FA"/>
                </a:solidFill>
                <a:latin typeface="Aptos Display"/>
              </a:rPr>
              <a:t>One-to-One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1440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9100"/>
                </a:solidFill>
                <a:latin typeface="Aptos Display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EC6D2"/>
                </a:solidFill>
                <a:latin typeface="Aptos Display"/>
              </a:rPr>
              <a:t>Learn how MongoDB connects one related document through an explicit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Keep the related object in a separate collection and connect it with an identifier.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64792"/>
            <a:ext cx="3328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What is a one-to-one reference?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parent document points to one related document.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related object lives in its own collection.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A reference such as ObjectId links the two documents.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application resolves the relationship when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282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 Management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377440"/>
            <a:ext cx="1371600" cy="1051560"/>
          </a:xfrm>
          <a:prstGeom prst="roundRect">
            <a:avLst/>
          </a:prstGeom>
          <a:solidFill>
            <a:srgbClr val="081C2D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2450592"/>
            <a:ext cx="1042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249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orderId
invoiceId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377440"/>
            <a:ext cx="1234440" cy="1051560"/>
          </a:xfrm>
          <a:prstGeom prst="roundRect">
            <a:avLst/>
          </a:prstGeom>
          <a:solidFill>
            <a:srgbClr val="1B0E2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450592"/>
            <a:ext cx="905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7249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invoiceId
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7614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100"/>
                </a:solidFill>
                <a:latin typeface="Aptos"/>
              </a:rPr>
              <a:t>one-to-one
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3840480"/>
            <a:ext cx="3090672" cy="114300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3950208"/>
            <a:ext cx="283463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{ orderId: "ORD-1001",
  invoiceId: ObjectId("...")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347472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764792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Why use a reference?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240280"/>
            <a:ext cx="2880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Large or complex related object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Frequently updated independently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Different lifecycle or access pattern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Avoid growing the parent document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Separate security or ownership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8920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100"/>
                </a:solidFill>
                <a:latin typeface="Aptos"/>
              </a:rPr>
              <a:t>Core idea: the link is stored; the related data stays separate.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How the Reference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The parent keeps an identifier; the related document keeps the full object.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38328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1. Parent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86000"/>
            <a:ext cx="2880360" cy="20116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395728"/>
            <a:ext cx="262432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{
  orderNumber: "ORD-1001",
  customerId: ObjectId("..."),
  invoiceId: ObjectId("...")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BEFF"/>
                </a:solidFill>
                <a:latin typeface="Aptos"/>
              </a:rPr>
              <a:t>stores the reference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661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764792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2. Related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286000"/>
            <a:ext cx="3063240" cy="22402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395728"/>
            <a:ext cx="2807208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{
  _id: ObjectId("..."),
  invoiceNumber: "INV-5001",
  amount: 1299.00,
  status: "PAID"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72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F5AFF"/>
                </a:solidFill>
                <a:latin typeface="Aptos"/>
              </a:rPr>
              <a:t>stores the full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91640"/>
            <a:ext cx="352044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764792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3. Application read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100"/>
                </a:solidFill>
                <a:latin typeface="Aptos"/>
              </a:rPr>
              <a:t>↓  invoiceId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DBEFF"/>
                </a:solidFill>
                <a:latin typeface="Aptos"/>
              </a:rPr>
              <a:t>Query / $lookup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100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Invoice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Choosing One-to-One 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Check independence, growth, access and lifecycle before separating the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BEFF"/>
                </a:solidFill>
                <a:latin typeface="Aptos"/>
              </a:rPr>
              <a:t>INDEPENDENCE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0195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Can the related object be updated by itself?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F5AFF"/>
                </a:solidFill>
                <a:latin typeface="Aptos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535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Could the object become large or complex?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40479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100"/>
                </a:solidFill>
                <a:latin typeface="Aptos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0507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Is it often queried separately?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92040"/>
            <a:ext cx="11064240" cy="822960"/>
          </a:xfrm>
          <a:prstGeom prst="roundRect">
            <a:avLst/>
          </a:prstGeom>
          <a:solidFill>
            <a:srgbClr val="0D1219"/>
          </a:solidFill>
          <a:ln w="2286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5663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2BE"/>
                </a:solidFill>
                <a:latin typeface="Aptos"/>
              </a:rPr>
              <a:t>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56631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Can it live longer or shorter than the parent?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A stronger reference signal appears when several answers point to independent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Reference vs Embedded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The same business relationship can use different document shapes.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4406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10512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Referenced one-to-one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4892040" cy="29260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50008"/>
            <a:ext cx="4636007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orders
{
  orderNumber: "ORD-1001",
  invoiceId: ObjectId("...")
}
invoices
{
  _id: ObjectId("..."),
  invoiceNumber: "INV-5001",
  amount: 1299.00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Smaller parent document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Independent invoice updates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Separate lifecycle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Extra query or $lookup when details are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40680" cy="443484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10512"/>
            <a:ext cx="5111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Embedded one-to-one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2240280"/>
            <a:ext cx="4892040" cy="251460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350008"/>
            <a:ext cx="4636007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orders
{
  orderNumber: "ORD-1001",
  shippingAddress: {
    city: "Chennai",
    country: "India"
  }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83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One document read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Simple access path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Best for small, bounded, co-owned data</a:t>
            </a:r>
          </a:p>
          <a:p>
            <a:pPr>
              <a:spcAft>
                <a:spcPts val="4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No separate relationship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2636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9100"/>
                </a:solidFill>
                <a:latin typeface="Aptos"/>
              </a:rPr>
              <a:t>Decision follows application behavior — not a universal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Querying the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A reference is stored as data; the application chooses how to resolve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675120" cy="438912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47088"/>
            <a:ext cx="641908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urier New"/>
              </a:rPr>
              <a:t>// Find the order
db.orders.findOne({ orderNumber: "ORD-1001" })
// Resolve invoice details with $lookup
db.orders.aggregate([
  { $lookup: {
      from: "invoices",
      localField: "invoiceId",
      foreignField: "_id",
      as: "invoice"
  } }
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4160520" cy="438912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1810512"/>
            <a:ext cx="3831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What the learner should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611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order stores invoiceId, not the complete invoice.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`$lookup` combines related data during a read.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 separate query is another valid application pattern.</a:t>
            </a:r>
          </a:p>
          <a:p>
            <a:pPr>
              <a:spcAft>
                <a:spcPts val="4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reference does not automatically create a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9100"/>
                </a:solidFill>
                <a:latin typeface="Aptos"/>
              </a:rPr>
              <a:t>Reference = explicit link + explicit read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Hands-On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Build one order and one related invoice, then resolve the relationship.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812280" cy="448056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47088"/>
            <a:ext cx="6556248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5F7FA"/>
                </a:solidFill>
                <a:latin typeface="Courier New"/>
              </a:rPr>
              <a:t>use orderdb_references
db.invoices.insertOne({
  _id: ObjectId(),
  invoiceNumber: "INV-5001",
  amount: 1299.00,
  status: "PAID"
})
// capture the id
const invoiceId = db.invoices.findOne({ invoiceNumber: "INV-5001" })._id
db.orders.insertOne({
  orderNumber: "ORD-1001",
  invoiceId: invoiceId,
  status: "CONFIRMED"
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737360"/>
            <a:ext cx="411480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1810512"/>
            <a:ext cx="37856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Observe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31720"/>
            <a:ext cx="3520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Two collections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invoice document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One order document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ObjectId links them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Parent remains compact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Independent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One benefit of references is that the related document can change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3949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Update the related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4800600" cy="1554480"/>
          </a:xfrm>
          <a:prstGeom prst="roundRect">
            <a:avLst/>
          </a:prstGeom>
          <a:solidFill>
            <a:srgbClr val="050C14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41448"/>
            <a:ext cx="45445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db.invoices.updateOne(
  { invoiceNumber: "INV-5001" },
  { $set: { status: "PAID",
            amount: 1349.00 } }
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The order keeps the same invoiceId.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394960" cy="44805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10512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When this pattern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Invoice changes without rewriting the order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Invoice is queried independently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Different lifecycle from the order</a:t>
            </a:r>
          </a:p>
          <a:p>
            <a:pPr>
              <a:spcAft>
                <a:spcPts val="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Reference keeps the parent document smaller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Practical Design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8755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C6D2"/>
                </a:solidFill>
                <a:latin typeface="Aptos"/>
              </a:rPr>
              <a:t>Use the relationship signals to justify the document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256032"/>
            <a:ext cx="2971800" cy="137160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42832" y="329184"/>
            <a:ext cx="2642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713232"/>
            <a:ext cx="2651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Model a one-to-one reference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Store the related document separately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Connect documents with ObjectId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Query related data when needed</a:t>
            </a:r>
          </a:p>
          <a:p>
            <a:pPr>
              <a:spcAft>
                <a:spcPts val="4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Understand when references fit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783080"/>
            <a:ext cx="502920" cy="502920"/>
          </a:xfrm>
          <a:prstGeom prst="ellipse">
            <a:avLst/>
          </a:prstGeom>
          <a:solidFill>
            <a:srgbClr val="2DBEFF"/>
          </a:solidFill>
          <a:ln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3794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Is the related object independently managed?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770632"/>
            <a:ext cx="502920" cy="502920"/>
          </a:xfrm>
          <a:prstGeom prst="ellipse">
            <a:avLst/>
          </a:prstGeom>
          <a:solidFill>
            <a:srgbClr val="AF5AFF"/>
          </a:solidFill>
          <a:ln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1635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Can it grow or become complex?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758184"/>
            <a:ext cx="502920" cy="502920"/>
          </a:xfrm>
          <a:prstGeom prst="ellipse">
            <a:avLst/>
          </a:prstGeom>
          <a:solidFill>
            <a:srgbClr val="FF9100"/>
          </a:solidFill>
          <a:ln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1304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0390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Is it often accessed on its own?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745736"/>
            <a:ext cx="502920" cy="502920"/>
          </a:xfrm>
          <a:prstGeom prst="ellipse">
            <a:avLst/>
          </a:prstGeom>
          <a:solidFill>
            <a:srgbClr val="00D2BE"/>
          </a:solidFill>
          <a:ln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8006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80A0E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91456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F7FA"/>
                </a:solidFill>
                <a:latin typeface="Aptos"/>
              </a:rPr>
              <a:t>Does it have a different lifecycle?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9100"/>
                </a:solidFill>
                <a:latin typeface="Aptos"/>
              </a:rPr>
              <a:t>More “yes” answers → stronger case for a separate referenced document.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One-to-One —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100"/>
                </a:solidFill>
                <a:latin typeface="Aptos"/>
              </a:rPr>
              <a:t>REFERENCE → SEPARATE DOCUMENT → RESOLVE WHEN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1 parent → 1 related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A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ObjectId / reference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query or $lookup when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828800"/>
            <a:ext cx="2560320" cy="201168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00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1" y="1901952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51460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independent size, lifecycle, or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11064240" cy="1508760"/>
          </a:xfrm>
          <a:prstGeom prst="roundRect">
            <a:avLst/>
          </a:prstGeom>
          <a:solidFill>
            <a:srgbClr val="0F141C"/>
          </a:solidFill>
          <a:ln w="2286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25112"/>
            <a:ext cx="10735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100"/>
                </a:solidFill>
                <a:latin typeface="Aptos"/>
              </a:rPr>
              <a:t>Order Management mental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7FA"/>
                </a:solidFill>
                <a:latin typeface="Aptos"/>
              </a:rPr>
              <a:t>orders  ── invoiceId ──▶  invoices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6D2"/>
                </a:solidFill>
                <a:latin typeface="Aptos"/>
              </a:rPr>
              <a:t>Keep relationships explicit. Keep independently managed data separate. Resolve related data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65105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EC6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