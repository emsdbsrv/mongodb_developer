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707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10528"/>
            <a:ext cx="11365992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656539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A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 DEVELOPER LEARNING PATH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94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7F287"/>
                </a:solidFill>
              </a:rPr>
              <a:t>LESSON 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7132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7F7F7"/>
                </a:solidFill>
              </a:rPr>
              <a:t>MongoDB Data Types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7F7F7"/>
                </a:solidFill>
              </a:rPr>
              <a:t>and Limits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283464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A9A9"/>
                </a:solidFill>
              </a:rPr>
              <a:t>Choose the right BSON type, understand document boundaries, and design data that behaves predictably.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543800" y="914400"/>
            <a:ext cx="3977640" cy="4526280"/>
          </a:xfrm>
          <a:prstGeom prst="roundRect">
            <a:avLst>
              <a:gd name="adj" fmla="val 1839"/>
            </a:avLst>
          </a:prstGeom>
          <a:solidFill>
            <a:srgbClr val="0B0B0B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9560" y="1234440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DOCUMENT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73568" y="1792224"/>
            <a:ext cx="118872" cy="118872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47888" y="1664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491472" y="16642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String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73568" y="2148840"/>
            <a:ext cx="3063240" cy="0"/>
          </a:xfrm>
          <a:prstGeom prst="line">
            <a:avLst/>
          </a:prstGeom>
          <a:noFill/>
          <a:ln w="12700">
            <a:solidFill>
              <a:srgbClr val="25252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73568" y="2414016"/>
            <a:ext cx="118872" cy="118872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22860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price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491472" y="2286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Decimal128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73568" y="2770632"/>
            <a:ext cx="3063240" cy="0"/>
          </a:xfrm>
          <a:prstGeom prst="line">
            <a:avLst/>
          </a:prstGeom>
          <a:noFill/>
          <a:ln w="12700">
            <a:solidFill>
              <a:srgbClr val="2525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73568" y="3035808"/>
            <a:ext cx="118872" cy="118872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907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createdAt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491472" y="29077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Date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73568" y="3392424"/>
            <a:ext cx="3063240" cy="0"/>
          </a:xfrm>
          <a:prstGeom prst="line">
            <a:avLst/>
          </a:prstGeom>
          <a:noFill/>
          <a:ln w="12700">
            <a:solidFill>
              <a:srgbClr val="25252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73568" y="3657600"/>
            <a:ext cx="118872" cy="118872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7888" y="35295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tags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491472" y="35295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Array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73568" y="4014216"/>
            <a:ext cx="3063240" cy="0"/>
          </a:xfrm>
          <a:prstGeom prst="line">
            <a:avLst/>
          </a:prstGeom>
          <a:noFill/>
          <a:ln w="12700">
            <a:solidFill>
              <a:srgbClr val="25252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73568" y="4279392"/>
            <a:ext cx="118872" cy="118872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47888" y="4151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_id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491472" y="415137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ObjectId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6992" y="48006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10144" y="4864608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BSON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034272" y="4800600"/>
            <a:ext cx="1097280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71B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07424" y="4864608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1B7FF"/>
                </a:solidFill>
              </a:rPr>
              <a:t>TYPED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259568" y="48006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32720" y="4864608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C451"/>
                </a:solidFill>
              </a:rPr>
              <a:t>16 MiB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THE MENTAL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One document, many BSON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81328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A9A9A9"/>
                </a:solidFill>
              </a:rPr>
              <a:t>MongoDB stores documents as BSON, so fields can carry richer native types than plain JSON.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6492240" cy="3611880"/>
          </a:xfrm>
          <a:prstGeom prst="roundRect">
            <a:avLst>
              <a:gd name="adj" fmla="val 2025"/>
            </a:avLst>
          </a:prstGeom>
          <a:solidFill>
            <a:srgbClr val="111111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7F2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27706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29968" y="2752344"/>
            <a:ext cx="1170432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String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29000" y="277063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"Laptop"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20040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29968" y="3182112"/>
            <a:ext cx="1170432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3120" y="3246120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Int32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29000" y="32004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363016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29968" y="3611880"/>
            <a:ext cx="1170432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03120" y="3675888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C451"/>
                </a:solidFill>
              </a:rPr>
              <a:t>Decimal128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363016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"999.99"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405993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029968" y="4041648"/>
            <a:ext cx="1170432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03120" y="410565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Date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000" y="405993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2026-09-25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448970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029968" y="4471416"/>
            <a:ext cx="1170432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03120" y="453542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Array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29000" y="44897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[...]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4919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029968" y="4901184"/>
            <a:ext cx="1170432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03120" y="496519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ObjectId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429000" y="491947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49926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7F2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2800" dirty="0"/>
          </a:p>
        </p:txBody>
      </p:sp>
      <p:sp>
        <p:nvSpPr>
          <p:cNvPr id="33" name="Shape 31"/>
          <p:cNvSpPr/>
          <p:nvPr/>
        </p:nvSpPr>
        <p:spPr>
          <a:xfrm>
            <a:off x="7315200" y="2148840"/>
            <a:ext cx="4160520" cy="3611880"/>
          </a:xfrm>
          <a:prstGeom prst="roundRect">
            <a:avLst>
              <a:gd name="adj" fmla="val 2025"/>
            </a:avLst>
          </a:prstGeom>
          <a:solidFill>
            <a:srgbClr val="0D0D0D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35240" y="2651760"/>
            <a:ext cx="128016" cy="128016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82128" y="256032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9A9A9"/>
                </a:solidFill>
              </a:rPr>
              <a:t>TEXT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82128" y="2788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String / Boolean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635240" y="3364992"/>
            <a:ext cx="128016" cy="128016"/>
          </a:xfrm>
          <a:prstGeom prst="ellipse">
            <a:avLst/>
          </a:prstGeom>
          <a:solidFill>
            <a:srgbClr val="71B7FF"/>
          </a:solidFill>
          <a:ln w="12700">
            <a:solidFill>
              <a:srgbClr val="71B7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82128" y="327355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9A9A9"/>
                </a:solidFill>
              </a:rPr>
              <a:t>NUMBER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82128" y="350215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Int32 / Int64 / Double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635240" y="4078224"/>
            <a:ext cx="128016" cy="128016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82128" y="39867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9A9A9"/>
                </a:solidFill>
              </a:rPr>
              <a:t>RICH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882128" y="421538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Date / ObjectId / Decimal128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7635240" y="4791456"/>
            <a:ext cx="128016" cy="128016"/>
          </a:xfrm>
          <a:prstGeom prst="ellipse">
            <a:avLst/>
          </a:prstGeom>
          <a:solidFill>
            <a:srgbClr val="B88CFF"/>
          </a:solidFill>
          <a:ln w="12700">
            <a:solidFill>
              <a:srgbClr val="B88C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82128" y="470001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9A9A9"/>
                </a:solidFill>
              </a:rPr>
              <a:t>CONTAINER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882128" y="492861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Array / Embedded document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TYPE 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Core scalar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00200"/>
            <a:ext cx="5120640" cy="1115568"/>
          </a:xfrm>
          <a:prstGeom prst="roundRect">
            <a:avLst>
              <a:gd name="adj" fmla="val 655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856232"/>
            <a:ext cx="146304" cy="146304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76479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7F7"/>
                </a:solidFill>
              </a:rPr>
              <a:t>String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78408" y="207568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Names, labels, text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0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"MongoDB"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5120640" cy="1115568"/>
          </a:xfrm>
          <a:prstGeom prst="roundRect">
            <a:avLst>
              <a:gd name="adj" fmla="val 655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7648" y="1856232"/>
            <a:ext cx="146304" cy="146304"/>
          </a:xfrm>
          <a:prstGeom prst="ellipse">
            <a:avLst/>
          </a:prstGeom>
          <a:solidFill>
            <a:srgbClr val="71B7FF"/>
          </a:solidFill>
          <a:ln w="12700">
            <a:solidFill>
              <a:srgbClr val="71B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176479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7F7"/>
                </a:solidFill>
              </a:rPr>
              <a:t>Boolean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01968" y="207568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True / false flags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915400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017520"/>
            <a:ext cx="5120640" cy="1115568"/>
          </a:xfrm>
          <a:prstGeom prst="roundRect">
            <a:avLst>
              <a:gd name="adj" fmla="val 655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273552"/>
            <a:ext cx="146304" cy="146304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" y="318211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7F7"/>
                </a:solidFill>
              </a:rPr>
              <a:t>Int32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78408" y="349300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Smaller whole numbers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91840" y="33649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3017520"/>
            <a:ext cx="5120640" cy="1115568"/>
          </a:xfrm>
          <a:prstGeom prst="roundRect">
            <a:avLst>
              <a:gd name="adj" fmla="val 655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27648" y="3273552"/>
            <a:ext cx="146304" cy="146304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01968" y="318211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7F7"/>
                </a:solidFill>
              </a:rPr>
              <a:t>Int64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01968" y="349300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Large whole numbers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15400" y="33649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NumberLong(25)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434840"/>
            <a:ext cx="5120640" cy="1115568"/>
          </a:xfrm>
          <a:prstGeom prst="roundRect">
            <a:avLst>
              <a:gd name="adj" fmla="val 655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4088" y="4690872"/>
            <a:ext cx="146304" cy="146304"/>
          </a:xfrm>
          <a:prstGeom prst="ellipse">
            <a:avLst/>
          </a:prstGeom>
          <a:solidFill>
            <a:srgbClr val="71B7FF"/>
          </a:solidFill>
          <a:ln w="12700">
            <a:solidFill>
              <a:srgbClr val="71B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" y="459943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7F7"/>
                </a:solidFill>
              </a:rPr>
              <a:t>Double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78408" y="49103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Floating-point numbers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91840" y="47823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19.95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26480" y="4434840"/>
            <a:ext cx="5120640" cy="1115568"/>
          </a:xfrm>
          <a:prstGeom prst="roundRect">
            <a:avLst>
              <a:gd name="adj" fmla="val 655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27648" y="4690872"/>
            <a:ext cx="146304" cy="146304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01968" y="459943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7F7"/>
                </a:solidFill>
              </a:rPr>
              <a:t>Decimal128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601968" y="49103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Exact decimal values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15400" y="47823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Decimal128("19.95")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SHAPE MATTERS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Container and structured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0020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111111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ARRAY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0D1912"/>
          </a:solidFill>
          <a:ln w="12700">
            <a:solidFill>
              <a:srgbClr val="1F3A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2679192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F7F7"/>
                </a:solidFill>
              </a:rPr>
              <a:t>MongoDB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2423160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0D1912"/>
          </a:solidFill>
          <a:ln w="12700">
            <a:solidFill>
              <a:srgbClr val="1F3A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76856" y="2679192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F7F7"/>
                </a:solidFill>
              </a:rPr>
              <a:t>Java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20440" y="2423160"/>
            <a:ext cx="1143000" cy="777240"/>
          </a:xfrm>
          <a:prstGeom prst="roundRect">
            <a:avLst>
              <a:gd name="adj" fmla="val 9412"/>
            </a:avLst>
          </a:prstGeom>
          <a:solidFill>
            <a:srgbClr val="0D1912"/>
          </a:solidFill>
          <a:ln w="12700">
            <a:solidFill>
              <a:srgbClr val="1F3A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679192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F7F7"/>
                </a:solidFill>
              </a:rPr>
              <a:t>Spring Boot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25880" y="3493008"/>
            <a:ext cx="265176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68680" y="3877056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7F7F7"/>
                </a:solidFill>
              </a:rPr>
              <a:t>Order matters. Repeated values stay together.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26480" y="160020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11111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874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EMBEDDED DOCUMENT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37960" y="2377440"/>
            <a:ext cx="4343400" cy="2286000"/>
          </a:xfrm>
          <a:prstGeom prst="roundRect">
            <a:avLst>
              <a:gd name="adj" fmla="val 3200"/>
            </a:avLst>
          </a:prstGeom>
          <a:solidFill>
            <a:srgbClr val="0B0B0B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2670048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39712" y="3163824"/>
            <a:ext cx="91440" cy="91440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59168" y="30906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21040" y="309067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Chennai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39712" y="3575304"/>
            <a:ext cx="91440" cy="91440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35021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21040" y="350215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39712" y="3986784"/>
            <a:ext cx="91440" cy="91440"/>
          </a:xfrm>
          <a:prstGeom prst="ellipse">
            <a:avLst/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9136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9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postalCode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0" y="391363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7F7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600001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37960" y="4956048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7F7F7"/>
                </a:solidFill>
              </a:rPr>
              <a:t>Related data lives inside one parent document.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WHAT JSON ALONE DOES NOT EXPRESS WELL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Special BSON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64208"/>
            <a:ext cx="2578608" cy="3584448"/>
          </a:xfrm>
          <a:prstGeom prst="roundRect">
            <a:avLst>
              <a:gd name="adj" fmla="val 283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93392"/>
            <a:ext cx="457200" cy="457200"/>
          </a:xfrm>
          <a:prstGeom prst="ellipse">
            <a:avLst/>
          </a:prstGeom>
          <a:solidFill>
            <a:srgbClr val="0E2316"/>
          </a:solidFill>
          <a:ln w="19050">
            <a:solidFill>
              <a:srgbClr val="57F2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939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7F287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7F7F7"/>
                </a:solidFill>
              </a:rPr>
              <a:t>ObjectId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1520" y="3182112"/>
            <a:ext cx="2103120" cy="658368"/>
          </a:xfrm>
          <a:prstGeom prst="roundRect">
            <a:avLst>
              <a:gd name="adj" fmla="val 9722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3319272"/>
            <a:ext cx="1792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_id: ObjectId(...)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Unique document identity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55848" y="1664208"/>
            <a:ext cx="2578608" cy="3584448"/>
          </a:xfrm>
          <a:prstGeom prst="roundRect">
            <a:avLst>
              <a:gd name="adj" fmla="val 283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4448" y="1993392"/>
            <a:ext cx="457200" cy="457200"/>
          </a:xfrm>
          <a:prstGeom prst="ellipse">
            <a:avLst/>
          </a:prstGeom>
          <a:solidFill>
            <a:srgbClr val="0E2316"/>
          </a:solidFill>
          <a:ln w="19050">
            <a:solidFill>
              <a:srgbClr val="71B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4448" y="20939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B7FF"/>
                </a:solidFill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84448" y="269748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7F7F7"/>
                </a:solidFill>
              </a:rPr>
              <a:t>Date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3584448" y="3182112"/>
            <a:ext cx="2103120" cy="658368"/>
          </a:xfrm>
          <a:prstGeom prst="roundRect">
            <a:avLst>
              <a:gd name="adj" fmla="val 9722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9896" y="3319272"/>
            <a:ext cx="1792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createdAt: new Date()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84448" y="416052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Native temporal value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08776" y="1664208"/>
            <a:ext cx="2578608" cy="3584448"/>
          </a:xfrm>
          <a:prstGeom prst="roundRect">
            <a:avLst>
              <a:gd name="adj" fmla="val 283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7376" y="1993392"/>
            <a:ext cx="457200" cy="457200"/>
          </a:xfrm>
          <a:prstGeom prst="ellipse">
            <a:avLst/>
          </a:prstGeom>
          <a:solidFill>
            <a:srgbClr val="0E2316"/>
          </a:solidFill>
          <a:ln w="19050">
            <a:solidFill>
              <a:srgbClr val="F5C4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20939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51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37376" y="269748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7F7F7"/>
                </a:solidFill>
              </a:rPr>
              <a:t>Decimal128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6437376" y="3182112"/>
            <a:ext cx="2103120" cy="658368"/>
          </a:xfrm>
          <a:prstGeom prst="roundRect">
            <a:avLst>
              <a:gd name="adj" fmla="val 9722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92824" y="3319272"/>
            <a:ext cx="1792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price: Decimal128("9.99")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37376" y="416052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Exact decimal arithmetic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061704" y="1664208"/>
            <a:ext cx="2578608" cy="3584448"/>
          </a:xfrm>
          <a:prstGeom prst="roundRect">
            <a:avLst>
              <a:gd name="adj" fmla="val 2837"/>
            </a:avLst>
          </a:prstGeom>
          <a:solidFill>
            <a:srgbClr val="101010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90304" y="1993392"/>
            <a:ext cx="457200" cy="457200"/>
          </a:xfrm>
          <a:prstGeom prst="ellipse">
            <a:avLst/>
          </a:prstGeom>
          <a:solidFill>
            <a:srgbClr val="0E2316"/>
          </a:solidFill>
          <a:ln w="19050">
            <a:solidFill>
              <a:srgbClr val="B88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90304" y="20939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C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90304" y="269748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7F7F7"/>
                </a:solidFill>
              </a:rPr>
              <a:t>Binary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9290304" y="3182112"/>
            <a:ext cx="2103120" cy="658368"/>
          </a:xfrm>
          <a:prstGeom prst="roundRect">
            <a:avLst>
              <a:gd name="adj" fmla="val 9722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5752" y="3319272"/>
            <a:ext cx="1792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payload: BinData(...)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290304" y="416052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Raw binary content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0" y="914400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E2316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0"/>
            <a:ext cx="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BSON = typed data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AVOID ACCIDENTAL PRECISION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Numbers need deliberate typing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A9A9A9"/>
                </a:solidFill>
              </a:rPr>
              <a:t>For counters and IDs, integer types are natural. For money-like values, Decimal128 preserves decimal intent.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2057400"/>
            <a:ext cx="5257800" cy="3337560"/>
          </a:xfrm>
          <a:prstGeom prst="roundRect">
            <a:avLst>
              <a:gd name="adj" fmla="val 2192"/>
            </a:avLst>
          </a:prstGeom>
          <a:solidFill>
            <a:srgbClr val="111111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35915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WHOLE NUMBER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4672" y="2770632"/>
            <a:ext cx="4526280" cy="1078992"/>
          </a:xfrm>
          <a:prstGeom prst="roundRect">
            <a:avLst>
              <a:gd name="adj" fmla="val 5932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907792"/>
            <a:ext cx="4215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quantity: 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orderCount: NumberLong(5000000)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43159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</a:rPr>
              <a:t>Use Int32 / Int64 when the value is conceptually integral.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80760" y="2057400"/>
            <a:ext cx="5394960" cy="3337560"/>
          </a:xfrm>
          <a:prstGeom prst="roundRect">
            <a:avLst>
              <a:gd name="adj" fmla="val 2192"/>
            </a:avLst>
          </a:prstGeom>
          <a:solidFill>
            <a:srgbClr val="111111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35915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C451"/>
                </a:solidFill>
              </a:rPr>
              <a:t>DECIMAL VALUE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82512" y="2770632"/>
            <a:ext cx="4590288" cy="1078992"/>
          </a:xfrm>
          <a:prstGeom prst="roundRect">
            <a:avLst>
              <a:gd name="adj" fmla="val 5932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2907792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price: Decimal128("19.99")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tax:   Decimal128("1.25")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4315968"/>
            <a:ext cx="4526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</a:rPr>
              <a:t>Use Decimal128 when exact decimal representation matters.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LIMIT TO DESIGN AROUND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The 16 MiB document boundary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6537960" cy="4251960"/>
          </a:xfrm>
          <a:prstGeom prst="roundRect">
            <a:avLst>
              <a:gd name="adj" fmla="val 1720"/>
            </a:avLst>
          </a:prstGeom>
          <a:solidFill>
            <a:srgbClr val="0C0C0C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MAXIMUM BSON DOCUMENT SIZE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9572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7F7"/>
                </a:solidFill>
              </a:rPr>
              <a:t>16 MiB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3383280"/>
            <a:ext cx="5394960" cy="274320"/>
          </a:xfrm>
          <a:prstGeom prst="roundRect">
            <a:avLst>
              <a:gd name="adj" fmla="val 16667"/>
            </a:avLst>
          </a:prstGeom>
          <a:solidFill>
            <a:srgbClr val="202020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383280"/>
            <a:ext cx="3566160" cy="274320"/>
          </a:xfrm>
          <a:prstGeom prst="roundRect">
            <a:avLst>
              <a:gd name="adj" fmla="val 16667"/>
            </a:avLst>
          </a:prstGeom>
          <a:solidFill>
            <a:srgbClr val="57F287"/>
          </a:solidFill>
          <a:ln w="12700">
            <a:solidFill>
              <a:srgbClr val="57F28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404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Document size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840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9A9"/>
                </a:solidFill>
              </a:rPr>
              <a:t>design headroom matters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434340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Large media or unbounded history usually belongs outside a single document.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0" y="1645920"/>
            <a:ext cx="4160520" cy="4251960"/>
          </a:xfrm>
          <a:prstGeom prst="roundRect">
            <a:avLst>
              <a:gd name="adj" fmla="val 1758"/>
            </a:avLst>
          </a:prstGeom>
          <a:solidFill>
            <a:srgbClr val="111111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35240" y="2212848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7F287"/>
                </a:solidFill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92440" y="2212848"/>
            <a:ext cx="2880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Keep documents cohesive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35240" y="299923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7F287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092440" y="2999232"/>
            <a:ext cx="2880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Watch array growth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635240" y="3785616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451"/>
                </a:solidFill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092440" y="3785616"/>
            <a:ext cx="2880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Avoid unbounded nesting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1B7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092440" y="4572000"/>
            <a:ext cx="2880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F7F7"/>
                </a:solidFill>
              </a:rPr>
              <a:t>Split very large payloads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DEVELOPER INSPECTION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Read the type — do not guess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64208"/>
            <a:ext cx="5623560" cy="3401568"/>
          </a:xfrm>
          <a:prstGeom prst="roundRect">
            <a:avLst>
              <a:gd name="adj" fmla="val 1882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01368"/>
            <a:ext cx="5312664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db.products.insertOne({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price: Decimal128("19.99"),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createdAt: new Date(),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qty: NumberLong(10),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_id: new ObjectId()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664208"/>
            <a:ext cx="5029200" cy="3401568"/>
          </a:xfrm>
          <a:prstGeom prst="roundRect">
            <a:avLst>
              <a:gd name="adj" fmla="val 2151"/>
            </a:avLst>
          </a:prstGeom>
          <a:solidFill>
            <a:srgbClr val="111111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965960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TYPE CHECK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66560" y="2423160"/>
            <a:ext cx="4343400" cy="1920240"/>
          </a:xfrm>
          <a:prstGeom prst="roundRect">
            <a:avLst>
              <a:gd name="adj" fmla="val 3333"/>
            </a:avLst>
          </a:prstGeom>
          <a:solidFill>
            <a:srgbClr val="0B0B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22008" y="2560320"/>
            <a:ext cx="403250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db.products.aggregate([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{$project:{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priceType: {$type:"$price"},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dateType:  {$type:"$createdAt"},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qtyType:   {$type:"$qty"}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F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766560" y="47091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7F7"/>
                </a:solidFill>
              </a:rPr>
              <a:t>The BSON type is part of the data contract.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DEVELOPER DECISION PATH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Type selection in one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05740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10101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2359152"/>
            <a:ext cx="502920" cy="502920"/>
          </a:xfrm>
          <a:prstGeom prst="ellipse">
            <a:avLst/>
          </a:prstGeom>
          <a:solidFill>
            <a:srgbClr val="0D1C13"/>
          </a:solidFill>
          <a:ln w="25400">
            <a:solidFill>
              <a:srgbClr val="57F2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8448" y="2478024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7F287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95528" y="301752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A9"/>
                </a:solidFill>
              </a:rPr>
              <a:t>Text / label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95528" y="33649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7F7"/>
                </a:solidFill>
              </a:rPr>
              <a:t>String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68880" y="2999232"/>
            <a:ext cx="41148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80360" y="205740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10101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2359152"/>
            <a:ext cx="502920" cy="502920"/>
          </a:xfrm>
          <a:prstGeom prst="ellipse">
            <a:avLst/>
          </a:prstGeom>
          <a:solidFill>
            <a:srgbClr val="0D1C13"/>
          </a:solidFill>
          <a:ln w="25400">
            <a:solidFill>
              <a:srgbClr val="71B7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78024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B7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35808" y="301752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A9"/>
                </a:solidFill>
              </a:rPr>
              <a:t>True / false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035808" y="33649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7F7"/>
                </a:solidFill>
              </a:rPr>
              <a:t>Boolean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2999232"/>
            <a:ext cx="41148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20640" y="205740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10101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79008" y="2359152"/>
            <a:ext cx="502920" cy="502920"/>
          </a:xfrm>
          <a:prstGeom prst="ellipse">
            <a:avLst/>
          </a:prstGeom>
          <a:solidFill>
            <a:srgbClr val="0D1C13"/>
          </a:solidFill>
          <a:ln w="25400">
            <a:solidFill>
              <a:srgbClr val="57F2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79008" y="2478024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7F287"/>
                </a:solidFill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76088" y="301752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A9"/>
                </a:solidFill>
              </a:rPr>
              <a:t>Whole number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76088" y="33649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7F7"/>
                </a:solidFill>
              </a:rPr>
              <a:t>Int32 / Int64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49440" y="2999232"/>
            <a:ext cx="41148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60920" y="205740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10101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19288" y="2359152"/>
            <a:ext cx="502920" cy="502920"/>
          </a:xfrm>
          <a:prstGeom prst="ellipse">
            <a:avLst/>
          </a:prstGeom>
          <a:solidFill>
            <a:srgbClr val="0D1C13"/>
          </a:solidFill>
          <a:ln w="25400">
            <a:solidFill>
              <a:srgbClr val="F5C4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19288" y="2478024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451"/>
                </a:solidFill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16368" y="301752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A9"/>
                </a:solidFill>
              </a:rPr>
              <a:t>Exact decimal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516368" y="33649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7F7"/>
                </a:solidFill>
              </a:rPr>
              <a:t>Decimal128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189720" y="2999232"/>
            <a:ext cx="41148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601200" y="205740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10101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259568" y="2359152"/>
            <a:ext cx="502920" cy="502920"/>
          </a:xfrm>
          <a:prstGeom prst="ellipse">
            <a:avLst/>
          </a:prstGeom>
          <a:solidFill>
            <a:srgbClr val="0D1C13"/>
          </a:solidFill>
          <a:ln w="25400">
            <a:solidFill>
              <a:srgbClr val="B88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59568" y="2478024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CFF"/>
                </a:solidFill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756648" y="301752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A9"/>
                </a:solidFill>
              </a:rPr>
              <a:t>Time / identity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756648" y="33649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7F7"/>
                </a:solidFill>
              </a:rPr>
              <a:t>Date / ObjectId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05840" y="4617720"/>
            <a:ext cx="10104120" cy="914400"/>
          </a:xfrm>
          <a:prstGeom prst="roundRect">
            <a:avLst>
              <a:gd name="adj" fmla="val 8000"/>
            </a:avLst>
          </a:prstGeom>
          <a:solidFill>
            <a:srgbClr val="0C0C0C"/>
          </a:solidFill>
          <a:ln w="12700">
            <a:solidFill>
              <a:srgbClr val="1F3A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25880" y="484632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RULE OF THUMB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0" y="4754880"/>
            <a:ext cx="7818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7F7F7"/>
                </a:solidFill>
              </a:rPr>
              <a:t>Pick the BSON type that matches the meaning of the value — then keep document growth bounded.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7F287"/>
                </a:solidFill>
              </a:rPr>
              <a:t>REMEMBER THE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7F7F7"/>
                </a:solidFill>
              </a:rPr>
              <a:t>Lesson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43000" cy="0"/>
          </a:xfrm>
          <a:prstGeom prst="line">
            <a:avLst/>
          </a:prstGeom>
          <a:noFill/>
          <a:ln w="38100">
            <a:solidFill>
              <a:srgbClr val="57F28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103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0E0E0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0D1C13"/>
          </a:solidFill>
          <a:ln w="19050">
            <a:solidFill>
              <a:srgbClr val="57F2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423160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7F287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7F7F7"/>
                </a:solidFill>
              </a:rPr>
              <a:t>JSON-LIKE INPUT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3375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Objects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Arrays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Strings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Numbers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0" y="3273552"/>
            <a:ext cx="22860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71800" y="2103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0E0E0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54680" y="2331720"/>
            <a:ext cx="384048" cy="384048"/>
          </a:xfrm>
          <a:prstGeom prst="ellipse">
            <a:avLst/>
          </a:prstGeom>
          <a:solidFill>
            <a:srgbClr val="0D1C13"/>
          </a:solidFill>
          <a:ln w="19050">
            <a:solidFill>
              <a:srgbClr val="71B7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2423160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1B7FF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54680" y="2880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7F7F7"/>
                </a:solidFill>
              </a:rPr>
              <a:t>BSON STORAGE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Typed values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ObjectId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Date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Decimal128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12080" y="3273552"/>
            <a:ext cx="22860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40680" y="2103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0E0E0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23560" y="2331720"/>
            <a:ext cx="384048" cy="384048"/>
          </a:xfrm>
          <a:prstGeom prst="ellipse">
            <a:avLst/>
          </a:prstGeom>
          <a:solidFill>
            <a:srgbClr val="0D1C13"/>
          </a:solidFill>
          <a:ln w="19050">
            <a:solidFill>
              <a:srgbClr val="F5C4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23560" y="2423160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C451"/>
                </a:solidFill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23560" y="2880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7F7F7"/>
                </a:solidFill>
              </a:rPr>
              <a:t>DESIGN BOUNDARY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33375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16 MiB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Bounded arrays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Controlled growth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80960" y="3273552"/>
            <a:ext cx="228600" cy="0"/>
          </a:xfrm>
          <a:prstGeom prst="line">
            <a:avLst/>
          </a:prstGeom>
          <a:noFill/>
          <a:ln w="25400">
            <a:solidFill>
              <a:srgbClr val="57F28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909560" y="210312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0E0E0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2331720"/>
            <a:ext cx="384048" cy="384048"/>
          </a:xfrm>
          <a:prstGeom prst="ellipse">
            <a:avLst/>
          </a:prstGeom>
          <a:solidFill>
            <a:srgbClr val="0D1C13"/>
          </a:solidFill>
          <a:ln w="19050">
            <a:solidFill>
              <a:srgbClr val="B8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92440" y="2423160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8CFF"/>
                </a:solidFill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9244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7F7F7"/>
                </a:solidFill>
              </a:rPr>
              <a:t>DEVELOPER CHOICE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3816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Use the right type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Group related data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9A9A9"/>
                </a:solidFill>
              </a:rPr>
              <a:t>Keep the shape predictable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4892040"/>
            <a:ext cx="3383280" cy="841248"/>
          </a:xfrm>
          <a:prstGeom prst="roundRect">
            <a:avLst>
              <a:gd name="adj" fmla="val 8696"/>
            </a:avLst>
          </a:prstGeom>
          <a:solidFill>
            <a:srgbClr val="0B0B0B"/>
          </a:solidFill>
          <a:ln w="12700">
            <a:solidFill>
              <a:srgbClr val="202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13892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7F287"/>
                </a:solidFill>
              </a:rPr>
              <a:t>TYPE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600200" y="506577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F7F7"/>
                </a:solidFill>
              </a:rPr>
              <a:t>Use BSON types deliberately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80560" y="4892040"/>
            <a:ext cx="3383280" cy="841248"/>
          </a:xfrm>
          <a:prstGeom prst="roundRect">
            <a:avLst>
              <a:gd name="adj" fmla="val 8696"/>
            </a:avLst>
          </a:prstGeom>
          <a:solidFill>
            <a:srgbClr val="0B0B0B"/>
          </a:solidFill>
          <a:ln w="12700">
            <a:solidFill>
              <a:srgbClr val="202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513892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C451"/>
                </a:solidFill>
              </a:rPr>
              <a:t>SIZE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394960" y="506577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F7F7"/>
                </a:solidFill>
              </a:rPr>
              <a:t>Design around 16 MiB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75320" y="4892040"/>
            <a:ext cx="3383280" cy="841248"/>
          </a:xfrm>
          <a:prstGeom prst="roundRect">
            <a:avLst>
              <a:gd name="adj" fmla="val 8696"/>
            </a:avLst>
          </a:prstGeom>
          <a:solidFill>
            <a:srgbClr val="0B0B0B"/>
          </a:solidFill>
          <a:ln w="12700">
            <a:solidFill>
              <a:srgbClr val="2020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513892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1B7FF"/>
                </a:solidFill>
              </a:rPr>
              <a:t>SHAPE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189720" y="506577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F7F7"/>
                </a:solidFill>
              </a:rPr>
              <a:t>Keep documents cohesive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026 — MongoDB Data Types and Limits</dc:title>
  <dc:subject>MongoDB Developer Learning Path</dc:subject>
  <dc:creator>OpenAI</dc:creator>
  <cp:lastModifiedBy>OpenAI</cp:lastModifiedBy>
  <cp:revision>1</cp:revision>
  <dcterms:created xsi:type="dcterms:W3CDTF">2026-09-25T17:42:10Z</dcterms:created>
  <dcterms:modified xsi:type="dcterms:W3CDTF">2026-09-25T17:42:10Z</dcterms:modified>
</cp:coreProperties>
</file>