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_wide_high_contrast_infographic_poster_on_a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56032"/>
            <a:ext cx="15544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0624" y="265176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58518"/>
                </a:solidFill>
                <a:latin typeface="Aptos"/>
              </a:rPr>
              <a:t>BSON +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6858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5F7FA"/>
                </a:solidFill>
                <a:latin typeface="Aptos"/>
              </a:rPr>
              <a:t>MongoDB Data Types
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828800"/>
            <a:ext cx="5852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AAB3BE"/>
                </a:solidFill>
                <a:latin typeface="Aptos"/>
              </a:rPr>
              <a:t>Choose meaningful BSON types, understand document boundaries, and keep application data practical.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502920"/>
            <a:ext cx="4892040" cy="525780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86600" y="777240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8518"/>
                </a:solidFill>
                <a:latin typeface="Aptos"/>
              </a:rPr>
              <a:t>ONE ORDER • MANY DATA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234440"/>
            <a:ext cx="4023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5F7FA"/>
                </a:solidFill>
                <a:latin typeface="Aptos"/>
              </a:rPr>
              <a:t>Order 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645920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05472" y="1673352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orderId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673352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22A0FF"/>
                </a:solidFill>
                <a:latin typeface="Aptos"/>
              </a:rPr>
              <a:t>String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2121408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5472" y="2148840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orderDate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148840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A363FF"/>
                </a:solidFill>
                <a:latin typeface="Aptos"/>
              </a:rPr>
              <a:t>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2596896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05472" y="2624327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customerId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624327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38CBFF"/>
                </a:solidFill>
                <a:latin typeface="Aptos"/>
              </a:rPr>
              <a:t>ObjectId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072384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05472" y="3099816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5F7FA"/>
                </a:solidFill>
                <a:latin typeface="Aptos"/>
              </a:rPr>
              <a:t>totalAmount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099816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50" b="1">
                <a:solidFill>
                  <a:srgbClr val="FFAB40"/>
                </a:solidFill>
                <a:latin typeface="Aptos"/>
              </a:rPr>
              <a:t>Decimal128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3547872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05472" y="3575303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items[]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575303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A363FF"/>
                </a:solidFill>
                <a:latin typeface="Aptos"/>
              </a:rPr>
              <a:t>Array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4023360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05472" y="4050792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isGift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4050792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22A0FF"/>
                </a:solidFill>
                <a:latin typeface="Aptos"/>
              </a:rPr>
              <a:t>Boolean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498848"/>
            <a:ext cx="2057400" cy="347472"/>
          </a:xfrm>
          <a:prstGeom prst="roundRect">
            <a:avLst/>
          </a:prstGeom>
          <a:solidFill>
            <a:srgbClr val="101A24"/>
          </a:solidFill>
          <a:ln w="1270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05472" y="4526280"/>
            <a:ext cx="1143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notes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526280"/>
            <a:ext cx="1051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AAB3BE"/>
                </a:solidFill>
                <a:latin typeface="Aptos"/>
              </a:rPr>
              <a:t>Null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880360"/>
            <a:ext cx="5943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8518"/>
                </a:solidFill>
                <a:latin typeface="Aptos"/>
              </a:rPr>
              <a:t>The lesson path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" y="3337560"/>
            <a:ext cx="384048" cy="384048"/>
          </a:xfrm>
          <a:prstGeom prst="ellipse">
            <a:avLst/>
          </a:prstGeom>
          <a:solidFill>
            <a:srgbClr val="F58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3364991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90D12"/>
                </a:solidFill>
                <a:latin typeface="Aptos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328416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F7FA"/>
                </a:solidFill>
                <a:latin typeface="Aptos"/>
              </a:rPr>
              <a:t>Recognize BSON types</a:t>
            </a:r>
          </a:p>
        </p:txBody>
      </p:sp>
      <p:sp>
        <p:nvSpPr>
          <p:cNvPr id="34" name="Oval 33"/>
          <p:cNvSpPr/>
          <p:nvPr/>
        </p:nvSpPr>
        <p:spPr>
          <a:xfrm>
            <a:off x="411480" y="3959352"/>
            <a:ext cx="384048" cy="384048"/>
          </a:xfrm>
          <a:prstGeom prst="ellipse">
            <a:avLst/>
          </a:prstGeom>
          <a:solidFill>
            <a:srgbClr val="F58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1480" y="3986784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90D12"/>
                </a:solidFill>
                <a:latin typeface="Apto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950208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F7FA"/>
                </a:solidFill>
                <a:latin typeface="Aptos"/>
              </a:rPr>
              <a:t>Match types to business meaning</a:t>
            </a:r>
          </a:p>
        </p:txBody>
      </p:sp>
      <p:sp>
        <p:nvSpPr>
          <p:cNvPr id="37" name="Oval 36"/>
          <p:cNvSpPr/>
          <p:nvPr/>
        </p:nvSpPr>
        <p:spPr>
          <a:xfrm>
            <a:off x="411480" y="4581144"/>
            <a:ext cx="384048" cy="384048"/>
          </a:xfrm>
          <a:prstGeom prst="ellipse">
            <a:avLst/>
          </a:prstGeom>
          <a:solidFill>
            <a:srgbClr val="F58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460857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90D12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72000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F7FA"/>
                </a:solidFill>
                <a:latin typeface="Aptos"/>
              </a:rPr>
              <a:t>Understand size + nesting limits</a:t>
            </a:r>
          </a:p>
        </p:txBody>
      </p:sp>
      <p:sp>
        <p:nvSpPr>
          <p:cNvPr id="40" name="Oval 39"/>
          <p:cNvSpPr/>
          <p:nvPr/>
        </p:nvSpPr>
        <p:spPr>
          <a:xfrm>
            <a:off x="411480" y="5202936"/>
            <a:ext cx="384048" cy="384048"/>
          </a:xfrm>
          <a:prstGeom prst="ellipse">
            <a:avLst/>
          </a:prstGeom>
          <a:solidFill>
            <a:srgbClr val="F58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5230368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90D12"/>
                </a:solidFill>
                <a:latin typeface="Apto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5193792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F7FA"/>
                </a:solidFill>
                <a:latin typeface="Aptos"/>
              </a:rPr>
              <a:t>Verify with mongosh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062472"/>
            <a:ext cx="5760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8518"/>
                </a:solidFill>
                <a:latin typeface="Aptos"/>
              </a:rPr>
              <a:t>Running example: Order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BSON types: the developer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MongoDB supports typed values beyond plain JSON. Use type names to reason about the data you store.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57784" y="1298448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2A0FF"/>
                </a:solidFill>
                <a:latin typeface="Aptos"/>
              </a:rPr>
              <a:t>String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160934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Text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72768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"CONFIRMED"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43984" y="1298448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58518"/>
                </a:solidFill>
                <a:latin typeface="Aptos"/>
              </a:rPr>
              <a:t>Int32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60934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32-bit integer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72768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188720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3" y="1298448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A363FF"/>
                </a:solidFill>
                <a:latin typeface="Aptos"/>
              </a:rPr>
              <a:t>Int64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160934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64-bit integer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572768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NumberLong("...")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59152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" y="2468880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38CBFF"/>
                </a:solidFill>
                <a:latin typeface="Aptos"/>
              </a:rPr>
              <a:t>Double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" y="2779776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64-bit floating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43200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499.50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359152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43984" y="2468880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AB40"/>
                </a:solidFill>
                <a:latin typeface="Aptos"/>
              </a:rPr>
              <a:t>Decimal128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779776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High-precision decimal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43200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Decimal128("499.50")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2359152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0183" y="2468880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2A0FF"/>
                </a:solidFill>
                <a:latin typeface="Aptos"/>
              </a:rPr>
              <a:t>Boolean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3" y="2779776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True / false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743200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true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529584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7784" y="3639312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A363FF"/>
                </a:solidFill>
                <a:latin typeface="Aptos"/>
              </a:rPr>
              <a:t>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" y="3950208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Date and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913632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ISODate(...)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529584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43984" y="3639312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38CBFF"/>
                </a:solidFill>
                <a:latin typeface="Aptos"/>
              </a:rPr>
              <a:t>ObjectId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3950208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Identifier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913632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ObjectId()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3529584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30183" y="3639312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58518"/>
                </a:solidFill>
                <a:latin typeface="Aptos"/>
              </a:rPr>
              <a:t>Array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0183" y="3950208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Ordered list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3913632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[ ...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4700016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57784" y="4809744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A363FF"/>
                </a:solidFill>
                <a:latin typeface="Aptos"/>
              </a:rPr>
              <a:t>Object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" y="5120640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Nested document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5084064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{ ... }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4700016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43984" y="4809744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AAB3BE"/>
                </a:solidFill>
                <a:latin typeface="Aptos"/>
              </a:rPr>
              <a:t>Null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4" y="5120640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No value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084064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null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83879" y="4700016"/>
            <a:ext cx="3611880" cy="987552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30183" y="4809744"/>
            <a:ext cx="1234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F5559"/>
                </a:solidFill>
                <a:latin typeface="Aptos"/>
              </a:rPr>
              <a:t>Binary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0183" y="5120640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Byte data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5084064"/>
            <a:ext cx="13533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F5F7FA"/>
                </a:solidFill>
                <a:latin typeface="Cascadia Mono"/>
              </a:rPr>
              <a:t>BinData(...)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598932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Aptos"/>
              </a:rPr>
              <a:t>Focus on meaning: identifiers, dates, money, flags, lists, nested objects, and binary values have different jobs.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Types inside a real Order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The same business object can contain strings, numbers, dates, arrays, nested objects, and typed identifiers.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516636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943600" cy="4160520"/>
          </a:xfrm>
          <a:prstGeom prst="roundRect">
            <a:avLst/>
          </a:prstGeom>
          <a:solidFill>
            <a:srgbClr val="080F18"/>
          </a:solidFill>
          <a:ln w="1905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81912"/>
            <a:ext cx="5669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2A0FF"/>
                </a:solidFill>
                <a:latin typeface="Aptos"/>
              </a:rPr>
              <a:t>mongosh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65376"/>
            <a:ext cx="5669280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5F7FA"/>
                </a:solidFill>
                <a:latin typeface="Cascadia Mono"/>
              </a:rPr>
              <a:t>{
  orderId: "ORD-1001",
  orderDate: ISODate("2026-09-15"),
  customerId: ObjectId("..."),
  status: "CONFIRMED",
  totalAmount: Decimal128("1001.00"),
  items: [
    { productId: "P100", qty: 2, price: Decimal128("499.50") }
  ],
  shippingAddress: { city: "Chennai", country: "India" },
  isGift: false,
  notes: null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508760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50608" y="1581912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8518"/>
                </a:solidFill>
                <a:latin typeface="Aptos"/>
              </a:rPr>
              <a:t>String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0608" y="1828800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orderId / 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2139696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50608" y="2212848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363FF"/>
                </a:solidFill>
                <a:latin typeface="Aptos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2459736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orderDate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2770632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50608" y="2843784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8CBFF"/>
                </a:solidFill>
                <a:latin typeface="Aptos"/>
              </a:rPr>
              <a:t>ObjectId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8" y="3090672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customerId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401568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50608" y="3474720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AB40"/>
                </a:solidFill>
                <a:latin typeface="Aptos"/>
              </a:rPr>
              <a:t>Decimal128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3721607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money fields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4032504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50608" y="4105656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363FF"/>
                </a:solidFill>
                <a:latin typeface="Aptos"/>
              </a:rPr>
              <a:t>Array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4352544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items[]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4663440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50608" y="4736592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2A0FF"/>
                </a:solidFill>
                <a:latin typeface="Aptos"/>
              </a:rPr>
              <a:t>Object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4983479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shippingAddress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294375"/>
            <a:ext cx="4160520" cy="713232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50608" y="5367527"/>
            <a:ext cx="3941063" cy="210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AB3BE"/>
                </a:solidFill>
                <a:latin typeface="Aptos"/>
              </a:rPr>
              <a:t>Boolean / Null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5614415"/>
            <a:ext cx="3941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AB3BE"/>
                </a:solidFill>
                <a:latin typeface="Aptos"/>
              </a:rPr>
              <a:t>isGift / notes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989320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8518"/>
                </a:solidFill>
                <a:latin typeface="Aptos"/>
              </a:rPr>
              <a:t>One document • many BSON types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Choose a type for the business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Do not pick a type just because the shell can display the value. Ask what the field represents.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07008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8CBFF"/>
                </a:solidFill>
                <a:latin typeface="Aptos"/>
              </a:rPr>
              <a:t>Identifier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289304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ObjectId or another unique BSON 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353312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61303" y="1362456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38CBFF"/>
                </a:solidFill>
                <a:latin typeface="Aptos"/>
              </a:rPr>
              <a:t>customerId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4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363FF"/>
                </a:solidFill>
                <a:latin typeface="Aptos"/>
              </a:rPr>
              <a:t>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039112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2103120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61303" y="2112264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363FF"/>
                </a:solidFill>
                <a:latin typeface="Aptos"/>
              </a:rPr>
              <a:t>orderDate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06624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816352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AB40"/>
                </a:solidFill>
                <a:latin typeface="Aptos"/>
              </a:rPr>
              <a:t>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88920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Decimal128 when exact decimal semantics matter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852928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1303" y="2862072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AB40"/>
                </a:solidFill>
                <a:latin typeface="Aptos"/>
              </a:rPr>
              <a:t>totalAmount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56432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566160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8518"/>
                </a:solidFill>
                <a:latin typeface="Aptos"/>
              </a:rPr>
              <a:t>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538728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Integer type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602736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61303" y="3611880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58518"/>
                </a:solidFill>
                <a:latin typeface="Aptos"/>
              </a:rPr>
              <a:t>quantity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06240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15968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2A0FF"/>
                </a:solidFill>
                <a:latin typeface="Aptos"/>
              </a:rPr>
              <a:t>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288536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Boolean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06440" y="4352544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61303" y="4361688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2A0FF"/>
                </a:solidFill>
                <a:latin typeface="Aptos"/>
              </a:rPr>
              <a:t>isGift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56048"/>
            <a:ext cx="6629400" cy="612648"/>
          </a:xfrm>
          <a:prstGeom prst="roundRect">
            <a:avLst/>
          </a:prstGeom>
          <a:solidFill>
            <a:srgbClr val="0F161E"/>
          </a:solidFill>
          <a:ln w="1397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5065776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AB3BE"/>
                </a:solidFill>
                <a:latin typeface="Aptos"/>
              </a:rPr>
              <a:t>Optional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038344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Null when no value is present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5102352"/>
            <a:ext cx="868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861303" y="5111496"/>
            <a:ext cx="758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AB3BE"/>
                </a:solidFill>
                <a:latin typeface="Aptos"/>
              </a:rPr>
              <a:t>notes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52360" y="1207008"/>
            <a:ext cx="4224528" cy="498348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26679" y="1481328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8518"/>
                </a:solidFill>
                <a:latin typeface="Aptos"/>
              </a:rPr>
              <a:t>Developer checklist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1920240"/>
            <a:ext cx="3611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What does this field mean?</a:t>
            </a:r>
          </a:p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What values are valid?</a:t>
            </a:r>
          </a:p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Do I need type fidelity?</a:t>
            </a:r>
          </a:p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How will the application query it?</a:t>
            </a:r>
          </a:p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Can the value grow without bound?</a:t>
            </a:r>
          </a:p>
          <a:p>
            <a:pPr>
              <a:spcAft>
                <a:spcPts val="7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• Will its size affect the document?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26679" y="5532120"/>
            <a:ext cx="329184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81544" y="5541264"/>
            <a:ext cx="31821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EF5559"/>
                </a:solidFill>
                <a:latin typeface="Aptos"/>
              </a:rPr>
              <a:t>MEANING → TYPE → 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Numeric types: same-looking number, different storage semantics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Keep this lesson at the recognition level; detailed integer width and Decimal128 precision come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463040" cy="438912"/>
          </a:xfrm>
          <a:prstGeom prst="roundRect">
            <a:avLst/>
          </a:prstGeom>
          <a:solidFill>
            <a:srgbClr val="1E2731"/>
          </a:solidFill>
          <a:ln w="1397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1325880"/>
            <a:ext cx="131673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234440"/>
            <a:ext cx="3108960" cy="438912"/>
          </a:xfrm>
          <a:prstGeom prst="roundRect">
            <a:avLst/>
          </a:prstGeom>
          <a:solidFill>
            <a:srgbClr val="1E2731"/>
          </a:solidFill>
          <a:ln w="1397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21992" y="1325880"/>
            <a:ext cx="296265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Typical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234440"/>
            <a:ext cx="2423160" cy="438912"/>
          </a:xfrm>
          <a:prstGeom prst="roundRect">
            <a:avLst/>
          </a:prstGeom>
          <a:solidFill>
            <a:srgbClr val="1E2731"/>
          </a:solidFill>
          <a:ln w="1397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59552" y="1325880"/>
            <a:ext cx="227685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234440"/>
            <a:ext cx="3520440" cy="438912"/>
          </a:xfrm>
          <a:prstGeom prst="roundRect">
            <a:avLst/>
          </a:prstGeom>
          <a:solidFill>
            <a:srgbClr val="1E2731"/>
          </a:solidFill>
          <a:ln w="1397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65592" y="1325880"/>
            <a:ext cx="337413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Teaching cue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37360"/>
            <a:ext cx="14630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1837943"/>
            <a:ext cx="13167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58518"/>
                </a:solidFill>
                <a:latin typeface="Aptos"/>
              </a:rPr>
              <a:t>Int32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1737360"/>
            <a:ext cx="31089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21992" y="1837943"/>
            <a:ext cx="29626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Whole-number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1737360"/>
            <a:ext cx="24231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59552" y="1837943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ascadia Mono"/>
              </a:rPr>
              <a:t>NumberInt(100)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37360"/>
            <a:ext cx="35204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65592" y="1837943"/>
            <a:ext cx="33741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small integers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60320"/>
            <a:ext cx="14630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2660903"/>
            <a:ext cx="13167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A363FF"/>
                </a:solidFill>
                <a:latin typeface="Aptos"/>
              </a:rPr>
              <a:t>Int64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48840" y="2560320"/>
            <a:ext cx="31089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1992" y="2660903"/>
            <a:ext cx="29626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Large whole numbers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2560320"/>
            <a:ext cx="24231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59552" y="2660903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ascadia Mono"/>
              </a:rPr>
              <a:t>NumberLong("...")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560320"/>
            <a:ext cx="35204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65592" y="2660903"/>
            <a:ext cx="33741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large integer values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83280"/>
            <a:ext cx="14630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3483864"/>
            <a:ext cx="13167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8CBFF"/>
                </a:solidFill>
                <a:latin typeface="Aptos"/>
              </a:rPr>
              <a:t>Double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48840" y="3383280"/>
            <a:ext cx="31089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21992" y="3483864"/>
            <a:ext cx="29626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Floating-point values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383280"/>
            <a:ext cx="24231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59552" y="3483864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ascadia Mono"/>
              </a:rPr>
              <a:t>499.50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3383280"/>
            <a:ext cx="35204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65592" y="3483864"/>
            <a:ext cx="33741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approximate binary floating point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206240"/>
            <a:ext cx="14630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6072" y="4306824"/>
            <a:ext cx="13167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AB40"/>
                </a:solidFill>
                <a:latin typeface="Aptos"/>
              </a:rPr>
              <a:t>Decimal128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48840" y="4206240"/>
            <a:ext cx="31089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21992" y="4306824"/>
            <a:ext cx="29626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Decimal numeric semantics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4206240"/>
            <a:ext cx="242316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559552" y="4306824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ascadia Mono"/>
              </a:rPr>
              <a:t>Decimal128("499.50")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206240"/>
            <a:ext cx="3520440" cy="658368"/>
          </a:xfrm>
          <a:prstGeom prst="roundRect">
            <a:avLst/>
          </a:prstGeom>
          <a:solidFill>
            <a:srgbClr val="0F161E"/>
          </a:solidFill>
          <a:ln w="127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65592" y="4306824"/>
            <a:ext cx="337413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precision-sensitive values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57800"/>
            <a:ext cx="109728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58518"/>
                </a:solidFill>
                <a:latin typeface="Aptos"/>
              </a:rPr>
              <a:t>Key point: the type is part of the data model, not merely how the number is printed.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715000"/>
            <a:ext cx="10972800" cy="411480"/>
          </a:xfrm>
          <a:prstGeom prst="roundRect">
            <a:avLst/>
          </a:prstGeom>
          <a:solidFill>
            <a:srgbClr val="1C1212"/>
          </a:solidFill>
          <a:ln w="1905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5797296"/>
            <a:ext cx="10698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Avoid using one numeric type blindly for every field.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Dates, identifiers, flags and missing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These types often carry business meaning that a plain string or number cannot express as clearly.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2011680" cy="3566160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30936" y="1572768"/>
            <a:ext cx="175564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A363FF"/>
                </a:solidFill>
                <a:latin typeface="Aptos"/>
              </a:rPr>
              <a:t>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" y="2148840"/>
            <a:ext cx="141732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2157984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363FF"/>
                </a:solidFill>
                <a:latin typeface="Aptos"/>
              </a:rPr>
              <a:t>2026-09-15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1488"/>
            <a:ext cx="1645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When did it happen?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703320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AAB3BE"/>
                </a:solidFill>
                <a:latin typeface="Aptos"/>
              </a:rPr>
              <a:t>Useful when the field has a clear native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325880"/>
            <a:ext cx="2011680" cy="3566160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98648" y="1572768"/>
            <a:ext cx="175564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8CBFF"/>
                </a:solidFill>
                <a:latin typeface="Aptos"/>
              </a:rPr>
              <a:t>ObjectId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2148840"/>
            <a:ext cx="141732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8104" y="2157984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38CBFF"/>
                </a:solidFill>
                <a:latin typeface="Aptos"/>
              </a:rPr>
              <a:t>ObjectId("...")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2761488"/>
            <a:ext cx="1645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Which document?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5224" y="3703320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AAB3BE"/>
                </a:solidFill>
                <a:latin typeface="Aptos"/>
              </a:rPr>
              <a:t>Useful when the field has a clear native meaning.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1325880"/>
            <a:ext cx="2011680" cy="3566160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59" y="1572768"/>
            <a:ext cx="175564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2A0FF"/>
                </a:solidFill>
                <a:latin typeface="Aptos"/>
              </a:rPr>
              <a:t>Boolean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952" y="2148840"/>
            <a:ext cx="141732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85816" y="2157984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2A0FF"/>
                </a:solidFill>
                <a:latin typeface="Aptos"/>
              </a:rPr>
              <a:t>true / false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224" y="2761488"/>
            <a:ext cx="1645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Is it enabled?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3703320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AAB3BE"/>
                </a:solidFill>
                <a:latin typeface="Aptos"/>
              </a:rPr>
              <a:t>Useful when the field has a clear native meaning.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6055" y="1325880"/>
            <a:ext cx="2011680" cy="3566160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34071" y="1572768"/>
            <a:ext cx="175564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AAB3BE"/>
                </a:solidFill>
                <a:latin typeface="Aptos"/>
              </a:rPr>
              <a:t>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8663" y="2148840"/>
            <a:ext cx="141732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AAB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53527" y="2157984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AB3BE"/>
                </a:solidFill>
                <a:latin typeface="Aptos"/>
              </a:rPr>
              <a:t>null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6" y="2761488"/>
            <a:ext cx="1645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Is a value absent?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3703320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AAB3BE"/>
                </a:solidFill>
                <a:latin typeface="Aptos"/>
              </a:rPr>
              <a:t>Useful when the field has a clear native meaning.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73768" y="1325880"/>
            <a:ext cx="2011680" cy="3566160"/>
          </a:xfrm>
          <a:prstGeom prst="roundRect">
            <a:avLst/>
          </a:prstGeom>
          <a:solidFill>
            <a:srgbClr val="0F161E"/>
          </a:solidFill>
          <a:ln w="1524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01784" y="1572768"/>
            <a:ext cx="175564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EF5559"/>
                </a:solidFill>
                <a:latin typeface="Aptos"/>
              </a:rPr>
              <a:t>Binary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66376" y="2148840"/>
            <a:ext cx="141732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21240" y="2157984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EF5559"/>
                </a:solidFill>
                <a:latin typeface="Aptos"/>
              </a:rPr>
              <a:t>BinData(...)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761488"/>
            <a:ext cx="1645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Is it raw byte data?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703320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AAB3BE"/>
                </a:solidFill>
                <a:latin typeface="Aptos"/>
              </a:rPr>
              <a:t>Useful when the field has a clear native meaning.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25780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8518"/>
                </a:solidFill>
                <a:latin typeface="Aptos"/>
              </a:rPr>
              <a:t>Prefer native BSON types when their semantics matter to the application.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Arrays and nested objects are still data — and still count toward document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Rich structure is powerful, but growth must remain intentional.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5486400" cy="489204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417320"/>
            <a:ext cx="4937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2A0FF"/>
                </a:solidFill>
                <a:latin typeface="Aptos"/>
              </a:rPr>
              <a:t>Order → items[] → embedded item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38528"/>
            <a:ext cx="4754880" cy="594360"/>
          </a:xfrm>
          <a:prstGeom prst="roundRect">
            <a:avLst/>
          </a:prstGeom>
          <a:solidFill>
            <a:srgbClr val="141A22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084831"/>
            <a:ext cx="4389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Cascadia Mono"/>
              </a:rPr>
              <a:t>items: [ { productId, qty, price }, ... 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18688" y="2560320"/>
            <a:ext cx="0" cy="502920"/>
          </a:xfrm>
          <a:prstGeom prst="line">
            <a:avLst/>
          </a:prstGeom>
          <a:ln w="27940">
            <a:solidFill>
              <a:srgbClr val="F58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005840" y="3154680"/>
            <a:ext cx="1920240" cy="73152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346704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A363FF"/>
                </a:solidFill>
                <a:latin typeface="Aptos"/>
              </a:rPr>
              <a:t>shippingAddress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3154680"/>
            <a:ext cx="1645920" cy="73152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56432" y="334670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38CBFF"/>
                </a:solidFill>
                <a:latin typeface="Aptos"/>
              </a:rPr>
              <a:t>payment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251960"/>
            <a:ext cx="4800600" cy="1325880"/>
          </a:xfrm>
          <a:prstGeom prst="roundRect">
            <a:avLst/>
          </a:prstGeom>
          <a:solidFill>
            <a:srgbClr val="1B1010"/>
          </a:solidFill>
          <a:ln w="1905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4480560"/>
            <a:ext cx="4389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F5559"/>
                </a:solidFill>
                <a:latin typeface="Aptos"/>
              </a:rPr>
              <a:t>Design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846320"/>
            <a:ext cx="4389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Aptos"/>
              </a:rPr>
              <a:t>Can this array or nested object grow indefinitely?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170432"/>
            <a:ext cx="5394960" cy="489204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41732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58518"/>
                </a:solidFill>
                <a:latin typeface="Aptos"/>
              </a:rPr>
              <a:t>16 MiB is the hard document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331720"/>
            <a:ext cx="4251960" cy="347472"/>
          </a:xfrm>
          <a:prstGeom prst="roundRect">
            <a:avLst/>
          </a:prstGeom>
          <a:solidFill>
            <a:srgbClr val="2D3C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720840" y="2331720"/>
            <a:ext cx="3486607" cy="347472"/>
          </a:xfrm>
          <a:prstGeom prst="roundRect">
            <a:avLst/>
          </a:prstGeom>
          <a:solidFill>
            <a:srgbClr val="22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2788920"/>
            <a:ext cx="10058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AAB3BE"/>
                </a:solidFill>
                <a:latin typeface="Aptos"/>
              </a:rPr>
              <a:t>0 MiB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2788920"/>
            <a:ext cx="9144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EF5559"/>
                </a:solidFill>
                <a:latin typeface="Aptos"/>
              </a:rPr>
              <a:t>16 MiB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3756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F5F7FA"/>
                </a:solidFill>
                <a:latin typeface="Aptos"/>
              </a:defRPr>
            </a:pPr>
            <a:r>
              <a:t>• Maximum BSON document size is 16 MiB.</a:t>
            </a:r>
          </a:p>
          <a:p>
            <a:pPr>
              <a:spcAft>
                <a:spcPts val="700"/>
              </a:spcAft>
              <a:defRPr sz="1400">
                <a:solidFill>
                  <a:srgbClr val="F5F7FA"/>
                </a:solidFill>
                <a:latin typeface="Aptos"/>
              </a:defRPr>
            </a:pPr>
            <a:r>
              <a:t>• Nested objects and arrays are part of the document size.</a:t>
            </a:r>
          </a:p>
          <a:p>
            <a:pPr>
              <a:spcAft>
                <a:spcPts val="700"/>
              </a:spcAft>
              <a:defRPr sz="1400">
                <a:solidFill>
                  <a:srgbClr val="F5F7FA"/>
                </a:solidFill>
                <a:latin typeface="Aptos"/>
              </a:defRPr>
            </a:pPr>
            <a:r>
              <a:t>• Unbounded arrays can become a modeling problem.</a:t>
            </a:r>
          </a:p>
          <a:p>
            <a:pPr>
              <a:spcAft>
                <a:spcPts val="700"/>
              </a:spcAft>
              <a:defRPr sz="1400">
                <a:solidFill>
                  <a:srgbClr val="F5F7FA"/>
                </a:solidFill>
                <a:latin typeface="Aptos"/>
              </a:defRPr>
            </a:pPr>
            <a:r>
              <a:t>• Keep growth predictable and purposeful.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5486400"/>
            <a:ext cx="443484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2824" y="5495544"/>
            <a:ext cx="43251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EF5559"/>
                </a:solidFill>
                <a:latin typeface="Aptos"/>
              </a:rPr>
              <a:t>DOCUMENT SIZE IS A DESIGN CONSTRAINT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When the file is bigger than the document limit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Large binary content needs a different storage pattern.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493776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2011680"/>
            <a:ext cx="2148840" cy="1508760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2A0FF"/>
                </a:solidFill>
                <a:latin typeface="Aptos"/>
              </a:rPr>
              <a:t>Application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39" y="2724912"/>
            <a:ext cx="18745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B3BE"/>
                </a:solidFill>
                <a:latin typeface="Aptos"/>
              </a:rPr>
              <a:t>PDF / image / video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2761488"/>
            <a:ext cx="484632" cy="0"/>
          </a:xfrm>
          <a:prstGeom prst="line">
            <a:avLst/>
          </a:prstGeom>
          <a:ln w="27940">
            <a:solidFill>
              <a:srgbClr val="22A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66160" y="2011680"/>
            <a:ext cx="2148840" cy="1508760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240280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EF5559"/>
                </a:solidFill>
                <a:latin typeface="Aptos"/>
              </a:rPr>
              <a:t>Too large for one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724912"/>
            <a:ext cx="18745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B3BE"/>
                </a:solidFill>
                <a:latin typeface="Aptos"/>
              </a:rPr>
              <a:t>&gt; 16 MiB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15000" y="2761488"/>
            <a:ext cx="484632" cy="0"/>
          </a:xfrm>
          <a:prstGeom prst="line">
            <a:avLst/>
          </a:prstGeom>
          <a:ln w="27940">
            <a:solidFill>
              <a:srgbClr val="EF55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63640" y="2011680"/>
            <a:ext cx="2148840" cy="1508760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2240280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8518"/>
                </a:solidFill>
                <a:latin typeface="Aptos"/>
              </a:rPr>
              <a:t>GridFS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24912"/>
            <a:ext cx="18745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B3BE"/>
                </a:solidFill>
                <a:latin typeface="Aptos"/>
              </a:rPr>
              <a:t>chunks + metadata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0" y="2761488"/>
            <a:ext cx="484632" cy="0"/>
          </a:xfrm>
          <a:prstGeom prst="line">
            <a:avLst/>
          </a:prstGeom>
          <a:ln w="27940">
            <a:solidFill>
              <a:srgbClr val="F58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61120" y="2011680"/>
            <a:ext cx="2148840" cy="1508760"/>
          </a:xfrm>
          <a:prstGeom prst="roundRect">
            <a:avLst/>
          </a:prstGeom>
          <a:solidFill>
            <a:srgbClr val="0C141D"/>
          </a:solidFill>
          <a:ln w="1651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2240280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A363FF"/>
                </a:solidFill>
                <a:latin typeface="Aptos"/>
              </a:rPr>
              <a:t>Read through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724912"/>
            <a:ext cx="18745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B3BE"/>
                </a:solidFill>
                <a:latin typeface="Aptos"/>
              </a:rPr>
              <a:t>reassembled for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977639"/>
            <a:ext cx="10241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GridFS is designed for storing files that exceed the 16 MiB BSON document size limit.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526280"/>
            <a:ext cx="97840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AAB3BE"/>
                </a:solidFill>
                <a:latin typeface="Aptos"/>
              </a:rPr>
              <a:t>Teaching cue: the document model remains for business data; large files follow a different storage mechanism.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5440680"/>
            <a:ext cx="4023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941063" y="5449824"/>
            <a:ext cx="39136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EF5559"/>
                </a:solidFill>
                <a:latin typeface="Aptos"/>
              </a:rPr>
              <a:t>DO NOT STUFF LARGE FILES INTO ONE DOCUMENT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Verify the types with mongosh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The fastest way to build intuition is to insert representative values and inspect their BSON types.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583680" cy="4526280"/>
          </a:xfrm>
          <a:prstGeom prst="roundRect">
            <a:avLst/>
          </a:prstGeom>
          <a:solidFill>
            <a:srgbClr val="080F18"/>
          </a:solidFill>
          <a:ln w="1905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07592"/>
            <a:ext cx="63093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2A0FF"/>
                </a:solidFill>
                <a:latin typeface="Aptos"/>
              </a:rPr>
              <a:t>mongosh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6309360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5F7FA"/>
                </a:solidFill>
                <a:latin typeface="Cascadia Mono"/>
              </a:rPr>
              <a:t>use orderdb
db.typeDemo.insertOne({
  status: "CONFIRMED",
  quantity: NumberInt(100),
  longValue: NumberLong("9007199254740991"),
  amount: Decimal128("999.99"),
  createdAt: ISODate("2026-09-15T10:30:00Z"),
  customerId: ObjectId(),
  items: ["Laptop", "Mouse"],
  notes: null
})
db.typeDemo.findOne()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234440"/>
            <a:ext cx="4206240" cy="452628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0876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8518"/>
                </a:solidFill>
                <a:latin typeface="Aptos"/>
              </a:rPr>
              <a:t>Inspect the stored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2011680"/>
            <a:ext cx="3703320" cy="2331720"/>
          </a:xfrm>
          <a:prstGeom prst="roundRect">
            <a:avLst/>
          </a:prstGeom>
          <a:solidFill>
            <a:srgbClr val="080F18"/>
          </a:solidFill>
          <a:ln w="1905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2084832"/>
            <a:ext cx="3429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A363FF"/>
                </a:solidFill>
                <a:latin typeface="Aptos"/>
              </a:rPr>
              <a:t>mongosh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368296"/>
            <a:ext cx="3429000" cy="1892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5F7FA"/>
                </a:solidFill>
                <a:latin typeface="Cascadia Mono"/>
              </a:rPr>
              <a:t>db.typeDemo.aggregate([
  { $project: {
    status: { $type: "$status" },
    quantity: { $type: "$quantity" },
    amount: { $type: "$amount" },
    createdAt: { $type: "$createdAt" },
    customerId: { $type: "$customerId" }
  }}
])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572000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Predict → run → inspect → explain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5230368"/>
            <a:ext cx="315468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64424" y="5239512"/>
            <a:ext cx="30449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AB40"/>
                </a:solidFill>
                <a:latin typeface="Aptos"/>
              </a:rPr>
              <a:t>TYPE CHECKING HABIT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430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A practical workflow for data types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94944"/>
            <a:ext cx="11247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AAB3BE"/>
                </a:solidFill>
                <a:latin typeface="Aptos"/>
              </a:rPr>
              <a:t>Use the sequence below before a document design becomes difficult to change.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08176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8518"/>
                </a:solidFill>
                <a:latin typeface="Aptos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39903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What does the field mean?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20440" y="1609344"/>
            <a:ext cx="365760" cy="0"/>
          </a:xfrm>
          <a:prstGeom prst="line">
            <a:avLst/>
          </a:prstGeom>
          <a:ln w="27940">
            <a:solidFill>
              <a:srgbClr val="F58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77240" y="2093976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2A0FF"/>
                </a:solidFill>
                <a:latin typeface="Aptos"/>
              </a:rPr>
              <a:t>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167128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Which BSON type fits?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20440" y="2377440"/>
            <a:ext cx="365760" cy="0"/>
          </a:xfrm>
          <a:prstGeom prst="line">
            <a:avLst/>
          </a:prstGeom>
          <a:ln w="27940">
            <a:solidFill>
              <a:srgbClr val="22A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2862072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A3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363FF"/>
                </a:solidFill>
                <a:latin typeface="Aptos"/>
              </a:rPr>
              <a:t>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35224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Scalar, object, or array?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20440" y="3145536"/>
            <a:ext cx="365760" cy="0"/>
          </a:xfrm>
          <a:prstGeom prst="line">
            <a:avLst/>
          </a:prstGeom>
          <a:ln w="27940">
            <a:solidFill>
              <a:srgbClr val="A36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3630168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38C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712463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8CBFF"/>
                </a:solidFill>
                <a:latin typeface="Aptos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03320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Can it grow safely?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20440" y="3913631"/>
            <a:ext cx="365760" cy="0"/>
          </a:xfrm>
          <a:prstGeom prst="line">
            <a:avLst/>
          </a:prstGeom>
          <a:ln w="27940">
            <a:solidFill>
              <a:srgbClr val="38C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4398264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EF5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480559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EF5559"/>
                </a:solidFill>
                <a:latin typeface="Aptos"/>
              </a:rPr>
              <a:t>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471416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Will the document stay below 16 MiB?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4681727"/>
            <a:ext cx="365760" cy="0"/>
          </a:xfrm>
          <a:prstGeom prst="line">
            <a:avLst/>
          </a:prstGeom>
          <a:ln w="27940">
            <a:solidFill>
              <a:srgbClr val="EF55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77240" y="5166360"/>
            <a:ext cx="2743200" cy="566928"/>
          </a:xfrm>
          <a:prstGeom prst="roundRect">
            <a:avLst/>
          </a:prstGeom>
          <a:solidFill>
            <a:srgbClr val="0F161E"/>
          </a:solidFill>
          <a:ln w="1651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248656"/>
            <a:ext cx="960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AB40"/>
                </a:solidFill>
                <a:latin typeface="Aptos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523951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Inspect with mongosh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9080" y="1325880"/>
            <a:ext cx="7315200" cy="5440680"/>
          </a:xfrm>
          <a:prstGeom prst="roundRect">
            <a:avLst/>
          </a:prstGeom>
          <a:solidFill>
            <a:srgbClr val="0F161E"/>
          </a:solidFill>
          <a:ln w="1905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89120" y="1600200"/>
            <a:ext cx="6583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8518"/>
                </a:solidFill>
                <a:latin typeface="Aptos"/>
              </a:rPr>
              <a:t>Design principles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2011680"/>
            <a:ext cx="1737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43983" y="2020824"/>
            <a:ext cx="1627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AB40"/>
                </a:solidFill>
                <a:latin typeface="Aptos"/>
              </a:rPr>
              <a:t>Use types intentionally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002536"/>
            <a:ext cx="4526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Let business meaning drive representation.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2880360"/>
            <a:ext cx="1737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43983" y="2889504"/>
            <a:ext cx="1627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2A0FF"/>
                </a:solidFill>
                <a:latin typeface="Aptos"/>
              </a:rPr>
              <a:t>Keep growth bounded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871216"/>
            <a:ext cx="4526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Arrays and nested structures should have practical growth limits.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3749039"/>
            <a:ext cx="1737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43983" y="3758183"/>
            <a:ext cx="1627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AB40"/>
                </a:solidFill>
                <a:latin typeface="Aptos"/>
              </a:rPr>
              <a:t>Respect the 16 MiB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739896"/>
            <a:ext cx="4526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Large documents require schema changes; large files may need GridFS.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89120" y="4617720"/>
            <a:ext cx="1737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22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43983" y="4626864"/>
            <a:ext cx="1627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2A0FF"/>
                </a:solidFill>
                <a:latin typeface="Aptos"/>
              </a:rPr>
              <a:t>Verify, don’t guess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08576"/>
            <a:ext cx="4526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Use $type and actual document inspection during development.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5486400"/>
            <a:ext cx="1737360" cy="310896"/>
          </a:xfrm>
          <a:prstGeom prst="roundRect">
            <a:avLst/>
          </a:prstGeom>
          <a:solidFill>
            <a:srgbClr val="090D12"/>
          </a:solidFill>
          <a:ln w="1778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43983" y="5495544"/>
            <a:ext cx="1627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AB40"/>
                </a:solidFill>
                <a:latin typeface="Aptos"/>
              </a:rPr>
              <a:t>Keep lessons separate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477256"/>
            <a:ext cx="4526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Deep numeric precision comes later; this lesson builds the map first.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6565392"/>
            <a:ext cx="11521440" cy="13716"/>
          </a:xfrm>
          <a:prstGeom prst="rect">
            <a:avLst/>
          </a:prstGeom>
          <a:solidFill>
            <a:srgbClr val="374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592824"/>
            <a:ext cx="36576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AB3BE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1235</Words>
  <Application>Microsoft Office PowerPoint</Application>
  <PresentationFormat>Widescreen</PresentationFormat>
  <Paragraphs>235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2026-10-02T12:06:58Z</dcterms:modified>
  <cp:category/>
</cp:coreProperties>
</file>