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56032"/>
            <a:ext cx="155448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65176"/>
            <a:ext cx="14447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8518"/>
                </a:solidFill>
                <a:latin typeface="Aptos"/>
              </a:rPr>
              <a:t>BSON +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6858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MongoDB Data Types
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828800"/>
            <a:ext cx="5852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AAB3BE"/>
                </a:solidFill>
                <a:latin typeface="Aptos"/>
              </a:rPr>
              <a:t>Choose meaningful BSON types, understand document boundaries, and keep application data practical.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502920"/>
            <a:ext cx="4892040" cy="525780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777240"/>
            <a:ext cx="4389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8518"/>
                </a:solidFill>
                <a:latin typeface="Aptos"/>
              </a:rPr>
              <a:t>ONE ORDER • MANY DATA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234440"/>
            <a:ext cx="4023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Order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645920"/>
            <a:ext cx="2057400" cy="347472"/>
          </a:xfrm>
          <a:prstGeom prst="roundRect">
            <a:avLst/>
          </a:prstGeom>
          <a:solidFill>
            <a:srgbClr val="101A24"/>
          </a:solidFill>
          <a:ln w="1270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673352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orderId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67335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2A0FF"/>
                </a:solidFill>
                <a:latin typeface="Aptos"/>
              </a:rPr>
              <a:t>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121408"/>
            <a:ext cx="2057400" cy="347472"/>
          </a:xfrm>
          <a:prstGeom prst="roundRect">
            <a:avLst/>
          </a:prstGeom>
          <a:solidFill>
            <a:srgbClr val="101A24"/>
          </a:solidFill>
          <a:ln w="1270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14884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orderDate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148840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A363FF"/>
                </a:solidFill>
                <a:latin typeface="Aptos"/>
              </a:rPr>
              <a:t>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596896"/>
            <a:ext cx="2057400" cy="347472"/>
          </a:xfrm>
          <a:prstGeom prst="roundRect">
            <a:avLst/>
          </a:prstGeom>
          <a:solidFill>
            <a:srgbClr val="101A24"/>
          </a:solidFill>
          <a:ln w="1270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24327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customerId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7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8CBFF"/>
                </a:solidFill>
                <a:latin typeface="Aptos"/>
              </a:rPr>
              <a:t>ObjectId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3072384"/>
            <a:ext cx="2057400" cy="347472"/>
          </a:xfrm>
          <a:prstGeom prst="roundRect">
            <a:avLst/>
          </a:prstGeom>
          <a:solidFill>
            <a:srgbClr val="101A24"/>
          </a:solidFill>
          <a:ln w="127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309981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totalAmount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099816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1">
                <a:solidFill>
                  <a:srgbClr val="FFAB40"/>
                </a:solidFill>
                <a:latin typeface="Aptos"/>
              </a:rPr>
              <a:t>Decimal128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547872"/>
            <a:ext cx="2057400" cy="347472"/>
          </a:xfrm>
          <a:prstGeom prst="roundRect">
            <a:avLst/>
          </a:prstGeom>
          <a:solidFill>
            <a:srgbClr val="101A24"/>
          </a:solidFill>
          <a:ln w="1270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75303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items[]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575303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A363FF"/>
                </a:solidFill>
                <a:latin typeface="Aptos"/>
              </a:rPr>
              <a:t>Array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4023360"/>
            <a:ext cx="2057400" cy="347472"/>
          </a:xfrm>
          <a:prstGeom prst="roundRect">
            <a:avLst/>
          </a:prstGeom>
          <a:solidFill>
            <a:srgbClr val="101A24"/>
          </a:solidFill>
          <a:ln w="1270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5472" y="4050792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isGift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05079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2A0FF"/>
                </a:solidFill>
                <a:latin typeface="Aptos"/>
              </a:rPr>
              <a:t>Boolean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4498848"/>
            <a:ext cx="2057400" cy="347472"/>
          </a:xfrm>
          <a:prstGeom prst="roundRect">
            <a:avLst/>
          </a:prstGeom>
          <a:solidFill>
            <a:srgbClr val="101A24"/>
          </a:solidFill>
          <a:ln w="12700">
            <a:solidFill>
              <a:srgbClr val="AA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452628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526280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AAB3BE"/>
                </a:solidFill>
                <a:latin typeface="Aptos"/>
              </a:rPr>
              <a:t>Null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880360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8518"/>
                </a:solidFill>
                <a:latin typeface="Aptos"/>
              </a:rPr>
              <a:t>The lesson path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" y="3337560"/>
            <a:ext cx="384048" cy="384048"/>
          </a:xfrm>
          <a:prstGeom prst="ellipse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364991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90D12"/>
                </a:solidFill>
                <a:latin typeface="Apto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328416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Recognize BSON types</a:t>
            </a:r>
          </a:p>
        </p:txBody>
      </p:sp>
      <p:sp>
        <p:nvSpPr>
          <p:cNvPr id="34" name="Oval 33"/>
          <p:cNvSpPr/>
          <p:nvPr/>
        </p:nvSpPr>
        <p:spPr>
          <a:xfrm>
            <a:off x="411480" y="3959352"/>
            <a:ext cx="384048" cy="384048"/>
          </a:xfrm>
          <a:prstGeom prst="ellipse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986784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90D12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950208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Match types to business meaning</a:t>
            </a:r>
          </a:p>
        </p:txBody>
      </p:sp>
      <p:sp>
        <p:nvSpPr>
          <p:cNvPr id="37" name="Oval 36"/>
          <p:cNvSpPr/>
          <p:nvPr/>
        </p:nvSpPr>
        <p:spPr>
          <a:xfrm>
            <a:off x="411480" y="4581144"/>
            <a:ext cx="384048" cy="384048"/>
          </a:xfrm>
          <a:prstGeom prst="ellipse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60857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90D12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72000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Understand size + nesting limits</a:t>
            </a:r>
          </a:p>
        </p:txBody>
      </p:sp>
      <p:sp>
        <p:nvSpPr>
          <p:cNvPr id="40" name="Oval 39"/>
          <p:cNvSpPr/>
          <p:nvPr/>
        </p:nvSpPr>
        <p:spPr>
          <a:xfrm>
            <a:off x="411480" y="5202936"/>
            <a:ext cx="384048" cy="384048"/>
          </a:xfrm>
          <a:prstGeom prst="ellipse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230368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90D12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5193792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Verify with mongosh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062472"/>
            <a:ext cx="5760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8518"/>
                </a:solidFill>
                <a:latin typeface="Aptos"/>
              </a:rPr>
              <a:t>Running example: Order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BSON types: the developer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MongoDB supports typed values beyond plain JSON. Use type names to reason about the data you store.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1298448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A0FF"/>
                </a:solidFill>
                <a:latin typeface="Aptos"/>
              </a:rPr>
              <a:t>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60934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Text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72768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"CONFIRMED"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298448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8518"/>
                </a:solidFill>
                <a:latin typeface="Aptos"/>
              </a:rPr>
              <a:t>Int32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60934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32-bit integer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72768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88720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298448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363FF"/>
                </a:solidFill>
                <a:latin typeface="Aptos"/>
              </a:rPr>
              <a:t>Int64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60934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64-bit integer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572768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NumberLong("...")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359152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4688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8CBFF"/>
                </a:solidFill>
                <a:latin typeface="Aptos"/>
              </a:rPr>
              <a:t>Double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779776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64-bit floating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743200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499.50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359152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24688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AB40"/>
                </a:solidFill>
                <a:latin typeface="Aptos"/>
              </a:rPr>
              <a:t>Decimal128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779776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High-precision decimal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43200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Decimal128("499.50")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2359152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3" y="24688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A0FF"/>
                </a:solidFill>
                <a:latin typeface="Aptos"/>
              </a:rPr>
              <a:t>Boolean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779776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True /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743200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true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529584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3639312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363FF"/>
                </a:solidFill>
                <a:latin typeface="Aptos"/>
              </a:rPr>
              <a:t>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3950208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Date and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913632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ISODate(...)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529584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43984" y="3639312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8CBFF"/>
                </a:solidFill>
                <a:latin typeface="Aptos"/>
              </a:rPr>
              <a:t>ObjectId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4" y="3950208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Identifier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913632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ObjectId()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529584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3" y="3639312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8518"/>
                </a:solidFill>
                <a:latin typeface="Aptos"/>
              </a:rPr>
              <a:t>Array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0183" y="3950208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Ordered 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913632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[ ... 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700016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809744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363FF"/>
                </a:solidFill>
                <a:latin typeface="Aptos"/>
              </a:rPr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" y="5120640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Nested document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084064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{ ... 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4700016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AA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43984" y="4809744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AB3BE"/>
                </a:solidFill>
                <a:latin typeface="Aptos"/>
              </a:rPr>
              <a:t>Null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43984" y="5120640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No value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084064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null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4700016"/>
            <a:ext cx="3611880" cy="987552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3" y="4809744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5559"/>
                </a:solidFill>
                <a:latin typeface="Aptos"/>
              </a:rPr>
              <a:t>Binary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0183" y="5120640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Byte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5084064"/>
            <a:ext cx="1353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F7FA"/>
                </a:solidFill>
                <a:latin typeface="Cascadia Mono"/>
              </a:rPr>
              <a:t>BinData(...)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98932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Focus on meaning: identifiers, dates, money, flags, lists, nested objects, and binary values have different jobs.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Types inside a real Order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The same business object can contain strings, numbers, dates, arrays, nested objects, and typed identifiers.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516636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943600" cy="4160520"/>
          </a:xfrm>
          <a:prstGeom prst="roundRect">
            <a:avLst/>
          </a:prstGeom>
          <a:solidFill>
            <a:srgbClr val="080F18"/>
          </a:solidFill>
          <a:ln w="1905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5669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2A0FF"/>
                </a:solidFill>
                <a:latin typeface="Aptos"/>
              </a:rPr>
              <a:t>mongosh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566928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ascadia Mono"/>
              </a:rPr>
              <a:t>{
  orderId: "ORD-1001",
  orderDate: ISODate("2026-09-15"),
  customerId: ObjectId("..."),
  status: "CONFIRMED",
  totalAmount: Decimal128("1001.00"),
  items: [
    { productId: "P100", qty: 2, price: Decimal128("499.50") }
  ],
  shippingAddress: { city: "Chennai", country: "India" },
  isGift: false,
  notes: null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508760"/>
            <a:ext cx="4160520" cy="713232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0608" y="1581912"/>
            <a:ext cx="3941063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8518"/>
                </a:solidFill>
                <a:latin typeface="Aptos"/>
              </a:rPr>
              <a:t>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1828800"/>
            <a:ext cx="3941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orderId /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139696"/>
            <a:ext cx="4160520" cy="713232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2212848"/>
            <a:ext cx="3941063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363FF"/>
                </a:solidFill>
                <a:latin typeface="Aptos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459736"/>
            <a:ext cx="3941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orderDate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770632"/>
            <a:ext cx="4160520" cy="713232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8" y="2843784"/>
            <a:ext cx="3941063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8CBFF"/>
                </a:solidFill>
                <a:latin typeface="Aptos"/>
              </a:rPr>
              <a:t>ObjectId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3090672"/>
            <a:ext cx="3941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customerId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3401568"/>
            <a:ext cx="4160520" cy="713232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3474720"/>
            <a:ext cx="3941063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AB40"/>
                </a:solidFill>
                <a:latin typeface="Aptos"/>
              </a:rPr>
              <a:t>Decimal128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721607"/>
            <a:ext cx="3941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money fields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4032504"/>
            <a:ext cx="4160520" cy="713232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4105656"/>
            <a:ext cx="3941063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363FF"/>
                </a:solidFill>
                <a:latin typeface="Aptos"/>
              </a:rPr>
              <a:t>Array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4352544"/>
            <a:ext cx="3941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items[]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4663440"/>
            <a:ext cx="4160520" cy="713232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4736592"/>
            <a:ext cx="3941063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2A0FF"/>
                </a:solidFill>
                <a:latin typeface="Aptos"/>
              </a:rPr>
              <a:t>Object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4983479"/>
            <a:ext cx="3941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shippingAddress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5294375"/>
            <a:ext cx="4160520" cy="713232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AA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5367527"/>
            <a:ext cx="3941063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AB3BE"/>
                </a:solidFill>
                <a:latin typeface="Aptos"/>
              </a:rPr>
              <a:t>Boolean / Null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5614415"/>
            <a:ext cx="3941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3BE"/>
                </a:solidFill>
                <a:latin typeface="Aptos"/>
              </a:rPr>
              <a:t>isGift /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989320"/>
            <a:ext cx="3931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8518"/>
                </a:solidFill>
                <a:latin typeface="Aptos"/>
              </a:rPr>
              <a:t>One document • many BSON types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Choose a type for the business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Do not pick a type just because the shell can display the value. Ask what the field represents.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6629400" cy="612648"/>
          </a:xfrm>
          <a:prstGeom prst="roundRect">
            <a:avLst/>
          </a:prstGeom>
          <a:solidFill>
            <a:srgbClr val="0F161E"/>
          </a:solidFill>
          <a:ln w="1397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8CBFF"/>
                </a:solidFill>
                <a:latin typeface="Aptos"/>
              </a:rPr>
              <a:t>Identifier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289304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ObjectId or another unique BSON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53312"/>
            <a:ext cx="86868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1303" y="1362456"/>
            <a:ext cx="7589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8CBFF"/>
                </a:solidFill>
                <a:latin typeface="Aptos"/>
              </a:rPr>
              <a:t>customerId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56816"/>
            <a:ext cx="6629400" cy="612648"/>
          </a:xfrm>
          <a:prstGeom prst="roundRect">
            <a:avLst/>
          </a:prstGeom>
          <a:solidFill>
            <a:srgbClr val="0F161E"/>
          </a:solidFill>
          <a:ln w="1397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363FF"/>
                </a:solidFill>
                <a:latin typeface="Aptos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39112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103120"/>
            <a:ext cx="86868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3" y="2112264"/>
            <a:ext cx="7589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363FF"/>
                </a:solidFill>
                <a:latin typeface="Aptos"/>
              </a:rPr>
              <a:t>orderDate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06624"/>
            <a:ext cx="6629400" cy="612648"/>
          </a:xfrm>
          <a:prstGeom prst="roundRect">
            <a:avLst/>
          </a:prstGeom>
          <a:solidFill>
            <a:srgbClr val="0F161E"/>
          </a:solidFill>
          <a:ln w="1397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16352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AB40"/>
                </a:solidFill>
                <a:latin typeface="Aptos"/>
              </a:rPr>
              <a:t>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788920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Decimal128 when exact decimal semantics matter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852928"/>
            <a:ext cx="86868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3" y="2862072"/>
            <a:ext cx="7589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AB40"/>
                </a:solidFill>
                <a:latin typeface="Aptos"/>
              </a:rPr>
              <a:t>totalAmount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56432"/>
            <a:ext cx="6629400" cy="612648"/>
          </a:xfrm>
          <a:prstGeom prst="roundRect">
            <a:avLst/>
          </a:prstGeom>
          <a:solidFill>
            <a:srgbClr val="0F161E"/>
          </a:solidFill>
          <a:ln w="1397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8518"/>
                </a:solidFill>
                <a:latin typeface="Aptos"/>
              </a:rPr>
              <a:t>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538728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Integer 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602736"/>
            <a:ext cx="86868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1303" y="3611880"/>
            <a:ext cx="7589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8518"/>
                </a:solidFill>
                <a:latin typeface="Aptos"/>
              </a:rPr>
              <a:t>quantity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06240"/>
            <a:ext cx="6629400" cy="612648"/>
          </a:xfrm>
          <a:prstGeom prst="roundRect">
            <a:avLst/>
          </a:prstGeom>
          <a:solidFill>
            <a:srgbClr val="0F161E"/>
          </a:solidFill>
          <a:ln w="1397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15968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2A0FF"/>
                </a:solidFill>
                <a:latin typeface="Aptos"/>
              </a:rPr>
              <a:t>Flag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88536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Boolean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4352544"/>
            <a:ext cx="86868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1303" y="4361688"/>
            <a:ext cx="7589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2A0FF"/>
                </a:solidFill>
                <a:latin typeface="Aptos"/>
              </a:rPr>
              <a:t>isGift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956048"/>
            <a:ext cx="6629400" cy="612648"/>
          </a:xfrm>
          <a:prstGeom prst="roundRect">
            <a:avLst/>
          </a:prstGeom>
          <a:solidFill>
            <a:srgbClr val="0F161E"/>
          </a:solidFill>
          <a:ln w="13970">
            <a:solidFill>
              <a:srgbClr val="AA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065776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AB3BE"/>
                </a:solidFill>
                <a:latin typeface="Aptos"/>
              </a:rPr>
              <a:t>Optional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038344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Null when no value is present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5102352"/>
            <a:ext cx="86868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AA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303" y="5111496"/>
            <a:ext cx="7589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AB3BE"/>
                </a:solidFill>
                <a:latin typeface="Aptos"/>
              </a:rPr>
              <a:t>notes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1207008"/>
            <a:ext cx="4224528" cy="498348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1481328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8518"/>
                </a:solidFill>
                <a:latin typeface="Aptos"/>
              </a:rPr>
              <a:t>Developer 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1920240"/>
            <a:ext cx="3611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What does this field mean?</a:t>
            </a:r>
          </a:p>
          <a:p>
            <a:pPr>
              <a:spcAft>
                <a:spcPts val="7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What values are valid?</a:t>
            </a:r>
          </a:p>
          <a:p>
            <a:pPr>
              <a:spcAft>
                <a:spcPts val="7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Do I need type fidelity?</a:t>
            </a:r>
          </a:p>
          <a:p>
            <a:pPr>
              <a:spcAft>
                <a:spcPts val="7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How will the application query it?</a:t>
            </a:r>
          </a:p>
          <a:p>
            <a:pPr>
              <a:spcAft>
                <a:spcPts val="7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Can the value grow without bound?</a:t>
            </a:r>
          </a:p>
          <a:p>
            <a:pPr>
              <a:spcAft>
                <a:spcPts val="7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Will its size affect the document?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5532120"/>
            <a:ext cx="329184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81544" y="5541264"/>
            <a:ext cx="31821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5559"/>
                </a:solidFill>
                <a:latin typeface="Aptos"/>
              </a:rPr>
              <a:t>MEANING → TYPE →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Numeric types: same-looking number, different storage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Keep this lesson at the recognition level; detailed integer width and Decimal128 precision come later.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463040" cy="438912"/>
          </a:xfrm>
          <a:prstGeom prst="roundRect">
            <a:avLst/>
          </a:prstGeom>
          <a:solidFill>
            <a:srgbClr val="1E2731"/>
          </a:solidFill>
          <a:ln w="1397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25880"/>
            <a:ext cx="131673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234440"/>
            <a:ext cx="3108960" cy="438912"/>
          </a:xfrm>
          <a:prstGeom prst="roundRect">
            <a:avLst/>
          </a:prstGeom>
          <a:solidFill>
            <a:srgbClr val="1E2731"/>
          </a:solidFill>
          <a:ln w="1397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2" y="1325880"/>
            <a:ext cx="296265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Typical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234440"/>
            <a:ext cx="2423160" cy="438912"/>
          </a:xfrm>
          <a:prstGeom prst="roundRect">
            <a:avLst/>
          </a:prstGeom>
          <a:solidFill>
            <a:srgbClr val="1E2731"/>
          </a:solidFill>
          <a:ln w="1397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1325880"/>
            <a:ext cx="227685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520440" cy="438912"/>
          </a:xfrm>
          <a:prstGeom prst="roundRect">
            <a:avLst/>
          </a:prstGeom>
          <a:solidFill>
            <a:srgbClr val="1E2731"/>
          </a:solidFill>
          <a:ln w="1397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325880"/>
            <a:ext cx="337413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Teaching cue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737360"/>
            <a:ext cx="146304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837943"/>
            <a:ext cx="13167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8518"/>
                </a:solidFill>
                <a:latin typeface="Aptos"/>
              </a:rPr>
              <a:t>Int32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1737360"/>
            <a:ext cx="310896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1837943"/>
            <a:ext cx="29626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Whole-number 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737360"/>
            <a:ext cx="242316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1837943"/>
            <a:ext cx="22768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scadia Mono"/>
              </a:rPr>
              <a:t>NumberInt(100)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737360"/>
            <a:ext cx="352044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837943"/>
            <a:ext cx="33741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small integers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560320"/>
            <a:ext cx="146304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660903"/>
            <a:ext cx="13167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363FF"/>
                </a:solidFill>
                <a:latin typeface="Aptos"/>
              </a:rPr>
              <a:t>Int64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2560320"/>
            <a:ext cx="310896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1992" y="2660903"/>
            <a:ext cx="29626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Large whole numbers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60320"/>
            <a:ext cx="242316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9552" y="2660903"/>
            <a:ext cx="22768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scadia Mono"/>
              </a:rPr>
              <a:t>NumberLong("...")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560320"/>
            <a:ext cx="352044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660903"/>
            <a:ext cx="33741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large integer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83280"/>
            <a:ext cx="146304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483864"/>
            <a:ext cx="13167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8CBFF"/>
                </a:solidFill>
                <a:latin typeface="Aptos"/>
              </a:rPr>
              <a:t>Double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8840" y="3383280"/>
            <a:ext cx="310896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21992" y="3483864"/>
            <a:ext cx="29626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Floating-point values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3383280"/>
            <a:ext cx="242316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59552" y="3483864"/>
            <a:ext cx="22768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scadia Mono"/>
              </a:rPr>
              <a:t>499.50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383280"/>
            <a:ext cx="352044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3483864"/>
            <a:ext cx="33741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approximate binary floating point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206240"/>
            <a:ext cx="146304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4306824"/>
            <a:ext cx="13167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AB40"/>
                </a:solidFill>
                <a:latin typeface="Aptos"/>
              </a:rPr>
              <a:t>Decimal128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48840" y="4206240"/>
            <a:ext cx="310896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21992" y="4306824"/>
            <a:ext cx="29626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Decimal numeric semantics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0" y="4206240"/>
            <a:ext cx="242316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59552" y="4306824"/>
            <a:ext cx="22768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scadia Mono"/>
              </a:rPr>
              <a:t>Decimal128("499.50")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206240"/>
            <a:ext cx="3520440" cy="658368"/>
          </a:xfrm>
          <a:prstGeom prst="roundRect">
            <a:avLst/>
          </a:prstGeom>
          <a:solidFill>
            <a:srgbClr val="0F161E"/>
          </a:solidFill>
          <a:ln w="127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5592" y="4306824"/>
            <a:ext cx="33741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precision-sensitive values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257800"/>
            <a:ext cx="10972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8518"/>
                </a:solidFill>
                <a:latin typeface="Aptos"/>
              </a:rPr>
              <a:t>Key point: the type is part of the data model, not merely how the number is printed.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715000"/>
            <a:ext cx="10972800" cy="411480"/>
          </a:xfrm>
          <a:prstGeom prst="roundRect">
            <a:avLst/>
          </a:prstGeom>
          <a:solidFill>
            <a:srgbClr val="1C1212"/>
          </a:solidFill>
          <a:ln w="1905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97296"/>
            <a:ext cx="10698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Avoid using one numeric type blindly for every field.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Dates, identifiers, flags and 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These types often carry business meaning that a plain string or number cannot express as clearly.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011680" cy="3566160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572768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A363FF"/>
                </a:solidFill>
                <a:latin typeface="Aptos"/>
              </a:rPr>
              <a:t>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" y="2148840"/>
            <a:ext cx="141732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57984"/>
            <a:ext cx="1307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363FF"/>
                </a:solidFill>
                <a:latin typeface="Aptos"/>
              </a:rPr>
              <a:t>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61488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When did it happen?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70332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AB3BE"/>
                </a:solidFill>
                <a:latin typeface="Aptos"/>
              </a:rPr>
              <a:t>Useful when the field has a clear native meaning.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325880"/>
            <a:ext cx="2011680" cy="3566160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572768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8CBFF"/>
                </a:solidFill>
                <a:latin typeface="Aptos"/>
              </a:rPr>
              <a:t>ObjectId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148840"/>
            <a:ext cx="141732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2157984"/>
            <a:ext cx="1307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8CBFF"/>
                </a:solidFill>
                <a:latin typeface="Aptos"/>
              </a:rPr>
              <a:t>ObjectId("...")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761488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Which document?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370332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AB3BE"/>
                </a:solidFill>
                <a:latin typeface="Aptos"/>
              </a:rPr>
              <a:t>Useful when the field has a clear native meaning.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325880"/>
            <a:ext cx="2011680" cy="3566160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1572768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A0FF"/>
                </a:solidFill>
                <a:latin typeface="Aptos"/>
              </a:rPr>
              <a:t>Boolean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0952" y="2148840"/>
            <a:ext cx="141732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5816" y="2157984"/>
            <a:ext cx="1307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2A0FF"/>
                </a:solidFill>
                <a:latin typeface="Aptos"/>
              </a:rPr>
              <a:t>true / false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761488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Is it enabled?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370332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AB3BE"/>
                </a:solidFill>
                <a:latin typeface="Aptos"/>
              </a:rPr>
              <a:t>Useful when the field has a clear native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6055" y="1325880"/>
            <a:ext cx="2011680" cy="3566160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AA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1" y="1572768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AAB3BE"/>
                </a:solidFill>
                <a:latin typeface="Aptos"/>
              </a:rPr>
              <a:t>Null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8663" y="2148840"/>
            <a:ext cx="141732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AA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527" y="2157984"/>
            <a:ext cx="1307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AB3BE"/>
                </a:solidFill>
                <a:latin typeface="Aptos"/>
              </a:rPr>
              <a:t>null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761488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Is a value absent?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370332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AB3BE"/>
                </a:solidFill>
                <a:latin typeface="Aptos"/>
              </a:rPr>
              <a:t>Useful when the field has a clear native meaning.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3768" y="1325880"/>
            <a:ext cx="2011680" cy="3566160"/>
          </a:xfrm>
          <a:prstGeom prst="roundRect">
            <a:avLst/>
          </a:prstGeom>
          <a:solidFill>
            <a:srgbClr val="0F161E"/>
          </a:solidFill>
          <a:ln w="1524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1784" y="1572768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F5559"/>
                </a:solidFill>
                <a:latin typeface="Aptos"/>
              </a:rPr>
              <a:t>Binary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66376" y="2148840"/>
            <a:ext cx="141732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157984"/>
            <a:ext cx="1307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5559"/>
                </a:solidFill>
                <a:latin typeface="Aptos"/>
              </a:rPr>
              <a:t>BinData(...)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761488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Is it raw byte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70332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AB3BE"/>
                </a:solidFill>
                <a:latin typeface="Aptos"/>
              </a:rPr>
              <a:t>Useful when the field has a clear native meaning.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257800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8518"/>
                </a:solidFill>
                <a:latin typeface="Aptos"/>
              </a:rPr>
              <a:t>Prefer native BSON types when their semantics matter to the application.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Arrays and nested objects are still data — and still count toward document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Rich structure is powerful, but growth must remain intentional.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486400" cy="489204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A0FF"/>
                </a:solidFill>
                <a:latin typeface="Aptos"/>
              </a:rPr>
              <a:t>Order → items[] → embedded item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38528"/>
            <a:ext cx="4754880" cy="594360"/>
          </a:xfrm>
          <a:prstGeom prst="roundRect">
            <a:avLst/>
          </a:prstGeom>
          <a:solidFill>
            <a:srgbClr val="141A22"/>
          </a:solidFill>
          <a:ln w="1905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4389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Cascadia Mono"/>
              </a:rPr>
              <a:t>items: [ { productId, qty, price }, ... 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18688" y="2560320"/>
            <a:ext cx="0" cy="502920"/>
          </a:xfrm>
          <a:prstGeom prst="line">
            <a:avLst/>
          </a:prstGeom>
          <a:ln w="27940">
            <a:solidFill>
              <a:srgbClr val="F58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05840" y="3154680"/>
            <a:ext cx="1920240" cy="73152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46704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363FF"/>
                </a:solidFill>
                <a:latin typeface="Aptos"/>
              </a:rPr>
              <a:t>shippingAddress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154680"/>
            <a:ext cx="1645920" cy="73152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3346704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8CBFF"/>
                </a:solidFill>
                <a:latin typeface="Aptos"/>
              </a:rPr>
              <a:t>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4800600" cy="1325880"/>
          </a:xfrm>
          <a:prstGeom prst="roundRect">
            <a:avLst/>
          </a:prstGeom>
          <a:solidFill>
            <a:srgbClr val="1B1010"/>
          </a:solidFill>
          <a:ln w="1905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480560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5559"/>
                </a:solidFill>
                <a:latin typeface="Aptos"/>
              </a:rPr>
              <a:t>Design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846320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Can this array or nested object grow indefinitely?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170432"/>
            <a:ext cx="5394960" cy="489204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17320"/>
            <a:ext cx="4846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8518"/>
                </a:solidFill>
                <a:latin typeface="Aptos"/>
              </a:rPr>
              <a:t>16 MiB is the hard document 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331720"/>
            <a:ext cx="4251960" cy="347472"/>
          </a:xfrm>
          <a:prstGeom prst="roundRect">
            <a:avLst/>
          </a:prstGeom>
          <a:solidFill>
            <a:srgbClr val="2D3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20840" y="2331720"/>
            <a:ext cx="3486607" cy="347472"/>
          </a:xfrm>
          <a:prstGeom prst="roundRect">
            <a:avLst/>
          </a:prstGeom>
          <a:solidFill>
            <a:srgbClr val="2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788920"/>
            <a:ext cx="1005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AB3BE"/>
                </a:solidFill>
                <a:latin typeface="Aptos"/>
              </a:rPr>
              <a:t>0 MiB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788920"/>
            <a:ext cx="9144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EF5559"/>
                </a:solidFill>
                <a:latin typeface="Aptos"/>
              </a:rPr>
              <a:t>16 MiB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3375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Maximum BSON document size is 16 MiB.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Nested objects and arrays are part of the document size.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Unbounded arrays can become a modeling problem.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Keep growth predictable and purposeful.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5486400"/>
            <a:ext cx="443484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5495544"/>
            <a:ext cx="43251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5559"/>
                </a:solidFill>
                <a:latin typeface="Aptos"/>
              </a:rPr>
              <a:t>DOCUMENT SIZE IS A DESIGN CONSTRAINT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When the file is bigger than the document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Large binary content needs a different storage pattern.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493776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2148840" cy="1508760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A0FF"/>
                </a:solidFill>
                <a:latin typeface="Aptos"/>
              </a:rPr>
              <a:t>Application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39" y="2724912"/>
            <a:ext cx="187451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B3BE"/>
                </a:solidFill>
                <a:latin typeface="Aptos"/>
              </a:rPr>
              <a:t>PDF / image / video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761488"/>
            <a:ext cx="484632" cy="0"/>
          </a:xfrm>
          <a:prstGeom prst="line">
            <a:avLst/>
          </a:prstGeom>
          <a:ln w="27940">
            <a:solidFill>
              <a:srgbClr val="2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2011680"/>
            <a:ext cx="2148840" cy="1508760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F5559"/>
                </a:solidFill>
                <a:latin typeface="Aptos"/>
              </a:rPr>
              <a:t>Too large for one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724912"/>
            <a:ext cx="187451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B3BE"/>
                </a:solidFill>
                <a:latin typeface="Aptos"/>
              </a:rPr>
              <a:t>&gt; 16 MiB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" y="2761488"/>
            <a:ext cx="484632" cy="0"/>
          </a:xfrm>
          <a:prstGeom prst="line">
            <a:avLst/>
          </a:prstGeom>
          <a:ln w="27940">
            <a:solidFill>
              <a:srgbClr val="EF55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2011680"/>
            <a:ext cx="2148840" cy="1508760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8518"/>
                </a:solidFill>
                <a:latin typeface="Aptos"/>
              </a:rPr>
              <a:t>GridFS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24912"/>
            <a:ext cx="187451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B3BE"/>
                </a:solidFill>
                <a:latin typeface="Aptos"/>
              </a:rPr>
              <a:t>chunks + metadata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2761488"/>
            <a:ext cx="484632" cy="0"/>
          </a:xfrm>
          <a:prstGeom prst="line">
            <a:avLst/>
          </a:prstGeom>
          <a:ln w="27940">
            <a:solidFill>
              <a:srgbClr val="F58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20" y="2011680"/>
            <a:ext cx="2148840" cy="1508760"/>
          </a:xfrm>
          <a:prstGeom prst="roundRect">
            <a:avLst/>
          </a:prstGeom>
          <a:solidFill>
            <a:srgbClr val="0C141D"/>
          </a:solidFill>
          <a:ln w="1651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24028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363FF"/>
                </a:solidFill>
                <a:latin typeface="Aptos"/>
              </a:rPr>
              <a:t>Read through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724912"/>
            <a:ext cx="187451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B3BE"/>
                </a:solidFill>
                <a:latin typeface="Aptos"/>
              </a:rPr>
              <a:t>reassembled for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10241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GridFS is designed for storing files that exceed the 16 MiB BSON document size limit.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526280"/>
            <a:ext cx="9784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3BE"/>
                </a:solidFill>
                <a:latin typeface="Aptos"/>
              </a:rPr>
              <a:t>Teaching cue: the document model remains for business data; large files follow a different storage mechanism.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5440680"/>
            <a:ext cx="402336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41063" y="5449824"/>
            <a:ext cx="39136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5559"/>
                </a:solidFill>
                <a:latin typeface="Aptos"/>
              </a:rPr>
              <a:t>DO NOT STUFF LARGE FILES INTO ONE DOCUMENT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Verify the types with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The fastest way to build intuition is to insert representative values and inspect their BSON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583680" cy="4526280"/>
          </a:xfrm>
          <a:prstGeom prst="roundRect">
            <a:avLst/>
          </a:prstGeom>
          <a:solidFill>
            <a:srgbClr val="080F18"/>
          </a:solidFill>
          <a:ln w="1905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07592"/>
            <a:ext cx="6309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2A0FF"/>
                </a:solidFill>
                <a:latin typeface="Aptos"/>
              </a:rPr>
              <a:t>mongosh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91056"/>
            <a:ext cx="6309360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5F7FA"/>
                </a:solidFill>
                <a:latin typeface="Cascadia Mono"/>
              </a:rPr>
              <a:t>use orderdb
db.typeDemo.insertOne({
  status: "CONFIRMED",
  quantity: NumberInt(100),
  longValue: NumberLong("9007199254740991"),
  amount: Decimal128("999.99"),
  createdAt: ISODate("2026-09-15T10:30:00Z"),
  customerId: ObjectId(),
  items: ["Laptop", "Mouse"],
  notes: null
})
db.typeDemo.findOne()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234440"/>
            <a:ext cx="4206240" cy="452628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50876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8518"/>
                </a:solidFill>
                <a:latin typeface="Aptos"/>
              </a:rPr>
              <a:t>Inspect the stored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9248" y="2011680"/>
            <a:ext cx="3703320" cy="2331720"/>
          </a:xfrm>
          <a:prstGeom prst="roundRect">
            <a:avLst/>
          </a:prstGeom>
          <a:solidFill>
            <a:srgbClr val="080F18"/>
          </a:solidFill>
          <a:ln w="1905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2084832"/>
            <a:ext cx="3429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363FF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368296"/>
            <a:ext cx="3429000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5F7FA"/>
                </a:solidFill>
                <a:latin typeface="Cascadia Mono"/>
              </a:rPr>
              <a:t>db.typeDemo.aggregate([
  { $project: {
    status: { $type: "$status" },
    quantity: { $type: "$quantity" },
    amount: { $type: "$amount" },
    createdAt: { $type: "$createdAt" },
    customerId: { $type: "$customerId" }
  }}
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572000"/>
            <a:ext cx="3566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Predict → run → inspect → explain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5230368"/>
            <a:ext cx="315468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4" y="5239512"/>
            <a:ext cx="30449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AB40"/>
                </a:solidFill>
                <a:latin typeface="Aptos"/>
              </a:rPr>
              <a:t>TYPE CHECKING HABIT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A practical workflow for data types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94944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3BE"/>
                </a:solidFill>
                <a:latin typeface="Aptos"/>
              </a:rPr>
              <a:t>Use the sequence below before a document design becomes difficult to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2743200" cy="566928"/>
          </a:xfrm>
          <a:prstGeom prst="roundRect">
            <a:avLst/>
          </a:prstGeom>
          <a:solidFill>
            <a:srgbClr val="0F161E"/>
          </a:solidFill>
          <a:ln w="1651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0817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8518"/>
                </a:solidFill>
                <a:latin typeface="Aptos"/>
              </a:rP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399032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What does the field mean?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20440" y="1609344"/>
            <a:ext cx="365760" cy="0"/>
          </a:xfrm>
          <a:prstGeom prst="line">
            <a:avLst/>
          </a:prstGeom>
          <a:ln w="27940">
            <a:solidFill>
              <a:srgbClr val="F58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093976"/>
            <a:ext cx="2743200" cy="566928"/>
          </a:xfrm>
          <a:prstGeom prst="roundRect">
            <a:avLst/>
          </a:prstGeom>
          <a:solidFill>
            <a:srgbClr val="0F161E"/>
          </a:solidFill>
          <a:ln w="1651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2A0FF"/>
                </a:solidFill>
                <a:latin typeface="Aptos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67128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Which BSON type fits?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20440" y="2377440"/>
            <a:ext cx="365760" cy="0"/>
          </a:xfrm>
          <a:prstGeom prst="line">
            <a:avLst/>
          </a:prstGeom>
          <a:ln w="27940">
            <a:solidFill>
              <a:srgbClr val="2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2862072"/>
            <a:ext cx="2743200" cy="566928"/>
          </a:xfrm>
          <a:prstGeom prst="roundRect">
            <a:avLst/>
          </a:prstGeom>
          <a:solidFill>
            <a:srgbClr val="0F161E"/>
          </a:solidFill>
          <a:ln w="16510">
            <a:solidFill>
              <a:srgbClr val="A3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363FF"/>
                </a:solidFill>
                <a:latin typeface="Aptos"/>
              </a:rPr>
              <a:t>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35224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Scalar, object, or array?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40" y="3145536"/>
            <a:ext cx="365760" cy="0"/>
          </a:xfrm>
          <a:prstGeom prst="line">
            <a:avLst/>
          </a:prstGeom>
          <a:ln w="27940">
            <a:solidFill>
              <a:srgbClr val="A3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3630168"/>
            <a:ext cx="2743200" cy="566928"/>
          </a:xfrm>
          <a:prstGeom prst="roundRect">
            <a:avLst/>
          </a:prstGeom>
          <a:solidFill>
            <a:srgbClr val="0F161E"/>
          </a:solidFill>
          <a:ln w="16510">
            <a:solidFill>
              <a:srgbClr val="38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12463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8CBFF"/>
                </a:solidFill>
                <a:latin typeface="Aptos"/>
              </a:rPr>
              <a:t>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03320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Can it grow safely?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3913631"/>
            <a:ext cx="365760" cy="0"/>
          </a:xfrm>
          <a:prstGeom prst="line">
            <a:avLst/>
          </a:prstGeom>
          <a:ln w="27940">
            <a:solidFill>
              <a:srgbClr val="38C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4398264"/>
            <a:ext cx="2743200" cy="566928"/>
          </a:xfrm>
          <a:prstGeom prst="roundRect">
            <a:avLst/>
          </a:prstGeom>
          <a:solidFill>
            <a:srgbClr val="0F161E"/>
          </a:solidFill>
          <a:ln w="16510">
            <a:solidFill>
              <a:srgbClr val="EF5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59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F5559"/>
                </a:solidFill>
                <a:latin typeface="Aptos"/>
              </a:rPr>
              <a:t>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471416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Will the document stay below 16 MiB?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20440" y="4681727"/>
            <a:ext cx="365760" cy="0"/>
          </a:xfrm>
          <a:prstGeom prst="line">
            <a:avLst/>
          </a:prstGeom>
          <a:ln w="27940">
            <a:solidFill>
              <a:srgbClr val="EF55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5166360"/>
            <a:ext cx="2743200" cy="566928"/>
          </a:xfrm>
          <a:prstGeom prst="roundRect">
            <a:avLst/>
          </a:prstGeom>
          <a:solidFill>
            <a:srgbClr val="0F161E"/>
          </a:solidFill>
          <a:ln w="1651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4865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AB40"/>
                </a:solidFill>
                <a:latin typeface="Aptos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239512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Inspect with mongosh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1325880"/>
            <a:ext cx="7315200" cy="5440680"/>
          </a:xfrm>
          <a:prstGeom prst="roundRect">
            <a:avLst/>
          </a:prstGeom>
          <a:solidFill>
            <a:srgbClr val="0F161E"/>
          </a:solidFill>
          <a:ln w="1905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600200"/>
            <a:ext cx="6583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8518"/>
                </a:solidFill>
                <a:latin typeface="Aptos"/>
              </a:rPr>
              <a:t>Design principles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2011680"/>
            <a:ext cx="173736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3" y="2020824"/>
            <a:ext cx="162763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AB40"/>
                </a:solidFill>
                <a:latin typeface="Aptos"/>
              </a:rPr>
              <a:t>Use types intentionally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002536"/>
            <a:ext cx="4526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Let business meaning drive representation.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2880360"/>
            <a:ext cx="173736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43983" y="2889504"/>
            <a:ext cx="162763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2A0FF"/>
                </a:solidFill>
                <a:latin typeface="Aptos"/>
              </a:rPr>
              <a:t>Keep growth bounded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871216"/>
            <a:ext cx="4526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Arrays and nested structures should have practical growth limits.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749039"/>
            <a:ext cx="173736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3983" y="3758183"/>
            <a:ext cx="162763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AB40"/>
                </a:solidFill>
                <a:latin typeface="Aptos"/>
              </a:rPr>
              <a:t>Respect the 16 MiB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739896"/>
            <a:ext cx="4526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Large documents require schema changes; large files may need GridFS.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4617720"/>
            <a:ext cx="173736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2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43983" y="4626864"/>
            <a:ext cx="162763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2A0FF"/>
                </a:solidFill>
                <a:latin typeface="Aptos"/>
              </a:rPr>
              <a:t>Verify, don’t guess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08576"/>
            <a:ext cx="4526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Use $type and actual document inspection during development.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5486400"/>
            <a:ext cx="1737360" cy="310896"/>
          </a:xfrm>
          <a:prstGeom prst="roundRect">
            <a:avLst/>
          </a:prstGeom>
          <a:solidFill>
            <a:srgbClr val="090D12"/>
          </a:solidFill>
          <a:ln w="1778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43983" y="5495544"/>
            <a:ext cx="162763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AB40"/>
                </a:solidFill>
                <a:latin typeface="Aptos"/>
              </a:rPr>
              <a:t>Keep lessons separate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477256"/>
            <a:ext cx="4526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Deep numeric precision comes later; this lesson builds the map first.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565392"/>
            <a:ext cx="11521440" cy="13716"/>
          </a:xfrm>
          <a:prstGeom prst="rect">
            <a:avLst/>
          </a:prstGeom>
          <a:solidFill>
            <a:srgbClr val="37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92824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AB3BE"/>
                </a:solidFill>
                <a:latin typeface="Aptos"/>
              </a:rPr>
              <a:t>MongoDB Developer Learning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wide_high_contrast_infographic_poster_on_a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