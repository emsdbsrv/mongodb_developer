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48640"/>
            <a:ext cx="914400" cy="91440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0972800" cy="6217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100" b="1">
                <a:solidFill>
                  <a:srgbClr val="F5F8F6"/>
                </a:solidFill>
                <a:latin typeface="Aptos"/>
              </a:rPr>
              <a:t>Lesson 033 — Many-to-Many — Embedded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10881360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50" b="0">
                <a:solidFill>
                  <a:srgbClr val="AFBAB5"/>
                </a:solidFill>
                <a:latin typeface="Aptos"/>
              </a:rPr>
              <a:t>Model a many-to-many relationship with embedded arrays when the related data is small, bounded, and read together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40280"/>
            <a:ext cx="3063240" cy="2697480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" y="2542032"/>
            <a:ext cx="233172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" y="2578608"/>
            <a:ext cx="225856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Avi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63240"/>
            <a:ext cx="251460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0">
                <a:solidFill>
                  <a:srgbClr val="AFBAB5"/>
                </a:solidFill>
                <a:latin typeface="Aptos"/>
              </a:rPr>
              <a:t>Bangalore • RR Nagar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611880"/>
            <a:ext cx="251460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700" b="1">
                <a:solidFill>
                  <a:srgbClr val="3AEB5B"/>
                </a:solidFill>
                <a:latin typeface="Aptos"/>
              </a:rPr>
              <a:t>projects[]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069080"/>
            <a:ext cx="251460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700" b="1">
                <a:solidFill>
                  <a:srgbClr val="F5F8F6"/>
                </a:solidFill>
                <a:latin typeface="Aptos"/>
              </a:rPr>
              <a:t>P1   P2   P3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977639" y="3310128"/>
            <a:ext cx="1005840" cy="502920"/>
          </a:xfrm>
          <a:prstGeom prst="rightArrow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57800" y="2240280"/>
            <a:ext cx="5806440" cy="2697480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559552" y="2542032"/>
            <a:ext cx="288036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96128" y="2578608"/>
            <a:ext cx="280720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EMBEDDED RELATED ITEMS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32120" y="3154680"/>
            <a:ext cx="1536192" cy="1207008"/>
          </a:xfrm>
          <a:prstGeom prst="roundRect">
            <a:avLst/>
          </a:prstGeom>
          <a:solidFill>
            <a:srgbClr val="091810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32120" y="3291840"/>
            <a:ext cx="1536192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1">
                <a:solidFill>
                  <a:srgbClr val="3AEB5B"/>
                </a:solidFill>
                <a:latin typeface="Aptos"/>
              </a:rPr>
              <a:t>P1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3566160"/>
            <a:ext cx="1408176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MongoDB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86983" y="3977639"/>
            <a:ext cx="1426464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50" b="0">
                <a:solidFill>
                  <a:srgbClr val="AFBAB5"/>
                </a:solidFill>
                <a:latin typeface="Aptos"/>
              </a:rPr>
              <a:t>MongoDB • Java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87768" y="3154680"/>
            <a:ext cx="1536192" cy="1207008"/>
          </a:xfrm>
          <a:prstGeom prst="roundRect">
            <a:avLst/>
          </a:prstGeom>
          <a:solidFill>
            <a:srgbClr val="091810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87768" y="3291840"/>
            <a:ext cx="1536192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1">
                <a:solidFill>
                  <a:srgbClr val="3AEB5B"/>
                </a:solidFill>
                <a:latin typeface="Aptos"/>
              </a:rPr>
              <a:t>P2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51775" y="3566160"/>
            <a:ext cx="1408176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Analytics 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42631" y="3977639"/>
            <a:ext cx="1426464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50" b="0">
                <a:solidFill>
                  <a:srgbClr val="AFBAB5"/>
                </a:solidFill>
                <a:latin typeface="Aptos"/>
              </a:rPr>
              <a:t>MongoDB • Python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43416" y="3154680"/>
            <a:ext cx="1536192" cy="1207008"/>
          </a:xfrm>
          <a:prstGeom prst="roundRect">
            <a:avLst/>
          </a:prstGeom>
          <a:solidFill>
            <a:srgbClr val="091810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43416" y="3291840"/>
            <a:ext cx="1536192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1">
                <a:solidFill>
                  <a:srgbClr val="3AEB5B"/>
                </a:solidFill>
                <a:latin typeface="Aptos"/>
              </a:rPr>
              <a:t>P3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07424" y="3566160"/>
            <a:ext cx="1408176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Migration Tool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977639"/>
            <a:ext cx="1426464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50" b="0">
                <a:solidFill>
                  <a:srgbClr val="AFBAB5"/>
                </a:solidFill>
                <a:latin typeface="Aptos"/>
              </a:rPr>
              <a:t>Java • MongoDB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77724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06424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What Is Many-to-Many — Embedded?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00200"/>
            <a:ext cx="4663440" cy="4526280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40690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200" b="1">
                <a:solidFill>
                  <a:srgbClr val="3AEB5B"/>
                </a:solidFill>
                <a:latin typeface="Aptos"/>
              </a:rPr>
              <a:t>Many-to-many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87168"/>
            <a:ext cx="3977639" cy="32918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700" b="1">
                <a:solidFill>
                  <a:srgbClr val="F5F8F6"/>
                </a:solidFill>
                <a:latin typeface="Aptos"/>
              </a:rPr>
              <a:t>One side can relate to many items.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926080"/>
            <a:ext cx="406908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0">
                <a:solidFill>
                  <a:srgbClr val="AFBAB5"/>
                </a:solidFill>
                <a:latin typeface="Aptos"/>
              </a:rPr>
              <a:t>The same related item can appear under many parents.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950208"/>
            <a:ext cx="1600200" cy="475488"/>
          </a:xfrm>
          <a:prstGeom prst="roundRect">
            <a:avLst/>
          </a:prstGeom>
          <a:solidFill>
            <a:srgbClr val="091810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059936"/>
            <a:ext cx="16002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Project 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617720"/>
            <a:ext cx="1600200" cy="475488"/>
          </a:xfrm>
          <a:prstGeom prst="roundRect">
            <a:avLst/>
          </a:prstGeom>
          <a:solidFill>
            <a:srgbClr val="091810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727448"/>
            <a:ext cx="16002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Project 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3950208"/>
            <a:ext cx="1600200" cy="475488"/>
          </a:xfrm>
          <a:prstGeom prst="roundRect">
            <a:avLst/>
          </a:prstGeom>
          <a:solidFill>
            <a:srgbClr val="091810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4059936"/>
            <a:ext cx="16002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Tech: MongoDB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71800" y="4617720"/>
            <a:ext cx="1600200" cy="475488"/>
          </a:xfrm>
          <a:prstGeom prst="roundRect">
            <a:avLst/>
          </a:prstGeom>
          <a:solidFill>
            <a:srgbClr val="091810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71800" y="4727448"/>
            <a:ext cx="16002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Tech: Java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496312" y="4187952"/>
            <a:ext cx="475488" cy="0"/>
          </a:xfrm>
          <a:prstGeom prst="line">
            <a:avLst/>
          </a:prstGeom>
          <a:ln w="25400">
            <a:solidFill>
              <a:srgbClr val="3AE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496312" y="4855464"/>
            <a:ext cx="475488" cy="0"/>
          </a:xfrm>
          <a:prstGeom prst="line">
            <a:avLst/>
          </a:prstGeom>
          <a:ln w="25400">
            <a:solidFill>
              <a:srgbClr val="3AE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532120" y="1600200"/>
            <a:ext cx="5989320" cy="4526280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33872" y="1920240"/>
            <a:ext cx="53035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>
                <a:solidFill>
                  <a:srgbClr val="3AEB5B"/>
                </a:solidFill>
                <a:latin typeface="Aptos"/>
              </a:rPr>
              <a:t>Embedded approach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33872" y="2578608"/>
            <a:ext cx="484632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Keep the related items inside the document that owns the read.</a:t>
            </a:r>
          </a:p>
          <a:p>
            <a:pPr>
              <a:spcAft>
                <a:spcPts val="5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Repeat the shared related value when that duplication is acceptable.</a:t>
            </a:r>
          </a:p>
          <a:p>
            <a:pPr>
              <a:spcAft>
                <a:spcPts val="5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Use a bounded representation so the parent does not grow without control.</a:t>
            </a:r>
          </a:p>
          <a:p>
            <a:pPr>
              <a:spcAft>
                <a:spcPts val="5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Design for the application’s real access pattern.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77724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06424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Example: Avi's Projects and Technologies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72768"/>
            <a:ext cx="6537960" cy="4553712"/>
          </a:xfrm>
          <a:prstGeom prst="roundRect">
            <a:avLst/>
          </a:prstGeom>
          <a:solidFill>
            <a:srgbClr val="070C0B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09928"/>
            <a:ext cx="6208776" cy="42793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  name: "Avi",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  location: "Bangalore, RR Nagar",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  projects: [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    {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      name: "MongoDB API",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      technologies: ["MongoDB", "Java"]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    },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    {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      name: "Analytics App",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      technologies: ["MongoDB", "Python"]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    },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    {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      name: "Migration Tool",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      technologies: ["Java", "MongoDB"]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  ]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1572768"/>
            <a:ext cx="4187952" cy="4553712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44383" y="1901952"/>
            <a:ext cx="3493008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100" b="1">
                <a:solidFill>
                  <a:srgbClr val="3AEB5B"/>
                </a:solidFill>
                <a:latin typeface="Aptos"/>
              </a:rPr>
              <a:t>Why this is many-to-many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44383" y="2578608"/>
            <a:ext cx="32461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Avi has many projects.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Each project has many technologies.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MongoDB appears in multiple projects.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Java appears in multiple projects.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The related technology values are embedded.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77724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06424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The Embedded Many-to-Many Shape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91640"/>
            <a:ext cx="10972800" cy="4160520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109728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>
                <a:solidFill>
                  <a:srgbClr val="3AEB5B"/>
                </a:solidFill>
                <a:latin typeface="Aptos"/>
              </a:rPr>
              <a:t>Avi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7400" y="1965960"/>
            <a:ext cx="146304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F5F8F6"/>
                </a:solidFill>
                <a:latin typeface="Aptos"/>
              </a:rPr>
              <a:t>projects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14600"/>
            <a:ext cx="3154680" cy="2331720"/>
          </a:xfrm>
          <a:prstGeom prst="roundRect">
            <a:avLst/>
          </a:prstGeom>
          <a:solidFill>
            <a:srgbClr val="091411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743200"/>
            <a:ext cx="283464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700" b="1">
                <a:solidFill>
                  <a:srgbClr val="F5F8F6"/>
                </a:solidFill>
                <a:latin typeface="Aptos"/>
              </a:rPr>
              <a:t>MongoDB 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35024" y="3520440"/>
            <a:ext cx="114300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557016"/>
            <a:ext cx="106984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MongoDB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42615" y="3520440"/>
            <a:ext cx="114300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79191" y="3557016"/>
            <a:ext cx="106984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Java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133087"/>
            <a:ext cx="25146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0">
                <a:solidFill>
                  <a:srgbClr val="AFBAB5"/>
                </a:solidFill>
                <a:latin typeface="Aptos"/>
              </a:rPr>
              <a:t>embedded array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7408" y="2514600"/>
            <a:ext cx="3154680" cy="2331720"/>
          </a:xfrm>
          <a:prstGeom prst="roundRect">
            <a:avLst/>
          </a:prstGeom>
          <a:solidFill>
            <a:srgbClr val="091411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2743200"/>
            <a:ext cx="283464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700" b="1">
                <a:solidFill>
                  <a:srgbClr val="F5F8F6"/>
                </a:solidFill>
                <a:latin typeface="Aptos"/>
              </a:rPr>
              <a:t>Analytics App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8032" y="3520440"/>
            <a:ext cx="114300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64608" y="3557016"/>
            <a:ext cx="106984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MongoDB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35624" y="3520440"/>
            <a:ext cx="114300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3557016"/>
            <a:ext cx="106984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Python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27448" y="4133087"/>
            <a:ext cx="25146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0">
                <a:solidFill>
                  <a:srgbClr val="AFBAB5"/>
                </a:solidFill>
                <a:latin typeface="Aptos"/>
              </a:rPr>
              <a:t>embedded array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0416" y="2514600"/>
            <a:ext cx="3154680" cy="2331720"/>
          </a:xfrm>
          <a:prstGeom prst="roundRect">
            <a:avLst/>
          </a:prstGeom>
          <a:solidFill>
            <a:srgbClr val="091411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2743200"/>
            <a:ext cx="283464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700" b="1">
                <a:solidFill>
                  <a:srgbClr val="F5F8F6"/>
                </a:solidFill>
                <a:latin typeface="Aptos"/>
              </a:rPr>
              <a:t>Migration Tool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3520440"/>
            <a:ext cx="114300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57616" y="3557016"/>
            <a:ext cx="106984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Java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28632" y="3520440"/>
            <a:ext cx="114300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65208" y="3557016"/>
            <a:ext cx="106984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MongoDB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0456" y="4133087"/>
            <a:ext cx="25146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0">
                <a:solidFill>
                  <a:srgbClr val="AFBAB5"/>
                </a:solidFill>
                <a:latin typeface="Aptos"/>
              </a:rPr>
              <a:t>embedded array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5230368"/>
            <a:ext cx="987552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0">
                <a:solidFill>
                  <a:srgbClr val="AFBAB5"/>
                </a:solidFill>
                <a:latin typeface="Aptos"/>
              </a:rPr>
              <a:t>Same technology can be repeated across project documents inside the parent.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77724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06424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When Embedded Many-to-Many Fits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91640"/>
            <a:ext cx="5230368" cy="1828800"/>
          </a:xfrm>
          <a:prstGeom prst="roundRect">
            <a:avLst/>
          </a:prstGeom>
          <a:solidFill>
            <a:srgbClr val="0A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6112" y="1920240"/>
            <a:ext cx="141732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956816"/>
            <a:ext cx="134416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SMALL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32887" y="2011680"/>
            <a:ext cx="288036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F5F8F6"/>
                </a:solidFill>
                <a:latin typeface="Aptos"/>
              </a:rPr>
              <a:t>Few related items per parent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81928" y="1691640"/>
            <a:ext cx="5230368" cy="1828800"/>
          </a:xfrm>
          <a:prstGeom prst="roundRect">
            <a:avLst/>
          </a:prstGeom>
          <a:solidFill>
            <a:srgbClr val="0A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19672" y="1920240"/>
            <a:ext cx="141732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6248" y="1956816"/>
            <a:ext cx="134416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BOUNDED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6448" y="2011680"/>
            <a:ext cx="288036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F5F8F6"/>
                </a:solidFill>
                <a:latin typeface="Aptos"/>
              </a:rPr>
              <a:t>Relationship size can be controlled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40480"/>
            <a:ext cx="5230368" cy="1828800"/>
          </a:xfrm>
          <a:prstGeom prst="roundRect">
            <a:avLst/>
          </a:prstGeom>
          <a:solidFill>
            <a:srgbClr val="0A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6112" y="4069080"/>
            <a:ext cx="141732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105656"/>
            <a:ext cx="134416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CO-READ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32887" y="4160520"/>
            <a:ext cx="288036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F5F8F6"/>
                </a:solidFill>
                <a:latin typeface="Aptos"/>
              </a:rPr>
              <a:t>Related values are normally returned together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1928" y="3840480"/>
            <a:ext cx="5230368" cy="1828800"/>
          </a:xfrm>
          <a:prstGeom prst="roundRect">
            <a:avLst/>
          </a:prstGeom>
          <a:solidFill>
            <a:srgbClr val="0A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19672" y="4069080"/>
            <a:ext cx="141732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6248" y="4105656"/>
            <a:ext cx="134416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LOCAL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8" y="4160520"/>
            <a:ext cx="288036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F5F8F6"/>
                </a:solidFill>
                <a:latin typeface="Aptos"/>
              </a:rPr>
              <a:t>The embedded relationship belongs to this document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77724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06424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Querying Embedded Many-to-Many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600200"/>
            <a:ext cx="6583680" cy="4526280"/>
          </a:xfrm>
          <a:prstGeom prst="roundRect">
            <a:avLst/>
          </a:prstGeom>
          <a:solidFill>
            <a:srgbClr val="070C0B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1737360"/>
            <a:ext cx="6254496" cy="4251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500">
                <a:solidFill>
                  <a:srgbClr val="3AEB5B"/>
                </a:solidFill>
                <a:latin typeface="Consolas"/>
              </a:defRPr>
            </a:pPr>
            <a:r>
              <a:t>// Find Avi by embedded technology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db.people.findOne({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  name: "Avi",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  "projects.technologies": "MongoDB"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})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500">
                <a:solidFill>
                  <a:srgbClr val="3AEB5B"/>
                </a:solidFill>
                <a:latin typeface="Consolas"/>
              </a:defRPr>
            </a:pPr>
            <a:r>
              <a:t>// Find Avi's projects using MongoDB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db.people.findOne(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  { name: "Avi" },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  { _id: 0, name: 1, "projects": 1 }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88352" y="1600200"/>
            <a:ext cx="4133087" cy="4526280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9248" y="1920240"/>
            <a:ext cx="33832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100" b="1">
                <a:solidFill>
                  <a:srgbClr val="3AEB5B"/>
                </a:solidFill>
                <a:latin typeface="Aptos"/>
              </a:rPr>
              <a:t>Access pattern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9248" y="2578608"/>
            <a:ext cx="32918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Match a technology anywhere in projects.</a:t>
            </a:r>
          </a:p>
          <a:p>
            <a:pPr>
              <a:spcAft>
                <a:spcPts val="5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Return the embedded project array.</a:t>
            </a:r>
          </a:p>
          <a:p>
            <a:pPr>
              <a:spcAft>
                <a:spcPts val="5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Keep the read centered on Avi's document.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99248" y="5029200"/>
            <a:ext cx="3337560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0">
                <a:solidFill>
                  <a:srgbClr val="AFBAB5"/>
                </a:solidFill>
                <a:latin typeface="Aptos"/>
              </a:rPr>
              <a:t>Tip: embed around the read path you use most often.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77724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06424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Updating Embedded Many-to-Many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600200"/>
            <a:ext cx="6583680" cy="4526280"/>
          </a:xfrm>
          <a:prstGeom prst="roundRect">
            <a:avLst/>
          </a:prstGeom>
          <a:solidFill>
            <a:srgbClr val="070C0B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1737360"/>
            <a:ext cx="6254496" cy="4251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450">
                <a:solidFill>
                  <a:srgbClr val="3AEB5B"/>
                </a:solidFill>
                <a:latin typeface="Consolas"/>
              </a:defRPr>
            </a:pPr>
            <a:r>
              <a:t>// Add a technology to one of Avi's projects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db.people.updateOne(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  { name: "Avi", "projects.name": "Analytics App" },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  {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    $addToSet: {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      "projects.$.technologies": "MongoDB Atlas"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450">
                <a:solidFill>
                  <a:srgbClr val="3AEB5B"/>
                </a:solidFill>
                <a:latin typeface="Consolas"/>
              </a:defRPr>
            </a:pPr>
            <a:r>
              <a:t>// Verify the updated project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db.people.findOne(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  { name: "Avi", "projects.name": "Analytics App" },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  { _id: 0, "projects.$": 1 }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1600200"/>
            <a:ext cx="4114800" cy="4526280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9248" y="1920240"/>
            <a:ext cx="34290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100" b="1">
                <a:solidFill>
                  <a:srgbClr val="3AEB5B"/>
                </a:solidFill>
                <a:latin typeface="Aptos"/>
              </a:rPr>
              <a:t>Update considerations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9248" y="2578608"/>
            <a:ext cx="329184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$addToSet avoids duplicate values in the array.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The update targets one embedded project.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Repeated technology values can require multiple updates.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More duplication means more consistency work.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77724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06424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Tradeoffs of Embedded Many-to-Many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45920"/>
            <a:ext cx="5257800" cy="4434840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2688" y="1938528"/>
            <a:ext cx="141732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1975104"/>
            <a:ext cx="134416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BENEFITS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578608"/>
            <a:ext cx="452628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Simple document-centric reads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Related data travels together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No separate collection is required for the embedded values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Good fit for small, bounded relationships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45920"/>
            <a:ext cx="5257800" cy="4434840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37960" y="1938528"/>
            <a:ext cx="155448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74536" y="1975104"/>
            <a:ext cx="148132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BOUNDARIES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578608"/>
            <a:ext cx="452628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Duplication can increase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Changes to shared values may touch many embedded locations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Large or rapidly growing arrays can become a problem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Independent querying of the related entity may favor references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77724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06424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Demo Walkthrough: Avi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6492240" cy="4526280"/>
          </a:xfrm>
          <a:prstGeom prst="roundRect">
            <a:avLst/>
          </a:prstGeom>
          <a:solidFill>
            <a:srgbClr val="070C0B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737360"/>
            <a:ext cx="6163055" cy="4251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400">
                <a:solidFill>
                  <a:srgbClr val="F5F8F6"/>
                </a:solidFill>
                <a:latin typeface="Consolas"/>
              </a:defRPr>
            </a:pPr>
            <a:r>
              <a:t>use lesson033_demo</a:t>
            </a:r>
          </a:p>
          <a:p>
            <a:pPr>
              <a:spcAft>
                <a:spcPts val="0"/>
              </a:spcAft>
              <a:defRPr sz="1400">
                <a:solidFill>
                  <a:srgbClr val="F5F8F6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400">
                <a:solidFill>
                  <a:srgbClr val="F5F8F6"/>
                </a:solidFill>
                <a:latin typeface="Consolas"/>
              </a:defRPr>
            </a:pPr>
            <a:r>
              <a:t>db.people.insertOne({</a:t>
            </a:r>
          </a:p>
          <a:p>
            <a:pPr>
              <a:spcAft>
                <a:spcPts val="0"/>
              </a:spcAft>
              <a:defRPr sz="1400">
                <a:solidFill>
                  <a:srgbClr val="F5F8F6"/>
                </a:solidFill>
                <a:latin typeface="Consolas"/>
              </a:defRPr>
            </a:pPr>
            <a:r>
              <a:t>  name: "Avi",</a:t>
            </a:r>
          </a:p>
          <a:p>
            <a:pPr>
              <a:spcAft>
                <a:spcPts val="0"/>
              </a:spcAft>
              <a:defRPr sz="1400">
                <a:solidFill>
                  <a:srgbClr val="F5F8F6"/>
                </a:solidFill>
                <a:latin typeface="Consolas"/>
              </a:defRPr>
            </a:pPr>
            <a:r>
              <a:t>  location: "Bangalore, RR Nagar",</a:t>
            </a:r>
          </a:p>
          <a:p>
            <a:pPr>
              <a:spcAft>
                <a:spcPts val="0"/>
              </a:spcAft>
              <a:defRPr sz="1400">
                <a:solidFill>
                  <a:srgbClr val="F5F8F6"/>
                </a:solidFill>
                <a:latin typeface="Consolas"/>
              </a:defRPr>
            </a:pPr>
            <a:r>
              <a:t>  projects: [</a:t>
            </a:r>
          </a:p>
          <a:p>
            <a:pPr>
              <a:spcAft>
                <a:spcPts val="0"/>
              </a:spcAft>
              <a:defRPr sz="1400">
                <a:solidFill>
                  <a:srgbClr val="F5F8F6"/>
                </a:solidFill>
                <a:latin typeface="Consolas"/>
              </a:defRPr>
            </a:pPr>
            <a:r>
              <a:t>    { name: "MongoDB API",</a:t>
            </a:r>
          </a:p>
          <a:p>
            <a:pPr>
              <a:spcAft>
                <a:spcPts val="0"/>
              </a:spcAft>
              <a:defRPr sz="1400">
                <a:solidFill>
                  <a:srgbClr val="F5F8F6"/>
                </a:solidFill>
                <a:latin typeface="Consolas"/>
              </a:defRPr>
            </a:pPr>
            <a:r>
              <a:t>      technologies: ["MongoDB", "Java"] },</a:t>
            </a:r>
          </a:p>
          <a:p>
            <a:pPr>
              <a:spcAft>
                <a:spcPts val="0"/>
              </a:spcAft>
              <a:defRPr sz="1400">
                <a:solidFill>
                  <a:srgbClr val="F5F8F6"/>
                </a:solidFill>
                <a:latin typeface="Consolas"/>
              </a:defRPr>
            </a:pPr>
            <a:r>
              <a:t>    { name: "Analytics App",</a:t>
            </a:r>
          </a:p>
          <a:p>
            <a:pPr>
              <a:spcAft>
                <a:spcPts val="0"/>
              </a:spcAft>
              <a:defRPr sz="1400">
                <a:solidFill>
                  <a:srgbClr val="F5F8F6"/>
                </a:solidFill>
                <a:latin typeface="Consolas"/>
              </a:defRPr>
            </a:pPr>
            <a:r>
              <a:t>      technologies: ["MongoDB", "Python"] },</a:t>
            </a:r>
          </a:p>
          <a:p>
            <a:pPr>
              <a:spcAft>
                <a:spcPts val="0"/>
              </a:spcAft>
              <a:defRPr sz="1400">
                <a:solidFill>
                  <a:srgbClr val="F5F8F6"/>
                </a:solidFill>
                <a:latin typeface="Consolas"/>
              </a:defRPr>
            </a:pPr>
            <a:r>
              <a:t>    { name: "Migration Tool",</a:t>
            </a:r>
          </a:p>
          <a:p>
            <a:pPr>
              <a:spcAft>
                <a:spcPts val="0"/>
              </a:spcAft>
              <a:defRPr sz="1400">
                <a:solidFill>
                  <a:srgbClr val="F5F8F6"/>
                </a:solidFill>
                <a:latin typeface="Consolas"/>
              </a:defRPr>
            </a:pPr>
            <a:r>
              <a:t>      technologies: ["Java", "MongoDB"] }</a:t>
            </a:r>
          </a:p>
          <a:p>
            <a:pPr>
              <a:spcAft>
                <a:spcPts val="0"/>
              </a:spcAft>
              <a:defRPr sz="1400">
                <a:solidFill>
                  <a:srgbClr val="F5F8F6"/>
                </a:solidFill>
                <a:latin typeface="Consolas"/>
              </a:defRPr>
            </a:pPr>
            <a:r>
              <a:t>  ]</a:t>
            </a:r>
          </a:p>
          <a:p>
            <a:pPr>
              <a:spcAft>
                <a:spcPts val="0"/>
              </a:spcAft>
              <a:defRPr sz="1400">
                <a:solidFill>
                  <a:srgbClr val="F5F8F6"/>
                </a:solidFill>
                <a:latin typeface="Consolas"/>
              </a:defRPr>
            </a:pPr>
            <a:r>
              <a:t>})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60920" y="1600200"/>
            <a:ext cx="4160520" cy="4526280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62672" y="1920240"/>
            <a:ext cx="34290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100" b="1">
                <a:solidFill>
                  <a:srgbClr val="3AEB5B"/>
                </a:solidFill>
                <a:latin typeface="Aptos"/>
              </a:rPr>
              <a:t>Demo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9248" y="2542032"/>
            <a:ext cx="3200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523744"/>
            <a:ext cx="2926080" cy="42062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F5F8F6"/>
                </a:solidFill>
                <a:latin typeface="Aptos"/>
              </a:rPr>
              <a:t>Insert Avi with embedded projects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9248" y="3182111"/>
            <a:ext cx="3200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3163823"/>
            <a:ext cx="2926080" cy="42062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F5F8F6"/>
                </a:solidFill>
                <a:latin typeface="Aptos"/>
              </a:rPr>
              <a:t>Query by embedded technology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9248" y="3822191"/>
            <a:ext cx="3200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3803904"/>
            <a:ext cx="2926080" cy="42062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F5F8F6"/>
                </a:solidFill>
                <a:latin typeface="Aptos"/>
              </a:rPr>
              <a:t>Read the project array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9248" y="4462271"/>
            <a:ext cx="3200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4443983"/>
            <a:ext cx="2926080" cy="42062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F5F8F6"/>
                </a:solidFill>
                <a:latin typeface="Aptos"/>
              </a:rPr>
              <a:t>Add a technology to one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99248" y="5102352"/>
            <a:ext cx="3200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5084064"/>
            <a:ext cx="2926080" cy="42062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F5F8F6"/>
                </a:solidFill>
                <a:latin typeface="Aptos"/>
              </a:rPr>
              <a:t>Verify the final document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7899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Many-to-Many — Embedded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33271"/>
            <a:ext cx="1170432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060704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AFBAB5"/>
                </a:solidFill>
                <a:latin typeface="Aptos"/>
              </a:rPr>
              <a:t>A visual recap of the modeling pattern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057400"/>
            <a:ext cx="2331720" cy="1783080"/>
          </a:xfrm>
          <a:prstGeom prst="roundRect">
            <a:avLst/>
          </a:prstGeom>
          <a:solidFill>
            <a:srgbClr val="091410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2304288"/>
            <a:ext cx="2039112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3AEB5B"/>
                </a:solidFill>
                <a:latin typeface="Aptos"/>
              </a:rPr>
              <a:t>AVI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816352"/>
            <a:ext cx="2039112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800" b="1">
                <a:solidFill>
                  <a:srgbClr val="F5F8F6"/>
                </a:solidFill>
                <a:latin typeface="Aptos"/>
              </a:rPr>
              <a:t>Avi
Bangalore • RR Nagar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999232" y="2670048"/>
            <a:ext cx="420624" cy="457200"/>
          </a:xfrm>
          <a:prstGeom prst="rightArrow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47288" y="2057400"/>
            <a:ext cx="2331720" cy="1783080"/>
          </a:xfrm>
          <a:prstGeom prst="roundRect">
            <a:avLst/>
          </a:prstGeom>
          <a:solidFill>
            <a:srgbClr val="091410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2304288"/>
            <a:ext cx="2039112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3AEB5B"/>
                </a:solidFill>
                <a:latin typeface="Aptos"/>
              </a:rPr>
              <a:t>MANY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2816352"/>
            <a:ext cx="2039112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800" b="1">
                <a:solidFill>
                  <a:srgbClr val="F5F8F6"/>
                </a:solidFill>
                <a:latin typeface="Aptos"/>
              </a:rPr>
              <a:t>projects[]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788152" y="2670048"/>
            <a:ext cx="420624" cy="457200"/>
          </a:xfrm>
          <a:prstGeom prst="rightArrow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36208" y="2057400"/>
            <a:ext cx="2331720" cy="1783080"/>
          </a:xfrm>
          <a:prstGeom prst="roundRect">
            <a:avLst/>
          </a:prstGeom>
          <a:solidFill>
            <a:srgbClr val="091410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2304288"/>
            <a:ext cx="2039112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3AEB5B"/>
                </a:solidFill>
                <a:latin typeface="Aptos"/>
              </a:rPr>
              <a:t>MANY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816352"/>
            <a:ext cx="2039112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800" b="1">
                <a:solidFill>
                  <a:srgbClr val="F5F8F6"/>
                </a:solidFill>
                <a:latin typeface="Aptos"/>
              </a:rPr>
              <a:t>technologies[]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577072" y="2670048"/>
            <a:ext cx="420624" cy="457200"/>
          </a:xfrm>
          <a:prstGeom prst="rightArrow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025128" y="2057400"/>
            <a:ext cx="2331720" cy="1783080"/>
          </a:xfrm>
          <a:prstGeom prst="roundRect">
            <a:avLst/>
          </a:prstGeom>
          <a:solidFill>
            <a:srgbClr val="091410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71432" y="2304288"/>
            <a:ext cx="2039112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3AEB5B"/>
                </a:solidFill>
                <a:latin typeface="Aptos"/>
              </a:rPr>
              <a:t>REPEAT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71432" y="2816352"/>
            <a:ext cx="2039112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800" b="1">
                <a:solidFill>
                  <a:srgbClr val="F5F8F6"/>
                </a:solidFill>
                <a:latin typeface="Aptos"/>
              </a:rPr>
              <a:t>shared values
can repeat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315968"/>
            <a:ext cx="10716768" cy="1417320"/>
          </a:xfrm>
          <a:prstGeom prst="roundRect">
            <a:avLst/>
          </a:prstGeom>
          <a:solidFill>
            <a:srgbClr val="08120D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" y="4572000"/>
            <a:ext cx="384048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26464" y="4526280"/>
            <a:ext cx="1847088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F5F8F6"/>
                </a:solidFill>
                <a:latin typeface="Aptos"/>
              </a:rPr>
              <a:t>Embed around the read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26464" y="4864608"/>
            <a:ext cx="1874519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80" b="0">
                <a:solidFill>
                  <a:srgbClr val="AFBAB5"/>
                </a:solidFill>
                <a:latin typeface="Aptos"/>
              </a:rPr>
              <a:t>Keep related values together.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57016" y="4572000"/>
            <a:ext cx="384048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32504" y="4526280"/>
            <a:ext cx="1847088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F5F8F6"/>
                </a:solidFill>
                <a:latin typeface="Aptos"/>
              </a:rPr>
              <a:t>Keep it bounded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32504" y="4864608"/>
            <a:ext cx="1874519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80" b="0">
                <a:solidFill>
                  <a:srgbClr val="AFBAB5"/>
                </a:solidFill>
                <a:latin typeface="Aptos"/>
              </a:rPr>
              <a:t>Control array and document growth.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63056" y="4572000"/>
            <a:ext cx="384048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38544" y="4526280"/>
            <a:ext cx="1847088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F5F8F6"/>
                </a:solidFill>
                <a:latin typeface="Aptos"/>
              </a:rPr>
              <a:t>Accept duplication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38544" y="4864608"/>
            <a:ext cx="1874519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80" b="0">
                <a:solidFill>
                  <a:srgbClr val="AFBAB5"/>
                </a:solidFill>
                <a:latin typeface="Aptos"/>
              </a:rPr>
              <a:t>Repeated values trade simplicity for consistency work.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69096" y="4572000"/>
            <a:ext cx="384048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44584" y="4526280"/>
            <a:ext cx="1847088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F5F8F6"/>
                </a:solidFill>
                <a:latin typeface="Aptos"/>
              </a:rPr>
              <a:t>Reconsider references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4864608"/>
            <a:ext cx="1874519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80" b="0">
                <a:solidFill>
                  <a:srgbClr val="AFBAB5"/>
                </a:solidFill>
                <a:latin typeface="Aptos"/>
              </a:rPr>
              <a:t>Use another shape when entities need independent access.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112" y="5989320"/>
            <a:ext cx="10378440" cy="420624"/>
          </a:xfrm>
          <a:prstGeom prst="roundRect">
            <a:avLst/>
          </a:prstGeom>
          <a:solidFill>
            <a:srgbClr val="3AEB5B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7552" y="6062472"/>
            <a:ext cx="1019556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50" b="1">
                <a:solidFill>
                  <a:srgbClr val="040707"/>
                </a:solidFill>
                <a:latin typeface="Aptos"/>
              </a:rPr>
              <a:t>Pattern: Avi → many projects → many embedded technologies → repeated related values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