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91440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034 — Many-to-Many —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881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Model shared relationships with separate collections connected by identifiers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94560"/>
            <a:ext cx="3154680" cy="28346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487168"/>
            <a:ext cx="26060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523744"/>
            <a:ext cx="25328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PARENT: 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99232"/>
            <a:ext cx="26060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47872"/>
            <a:ext cx="2606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Bangalore • RR Nagar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059936"/>
            <a:ext cx="2606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_id = 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3291840"/>
            <a:ext cx="1005840" cy="50292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49240" y="2194560"/>
            <a:ext cx="5897880" cy="28346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50992" y="2487168"/>
            <a:ext cx="28803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2523744"/>
            <a:ext cx="280720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SHARED RELATED ENTITIES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218688"/>
            <a:ext cx="1536192" cy="105156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3429000"/>
            <a:ext cx="153619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858768"/>
            <a:ext cx="153619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80" b="0">
                <a:solidFill>
                  <a:srgbClr val="F5F8F6"/>
                </a:solidFill>
                <a:latin typeface="Aptos"/>
              </a:rPr>
              <a:t>Avi↔MongoDB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3218688"/>
            <a:ext cx="1536192" cy="105156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3429000"/>
            <a:ext cx="153619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3858768"/>
            <a:ext cx="153619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80" b="0">
                <a:solidFill>
                  <a:srgbClr val="F5F8F6"/>
                </a:solidFill>
                <a:latin typeface="Aptos"/>
              </a:rPr>
              <a:t>Avi↔Java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3218688"/>
            <a:ext cx="1536192" cy="105156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3429000"/>
            <a:ext cx="153619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3858768"/>
            <a:ext cx="153619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80" b="0">
                <a:solidFill>
                  <a:srgbClr val="F5F8F6"/>
                </a:solidFill>
                <a:latin typeface="Aptos"/>
              </a:rPr>
              <a:t>Avi↔Python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4526280"/>
            <a:ext cx="5257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A reference model keeps the relationship outside the parent document.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What Makes a Relationship Many-to-Many?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452628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01952"/>
            <a:ext cx="3794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3AEB5B"/>
                </a:solidFill>
                <a:latin typeface="Aptos"/>
              </a:rPr>
              <a:t>MULTIPLE ON BOTH SIDES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743200"/>
            <a:ext cx="150876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871216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Project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4005072"/>
            <a:ext cx="150876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1330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Project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5266944"/>
            <a:ext cx="150876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394959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Project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743200"/>
            <a:ext cx="150876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871216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4005072"/>
            <a:ext cx="150876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41330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Java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5266944"/>
            <a:ext cx="1508760" cy="53035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5394959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Python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41448" y="3008376"/>
            <a:ext cx="411480" cy="0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41448" y="3008376"/>
            <a:ext cx="411480" cy="1261872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41448" y="3008376"/>
            <a:ext cx="411480" cy="2523744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41448" y="3008376"/>
            <a:ext cx="411480" cy="1261872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41448" y="4270248"/>
            <a:ext cx="411480" cy="0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41448" y="4270248"/>
            <a:ext cx="411480" cy="1261872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41448" y="3008376"/>
            <a:ext cx="411480" cy="2523744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41448" y="4270248"/>
            <a:ext cx="411480" cy="1261872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41448" y="5532120"/>
            <a:ext cx="411480" cy="0"/>
          </a:xfrm>
          <a:prstGeom prst="line">
            <a:avLst/>
          </a:prstGeom>
          <a:ln w="15240">
            <a:solidFill>
              <a:srgbClr val="316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40680" y="1600200"/>
            <a:ext cx="608076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2432" y="1901952"/>
            <a:ext cx="5212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Reference-based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2542032"/>
            <a:ext cx="48006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Store each entity in its own collection.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Store an identifier that connects the entities.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same related entity can be referenced by many documents.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application resolves the relationship through identifiers.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Example Model: Avi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537960" cy="455371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6208776" cy="4279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3AEB5B"/>
                </a:solidFill>
                <a:latin typeface="Consolas"/>
              </a:defRPr>
            </a:pPr>
            <a:r>
              <a:t>// Avi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_id: ObjectId("A"),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location: "Bangalore, RR Nagar"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50">
                <a:solidFill>
                  <a:srgbClr val="3AEB5B"/>
                </a:solidFill>
                <a:latin typeface="Consolas"/>
              </a:defRPr>
            </a:pPr>
            <a:r>
              <a:t>// Project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_id: ObjectId("P1"),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"MongoDB API",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technologyIds: [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ObjectId("T1"),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ObjectId("T2")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50">
                <a:solidFill>
                  <a:srgbClr val="3AEB5B"/>
                </a:solidFill>
                <a:latin typeface="Consolas"/>
              </a:defRPr>
            </a:pPr>
            <a:r>
              <a:t>// Technology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_id: ObjectId("T1"),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"MongoDB"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1572768"/>
            <a:ext cx="4187952" cy="455371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901952"/>
            <a:ext cx="3429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Reference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542032"/>
            <a:ext cx="3474720" cy="6858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651760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Avi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633472"/>
            <a:ext cx="1965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5F8F6"/>
                </a:solidFill>
                <a:latin typeface="Aptos"/>
              </a:rPr>
              <a:t>_id: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502152"/>
            <a:ext cx="3474720" cy="6858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611880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593592"/>
            <a:ext cx="1965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5F8F6"/>
                </a:solidFill>
                <a:latin typeface="Aptos"/>
              </a:rPr>
              <a:t>technologyIds: [T1, T2]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462272"/>
            <a:ext cx="3474720" cy="6858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572000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553712"/>
            <a:ext cx="1965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5F8F6"/>
                </a:solidFill>
                <a:latin typeface="Aptos"/>
              </a:rPr>
              <a:t>_id: T1 →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440680"/>
            <a:ext cx="3474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Identifiers form the connection.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Where References Help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9164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INDEPENDENT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2011680"/>
            <a:ext cx="2880360" cy="841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Shared entities can be queried on their 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69164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9672" y="1920240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956816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REUSABLE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011680"/>
            <a:ext cx="2880360" cy="841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The same entity can be referenced from many parents.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4069080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05656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4160520"/>
            <a:ext cx="2880360" cy="841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Related data can grow outside the parent document.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84048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4069080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105656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4160520"/>
            <a:ext cx="2880360" cy="841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A canonical entity can avoid repeated full copies.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Building the Reference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6629400" cy="455371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37360"/>
            <a:ext cx="6300216" cy="4279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const aviId = db.people.insertOne({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location: "Bangalore, RR Nagar"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const mongoId = db.technologies.insertOne({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"MongoDB"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db.projects.insertOne({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"MongoDB API",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ownerId: aviId,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technologyIds: [mongoId]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7" y="1600200"/>
            <a:ext cx="4096512" cy="455371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920240"/>
            <a:ext cx="34015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Creation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578608"/>
            <a:ext cx="315468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Create Avi and capture the parent _id.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Create the shared technology entity.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Capture the technology _id.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Store both identifiers in the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5394960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The graph is created explicitly in stored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Querying the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6309360" cy="437083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64792"/>
            <a:ext cx="5980176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const project = db.projects.findOne({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  name: "MongoDB API"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db.technologies.find({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  _id: { $in: project.technologyIds }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db.people.findOne({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  _id: project.ownerId</a:t>
            </a:r>
          </a:p>
          <a:p>
            <a:pPr>
              <a:spcAft>
                <a:spcPts val="0"/>
              </a:spcAft>
              <a:defRPr sz="152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27632"/>
            <a:ext cx="4297680" cy="437083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920240"/>
            <a:ext cx="3611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Application resolves links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606040"/>
            <a:ext cx="3611880" cy="530352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743200"/>
            <a:ext cx="38404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2706624"/>
            <a:ext cx="2606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Read the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383280"/>
            <a:ext cx="3611880" cy="530352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520440"/>
            <a:ext cx="38404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3483864"/>
            <a:ext cx="2606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Use technologyIds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160520"/>
            <a:ext cx="3611880" cy="530352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297680"/>
            <a:ext cx="38404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261104"/>
            <a:ext cx="2606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Use ownerId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5138928"/>
            <a:ext cx="3657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The identifier connects; the application performs the reads.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Updating a Shared Related 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6492240" cy="443484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64792"/>
            <a:ext cx="6163055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50">
                <a:solidFill>
                  <a:srgbClr val="3AEB5B"/>
                </a:solidFill>
                <a:latin typeface="Consolas"/>
              </a:defRPr>
            </a:pPr>
            <a:r>
              <a:t>// Rename the canonical technology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db.technologies.updateOne(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{ name: "MongoDB" },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{ $set: { name: "MongoDB Database" } }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50">
                <a:solidFill>
                  <a:srgbClr val="3AEB5B"/>
                </a:solidFill>
                <a:latin typeface="Consolas"/>
              </a:defRPr>
            </a:pPr>
            <a:r>
              <a:t>// Projects still reference the same _id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db.projects.find({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technologyIds: mongoId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27632"/>
            <a:ext cx="4160520" cy="44348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62672" y="1920240"/>
            <a:ext cx="34290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2578608"/>
            <a:ext cx="3310128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canonical technology is stored once.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Projects keep the identifier.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 name change can be reflected by reading the entity again.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This reduces repeated copies of the same entity.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Embedded vs References for Many-to-Many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27632"/>
            <a:ext cx="539496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901952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38528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EMBEDDED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14600"/>
            <a:ext cx="4480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5F8F6"/>
                </a:solidFill>
                <a:latin typeface="Aptos"/>
              </a:rPr>
              <a:t>Projects contain technologies[]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63240"/>
            <a:ext cx="452628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Simple parent-centered reads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Small and bounded relationship data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Repeated values may be duplicated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Growth can enlarge the parent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27632"/>
            <a:ext cx="539496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0528" y="1901952"/>
            <a:ext cx="1481328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938528"/>
            <a:ext cx="140817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480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5F8F6"/>
                </a:solidFill>
                <a:latin typeface="Aptos"/>
              </a:rPr>
              <a:t>Projects contain technologyIds[]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063240"/>
            <a:ext cx="452628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Shared entities live separately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Related data can grow independently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Canonical values can be reused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Application resolves the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Walkthrough: Avi's Reference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49224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37360"/>
            <a:ext cx="6163055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use lesson034_demo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30">
                <a:solidFill>
                  <a:srgbClr val="3AEB5B"/>
                </a:solidFill>
                <a:latin typeface="Consolas"/>
              </a:defRPr>
            </a:pPr>
            <a:r>
              <a:t>// Create Avi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const aviId = db.people.insertOne({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  location: "Bangalore, RR Nagar"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30">
                <a:solidFill>
                  <a:srgbClr val="3AEB5B"/>
                </a:solidFill>
                <a:latin typeface="Consolas"/>
              </a:defRPr>
            </a:pPr>
            <a:r>
              <a:t>// Create technologies and a project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const mongoId = db.technologies.insertOne({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  name: "MongoDB"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db.projects.insertOne({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  name: "MongoDB API",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  ownerId: aviId,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  technologyIds: [mongoId]</a:t>
            </a:r>
          </a:p>
          <a:p>
            <a:pPr>
              <a:spcAft>
                <a:spcPts val="0"/>
              </a:spcAft>
              <a:defRPr sz="143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00200"/>
            <a:ext cx="416052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920240"/>
            <a:ext cx="3383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Demo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578608"/>
            <a:ext cx="31546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Create Avi.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Create shared technology records.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Create a project with ownerId and technologyIds.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Read the referenced entities.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Update one shared technology.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Many-to-Many —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2344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972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One parent • many relationships • separate entities • identifiers connect the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2212848" cy="1572768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212848"/>
            <a:ext cx="19385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97480"/>
            <a:ext cx="193852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_id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212848" cy="1572768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212848"/>
            <a:ext cx="19385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697480"/>
            <a:ext cx="193852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ownerId A
technologyIds T1/T2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2212848" cy="1572768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92808"/>
            <a:ext cx="19385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193852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_id T1
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0848" y="3246120"/>
            <a:ext cx="2212848" cy="1572768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3447288"/>
            <a:ext cx="19385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3931920"/>
            <a:ext cx="193852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_id T2
Java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71216" y="2798064"/>
            <a:ext cx="603504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687568" y="2331720"/>
            <a:ext cx="804672" cy="32004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87568" y="3063240"/>
            <a:ext cx="3383280" cy="82296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709160"/>
            <a:ext cx="10469880" cy="1225296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01184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Separate entities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230368"/>
            <a:ext cx="1856231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Keep reusable entities canonical.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4937760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1" y="4901184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Store identifiers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5230368"/>
            <a:ext cx="1856231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ownerId / technologyIds create the links.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4937760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4901184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Resolve in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5230368"/>
            <a:ext cx="1856231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Fetch related records using the ids.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4937760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4901184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Watch lifecycle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5230368"/>
            <a:ext cx="1856231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Use references when relationships need independence.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6053328"/>
            <a:ext cx="10378440" cy="384048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108192"/>
            <a:ext cx="10241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20" b="1">
                <a:solidFill>
                  <a:srgbClr val="040707"/>
                </a:solidFill>
                <a:latin typeface="Aptos"/>
              </a:rPr>
              <a:t>Pattern: Avi → project references → shared technologies → identifiers connect the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