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">
    <p:bg>
      <p:bgPr>
        <a:solidFill>
          <a:srgbClr val="05050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601968"/>
            <a:ext cx="12191695" cy="18288"/>
          </a:xfrm>
          <a:prstGeom prst="rect">
            <a:avLst/>
          </a:prstGeom>
          <a:solidFill>
            <a:srgbClr val="1B1B1B"/>
          </a:solidFill>
          <a:ln w="12700">
            <a:solidFill>
              <a:srgbClr val="1B1B1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732520" y="6647688"/>
            <a:ext cx="25603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878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MongoDB Developer Learning Path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62940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66666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62940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66666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3035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36F0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LESSON 024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6766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F4F7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Why Schemas?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566928" y="1810512"/>
            <a:ext cx="6217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900" dirty="0">
                <a:solidFill>
                  <a:srgbClr val="B8C0B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MongoDB gives you flexibility. Your application still needs structure.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6995160" y="914400"/>
            <a:ext cx="4526280" cy="4800600"/>
          </a:xfrm>
          <a:prstGeom prst="roundRect">
            <a:avLst>
              <a:gd name="adj" fmla="val 2424"/>
            </a:avLst>
          </a:prstGeom>
          <a:solidFill>
            <a:srgbClr val="0A0D0B"/>
          </a:solidFill>
          <a:ln w="13970">
            <a:solidFill>
              <a:srgbClr val="22482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33488" y="1207008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36F0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FLEXIBILITY ≠ NO DESIGN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315200" y="1828800"/>
            <a:ext cx="1572768" cy="1188720"/>
          </a:xfrm>
          <a:prstGeom prst="roundRect">
            <a:avLst>
              <a:gd name="adj" fmla="val 9231"/>
            </a:avLst>
          </a:prstGeom>
          <a:solidFill>
            <a:srgbClr val="111512"/>
          </a:solidFill>
          <a:ln w="13970">
            <a:solidFill>
              <a:srgbClr val="214D2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34072" y="1920240"/>
            <a:ext cx="1325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4F7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Customer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434072" y="2194560"/>
            <a:ext cx="12344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B8C0B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name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7434072" y="2368296"/>
            <a:ext cx="12344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B8C0B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email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7434072" y="2542032"/>
            <a:ext cx="12344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B8C0B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address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9281160" y="1828800"/>
            <a:ext cx="1572768" cy="1188720"/>
          </a:xfrm>
          <a:prstGeom prst="roundRect">
            <a:avLst>
              <a:gd name="adj" fmla="val 9231"/>
            </a:avLst>
          </a:prstGeom>
          <a:solidFill>
            <a:srgbClr val="111512"/>
          </a:solidFill>
          <a:ln w="13970">
            <a:solidFill>
              <a:srgbClr val="214D2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400032" y="1920240"/>
            <a:ext cx="1325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4F7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Customer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9400032" y="2194560"/>
            <a:ext cx="12344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B8C0B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name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9400032" y="2368296"/>
            <a:ext cx="12344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B8C0B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email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9400032" y="2542032"/>
            <a:ext cx="12344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B8C0B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tags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7315200" y="3429000"/>
            <a:ext cx="1572768" cy="1188720"/>
          </a:xfrm>
          <a:prstGeom prst="roundRect">
            <a:avLst>
              <a:gd name="adj" fmla="val 9231"/>
            </a:avLst>
          </a:prstGeom>
          <a:solidFill>
            <a:srgbClr val="111512"/>
          </a:solidFill>
          <a:ln w="13970">
            <a:solidFill>
              <a:srgbClr val="214D2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434072" y="3520440"/>
            <a:ext cx="1325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4F7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Customer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7434072" y="3794760"/>
            <a:ext cx="12344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B8C0B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name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7434072" y="3968496"/>
            <a:ext cx="12344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B8C0B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email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7434072" y="4142232"/>
            <a:ext cx="12344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B8C0B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status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9281160" y="3429000"/>
            <a:ext cx="1572768" cy="1188720"/>
          </a:xfrm>
          <a:prstGeom prst="roundRect">
            <a:avLst>
              <a:gd name="adj" fmla="val 9231"/>
            </a:avLst>
          </a:prstGeom>
          <a:solidFill>
            <a:srgbClr val="111512"/>
          </a:solidFill>
          <a:ln w="13970">
            <a:solidFill>
              <a:srgbClr val="214D2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400032" y="3520440"/>
            <a:ext cx="1325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4F7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Customer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9400032" y="3794760"/>
            <a:ext cx="12344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B8C0B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name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9400032" y="3968496"/>
            <a:ext cx="12344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B8C0B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email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9400032" y="4142232"/>
            <a:ext cx="12344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B8C0B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address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9400032" y="4315968"/>
            <a:ext cx="12344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B8C0B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tags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8887968" y="4782312"/>
            <a:ext cx="0" cy="429768"/>
          </a:xfrm>
          <a:prstGeom prst="line">
            <a:avLst/>
          </a:prstGeom>
          <a:noFill/>
          <a:ln w="27940">
            <a:solidFill>
              <a:srgbClr val="36F04A"/>
            </a:solidFill>
            <a:prstDash val="solid"/>
            <a:headEnd type="none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7726680" y="5212080"/>
            <a:ext cx="2331720" cy="384048"/>
          </a:xfrm>
          <a:prstGeom prst="roundRect">
            <a:avLst>
              <a:gd name="adj" fmla="val 28571"/>
            </a:avLst>
          </a:prstGeom>
          <a:solidFill>
            <a:srgbClr val="142018"/>
          </a:solidFill>
          <a:ln w="13970">
            <a:solidFill>
              <a:srgbClr val="36F0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836408" y="5294376"/>
            <a:ext cx="21031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CFF8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APPLICATION CONTRACT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66928" y="5074920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4F7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Think in shapes, rules, and evolution.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566928" y="5422392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B8C0B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goal is predictable data—not rigid data.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62940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66666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160" kern="0" dirty="0">
                <a:solidFill>
                  <a:srgbClr val="36F0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 • THE MYTH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4F7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flexible schema still needs planning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02920" y="1097280"/>
            <a:ext cx="10972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B8C0B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MongoDB does not require every document to look identical.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517904"/>
            <a:ext cx="11155680" cy="0"/>
          </a:xfrm>
          <a:prstGeom prst="line">
            <a:avLst/>
          </a:prstGeom>
          <a:noFill/>
          <a:ln w="15240">
            <a:solidFill>
              <a:srgbClr val="36F04A"/>
            </a:solidFill>
            <a:prstDash val="solid"/>
            <a:headEnd type="none"/>
            <a:tailEnd type="none"/>
          </a:ln>
        </p:spPr>
      </p:sp>
      <p:sp>
        <p:nvSpPr>
          <p:cNvPr id="6" name="Shape 4"/>
          <p:cNvSpPr/>
          <p:nvPr/>
        </p:nvSpPr>
        <p:spPr>
          <a:xfrm>
            <a:off x="594360" y="1783080"/>
            <a:ext cx="5074920" cy="4251960"/>
          </a:xfrm>
          <a:prstGeom prst="roundRect">
            <a:avLst>
              <a:gd name="adj" fmla="val 2581"/>
            </a:avLst>
          </a:prstGeom>
          <a:solidFill>
            <a:srgbClr val="0D100E"/>
          </a:solidFill>
          <a:ln w="13970">
            <a:solidFill>
              <a:srgbClr val="244A2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2057400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36F0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RIGID TABLE SHAPE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53796" y="2683764"/>
            <a:ext cx="82296" cy="82296"/>
          </a:xfrm>
          <a:prstGeom prst="ellipse">
            <a:avLst/>
          </a:prstGeom>
          <a:solidFill>
            <a:srgbClr val="36F04A"/>
          </a:solidFill>
          <a:ln w="12700">
            <a:solidFill>
              <a:srgbClr val="36F0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606040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2697480" y="2606040"/>
            <a:ext cx="8366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B8C0B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Fields can differ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53796" y="3342132"/>
            <a:ext cx="82296" cy="82296"/>
          </a:xfrm>
          <a:prstGeom prst="ellipse">
            <a:avLst/>
          </a:prstGeom>
          <a:solidFill>
            <a:srgbClr val="7CFF89"/>
          </a:solidFill>
          <a:ln w="12700">
            <a:solidFill>
              <a:srgbClr val="7CFF8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" y="3264408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2697480" y="3264408"/>
            <a:ext cx="8366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B8C0B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Nested objects can evolve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53796" y="4000500"/>
            <a:ext cx="82296" cy="82296"/>
          </a:xfrm>
          <a:prstGeom prst="ellipse">
            <a:avLst/>
          </a:prstGeom>
          <a:solidFill>
            <a:srgbClr val="36F04A"/>
          </a:solidFill>
          <a:ln w="12700">
            <a:solidFill>
              <a:srgbClr val="36F04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3922776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2697480" y="3922776"/>
            <a:ext cx="8366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B8C0B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Arrays can grow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53796" y="4658868"/>
            <a:ext cx="82296" cy="82296"/>
          </a:xfrm>
          <a:prstGeom prst="ellipse">
            <a:avLst/>
          </a:prstGeom>
          <a:solidFill>
            <a:srgbClr val="36F04A"/>
          </a:solidFill>
          <a:ln w="12700">
            <a:solidFill>
              <a:srgbClr val="36F0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581144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2697480" y="4581144"/>
            <a:ext cx="8366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B8C0B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attributes can appear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989320" y="1783080"/>
            <a:ext cx="5623560" cy="4251960"/>
          </a:xfrm>
          <a:prstGeom prst="roundRect">
            <a:avLst>
              <a:gd name="adj" fmla="val 2581"/>
            </a:avLst>
          </a:prstGeom>
          <a:solidFill>
            <a:srgbClr val="0A0C0B"/>
          </a:solidFill>
          <a:ln w="13970">
            <a:solidFill>
              <a:srgbClr val="3A2B2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327648" y="2057400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6B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BUT THE APP STILL EXPECTS DATA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6327648" y="2606040"/>
            <a:ext cx="4846320" cy="1920240"/>
          </a:xfrm>
          <a:prstGeom prst="roundRect">
            <a:avLst>
              <a:gd name="adj" fmla="val 3810"/>
            </a:avLst>
          </a:prstGeom>
          <a:solidFill>
            <a:srgbClr val="080A09"/>
          </a:solidFill>
          <a:ln w="12700">
            <a:solidFill>
              <a:srgbClr val="26302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73952" y="2706624"/>
            <a:ext cx="4553712" cy="17556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D9E4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checkout service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D9E4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(order.customerId == null) {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D9E4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throw new Error("customerId required");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D9E4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300" dirty="0"/>
          </a:p>
          <a:p>
            <a:pPr algn="l" indent="0" marL="0">
              <a:buNone/>
            </a:pP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D9E4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UI expects status + total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327648" y="484632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B8C0B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schema may live in code, validation rules, or both.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62940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66666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160" kern="0" dirty="0">
                <a:solidFill>
                  <a:srgbClr val="36F0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 • DEFINITION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4F7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does “schema” mean here?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02920" y="1097280"/>
            <a:ext cx="10972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B8C0B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schema is the expected shape, type, and rules for a document.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517904"/>
            <a:ext cx="11155680" cy="0"/>
          </a:xfrm>
          <a:prstGeom prst="line">
            <a:avLst/>
          </a:prstGeom>
          <a:noFill/>
          <a:ln w="15240">
            <a:solidFill>
              <a:srgbClr val="36F04A"/>
            </a:solidFill>
            <a:prstDash val="solid"/>
            <a:headEnd type="none"/>
            <a:tailEnd type="none"/>
          </a:ln>
        </p:spPr>
      </p:sp>
      <p:sp>
        <p:nvSpPr>
          <p:cNvPr id="6" name="Shape 4"/>
          <p:cNvSpPr/>
          <p:nvPr/>
        </p:nvSpPr>
        <p:spPr>
          <a:xfrm>
            <a:off x="640080" y="1920240"/>
            <a:ext cx="3429000" cy="2103120"/>
          </a:xfrm>
          <a:prstGeom prst="roundRect">
            <a:avLst>
              <a:gd name="adj" fmla="val 5217"/>
            </a:avLst>
          </a:prstGeom>
          <a:solidFill>
            <a:srgbClr val="0D110F"/>
          </a:solidFill>
          <a:ln w="13970">
            <a:solidFill>
              <a:srgbClr val="244A2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59536" y="2176272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36F0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SHAPE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59536" y="2633472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4F7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Which fields exist?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859536" y="3246120"/>
            <a:ext cx="2971800" cy="292608"/>
          </a:xfrm>
          <a:prstGeom prst="roundRect">
            <a:avLst>
              <a:gd name="adj" fmla="val 31250"/>
            </a:avLst>
          </a:prstGeom>
          <a:solidFill>
            <a:srgbClr val="17361C">
              <a:alpha val="15000"/>
            </a:srgbClr>
          </a:solidFill>
          <a:ln w="12700">
            <a:solidFill>
              <a:srgbClr val="17361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32688" y="3273552"/>
            <a:ext cx="28254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4F7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name • address • items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434840" y="1920240"/>
            <a:ext cx="3429000" cy="2103120"/>
          </a:xfrm>
          <a:prstGeom prst="roundRect">
            <a:avLst>
              <a:gd name="adj" fmla="val 5217"/>
            </a:avLst>
          </a:prstGeom>
          <a:solidFill>
            <a:srgbClr val="0D110F"/>
          </a:solidFill>
          <a:ln w="13970">
            <a:solidFill>
              <a:srgbClr val="244A2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54296" y="2176272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36F0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TYPE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654296" y="2633472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4F7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kind of value?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4654296" y="3246120"/>
            <a:ext cx="2971800" cy="292608"/>
          </a:xfrm>
          <a:prstGeom prst="roundRect">
            <a:avLst>
              <a:gd name="adj" fmla="val 31250"/>
            </a:avLst>
          </a:prstGeom>
          <a:solidFill>
            <a:srgbClr val="17361C">
              <a:alpha val="15000"/>
            </a:srgbClr>
          </a:solidFill>
          <a:ln w="12700">
            <a:solidFill>
              <a:srgbClr val="17361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27448" y="3273552"/>
            <a:ext cx="28254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4F7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string • date • array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8229600" y="1920240"/>
            <a:ext cx="3429000" cy="2103120"/>
          </a:xfrm>
          <a:prstGeom prst="roundRect">
            <a:avLst>
              <a:gd name="adj" fmla="val 5217"/>
            </a:avLst>
          </a:prstGeom>
          <a:solidFill>
            <a:srgbClr val="0D110F"/>
          </a:solidFill>
          <a:ln w="13970">
            <a:solidFill>
              <a:srgbClr val="244A2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449056" y="2176272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36F0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RULE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449056" y="2633472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4F7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must be true?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8449056" y="3246120"/>
            <a:ext cx="2971800" cy="292608"/>
          </a:xfrm>
          <a:prstGeom prst="roundRect">
            <a:avLst>
              <a:gd name="adj" fmla="val 31250"/>
            </a:avLst>
          </a:prstGeom>
          <a:solidFill>
            <a:srgbClr val="17361C">
              <a:alpha val="15000"/>
            </a:srgbClr>
          </a:solidFill>
          <a:ln w="12700">
            <a:solidFill>
              <a:srgbClr val="17361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522208" y="3273552"/>
            <a:ext cx="28254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4F7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required • range • enum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85800" y="46634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4F7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Document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1847088" y="4800600"/>
            <a:ext cx="941832" cy="0"/>
          </a:xfrm>
          <a:prstGeom prst="line">
            <a:avLst/>
          </a:prstGeom>
          <a:noFill/>
          <a:ln w="25400">
            <a:solidFill>
              <a:srgbClr val="36F04A"/>
            </a:solidFill>
            <a:prstDash val="solid"/>
            <a:headEnd type="none"/>
            <a:tailEnd type="triangle"/>
          </a:ln>
        </p:spPr>
      </p:sp>
      <p:sp>
        <p:nvSpPr>
          <p:cNvPr id="23" name="Text 21"/>
          <p:cNvSpPr/>
          <p:nvPr/>
        </p:nvSpPr>
        <p:spPr>
          <a:xfrm>
            <a:off x="2880360" y="466344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B8C0B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expected shape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4434840" y="4800600"/>
            <a:ext cx="941832" cy="0"/>
          </a:xfrm>
          <a:prstGeom prst="line">
            <a:avLst/>
          </a:prstGeom>
          <a:noFill/>
          <a:ln w="25400">
            <a:solidFill>
              <a:srgbClr val="36F04A"/>
            </a:solidFill>
            <a:prstDash val="solid"/>
            <a:headEnd type="none"/>
            <a:tailEnd type="triangle"/>
          </a:ln>
        </p:spPr>
      </p:sp>
      <p:sp>
        <p:nvSpPr>
          <p:cNvPr id="25" name="Text 23"/>
          <p:cNvSpPr/>
          <p:nvPr/>
        </p:nvSpPr>
        <p:spPr>
          <a:xfrm>
            <a:off x="5468112" y="46634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B8C0B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validation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6601968" y="4800600"/>
            <a:ext cx="941832" cy="0"/>
          </a:xfrm>
          <a:prstGeom prst="line">
            <a:avLst/>
          </a:prstGeom>
          <a:noFill/>
          <a:ln w="25400">
            <a:solidFill>
              <a:srgbClr val="36F04A"/>
            </a:solidFill>
            <a:prstDash val="solid"/>
            <a:headEnd type="none"/>
            <a:tailEnd type="triangle"/>
          </a:ln>
        </p:spPr>
      </p:sp>
      <p:sp>
        <p:nvSpPr>
          <p:cNvPr id="27" name="Text 25"/>
          <p:cNvSpPr/>
          <p:nvPr/>
        </p:nvSpPr>
        <p:spPr>
          <a:xfrm>
            <a:off x="7635240" y="466344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4F7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predictable reads / writes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62940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66666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160" kern="0" dirty="0">
                <a:solidFill>
                  <a:srgbClr val="36F0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 • APPLICATION CONTRACT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4F7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Why developers need schema thinking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02920" y="1097280"/>
            <a:ext cx="10972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B8C0B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Database flexibility does not remove application assumptions.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517904"/>
            <a:ext cx="11155680" cy="0"/>
          </a:xfrm>
          <a:prstGeom prst="line">
            <a:avLst/>
          </a:prstGeom>
          <a:noFill/>
          <a:ln w="15240">
            <a:solidFill>
              <a:srgbClr val="36F04A"/>
            </a:solidFill>
            <a:prstDash val="solid"/>
            <a:headEnd type="none"/>
            <a:tailEnd type="none"/>
          </a:ln>
        </p:spPr>
      </p:sp>
      <p:sp>
        <p:nvSpPr>
          <p:cNvPr id="6" name="Shape 4"/>
          <p:cNvSpPr/>
          <p:nvPr/>
        </p:nvSpPr>
        <p:spPr>
          <a:xfrm>
            <a:off x="658368" y="1874520"/>
            <a:ext cx="3429000" cy="4206240"/>
          </a:xfrm>
          <a:prstGeom prst="roundRect">
            <a:avLst>
              <a:gd name="adj" fmla="val 3200"/>
            </a:avLst>
          </a:prstGeom>
          <a:solidFill>
            <a:srgbClr val="0E1110"/>
          </a:solidFill>
          <a:ln w="13970">
            <a:solidFill>
              <a:srgbClr val="244A2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0120" y="2157984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6F0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APPLICATION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1005840" y="2724912"/>
            <a:ext cx="2670048" cy="420624"/>
          </a:xfrm>
          <a:prstGeom prst="roundRect">
            <a:avLst>
              <a:gd name="adj" fmla="val 26087"/>
            </a:avLst>
          </a:prstGeom>
          <a:solidFill>
            <a:srgbClr val="151A17"/>
          </a:solidFill>
          <a:ln w="13970">
            <a:solidFill>
              <a:srgbClr val="223B2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33856" y="2816352"/>
            <a:ext cx="2414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F4F7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Read field names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1005840" y="3383280"/>
            <a:ext cx="2670048" cy="420624"/>
          </a:xfrm>
          <a:prstGeom prst="roundRect">
            <a:avLst>
              <a:gd name="adj" fmla="val 26087"/>
            </a:avLst>
          </a:prstGeom>
          <a:solidFill>
            <a:srgbClr val="151A17"/>
          </a:solidFill>
          <a:ln w="13970">
            <a:solidFill>
              <a:srgbClr val="223B2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33856" y="3474720"/>
            <a:ext cx="2414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F4F7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Parse value types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1005840" y="4041648"/>
            <a:ext cx="2670048" cy="420624"/>
          </a:xfrm>
          <a:prstGeom prst="roundRect">
            <a:avLst>
              <a:gd name="adj" fmla="val 26087"/>
            </a:avLst>
          </a:prstGeom>
          <a:solidFill>
            <a:srgbClr val="151A17"/>
          </a:solidFill>
          <a:ln w="13970">
            <a:solidFill>
              <a:srgbClr val="223B2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33856" y="4133088"/>
            <a:ext cx="2414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F4F7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Render UI state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1005840" y="4700016"/>
            <a:ext cx="2670048" cy="420624"/>
          </a:xfrm>
          <a:prstGeom prst="roundRect">
            <a:avLst>
              <a:gd name="adj" fmla="val 26087"/>
            </a:avLst>
          </a:prstGeom>
          <a:solidFill>
            <a:srgbClr val="151A17"/>
          </a:solidFill>
          <a:ln w="13970">
            <a:solidFill>
              <a:srgbClr val="223B2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33856" y="4791456"/>
            <a:ext cx="2414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F4F7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Apply business rules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187952" y="3794760"/>
            <a:ext cx="1298448" cy="0"/>
          </a:xfrm>
          <a:prstGeom prst="line">
            <a:avLst/>
          </a:prstGeom>
          <a:noFill/>
          <a:ln w="29210">
            <a:solidFill>
              <a:srgbClr val="36F04A"/>
            </a:solidFill>
            <a:prstDash val="solid"/>
            <a:headEnd type="none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5504688" y="1874520"/>
            <a:ext cx="5961888" cy="4206240"/>
          </a:xfrm>
          <a:prstGeom prst="roundRect">
            <a:avLst>
              <a:gd name="adj" fmla="val 2609"/>
            </a:avLst>
          </a:prstGeom>
          <a:solidFill>
            <a:srgbClr val="0C0F0D"/>
          </a:solidFill>
          <a:ln w="13970">
            <a:solidFill>
              <a:srgbClr val="244A2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824728" y="2157984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36F0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DOCUMENT CONTRACT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5824728" y="2670048"/>
            <a:ext cx="3474720" cy="2423160"/>
          </a:xfrm>
          <a:prstGeom prst="roundRect">
            <a:avLst>
              <a:gd name="adj" fmla="val 3019"/>
            </a:avLst>
          </a:prstGeom>
          <a:solidFill>
            <a:srgbClr val="080A09"/>
          </a:solidFill>
          <a:ln w="12700">
            <a:solidFill>
              <a:srgbClr val="26302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71032" y="2770632"/>
            <a:ext cx="3182112" cy="22585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D9E4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D9E4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"name": "Anita",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D9E4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"status": "ACTIVE",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D9E4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"total": 1299.50,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D9E4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"items": [ ... ]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D9E4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9464040" y="2670048"/>
            <a:ext cx="1627632" cy="2423160"/>
          </a:xfrm>
          <a:prstGeom prst="roundRect">
            <a:avLst>
              <a:gd name="adj" fmla="val 6742"/>
            </a:avLst>
          </a:prstGeom>
          <a:solidFill>
            <a:srgbClr val="121714"/>
          </a:solidFill>
          <a:ln w="13970">
            <a:solidFill>
              <a:srgbClr val="2B5A3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692640" y="2944368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6F0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RULES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9619488" y="3456432"/>
            <a:ext cx="1325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B8C0B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name → string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9619488" y="3840480"/>
            <a:ext cx="1325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B8C0B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status → enum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9619488" y="4224528"/>
            <a:ext cx="1325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B8C0B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total → number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9619488" y="4608576"/>
            <a:ext cx="1325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B8C0B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items → array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62940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66666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160" kern="0" dirty="0">
                <a:solidFill>
                  <a:srgbClr val="36F0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 • ENFORCEMENT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4F7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Schema can be enforced at different levels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02920" y="1097280"/>
            <a:ext cx="10972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B8C0B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Start with the contract you need; choose enforcement deliberately.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517904"/>
            <a:ext cx="11155680" cy="0"/>
          </a:xfrm>
          <a:prstGeom prst="line">
            <a:avLst/>
          </a:prstGeom>
          <a:noFill/>
          <a:ln w="15240">
            <a:solidFill>
              <a:srgbClr val="36F04A"/>
            </a:solidFill>
            <a:prstDash val="solid"/>
            <a:headEnd type="none"/>
            <a:tailEnd type="none"/>
          </a:ln>
        </p:spPr>
      </p:sp>
      <p:sp>
        <p:nvSpPr>
          <p:cNvPr id="6" name="Shape 4"/>
          <p:cNvSpPr/>
          <p:nvPr/>
        </p:nvSpPr>
        <p:spPr>
          <a:xfrm>
            <a:off x="658368" y="1874520"/>
            <a:ext cx="3383280" cy="3429000"/>
          </a:xfrm>
          <a:prstGeom prst="roundRect">
            <a:avLst>
              <a:gd name="adj" fmla="val 3243"/>
            </a:avLst>
          </a:prstGeom>
          <a:solidFill>
            <a:srgbClr val="0D110F"/>
          </a:solidFill>
          <a:ln w="13970">
            <a:solidFill>
              <a:srgbClr val="244A2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86968" y="2176272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36F0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Documentation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86968" y="2651760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4F7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Human agreement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886968" y="3246120"/>
            <a:ext cx="2834640" cy="292608"/>
          </a:xfrm>
          <a:prstGeom prst="roundRect">
            <a:avLst>
              <a:gd name="adj" fmla="val 31250"/>
            </a:avLst>
          </a:prstGeom>
          <a:solidFill>
            <a:srgbClr val="16331A">
              <a:alpha val="15000"/>
            </a:srgbClr>
          </a:solidFill>
          <a:ln w="12700">
            <a:solidFill>
              <a:srgbClr val="16331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60120" y="3273552"/>
            <a:ext cx="2688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4F7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README / examples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886968" y="4005072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4F7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Flexible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86968" y="4462272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B8C0B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Good for early discovery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453128" y="1874520"/>
            <a:ext cx="3383280" cy="3429000"/>
          </a:xfrm>
          <a:prstGeom prst="roundRect">
            <a:avLst>
              <a:gd name="adj" fmla="val 3243"/>
            </a:avLst>
          </a:prstGeom>
          <a:solidFill>
            <a:srgbClr val="0D110F"/>
          </a:solidFill>
          <a:ln w="13970">
            <a:solidFill>
              <a:srgbClr val="244A2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81728" y="2176272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36F0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Application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4681728" y="2651760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4F7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Service-level rules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4681728" y="3246120"/>
            <a:ext cx="2834640" cy="292608"/>
          </a:xfrm>
          <a:prstGeom prst="roundRect">
            <a:avLst>
              <a:gd name="adj" fmla="val 31250"/>
            </a:avLst>
          </a:prstGeom>
          <a:solidFill>
            <a:srgbClr val="16331A">
              <a:alpha val="15000"/>
            </a:srgbClr>
          </a:solidFill>
          <a:ln w="12700">
            <a:solidFill>
              <a:srgbClr val="16331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754880" y="3273552"/>
            <a:ext cx="2688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4F7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DTOs / mappers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681728" y="4005072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4F7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Balanced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681728" y="4462272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B8C0B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Good for service ownership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8247888" y="1874520"/>
            <a:ext cx="3383280" cy="3429000"/>
          </a:xfrm>
          <a:prstGeom prst="roundRect">
            <a:avLst>
              <a:gd name="adj" fmla="val 3243"/>
            </a:avLst>
          </a:prstGeom>
          <a:solidFill>
            <a:srgbClr val="0D110F"/>
          </a:solidFill>
          <a:ln w="13970">
            <a:solidFill>
              <a:srgbClr val="244A2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476488" y="2176272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36F0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Database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8476488" y="2651760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4F7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Server-side guardrails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8476488" y="3246120"/>
            <a:ext cx="2834640" cy="292608"/>
          </a:xfrm>
          <a:prstGeom prst="roundRect">
            <a:avLst>
              <a:gd name="adj" fmla="val 31250"/>
            </a:avLst>
          </a:prstGeom>
          <a:solidFill>
            <a:srgbClr val="16331A">
              <a:alpha val="15000"/>
            </a:srgbClr>
          </a:solidFill>
          <a:ln w="12700">
            <a:solidFill>
              <a:srgbClr val="16331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549640" y="3273552"/>
            <a:ext cx="2688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4F7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$jsonSchema / validator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8476488" y="4005072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4F7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Guardrail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8476488" y="4462272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B8C0B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Good for shared safety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85800" y="5715000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4F7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same document model can use more than one layer.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62940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66666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160" kern="0" dirty="0">
                <a:solidFill>
                  <a:srgbClr val="36F0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 • EXAMPLE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4F7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Validation makes the contract executable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02920" y="1097280"/>
            <a:ext cx="10972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B8C0B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database validator can reject malformed documents at write time.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517904"/>
            <a:ext cx="11155680" cy="0"/>
          </a:xfrm>
          <a:prstGeom prst="line">
            <a:avLst/>
          </a:prstGeom>
          <a:noFill/>
          <a:ln w="15240">
            <a:solidFill>
              <a:srgbClr val="36F04A"/>
            </a:solidFill>
            <a:prstDash val="solid"/>
            <a:headEnd type="none"/>
            <a:tailEnd type="none"/>
          </a:ln>
        </p:spPr>
      </p:sp>
      <p:sp>
        <p:nvSpPr>
          <p:cNvPr id="6" name="Shape 4"/>
          <p:cNvSpPr/>
          <p:nvPr/>
        </p:nvSpPr>
        <p:spPr>
          <a:xfrm>
            <a:off x="621792" y="1828800"/>
            <a:ext cx="4846320" cy="4206240"/>
          </a:xfrm>
          <a:prstGeom prst="roundRect">
            <a:avLst>
              <a:gd name="adj" fmla="val 2609"/>
            </a:avLst>
          </a:prstGeom>
          <a:solidFill>
            <a:srgbClr val="0D100E"/>
          </a:solidFill>
          <a:ln w="13970">
            <a:solidFill>
              <a:srgbClr val="244A2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32688" y="2121408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36F0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EXPECTED DOCUMENT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932688" y="2633472"/>
            <a:ext cx="3749040" cy="2304288"/>
          </a:xfrm>
          <a:prstGeom prst="roundRect">
            <a:avLst>
              <a:gd name="adj" fmla="val 3175"/>
            </a:avLst>
          </a:prstGeom>
          <a:solidFill>
            <a:srgbClr val="080A09"/>
          </a:solidFill>
          <a:ln w="12700">
            <a:solidFill>
              <a:srgbClr val="26302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78992" y="2734056"/>
            <a:ext cx="3456432" cy="21396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D9E4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D9E4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"name": "Anita",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D9E4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"age": 30,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D9E4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"status": "ACTIVE"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D9E4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932688" y="5138928"/>
            <a:ext cx="1325880" cy="292608"/>
          </a:xfrm>
          <a:prstGeom prst="roundRect">
            <a:avLst>
              <a:gd name="adj" fmla="val 31250"/>
            </a:avLst>
          </a:prstGeom>
          <a:solidFill>
            <a:srgbClr val="17361C">
              <a:alpha val="15000"/>
            </a:srgbClr>
          </a:solidFill>
          <a:ln w="12700">
            <a:solidFill>
              <a:srgbClr val="17361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05840" y="5166360"/>
            <a:ext cx="11795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4F7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name = string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395728" y="5138928"/>
            <a:ext cx="1188720" cy="292608"/>
          </a:xfrm>
          <a:prstGeom prst="roundRect">
            <a:avLst>
              <a:gd name="adj" fmla="val 31250"/>
            </a:avLst>
          </a:prstGeom>
          <a:solidFill>
            <a:srgbClr val="17361C">
              <a:alpha val="15000"/>
            </a:srgbClr>
          </a:solidFill>
          <a:ln w="12700">
            <a:solidFill>
              <a:srgbClr val="17361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468880" y="5166360"/>
            <a:ext cx="10424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4F7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age = int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730752" y="5138928"/>
            <a:ext cx="1417320" cy="292608"/>
          </a:xfrm>
          <a:prstGeom prst="roundRect">
            <a:avLst>
              <a:gd name="adj" fmla="val 31250"/>
            </a:avLst>
          </a:prstGeom>
          <a:solidFill>
            <a:srgbClr val="17361C">
              <a:alpha val="15000"/>
            </a:srgbClr>
          </a:solidFill>
          <a:ln w="12700">
            <a:solidFill>
              <a:srgbClr val="17361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803904" y="5166360"/>
            <a:ext cx="12710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4F7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status ∈ {ACTIVE, INACTIVE}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532120" y="3931920"/>
            <a:ext cx="886968" cy="0"/>
          </a:xfrm>
          <a:prstGeom prst="line">
            <a:avLst/>
          </a:prstGeom>
          <a:noFill/>
          <a:ln w="30480">
            <a:solidFill>
              <a:srgbClr val="36F04A"/>
            </a:solidFill>
            <a:prstDash val="solid"/>
            <a:headEnd type="none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6446520" y="1828800"/>
            <a:ext cx="5166360" cy="4206240"/>
          </a:xfrm>
          <a:prstGeom prst="roundRect">
            <a:avLst>
              <a:gd name="adj" fmla="val 2609"/>
            </a:avLst>
          </a:prstGeom>
          <a:solidFill>
            <a:srgbClr val="0A0D0B"/>
          </a:solidFill>
          <a:ln w="13970">
            <a:solidFill>
              <a:srgbClr val="3D473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784848" y="2121408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36F0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WRITE PATH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6784848" y="2697480"/>
            <a:ext cx="2057400" cy="502920"/>
          </a:xfrm>
          <a:prstGeom prst="roundRect">
            <a:avLst>
              <a:gd name="adj" fmla="val 21818"/>
            </a:avLst>
          </a:prstGeom>
          <a:solidFill>
            <a:srgbClr val="151A17"/>
          </a:solidFill>
          <a:ln w="13970">
            <a:solidFill>
              <a:srgbClr val="2D403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876288" y="2843784"/>
            <a:ext cx="1874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4F7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INSERT / UPDATE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7845552" y="3218688"/>
            <a:ext cx="0" cy="457200"/>
          </a:xfrm>
          <a:prstGeom prst="line">
            <a:avLst/>
          </a:prstGeom>
          <a:noFill/>
          <a:ln w="25400">
            <a:solidFill>
              <a:srgbClr val="36F04A"/>
            </a:solidFill>
            <a:prstDash val="solid"/>
            <a:headEnd type="none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6784848" y="3675888"/>
            <a:ext cx="2057400" cy="502920"/>
          </a:xfrm>
          <a:prstGeom prst="roundRect">
            <a:avLst>
              <a:gd name="adj" fmla="val 21818"/>
            </a:avLst>
          </a:prstGeom>
          <a:solidFill>
            <a:srgbClr val="151A17"/>
          </a:solidFill>
          <a:ln w="13970">
            <a:solidFill>
              <a:srgbClr val="2D403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76288" y="3822192"/>
            <a:ext cx="1874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4F7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VALIDATOR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8842248" y="3922776"/>
            <a:ext cx="530352" cy="-731520"/>
          </a:xfrm>
          <a:prstGeom prst="line">
            <a:avLst/>
          </a:prstGeom>
          <a:noFill/>
          <a:ln w="25400">
            <a:solidFill>
              <a:srgbClr val="36F04A"/>
            </a:solidFill>
            <a:prstDash val="solid"/>
            <a:headEnd type="none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8842248" y="3922776"/>
            <a:ext cx="530352" cy="18288"/>
          </a:xfrm>
          <a:prstGeom prst="line">
            <a:avLst/>
          </a:prstGeom>
          <a:noFill/>
          <a:ln w="25400">
            <a:solidFill>
              <a:srgbClr val="FF6B6B"/>
            </a:solidFill>
            <a:prstDash val="solid"/>
            <a:headEnd type="none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9418320" y="2761488"/>
            <a:ext cx="1572768" cy="502920"/>
          </a:xfrm>
          <a:prstGeom prst="roundRect">
            <a:avLst>
              <a:gd name="adj" fmla="val 21818"/>
            </a:avLst>
          </a:prstGeom>
          <a:solidFill>
            <a:srgbClr val="102315"/>
          </a:solidFill>
          <a:ln w="13970">
            <a:solidFill>
              <a:srgbClr val="2F6B3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509760" y="2907792"/>
            <a:ext cx="13898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6F0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✓ ACCEPT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9418320" y="3675888"/>
            <a:ext cx="1572768" cy="502920"/>
          </a:xfrm>
          <a:prstGeom prst="roundRect">
            <a:avLst>
              <a:gd name="adj" fmla="val 21818"/>
            </a:avLst>
          </a:prstGeom>
          <a:solidFill>
            <a:srgbClr val="1B1010"/>
          </a:solidFill>
          <a:ln w="13970">
            <a:solidFill>
              <a:srgbClr val="6C2E2E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509760" y="3822192"/>
            <a:ext cx="13898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6B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✕ REJECT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6784848" y="4828032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B8C0B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Schema thinking turns assumptions into visible, testable rules.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62940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66666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160" kern="0" dirty="0">
                <a:solidFill>
                  <a:srgbClr val="36F0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06 • DESIGN LENS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4F7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Flexible schema vs uncontrolled schema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02920" y="1097280"/>
            <a:ext cx="10972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B8C0B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difference is whether the variation is intentional.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517904"/>
            <a:ext cx="11155680" cy="0"/>
          </a:xfrm>
          <a:prstGeom prst="line">
            <a:avLst/>
          </a:prstGeom>
          <a:noFill/>
          <a:ln w="15240">
            <a:solidFill>
              <a:srgbClr val="36F04A"/>
            </a:solidFill>
            <a:prstDash val="solid"/>
            <a:headEnd type="none"/>
            <a:tailEnd type="none"/>
          </a:ln>
        </p:spPr>
      </p:sp>
      <p:sp>
        <p:nvSpPr>
          <p:cNvPr id="6" name="Shape 4"/>
          <p:cNvSpPr/>
          <p:nvPr/>
        </p:nvSpPr>
        <p:spPr>
          <a:xfrm>
            <a:off x="658368" y="1874520"/>
            <a:ext cx="5257800" cy="4160520"/>
          </a:xfrm>
          <a:prstGeom prst="roundRect">
            <a:avLst>
              <a:gd name="adj" fmla="val 2637"/>
            </a:avLst>
          </a:prstGeom>
          <a:solidFill>
            <a:srgbClr val="0C110D"/>
          </a:solidFill>
          <a:ln w="13970">
            <a:solidFill>
              <a:srgbClr val="244A2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0120" y="2157984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36F0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INTENTIONAL VARIATION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960120" y="2697480"/>
            <a:ext cx="4526280" cy="502920"/>
          </a:xfrm>
          <a:prstGeom prst="roundRect">
            <a:avLst>
              <a:gd name="adj" fmla="val 21818"/>
            </a:avLst>
          </a:prstGeom>
          <a:solidFill>
            <a:srgbClr val="121815"/>
          </a:solidFill>
          <a:ln w="13970">
            <a:solidFill>
              <a:srgbClr val="2E5F3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78992" y="2798064"/>
            <a:ext cx="502920" cy="292608"/>
          </a:xfrm>
          <a:prstGeom prst="roundRect">
            <a:avLst>
              <a:gd name="adj" fmla="val 31250"/>
            </a:avLst>
          </a:prstGeom>
          <a:solidFill>
            <a:srgbClr val="16391C">
              <a:alpha val="15000"/>
            </a:srgbClr>
          </a:solidFill>
          <a:ln w="12700">
            <a:solidFill>
              <a:srgbClr val="16391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52144" y="2825496"/>
            <a:ext cx="3566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4F7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783080" y="2825496"/>
            <a:ext cx="3337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F4F7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name • email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960120" y="3447288"/>
            <a:ext cx="4526280" cy="502920"/>
          </a:xfrm>
          <a:prstGeom prst="roundRect">
            <a:avLst>
              <a:gd name="adj" fmla="val 21818"/>
            </a:avLst>
          </a:prstGeom>
          <a:solidFill>
            <a:srgbClr val="121815"/>
          </a:solidFill>
          <a:ln w="13970">
            <a:solidFill>
              <a:srgbClr val="2E5F34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78992" y="3547872"/>
            <a:ext cx="502920" cy="292608"/>
          </a:xfrm>
          <a:prstGeom prst="roundRect">
            <a:avLst>
              <a:gd name="adj" fmla="val 31250"/>
            </a:avLst>
          </a:prstGeom>
          <a:solidFill>
            <a:srgbClr val="16391C">
              <a:alpha val="15000"/>
            </a:srgbClr>
          </a:solidFill>
          <a:ln w="12700">
            <a:solidFill>
              <a:srgbClr val="16391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52144" y="3575304"/>
            <a:ext cx="3566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4F7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v2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783080" y="3575304"/>
            <a:ext cx="3337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F4F7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name • email • phone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960120" y="4197096"/>
            <a:ext cx="4526280" cy="502920"/>
          </a:xfrm>
          <a:prstGeom prst="roundRect">
            <a:avLst>
              <a:gd name="adj" fmla="val 21818"/>
            </a:avLst>
          </a:prstGeom>
          <a:solidFill>
            <a:srgbClr val="121815"/>
          </a:solidFill>
          <a:ln w="13970">
            <a:solidFill>
              <a:srgbClr val="2E5F3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078992" y="4297680"/>
            <a:ext cx="502920" cy="292608"/>
          </a:xfrm>
          <a:prstGeom prst="roundRect">
            <a:avLst>
              <a:gd name="adj" fmla="val 31250"/>
            </a:avLst>
          </a:prstGeom>
          <a:solidFill>
            <a:srgbClr val="16391C">
              <a:alpha val="15000"/>
            </a:srgbClr>
          </a:solidFill>
          <a:ln w="12700">
            <a:solidFill>
              <a:srgbClr val="16391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152144" y="4325112"/>
            <a:ext cx="3566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4F7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v3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1783080" y="4325112"/>
            <a:ext cx="3337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F4F7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name • email • preferences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960120" y="525780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B8C0B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product evolves; the contract evolves with it.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6199632" y="1874520"/>
            <a:ext cx="5257800" cy="4160520"/>
          </a:xfrm>
          <a:prstGeom prst="roundRect">
            <a:avLst>
              <a:gd name="adj" fmla="val 2637"/>
            </a:avLst>
          </a:prstGeom>
          <a:solidFill>
            <a:srgbClr val="120D0D"/>
          </a:solidFill>
          <a:ln w="13970">
            <a:solidFill>
              <a:srgbClr val="5A2B2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510528" y="2157984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6B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UNCONTROLLED VARIATION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6510528" y="2697480"/>
            <a:ext cx="4526280" cy="502920"/>
          </a:xfrm>
          <a:prstGeom prst="roundRect">
            <a:avLst>
              <a:gd name="adj" fmla="val 21818"/>
            </a:avLst>
          </a:prstGeom>
          <a:solidFill>
            <a:srgbClr val="191212"/>
          </a:solidFill>
          <a:ln w="13970">
            <a:solidFill>
              <a:srgbClr val="4B2A2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629400" y="2798064"/>
            <a:ext cx="502920" cy="292608"/>
          </a:xfrm>
          <a:prstGeom prst="roundRect">
            <a:avLst>
              <a:gd name="adj" fmla="val 31250"/>
            </a:avLst>
          </a:prstGeom>
          <a:solidFill>
            <a:srgbClr val="4B2323">
              <a:alpha val="15000"/>
            </a:srgbClr>
          </a:solidFill>
          <a:ln w="12700">
            <a:solidFill>
              <a:srgbClr val="4B232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702552" y="2825496"/>
            <a:ext cx="3566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4F7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?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333488" y="2825496"/>
            <a:ext cx="3337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F4F7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total = "1,299.50"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6510528" y="3447288"/>
            <a:ext cx="4526280" cy="502920"/>
          </a:xfrm>
          <a:prstGeom prst="roundRect">
            <a:avLst>
              <a:gd name="adj" fmla="val 21818"/>
            </a:avLst>
          </a:prstGeom>
          <a:solidFill>
            <a:srgbClr val="191212"/>
          </a:solidFill>
          <a:ln w="13970">
            <a:solidFill>
              <a:srgbClr val="4B2A2A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629400" y="3547872"/>
            <a:ext cx="502920" cy="292608"/>
          </a:xfrm>
          <a:prstGeom prst="roundRect">
            <a:avLst>
              <a:gd name="adj" fmla="val 31250"/>
            </a:avLst>
          </a:prstGeom>
          <a:solidFill>
            <a:srgbClr val="4B2323">
              <a:alpha val="15000"/>
            </a:srgbClr>
          </a:solidFill>
          <a:ln w="12700">
            <a:solidFill>
              <a:srgbClr val="4B232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702552" y="3575304"/>
            <a:ext cx="3566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4F7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?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7333488" y="3575304"/>
            <a:ext cx="3337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F4F7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status = 1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6510528" y="4197096"/>
            <a:ext cx="4526280" cy="502920"/>
          </a:xfrm>
          <a:prstGeom prst="roundRect">
            <a:avLst>
              <a:gd name="adj" fmla="val 21818"/>
            </a:avLst>
          </a:prstGeom>
          <a:solidFill>
            <a:srgbClr val="191212"/>
          </a:solidFill>
          <a:ln w="13970">
            <a:solidFill>
              <a:srgbClr val="4B2A2A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629400" y="4297680"/>
            <a:ext cx="502920" cy="292608"/>
          </a:xfrm>
          <a:prstGeom prst="roundRect">
            <a:avLst>
              <a:gd name="adj" fmla="val 31250"/>
            </a:avLst>
          </a:prstGeom>
          <a:solidFill>
            <a:srgbClr val="4B2323">
              <a:alpha val="15000"/>
            </a:srgbClr>
          </a:solidFill>
          <a:ln w="12700">
            <a:solidFill>
              <a:srgbClr val="4B2323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702552" y="4325112"/>
            <a:ext cx="3566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4F7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?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7333488" y="4325112"/>
            <a:ext cx="3337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F4F7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customerId missing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6510528" y="525780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B8C0B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data differs without a known business reason.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62940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66666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160" kern="0" dirty="0">
                <a:solidFill>
                  <a:srgbClr val="36F0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07 • EVOLUTION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4F7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Schemas should evolve with the product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02920" y="1097280"/>
            <a:ext cx="10972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B8C0B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Design for controlled change instead of pretending change will not happen.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517904"/>
            <a:ext cx="11155680" cy="0"/>
          </a:xfrm>
          <a:prstGeom prst="line">
            <a:avLst/>
          </a:prstGeom>
          <a:noFill/>
          <a:ln w="15240">
            <a:solidFill>
              <a:srgbClr val="36F04A"/>
            </a:solidFill>
            <a:prstDash val="solid"/>
            <a:headEnd type="none"/>
            <a:tailEnd type="none"/>
          </a:ln>
        </p:spPr>
      </p:sp>
      <p:sp>
        <p:nvSpPr>
          <p:cNvPr id="6" name="Shape 4"/>
          <p:cNvSpPr/>
          <p:nvPr/>
        </p:nvSpPr>
        <p:spPr>
          <a:xfrm>
            <a:off x="868680" y="2057400"/>
            <a:ext cx="2606040" cy="2286000"/>
          </a:xfrm>
          <a:prstGeom prst="roundRect">
            <a:avLst>
              <a:gd name="adj" fmla="val 4800"/>
            </a:avLst>
          </a:prstGeom>
          <a:solidFill>
            <a:srgbClr val="0E1210"/>
          </a:solidFill>
          <a:ln w="13970">
            <a:solidFill>
              <a:srgbClr val="244A2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69848" y="2286000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6F0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069848" y="2761488"/>
            <a:ext cx="2057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F4F7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email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069848" y="3913632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B8C0B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Initial contract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538728" y="3218688"/>
            <a:ext cx="768096" cy="0"/>
          </a:xfrm>
          <a:prstGeom prst="line">
            <a:avLst/>
          </a:prstGeom>
          <a:noFill/>
          <a:ln w="27940">
            <a:solidFill>
              <a:srgbClr val="36F04A"/>
            </a:solidFill>
            <a:prstDash val="solid"/>
            <a:headEnd type="none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4480560" y="2057400"/>
            <a:ext cx="2606040" cy="2286000"/>
          </a:xfrm>
          <a:prstGeom prst="roundRect">
            <a:avLst>
              <a:gd name="adj" fmla="val 4800"/>
            </a:avLst>
          </a:prstGeom>
          <a:solidFill>
            <a:srgbClr val="0E1210"/>
          </a:solidFill>
          <a:ln w="13970">
            <a:solidFill>
              <a:srgbClr val="244A2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81728" y="2286000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6F0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V2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681728" y="2761488"/>
            <a:ext cx="2057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F4F7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email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phone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681728" y="3913632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B8C0B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Additive change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7150608" y="3218688"/>
            <a:ext cx="768096" cy="0"/>
          </a:xfrm>
          <a:prstGeom prst="line">
            <a:avLst/>
          </a:prstGeom>
          <a:noFill/>
          <a:ln w="27940">
            <a:solidFill>
              <a:srgbClr val="36F04A"/>
            </a:solidFill>
            <a:prstDash val="solid"/>
            <a:headEnd type="none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8092440" y="2057400"/>
            <a:ext cx="2606040" cy="2286000"/>
          </a:xfrm>
          <a:prstGeom prst="roundRect">
            <a:avLst>
              <a:gd name="adj" fmla="val 4800"/>
            </a:avLst>
          </a:prstGeom>
          <a:solidFill>
            <a:srgbClr val="0E1210"/>
          </a:solidFill>
          <a:ln w="13970">
            <a:solidFill>
              <a:srgbClr val="244A2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93608" y="2286000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6F0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V3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293608" y="2761488"/>
            <a:ext cx="2057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F4F7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email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phone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preferences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8293608" y="3913632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B8C0B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Richer optional shape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896112" y="5010912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6F0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Migration question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2359152" y="501091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F4F7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 old documents still be read while new documents use the new field?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896112" y="5413248"/>
            <a:ext cx="9784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B8C0B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That question belongs in schema design—not after production data already exists.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62940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66666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160" kern="0" dirty="0">
                <a:solidFill>
                  <a:srgbClr val="36F0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08 • PRACTICE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4F7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Four practical schema habits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02920" y="1097280"/>
            <a:ext cx="10972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B8C0B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Keep flexibility, but make the important assumptions explicit.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517904"/>
            <a:ext cx="11155680" cy="0"/>
          </a:xfrm>
          <a:prstGeom prst="line">
            <a:avLst/>
          </a:prstGeom>
          <a:noFill/>
          <a:ln w="15240">
            <a:solidFill>
              <a:srgbClr val="36F04A"/>
            </a:solidFill>
            <a:prstDash val="solid"/>
            <a:headEnd type="none"/>
            <a:tailEnd type="none"/>
          </a:ln>
        </p:spPr>
      </p:sp>
      <p:sp>
        <p:nvSpPr>
          <p:cNvPr id="6" name="Shape 4"/>
          <p:cNvSpPr/>
          <p:nvPr/>
        </p:nvSpPr>
        <p:spPr>
          <a:xfrm>
            <a:off x="694944" y="1847088"/>
            <a:ext cx="10808208" cy="731520"/>
          </a:xfrm>
          <a:prstGeom prst="roundRect">
            <a:avLst>
              <a:gd name="adj" fmla="val 15000"/>
            </a:avLst>
          </a:prstGeom>
          <a:solidFill>
            <a:srgbClr val="0C100E"/>
          </a:solidFill>
          <a:ln w="13970">
            <a:solidFill>
              <a:srgbClr val="21472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32688" y="201168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36F0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554480" y="1975104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4F7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 around access patterns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394960" y="1975104"/>
            <a:ext cx="5623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B8C0B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Design around how the application reads and writes data.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94944" y="2816352"/>
            <a:ext cx="10808208" cy="731520"/>
          </a:xfrm>
          <a:prstGeom prst="roundRect">
            <a:avLst>
              <a:gd name="adj" fmla="val 15000"/>
            </a:avLst>
          </a:prstGeom>
          <a:solidFill>
            <a:srgbClr val="0C100E"/>
          </a:solidFill>
          <a:ln w="13970">
            <a:solidFill>
              <a:srgbClr val="21472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32688" y="298094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36F0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554480" y="294436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4F7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Name types deliberately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394960" y="2944368"/>
            <a:ext cx="5623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B8C0B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 not let the same logical field drift across types.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94944" y="3785616"/>
            <a:ext cx="10808208" cy="731520"/>
          </a:xfrm>
          <a:prstGeom prst="roundRect">
            <a:avLst>
              <a:gd name="adj" fmla="val 15000"/>
            </a:avLst>
          </a:prstGeom>
          <a:solidFill>
            <a:srgbClr val="0C100E"/>
          </a:solidFill>
          <a:ln w="13970">
            <a:solidFill>
              <a:srgbClr val="21472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32688" y="395020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36F0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554480" y="391363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4F7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Validate critical fields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5394960" y="3913632"/>
            <a:ext cx="5623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B8C0B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application or database validation for shared invariants.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94944" y="4754880"/>
            <a:ext cx="10808208" cy="731520"/>
          </a:xfrm>
          <a:prstGeom prst="roundRect">
            <a:avLst>
              <a:gd name="adj" fmla="val 15000"/>
            </a:avLst>
          </a:prstGeom>
          <a:solidFill>
            <a:srgbClr val="0C100E"/>
          </a:solidFill>
          <a:ln w="13970">
            <a:solidFill>
              <a:srgbClr val="21472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32688" y="4919472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36F0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1554480" y="4882896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4F7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Plan evolution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5394960" y="4882896"/>
            <a:ext cx="5623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B8C0B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Decide how old and new document shapes will coexist.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62940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66666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160" kern="0" dirty="0">
                <a:solidFill>
                  <a:srgbClr val="36F0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09 • TAKEAWAYS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4F7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Schemas are a design tool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02920" y="1097280"/>
            <a:ext cx="10972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B8C0B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MongoDB flexibility works best when the application knows what variation is allowed.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517904"/>
            <a:ext cx="11155680" cy="0"/>
          </a:xfrm>
          <a:prstGeom prst="line">
            <a:avLst/>
          </a:prstGeom>
          <a:noFill/>
          <a:ln w="15240">
            <a:solidFill>
              <a:srgbClr val="36F04A"/>
            </a:solidFill>
            <a:prstDash val="solid"/>
            <a:headEnd type="none"/>
            <a:tailEnd type="none"/>
          </a:ln>
        </p:spPr>
      </p:sp>
      <p:sp>
        <p:nvSpPr>
          <p:cNvPr id="6" name="Shape 4"/>
          <p:cNvSpPr/>
          <p:nvPr/>
        </p:nvSpPr>
        <p:spPr>
          <a:xfrm>
            <a:off x="658368" y="1965960"/>
            <a:ext cx="2487168" cy="2331720"/>
          </a:xfrm>
          <a:prstGeom prst="roundRect">
            <a:avLst>
              <a:gd name="adj" fmla="val 4706"/>
            </a:avLst>
          </a:prstGeom>
          <a:solidFill>
            <a:srgbClr val="0D110F"/>
          </a:solidFill>
          <a:ln w="13970">
            <a:solidFill>
              <a:srgbClr val="244A2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59536" y="2267712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36F0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Flexible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59536" y="2834640"/>
            <a:ext cx="20848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F4F7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Documents can differ in shape.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1837944" y="3849624"/>
            <a:ext cx="128016" cy="128016"/>
          </a:xfrm>
          <a:prstGeom prst="ellipse">
            <a:avLst/>
          </a:prstGeom>
          <a:solidFill>
            <a:srgbClr val="36F04A"/>
          </a:solidFill>
          <a:ln w="12700">
            <a:solidFill>
              <a:srgbClr val="36F04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474720" y="1965960"/>
            <a:ext cx="2487168" cy="2331720"/>
          </a:xfrm>
          <a:prstGeom prst="roundRect">
            <a:avLst>
              <a:gd name="adj" fmla="val 4706"/>
            </a:avLst>
          </a:prstGeom>
          <a:solidFill>
            <a:srgbClr val="0D110F"/>
          </a:solidFill>
          <a:ln w="13970">
            <a:solidFill>
              <a:srgbClr val="244A2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75888" y="2267712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36F0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Intentional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3675888" y="2834640"/>
            <a:ext cx="20848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F4F7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Variation should have a reason.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54296" y="3849624"/>
            <a:ext cx="128016" cy="128016"/>
          </a:xfrm>
          <a:prstGeom prst="ellipse">
            <a:avLst/>
          </a:prstGeom>
          <a:solidFill>
            <a:srgbClr val="36F04A"/>
          </a:solidFill>
          <a:ln w="12700">
            <a:solidFill>
              <a:srgbClr val="36F04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91072" y="1965960"/>
            <a:ext cx="2487168" cy="2331720"/>
          </a:xfrm>
          <a:prstGeom prst="roundRect">
            <a:avLst>
              <a:gd name="adj" fmla="val 4706"/>
            </a:avLst>
          </a:prstGeom>
          <a:solidFill>
            <a:srgbClr val="0D110F"/>
          </a:solidFill>
          <a:ln w="13970">
            <a:solidFill>
              <a:srgbClr val="244A2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92240" y="2267712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36F0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Explicit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6492240" y="2834640"/>
            <a:ext cx="20848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F4F7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Important types and rules should be visible.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7470648" y="3849624"/>
            <a:ext cx="128016" cy="128016"/>
          </a:xfrm>
          <a:prstGeom prst="ellipse">
            <a:avLst/>
          </a:prstGeom>
          <a:solidFill>
            <a:srgbClr val="36F04A"/>
          </a:solidFill>
          <a:ln w="12700">
            <a:solidFill>
              <a:srgbClr val="36F04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107424" y="1965960"/>
            <a:ext cx="2487168" cy="2331720"/>
          </a:xfrm>
          <a:prstGeom prst="roundRect">
            <a:avLst>
              <a:gd name="adj" fmla="val 4706"/>
            </a:avLst>
          </a:prstGeom>
          <a:solidFill>
            <a:srgbClr val="0D110F"/>
          </a:solidFill>
          <a:ln w="13970">
            <a:solidFill>
              <a:srgbClr val="244A2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308592" y="2267712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36F0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Evolving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9308592" y="2834640"/>
            <a:ext cx="20848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F4F7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Schema changes should be planned.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10287000" y="3849624"/>
            <a:ext cx="128016" cy="128016"/>
          </a:xfrm>
          <a:prstGeom prst="ellipse">
            <a:avLst/>
          </a:prstGeom>
          <a:solidFill>
            <a:srgbClr val="36F04A"/>
          </a:solidFill>
          <a:ln w="12700">
            <a:solidFill>
              <a:srgbClr val="36F04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43000" y="4818888"/>
            <a:ext cx="9829800" cy="749808"/>
          </a:xfrm>
          <a:prstGeom prst="roundRect">
            <a:avLst>
              <a:gd name="adj" fmla="val 14634"/>
            </a:avLst>
          </a:prstGeom>
          <a:solidFill>
            <a:srgbClr val="131A15"/>
          </a:solidFill>
          <a:ln w="13970">
            <a:solidFill>
              <a:srgbClr val="2A5C3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417320" y="5010912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6F0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Mental model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2697480" y="4965192"/>
            <a:ext cx="7726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4F7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Flexible documents + explicit contracts + planned evolution = predictable application data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62940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66666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OpenAI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Lesson 024 — Why Schemas?</dc:title>
  <dc:subject>MongoDB Developer Learning Path</dc:subject>
  <dc:creator>OpenAI</dc:creator>
  <cp:lastModifiedBy>OpenAI</cp:lastModifiedBy>
  <cp:revision>1</cp:revision>
  <dcterms:created xsi:type="dcterms:W3CDTF">2026-09-25T17:20:21Z</dcterms:created>
  <dcterms:modified xsi:type="dcterms:W3CDTF">2026-09-25T17:20:21Z</dcterms:modified>
</cp:coreProperties>
</file>