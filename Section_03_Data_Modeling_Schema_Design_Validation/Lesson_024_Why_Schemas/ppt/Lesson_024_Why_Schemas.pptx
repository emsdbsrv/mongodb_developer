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ummary infograph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1480" y="292608"/>
            <a:ext cx="1627632" cy="402336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329184"/>
            <a:ext cx="1481328" cy="32918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Why Schemas?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22960"/>
            <a:ext cx="8778240" cy="6766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4000" b="1">
                <a:solidFill>
                  <a:srgbClr val="F5F7FA"/>
                </a:solidFill>
                <a:latin typeface="Aptos"/>
              </a:rPr>
              <a:t>Why Schemas?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17904"/>
            <a:ext cx="8321040" cy="49377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Flexible documents still need an intentional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4572000" cy="3337560"/>
          </a:xfrm>
          <a:prstGeom prst="roundRect">
            <a:avLst/>
          </a:prstGeom>
          <a:solidFill>
            <a:srgbClr val="0A0E12"/>
          </a:solidFill>
          <a:ln w="2159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560320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200" b="1">
                <a:solidFill>
                  <a:srgbClr val="F59119"/>
                </a:solidFill>
                <a:latin typeface="Aptos"/>
              </a:rPr>
              <a:t>The core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977639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0">
                <a:solidFill>
                  <a:srgbClr val="F5F7FA"/>
                </a:solidFill>
                <a:latin typeface="Aptos"/>
              </a:rPr>
              <a:t>MongoDB lets documents evolve, but your application still needs a clear expectation of what data means, where it lives, and how it is accessed.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2331720"/>
            <a:ext cx="1993392" cy="45720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05272" y="2368296"/>
            <a:ext cx="1847088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FLEXIBLE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331720"/>
            <a:ext cx="1993392" cy="457200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9831" y="2368296"/>
            <a:ext cx="1847088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INTENTIONAL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2907792"/>
            <a:ext cx="416052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800" b="1">
                <a:solidFill>
                  <a:srgbClr val="F5F7FA"/>
                </a:solidFill>
                <a:latin typeface="Aptos"/>
              </a:rPr>
              <a:t>flexibility ≠ no design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0" y="3657600"/>
            <a:ext cx="2331720" cy="0"/>
          </a:xfrm>
          <a:prstGeom prst="line">
            <a:avLst/>
          </a:prstGeom>
          <a:ln w="38100">
            <a:solidFill>
              <a:srgbClr val="309A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629400" y="3657600"/>
            <a:ext cx="2221992" cy="0"/>
          </a:xfrm>
          <a:prstGeom prst="line">
            <a:avLst/>
          </a:prstGeom>
          <a:ln w="3810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89788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4142232"/>
            <a:ext cx="8686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600" b="1">
                <a:solidFill>
                  <a:srgbClr val="309AF5"/>
                </a:solidFill>
                <a:latin typeface="Aptos"/>
              </a:rPr>
              <a:t>{}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71032" y="4526280"/>
            <a:ext cx="905256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Document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764024"/>
            <a:ext cx="960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can evolve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4142232"/>
            <a:ext cx="8686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600" b="1">
                <a:solidFill>
                  <a:srgbClr val="F59119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4526280"/>
            <a:ext cx="905256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764024"/>
            <a:ext cx="960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application expectation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23960" y="4142232"/>
            <a:ext cx="8686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600" b="1">
                <a:solidFill>
                  <a:srgbClr val="965AEB"/>
                </a:solidFill>
                <a:latin typeface="Aptos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5672" y="4526280"/>
            <a:ext cx="905256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764024"/>
            <a:ext cx="960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access pattern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Running example: Order Management — one business object, intentionally shaped for how the application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What Does “Schema”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A schema is an expected shape — whether or not the database enforces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5760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572768"/>
            <a:ext cx="310896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Think in three layers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057400"/>
            <a:ext cx="384048" cy="384048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066543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48256"/>
            <a:ext cx="25146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377440"/>
            <a:ext cx="2542032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What does this field represent?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3136391"/>
            <a:ext cx="384048" cy="384048"/>
          </a:xfrm>
          <a:prstGeom prst="ellipse">
            <a:avLst/>
          </a:prstGeom>
          <a:solidFill>
            <a:srgbClr val="965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3145535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127248"/>
            <a:ext cx="25146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456432"/>
            <a:ext cx="2542032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Which fields should exist?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215383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4224527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206240"/>
            <a:ext cx="25146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4535423"/>
            <a:ext cx="2542032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How will the app read or change it?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1325880"/>
            <a:ext cx="342900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40" y="1572768"/>
            <a:ext cx="288036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Application contract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084831"/>
            <a:ext cx="2971800" cy="196596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2194560"/>
            <a:ext cx="269748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09AF5"/>
                </a:solidFill>
                <a:latin typeface="Aptos"/>
              </a:rPr>
              <a:t>Order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9744" y="2505456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orderId: "ORD-1001"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9744" y="2724911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status: "CONFIRMED"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2944368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items: [ ...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3163824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shippingAddress: { ... 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383280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payment: { ... }</a:t>
            </a:r>
          </a:p>
        </p:txBody>
      </p:sp>
      <p:sp>
        <p:nvSpPr>
          <p:cNvPr id="29" name="Oval 28"/>
          <p:cNvSpPr/>
          <p:nvPr/>
        </p:nvSpPr>
        <p:spPr>
          <a:xfrm>
            <a:off x="4681728" y="4407408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0" y="4297680"/>
            <a:ext cx="27157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Names have business meaning</a:t>
            </a:r>
          </a:p>
        </p:txBody>
      </p:sp>
      <p:sp>
        <p:nvSpPr>
          <p:cNvPr id="31" name="Oval 30"/>
          <p:cNvSpPr/>
          <p:nvPr/>
        </p:nvSpPr>
        <p:spPr>
          <a:xfrm>
            <a:off x="4681728" y="4855464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6320" y="4745736"/>
            <a:ext cx="27157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Types have expected meaning</a:t>
            </a:r>
          </a:p>
        </p:txBody>
      </p:sp>
      <p:sp>
        <p:nvSpPr>
          <p:cNvPr id="33" name="Oval 32"/>
          <p:cNvSpPr/>
          <p:nvPr/>
        </p:nvSpPr>
        <p:spPr>
          <a:xfrm>
            <a:off x="4681728" y="5303520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0" y="5193792"/>
            <a:ext cx="27157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Common reads should be easy to express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1325880"/>
            <a:ext cx="3493008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0" y="1572768"/>
            <a:ext cx="297180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965AEB"/>
                </a:solidFill>
                <a:latin typeface="Aptos"/>
              </a:rPr>
              <a:t>MongoDB flexibility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2103120"/>
            <a:ext cx="2926080" cy="8229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0">
                <a:solidFill>
                  <a:srgbClr val="F5F7FA"/>
                </a:solidFill>
                <a:latin typeface="Aptos"/>
              </a:rPr>
              <a:t>Different documents can evolve without requiring every historical document to change at once.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49056" y="3246120"/>
            <a:ext cx="2651760" cy="393192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22208" y="3282696"/>
            <a:ext cx="2505456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050709"/>
                </a:solidFill>
                <a:latin typeface="Aptos"/>
              </a:rPr>
              <a:t>FIELD ADDED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49056" y="3822191"/>
            <a:ext cx="2651760" cy="393192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22208" y="3858768"/>
            <a:ext cx="2505456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OPTIONAL FIELD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49056" y="4398264"/>
            <a:ext cx="2651760" cy="393192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22208" y="4434840"/>
            <a:ext cx="2505456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VERSIONED CHANGE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074920"/>
            <a:ext cx="292608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A5AFB9"/>
                </a:solidFill>
                <a:latin typeface="Aptos"/>
              </a:rPr>
              <a:t>The design still needs a reason.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Flexible Schema Does Not Mean “Schema-Free”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MongoDB may not enforce one fixed shape by default, but applications still need a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49240" cy="4526280"/>
          </a:xfrm>
          <a:prstGeom prst="roundRect">
            <a:avLst/>
          </a:prstGeom>
          <a:solidFill>
            <a:srgbClr val="0A0E12"/>
          </a:solidFill>
          <a:ln w="2286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47548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DF4A37"/>
                </a:solidFill>
                <a:latin typeface="Aptos"/>
              </a:rPr>
              <a:t>What “no fixed schema” really gives you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2231136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121408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Documents in one collection can have different fields.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2889504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779776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New fields can be introduced as the application evolves.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3547872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3438144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Old and new document versions can coexist during a transition.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4206240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976" y="4096511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The database does not have to force every change through a table-style migration.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532120" cy="4526280"/>
          </a:xfrm>
          <a:prstGeom prst="roundRect">
            <a:avLst/>
          </a:prstGeom>
          <a:solidFill>
            <a:srgbClr val="0A0E12"/>
          </a:solidFill>
          <a:ln w="2286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1572768"/>
            <a:ext cx="49834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What the application still has to decide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2231136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2121408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fields are core to an order?</a:t>
            </a:r>
          </a:p>
        </p:txBody>
      </p:sp>
      <p:sp>
        <p:nvSpPr>
          <p:cNvPr id="20" name="Oval 19"/>
          <p:cNvSpPr/>
          <p:nvPr/>
        </p:nvSpPr>
        <p:spPr>
          <a:xfrm>
            <a:off x="6419088" y="2788920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79" y="2679191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values should have consistent meaning and type?</a:t>
            </a:r>
          </a:p>
        </p:txBody>
      </p:sp>
      <p:sp>
        <p:nvSpPr>
          <p:cNvPr id="22" name="Oval 21"/>
          <p:cNvSpPr/>
          <p:nvPr/>
        </p:nvSpPr>
        <p:spPr>
          <a:xfrm>
            <a:off x="6419088" y="3346703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79" y="3236975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data should be nested together?</a:t>
            </a:r>
          </a:p>
        </p:txBody>
      </p:sp>
      <p:sp>
        <p:nvSpPr>
          <p:cNvPr id="24" name="Oval 23"/>
          <p:cNvSpPr/>
          <p:nvPr/>
        </p:nvSpPr>
        <p:spPr>
          <a:xfrm>
            <a:off x="6419088" y="3904487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79" y="3794759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changes are backward compatible?</a:t>
            </a:r>
          </a:p>
        </p:txBody>
      </p:sp>
      <p:sp>
        <p:nvSpPr>
          <p:cNvPr id="26" name="Oval 25"/>
          <p:cNvSpPr/>
          <p:nvPr/>
        </p:nvSpPr>
        <p:spPr>
          <a:xfrm>
            <a:off x="6419088" y="4462272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79" y="4352544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access patterns must remain predictable?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7639" y="6108192"/>
            <a:ext cx="4160520" cy="38404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50791" y="6144768"/>
            <a:ext cx="4014215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050709"/>
                </a:solidFill>
                <a:latin typeface="Aptos"/>
              </a:rPr>
              <a:t>FLEXIBILITY + INTENTIONAL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Why a Schema Still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A model prevents “anything goes” from becoming inconsistent application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627632"/>
            <a:ext cx="31089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DF4A37"/>
                </a:solidFill>
                <a:latin typeface="Aptos"/>
              </a:rPr>
              <a:t>Inconsistent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084831"/>
            <a:ext cx="3054096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status, orderStatus,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697480"/>
            <a:ext cx="1325880" cy="329184"/>
          </a:xfrm>
          <a:prstGeom prst="roundRect">
            <a:avLst/>
          </a:prstGeom>
          <a:solidFill>
            <a:srgbClr val="DF4A37"/>
          </a:solidFill>
          <a:ln w="1270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734056"/>
            <a:ext cx="1179576" cy="25603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Naming drift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5" y="1627632"/>
            <a:ext cx="31089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965AEB"/>
                </a:solidFill>
                <a:latin typeface="Aptos"/>
              </a:rPr>
              <a:t>Inconsistent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2084831"/>
            <a:ext cx="3054096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price: 499.50 vs "499.50"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62855" y="2697480"/>
            <a:ext cx="1325880" cy="329184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6007" y="2734056"/>
            <a:ext cx="1179576" cy="25603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Type drift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0456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21624" y="1627632"/>
            <a:ext cx="31089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309AF5"/>
                </a:solidFill>
                <a:latin typeface="Aptos"/>
              </a:rPr>
              <a:t>Missing meaning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084831"/>
            <a:ext cx="3054096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shipping vs shippingAddress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21624" y="2697480"/>
            <a:ext cx="1325880" cy="329184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94776" y="2734056"/>
            <a:ext cx="1179576" cy="25603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Semantic drift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03320"/>
            <a:ext cx="10835640" cy="1609344"/>
          </a:xfrm>
          <a:prstGeom prst="roundRect">
            <a:avLst/>
          </a:prstGeom>
          <a:solidFill>
            <a:srgbClr val="080C11"/>
          </a:solidFill>
          <a:ln w="1905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F59119"/>
                </a:solidFill>
                <a:latin typeface="Aptos"/>
              </a:rPr>
              <a:t>Requirement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971800" y="4078224"/>
            <a:ext cx="914400" cy="0"/>
          </a:xfrm>
          <a:prstGeom prst="line">
            <a:avLst/>
          </a:prstGeom>
          <a:ln w="3175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9476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309AF5"/>
                </a:solidFill>
                <a:latin typeface="Aptos"/>
              </a:rPr>
              <a:t>Document shape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06440" y="4078224"/>
            <a:ext cx="914400" cy="0"/>
          </a:xfrm>
          <a:prstGeom prst="line">
            <a:avLst/>
          </a:prstGeom>
          <a:ln w="31750">
            <a:solidFill>
              <a:srgbClr val="309A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2940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965AEB"/>
                </a:solidFill>
                <a:latin typeface="Aptos"/>
              </a:rPr>
              <a:t>Application access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41080" y="4078224"/>
            <a:ext cx="914400" cy="0"/>
          </a:xfrm>
          <a:prstGeom prst="line">
            <a:avLst/>
          </a:prstGeom>
          <a:ln w="31750">
            <a:solidFill>
              <a:srgbClr val="965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260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Consistent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681728"/>
            <a:ext cx="1056132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0">
                <a:solidFill>
                  <a:srgbClr val="A5AFB9"/>
                </a:solidFill>
                <a:latin typeface="Aptos"/>
              </a:rPr>
              <a:t>A good schema is less about restriction and more about making data predictable enough for the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Same Collection, Evolving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Flexibility is useful when changes are purposeful and understood.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09960" cy="4434840"/>
          </a:xfrm>
          <a:prstGeom prst="roundRect">
            <a:avLst/>
          </a:prstGeom>
          <a:solidFill>
            <a:srgbClr val="0A0E12"/>
          </a:solidFill>
          <a:ln w="2159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554480" cy="38404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591056"/>
            <a:ext cx="1408176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orders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97280" y="2450592"/>
            <a:ext cx="658368" cy="310896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2487168"/>
            <a:ext cx="512063" cy="23774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971800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35584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739896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39312" y="3337560"/>
            <a:ext cx="521208" cy="0"/>
          </a:xfrm>
          <a:prstGeom prst="line">
            <a:avLst/>
          </a:prstGeom>
          <a:ln w="3048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43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26280" y="2450592"/>
            <a:ext cx="658368" cy="310896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9432" y="2487168"/>
            <a:ext cx="512063" cy="23774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050709"/>
                </a:solidFill>
                <a:latin typeface="Aptos"/>
              </a:rPr>
              <a:t>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2971800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35584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739896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123944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68312" y="3337560"/>
            <a:ext cx="521208" cy="0"/>
          </a:xfrm>
          <a:prstGeom prst="line">
            <a:avLst/>
          </a:prstGeom>
          <a:ln w="3048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772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955279" y="2450592"/>
            <a:ext cx="658368" cy="310896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28431" y="2487168"/>
            <a:ext cx="512063" cy="23774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v3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2971800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91856" y="335584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3739896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4123944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4507992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payment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92040"/>
            <a:ext cx="105613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The important question is not “Can the next document look different?” — it is “Do we understand the change and its impact?”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Order Management: Define the Intended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Start from the business object before thinking about storage enforcement.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75488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420624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Order document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084831"/>
            <a:ext cx="4251960" cy="260604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194560"/>
            <a:ext cx="39776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F59119"/>
                </a:solidFill>
                <a:latin typeface="Aptos"/>
              </a:rPr>
              <a:t>Intended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05456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{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24911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orderId: "ORD-1001",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944368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orderDate: ISODate(...),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163824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status: "CONFIRMED",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383280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items: [ ... 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602736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shippingAddress: { ... },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822192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payment: { ...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041648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98348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This is the contract your application designs around — it can evolve later.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32120" y="1325880"/>
            <a:ext cx="608076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0" y="1572768"/>
            <a:ext cx="539496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What should be clear?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79008" y="214884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0" y="218541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14032" y="213969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orderId, status, orderDate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79008" y="297180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852160" y="300837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Nested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296265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shippingAddress, payment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79008" y="379476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83133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Repeated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378561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items[]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79008" y="4617720"/>
            <a:ext cx="1170432" cy="320040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52160" y="465429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050709"/>
                </a:solidFill>
                <a:latin typeface="Aptos"/>
              </a:rPr>
              <a:t>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2" y="460857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new optional fields only when useful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5449824"/>
            <a:ext cx="54406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Next lesson: turn the shape into a deliberate document 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A Practical Schema Design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Use a repeatable sequence instead of designing by accident.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62456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1335024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353312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What does the application need?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2104" y="1764792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286000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295144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267712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Document shape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Which fields belong together?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" y="2697480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40080" y="3218688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227832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200400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Access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218688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How will reads and writes work?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2104" y="3630168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40080" y="4151376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160520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33088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Evolution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151376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How might the shape change?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32104" y="4562856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40080" y="5084064"/>
            <a:ext cx="384048" cy="384048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093208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5065776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Guardrails 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5084064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Validation can enforce agreed rules when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29800" y="1371600"/>
            <a:ext cx="1691640" cy="4343400"/>
          </a:xfrm>
          <a:prstGeom prst="roundRect">
            <a:avLst/>
          </a:prstGeom>
          <a:solidFill>
            <a:srgbClr val="0A0E12"/>
          </a:solidFill>
          <a:ln w="1905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30968" y="1664208"/>
            <a:ext cx="128016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800" b="1">
                <a:solidFill>
                  <a:srgbClr val="DF4A37"/>
                </a:solidFill>
                <a:latin typeface="Aptos"/>
              </a:rPr>
              <a:t>DO NOT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0968" y="2212848"/>
            <a:ext cx="1298448" cy="10515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Copy a table schema blindly and hope the document model works.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0968" y="3675887"/>
            <a:ext cx="1298448" cy="11887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400" b="1">
                <a:solidFill>
                  <a:srgbClr val="F59119"/>
                </a:solidFill>
                <a:latin typeface="Aptos"/>
              </a:rPr>
              <a:t>Model around the business object and its access pattern.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Flexibility Has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Not every field should be equally flexible.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89888"/>
            <a:ext cx="11018520" cy="425196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1">
                <a:solidFill>
                  <a:srgbClr val="309AF5"/>
                </a:solidFill>
                <a:latin typeface="Aptos"/>
              </a:rPr>
              <a:t>Keep consistent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45920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1">
                <a:solidFill>
                  <a:srgbClr val="F59119"/>
                </a:solidFill>
                <a:latin typeface="Aptos"/>
              </a:rPr>
              <a:t>Can evolve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1">
                <a:solidFill>
                  <a:srgbClr val="965AEB"/>
                </a:solidFill>
                <a:latin typeface="Aptos"/>
              </a:rPr>
              <a:t>Needs a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orderId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5468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orderDate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items[].qty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items[].price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14884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giftMessage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7" y="265176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deliveryNotes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315468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marketingTag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148840"/>
            <a:ext cx="4251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embedded vs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834640"/>
            <a:ext cx="4251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field optionality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0440"/>
            <a:ext cx="4251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array 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074920"/>
            <a:ext cx="1028700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0">
                <a:solidFill>
                  <a:srgbClr val="A5AFB9"/>
                </a:solidFill>
                <a:latin typeface="Aptos"/>
              </a:rPr>
              <a:t>Schema thinking is the discipline of knowing which variation is intentional and which variation is accidental.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Hands-On: Inspect Schema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Use mongosh to see the difference between a flexible model and an inconsistent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629400" cy="434340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635508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F59119"/>
                </a:solidFill>
                <a:latin typeface="Aptos"/>
              </a:rPr>
              <a:t>Step 1 — create representative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792224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use orderdb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11680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db.orders.drop()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31136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" y="2450592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db.orders.insertMany([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670048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"ORD-1001", status: "CONFIRMED", totalAmount: 1250.00 },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889504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"ORD-1002", status: "PLACED", totalAmount: "980.00", priority: true 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108960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"ORD-1003", status: "SHIPPED", shippingAddress: { city: "Chennai" }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28416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371600"/>
            <a:ext cx="4297680" cy="434340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89520" y="1645920"/>
            <a:ext cx="379476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309AF5"/>
                </a:solidFill>
                <a:latin typeface="Aptos"/>
              </a:rPr>
              <a:t>Inspect the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148840"/>
            <a:ext cx="3749039" cy="1874519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6680" y="2258568"/>
            <a:ext cx="347472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09AF5"/>
                </a:solidFill>
                <a:latin typeface="Aptos"/>
              </a:rPr>
              <a:t>Step 2 — inspect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4" y="2569464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db.orders.find(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2788920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{},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3008376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_id: 0, orderId: 1, status: 1,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4" y="3227832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totalAmount: 1, priority: 1,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447288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shippingAddress: 1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824" y="3666744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).pretty()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70248"/>
            <a:ext cx="3749039" cy="10058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Aptos"/>
              </a:rPr>
              <a:t>Observation: one collection can hold different shapes, but unexpected variation can become application complexity.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Hands-On: Turn Observation Into a Design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Fix meaning at the application level before adding enforcement.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492240" cy="452628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621792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965AEB"/>
                </a:solidFill>
                <a:latin typeface="Aptos"/>
              </a:rPr>
              <a:t>Step 3 — inspect meaning and 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792224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// Inspect the type of totalAmount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11680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db.orders.aggregate([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31136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$project: { orderId: 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450592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amountType: { $type: "$totalAmount" } }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670048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889504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" y="3108960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// Inspect which fields exist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28416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db.orders.aggregate([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547872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$project: { orderId: 1,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767328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hasPriority: { $ne: ["$priority", null] },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3986784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hasShipping: { $ne: ["$shippingAddress", null] } }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4206240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1371600"/>
            <a:ext cx="438912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79" y="1645920"/>
            <a:ext cx="388620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F59119"/>
                </a:solidFill>
                <a:latin typeface="Aptos"/>
              </a:rPr>
              <a:t>Then decide</a:t>
            </a:r>
          </a:p>
        </p:txBody>
      </p:sp>
      <p:sp>
        <p:nvSpPr>
          <p:cNvPr id="22" name="Oval 21"/>
          <p:cNvSpPr/>
          <p:nvPr/>
        </p:nvSpPr>
        <p:spPr>
          <a:xfrm>
            <a:off x="7516368" y="224942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0" y="213969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Standardize totalAmount type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288950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80960" y="277977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Define which fields are core</a:t>
            </a:r>
          </a:p>
        </p:txBody>
      </p:sp>
      <p:sp>
        <p:nvSpPr>
          <p:cNvPr id="26" name="Oval 25"/>
          <p:cNvSpPr/>
          <p:nvPr/>
        </p:nvSpPr>
        <p:spPr>
          <a:xfrm>
            <a:off x="7516368" y="352958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0" y="341985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Allow optional fields deliberately</a:t>
            </a:r>
          </a:p>
        </p:txBody>
      </p:sp>
      <p:sp>
        <p:nvSpPr>
          <p:cNvPr id="28" name="Oval 27"/>
          <p:cNvSpPr/>
          <p:nvPr/>
        </p:nvSpPr>
        <p:spPr>
          <a:xfrm>
            <a:off x="7516368" y="416966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0" y="405993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Document version changes</a:t>
            </a:r>
          </a:p>
        </p:txBody>
      </p:sp>
      <p:sp>
        <p:nvSpPr>
          <p:cNvPr id="30" name="Oval 29"/>
          <p:cNvSpPr/>
          <p:nvPr/>
        </p:nvSpPr>
        <p:spPr>
          <a:xfrm>
            <a:off x="7516368" y="480974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0" y="470001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Add validation later when enforcement is needed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5413248"/>
            <a:ext cx="3749039" cy="2834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A5AFB9"/>
                </a:solidFill>
                <a:latin typeface="Aptos"/>
              </a:rPr>
              <a:t>Flexible storage + clear contract = manageable evolution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Best Practices for Practical MongoDB Schemas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Keep flexibility useful, visible, and aligned with the application.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58952" y="157276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0934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9112" y="154533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Meaningful names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1874519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orderId, shippingAddress,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82512" y="157276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160934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154533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Consistent semantics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2672" y="1874519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the same field should mean the same 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74320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58952" y="289864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" y="293522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9112" y="287121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Purposeful flexibility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320040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new fields solve a real requirement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74320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82512" y="289864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55664" y="293522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287121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Access-aware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320040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model around common reads and writes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06908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8952" y="422452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" y="426110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9112" y="419709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Explicit evolution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9112" y="452628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know what changed and why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06908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382512" y="422452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426110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419709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Use guardrails when needed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2672" y="452628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validation can enforce agreed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96128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Good schema design is a developer discipline — not simply a database setting.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1123</Words>
  <Application>Microsoft Office PowerPoint</Application>
  <PresentationFormat>Widescreen</PresentationFormat>
  <Paragraphs>226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2</cp:revision>
  <dcterms:created xsi:type="dcterms:W3CDTF">2013-01-27T09:14:16Z</dcterms:created>
  <dcterms:modified xsi:type="dcterms:W3CDTF">2026-10-02T11:44:45Z</dcterms:modified>
  <cp:category/>
</cp:coreProperties>
</file>