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8" y="2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242DE0-3973-4B3C-BF9D-F7CE5C3253BA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369877-EDEC-4247-BADD-388E50EAEB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731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369877-EDEC-4247-BADD-388E50EAEB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48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I generated image">
            <a:extLst>
              <a:ext uri="{FF2B5EF4-FFF2-40B4-BE49-F238E27FC236}">
                <a16:creationId xmlns:a16="http://schemas.microsoft.com/office/drawing/2014/main" id="{DA7BD834-66C7-F1A1-7950-1DD512EDD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9" y="119743"/>
            <a:ext cx="12153899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306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11480" y="292608"/>
            <a:ext cx="1627632" cy="402336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329184"/>
            <a:ext cx="1481328" cy="32918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050709"/>
                </a:solidFill>
                <a:latin typeface="Aptos"/>
              </a:rPr>
              <a:t>Why Schemas?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822960"/>
            <a:ext cx="8778240" cy="6766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4000" b="1">
                <a:solidFill>
                  <a:srgbClr val="F5F7FA"/>
                </a:solidFill>
                <a:latin typeface="Aptos"/>
              </a:rPr>
              <a:t>Why Schemas?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17904"/>
            <a:ext cx="8321040" cy="49377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1">
                <a:solidFill>
                  <a:srgbClr val="309AF5"/>
                </a:solidFill>
                <a:latin typeface="Aptos"/>
              </a:rPr>
              <a:t>Flexible documents still need an intentional design.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86000"/>
            <a:ext cx="4572000" cy="3337560"/>
          </a:xfrm>
          <a:prstGeom prst="roundRect">
            <a:avLst/>
          </a:prstGeom>
          <a:solidFill>
            <a:srgbClr val="0A0E12"/>
          </a:solidFill>
          <a:ln w="2159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560320"/>
            <a:ext cx="40690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200" b="1">
                <a:solidFill>
                  <a:srgbClr val="F59119"/>
                </a:solidFill>
                <a:latin typeface="Aptos"/>
              </a:rPr>
              <a:t>The core idea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977639" cy="11430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900" b="0">
                <a:solidFill>
                  <a:srgbClr val="F5F7FA"/>
                </a:solidFill>
                <a:latin typeface="Aptos"/>
              </a:rPr>
              <a:t>MongoDB lets documents evolve, but your application still needs a clear expectation of what data means, where it lives, and how it is accessed.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32120" y="2331720"/>
            <a:ext cx="1993392" cy="457200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605272" y="2368296"/>
            <a:ext cx="1847088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FLEXIBLE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2331720"/>
            <a:ext cx="1993392" cy="457200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9831" y="2368296"/>
            <a:ext cx="1847088" cy="38404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050709"/>
                </a:solidFill>
                <a:latin typeface="Aptos"/>
              </a:rPr>
              <a:t>INTENTIONAL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41264" y="2907792"/>
            <a:ext cx="416052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800" b="1">
                <a:solidFill>
                  <a:srgbClr val="F5F7FA"/>
                </a:solidFill>
                <a:latin typeface="Aptos"/>
              </a:rPr>
              <a:t>flexibility ≠ no design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00800" y="3657600"/>
            <a:ext cx="2331720" cy="0"/>
          </a:xfrm>
          <a:prstGeom prst="line">
            <a:avLst/>
          </a:prstGeom>
          <a:ln w="38100">
            <a:solidFill>
              <a:srgbClr val="309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629400" y="3657600"/>
            <a:ext cx="2221992" cy="0"/>
          </a:xfrm>
          <a:prstGeom prst="line">
            <a:avLst/>
          </a:prstGeom>
          <a:ln w="38100">
            <a:solidFill>
              <a:srgbClr val="F5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897880" y="4069080"/>
            <a:ext cx="1051560" cy="987552"/>
          </a:xfrm>
          <a:prstGeom prst="roundRect">
            <a:avLst/>
          </a:prstGeom>
          <a:solidFill>
            <a:srgbClr val="0E1318"/>
          </a:solidFill>
          <a:ln w="1651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89320" y="4142232"/>
            <a:ext cx="868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600" b="1">
                <a:solidFill>
                  <a:srgbClr val="309AF5"/>
                </a:solidFill>
                <a:latin typeface="Aptos"/>
              </a:rPr>
              <a:t>{}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4526280"/>
            <a:ext cx="905256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764024"/>
            <a:ext cx="9601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50" b="0">
                <a:solidFill>
                  <a:srgbClr val="A5AFB9"/>
                </a:solidFill>
                <a:latin typeface="Aptos"/>
              </a:rPr>
              <a:t>can evolve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069080"/>
            <a:ext cx="1051560" cy="987552"/>
          </a:xfrm>
          <a:prstGeom prst="roundRect">
            <a:avLst/>
          </a:prstGeom>
          <a:solidFill>
            <a:srgbClr val="0E1318"/>
          </a:solidFill>
          <a:ln w="1651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06640" y="4142232"/>
            <a:ext cx="868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600" b="1">
                <a:solidFill>
                  <a:srgbClr val="F59119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4526280"/>
            <a:ext cx="905256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Contract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4764024"/>
            <a:ext cx="9601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50" b="0">
                <a:solidFill>
                  <a:srgbClr val="A5AFB9"/>
                </a:solidFill>
                <a:latin typeface="Aptos"/>
              </a:rPr>
              <a:t>application expectation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32520" y="4069080"/>
            <a:ext cx="1051560" cy="987552"/>
          </a:xfrm>
          <a:prstGeom prst="roundRect">
            <a:avLst/>
          </a:prstGeom>
          <a:solidFill>
            <a:srgbClr val="0E1318"/>
          </a:solidFill>
          <a:ln w="1651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23960" y="4142232"/>
            <a:ext cx="8686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2600" b="1">
                <a:solidFill>
                  <a:srgbClr val="965AEB"/>
                </a:solidFill>
                <a:latin typeface="Aptos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5672" y="4526280"/>
            <a:ext cx="905256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Query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764024"/>
            <a:ext cx="96012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950" b="0">
                <a:solidFill>
                  <a:srgbClr val="A5AFB9"/>
                </a:solidFill>
                <a:latin typeface="Aptos"/>
              </a:rPr>
              <a:t>access pattern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Running example: Order Management — one business object, intentionally shaped for how the application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What Does “Schema” Mean?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A schema is an expected shape — whether or not the database enforces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3657600" cy="4526280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572768"/>
            <a:ext cx="3108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1">
                <a:solidFill>
                  <a:srgbClr val="F59119"/>
                </a:solidFill>
                <a:latin typeface="Aptos"/>
              </a:rPr>
              <a:t>Think in three layers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057400"/>
            <a:ext cx="384048" cy="384048"/>
          </a:xfrm>
          <a:prstGeom prst="ellipse">
            <a:avLst/>
          </a:prstGeom>
          <a:solidFill>
            <a:srgbClr val="30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2066543"/>
            <a:ext cx="384048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050709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2728" y="2048256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Meaning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2728" y="2377440"/>
            <a:ext cx="2542032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A5AFB9"/>
                </a:solidFill>
                <a:latin typeface="Aptos"/>
              </a:rPr>
              <a:t>What does this field represent?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136391"/>
            <a:ext cx="384048" cy="384048"/>
          </a:xfrm>
          <a:prstGeom prst="ellipse">
            <a:avLst/>
          </a:prstGeom>
          <a:solidFill>
            <a:srgbClr val="965A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9808" y="3145535"/>
            <a:ext cx="384048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050709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2728" y="3127248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Shape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3456432"/>
            <a:ext cx="2542032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A5AFB9"/>
                </a:solidFill>
                <a:latin typeface="Aptos"/>
              </a:rPr>
              <a:t>Which fields should exist?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215383"/>
            <a:ext cx="384048" cy="384048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4224527"/>
            <a:ext cx="384048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050709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52728" y="4206240"/>
            <a:ext cx="251460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Access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2728" y="4535423"/>
            <a:ext cx="2542032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A5AFB9"/>
                </a:solidFill>
                <a:latin typeface="Aptos"/>
              </a:rPr>
              <a:t>How will the app read or change it?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325880"/>
            <a:ext cx="3429000" cy="4526280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1572768"/>
            <a:ext cx="28803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1">
                <a:solidFill>
                  <a:srgbClr val="309AF5"/>
                </a:solidFill>
                <a:latin typeface="Aptos"/>
              </a:rPr>
              <a:t>Application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2084831"/>
            <a:ext cx="2971800" cy="1965960"/>
          </a:xfrm>
          <a:prstGeom prst="roundRect">
            <a:avLst/>
          </a:prstGeom>
          <a:solidFill>
            <a:srgbClr val="070C12"/>
          </a:solidFill>
          <a:ln w="1778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00600" y="2194560"/>
            <a:ext cx="26974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09AF5"/>
                </a:solidFill>
                <a:latin typeface="Aptos"/>
              </a:rPr>
              <a:t>Order shape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9744" y="2505456"/>
            <a:ext cx="26791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orderId: "ORD-1001"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9744" y="2724911"/>
            <a:ext cx="26791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status: "CONFIRMED"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9744" y="2944368"/>
            <a:ext cx="26791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items: [ ... 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9744" y="3163824"/>
            <a:ext cx="26791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shippingAddress: { ... 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9744" y="3383280"/>
            <a:ext cx="26791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payment: { ... }</a:t>
            </a:r>
          </a:p>
        </p:txBody>
      </p:sp>
      <p:sp>
        <p:nvSpPr>
          <p:cNvPr id="29" name="Oval 28"/>
          <p:cNvSpPr/>
          <p:nvPr/>
        </p:nvSpPr>
        <p:spPr>
          <a:xfrm>
            <a:off x="4681728" y="4407408"/>
            <a:ext cx="91440" cy="91440"/>
          </a:xfrm>
          <a:prstGeom prst="ellipse">
            <a:avLst/>
          </a:prstGeom>
          <a:solidFill>
            <a:srgbClr val="30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4297680"/>
            <a:ext cx="27157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Names have business meaning</a:t>
            </a:r>
          </a:p>
        </p:txBody>
      </p:sp>
      <p:sp>
        <p:nvSpPr>
          <p:cNvPr id="31" name="Oval 30"/>
          <p:cNvSpPr/>
          <p:nvPr/>
        </p:nvSpPr>
        <p:spPr>
          <a:xfrm>
            <a:off x="4681728" y="4855464"/>
            <a:ext cx="91440" cy="91440"/>
          </a:xfrm>
          <a:prstGeom prst="ellipse">
            <a:avLst/>
          </a:prstGeom>
          <a:solidFill>
            <a:srgbClr val="30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846320" y="4745736"/>
            <a:ext cx="27157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Types have expected meaning</a:t>
            </a:r>
          </a:p>
        </p:txBody>
      </p:sp>
      <p:sp>
        <p:nvSpPr>
          <p:cNvPr id="33" name="Oval 32"/>
          <p:cNvSpPr/>
          <p:nvPr/>
        </p:nvSpPr>
        <p:spPr>
          <a:xfrm>
            <a:off x="4681728" y="5303520"/>
            <a:ext cx="91440" cy="91440"/>
          </a:xfrm>
          <a:prstGeom prst="ellipse">
            <a:avLst/>
          </a:prstGeom>
          <a:solidFill>
            <a:srgbClr val="30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846320" y="5193792"/>
            <a:ext cx="27157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F5F7FA"/>
                </a:solidFill>
                <a:latin typeface="Aptos"/>
              </a:rPr>
              <a:t>Common reads should be easy to express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1325880"/>
            <a:ext cx="3493008" cy="4526280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0" y="1572768"/>
            <a:ext cx="297180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1">
                <a:solidFill>
                  <a:srgbClr val="965AEB"/>
                </a:solidFill>
                <a:latin typeface="Aptos"/>
              </a:rPr>
              <a:t>MongoDB flexibility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103120"/>
            <a:ext cx="2926080" cy="8229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0">
                <a:solidFill>
                  <a:srgbClr val="F5F7FA"/>
                </a:solidFill>
                <a:latin typeface="Aptos"/>
              </a:rPr>
              <a:t>Different documents can evolve without requiring every historical document to change at once.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49056" y="3246120"/>
            <a:ext cx="2651760" cy="393192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522208" y="3282696"/>
            <a:ext cx="2505456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050709"/>
                </a:solidFill>
                <a:latin typeface="Aptos"/>
              </a:rPr>
              <a:t>FIELD ADDED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49056" y="3822191"/>
            <a:ext cx="2651760" cy="393192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522208" y="3858768"/>
            <a:ext cx="2505456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OPTIONAL FIELD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49056" y="4398264"/>
            <a:ext cx="2651760" cy="393192"/>
          </a:xfrm>
          <a:prstGeom prst="roundRect">
            <a:avLst/>
          </a:prstGeom>
          <a:solidFill>
            <a:srgbClr val="965AEB"/>
          </a:solidFill>
          <a:ln w="1270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522208" y="4434840"/>
            <a:ext cx="2505456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F5F7FA"/>
                </a:solidFill>
                <a:latin typeface="Aptos"/>
              </a:rPr>
              <a:t>VERSIONED CHANGE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5074920"/>
            <a:ext cx="2926080" cy="43891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A5AFB9"/>
                </a:solidFill>
                <a:latin typeface="Aptos"/>
              </a:rPr>
              <a:t>The design still needs a reason.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Flexible Schema Does Not Mean “Schema-Free”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MongoDB may not enforce one fixed shape by default, but applications still need a model.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5349240" cy="4526280"/>
          </a:xfrm>
          <a:prstGeom prst="roundRect">
            <a:avLst/>
          </a:prstGeom>
          <a:solidFill>
            <a:srgbClr val="0A0E12"/>
          </a:solidFill>
          <a:ln w="22860">
            <a:solidFill>
              <a:srgbClr val="DF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47548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1">
                <a:solidFill>
                  <a:srgbClr val="DF4A37"/>
                </a:solidFill>
                <a:latin typeface="Aptos"/>
              </a:rPr>
              <a:t>What “no fixed schema” really gives you</a:t>
            </a:r>
          </a:p>
        </p:txBody>
      </p:sp>
      <p:sp>
        <p:nvSpPr>
          <p:cNvPr id="8" name="Oval 7"/>
          <p:cNvSpPr/>
          <p:nvPr/>
        </p:nvSpPr>
        <p:spPr>
          <a:xfrm>
            <a:off x="786384" y="2231136"/>
            <a:ext cx="91440" cy="91440"/>
          </a:xfrm>
          <a:prstGeom prst="ellipse">
            <a:avLst/>
          </a:prstGeom>
          <a:solidFill>
            <a:srgbClr val="DF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121408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Documents in one collection can have different fields.</a:t>
            </a:r>
          </a:p>
        </p:txBody>
      </p:sp>
      <p:sp>
        <p:nvSpPr>
          <p:cNvPr id="10" name="Oval 9"/>
          <p:cNvSpPr/>
          <p:nvPr/>
        </p:nvSpPr>
        <p:spPr>
          <a:xfrm>
            <a:off x="786384" y="2889504"/>
            <a:ext cx="91440" cy="91440"/>
          </a:xfrm>
          <a:prstGeom prst="ellipse">
            <a:avLst/>
          </a:prstGeom>
          <a:solidFill>
            <a:srgbClr val="DF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779776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New fields can be introduced as the application evolves.</a:t>
            </a:r>
          </a:p>
        </p:txBody>
      </p:sp>
      <p:sp>
        <p:nvSpPr>
          <p:cNvPr id="12" name="Oval 11"/>
          <p:cNvSpPr/>
          <p:nvPr/>
        </p:nvSpPr>
        <p:spPr>
          <a:xfrm>
            <a:off x="786384" y="3547872"/>
            <a:ext cx="91440" cy="91440"/>
          </a:xfrm>
          <a:prstGeom prst="ellipse">
            <a:avLst/>
          </a:prstGeom>
          <a:solidFill>
            <a:srgbClr val="DF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0976" y="3438144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Old and new document versions can coexist during a transition.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4206240"/>
            <a:ext cx="91440" cy="91440"/>
          </a:xfrm>
          <a:prstGeom prst="ellipse">
            <a:avLst/>
          </a:prstGeom>
          <a:solidFill>
            <a:srgbClr val="DF4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50976" y="4096511"/>
            <a:ext cx="45445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The database does not have to force every change through a table-style migration.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325880"/>
            <a:ext cx="5532120" cy="4526280"/>
          </a:xfrm>
          <a:prstGeom prst="roundRect">
            <a:avLst/>
          </a:prstGeom>
          <a:solidFill>
            <a:srgbClr val="0A0E12"/>
          </a:solidFill>
          <a:ln w="2286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82512" y="1572768"/>
            <a:ext cx="498348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1">
                <a:solidFill>
                  <a:srgbClr val="F59119"/>
                </a:solidFill>
                <a:latin typeface="Aptos"/>
              </a:rPr>
              <a:t>What the application still has to decide</a:t>
            </a:r>
          </a:p>
        </p:txBody>
      </p:sp>
      <p:sp>
        <p:nvSpPr>
          <p:cNvPr id="18" name="Oval 17"/>
          <p:cNvSpPr/>
          <p:nvPr/>
        </p:nvSpPr>
        <p:spPr>
          <a:xfrm>
            <a:off x="6419088" y="2231136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83679" y="2121408"/>
            <a:ext cx="472744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Which fields are core to an order?</a:t>
            </a:r>
          </a:p>
        </p:txBody>
      </p:sp>
      <p:sp>
        <p:nvSpPr>
          <p:cNvPr id="20" name="Oval 19"/>
          <p:cNvSpPr/>
          <p:nvPr/>
        </p:nvSpPr>
        <p:spPr>
          <a:xfrm>
            <a:off x="6419088" y="2788920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79" y="2679191"/>
            <a:ext cx="472744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Which values should have consistent meaning and type?</a:t>
            </a:r>
          </a:p>
        </p:txBody>
      </p:sp>
      <p:sp>
        <p:nvSpPr>
          <p:cNvPr id="22" name="Oval 21"/>
          <p:cNvSpPr/>
          <p:nvPr/>
        </p:nvSpPr>
        <p:spPr>
          <a:xfrm>
            <a:off x="6419088" y="3346703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83679" y="3236975"/>
            <a:ext cx="472744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Which data should be nested together?</a:t>
            </a:r>
          </a:p>
        </p:txBody>
      </p:sp>
      <p:sp>
        <p:nvSpPr>
          <p:cNvPr id="24" name="Oval 23"/>
          <p:cNvSpPr/>
          <p:nvPr/>
        </p:nvSpPr>
        <p:spPr>
          <a:xfrm>
            <a:off x="6419088" y="3904487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79" y="3794759"/>
            <a:ext cx="472744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Which changes are backward compatible?</a:t>
            </a:r>
          </a:p>
        </p:txBody>
      </p:sp>
      <p:sp>
        <p:nvSpPr>
          <p:cNvPr id="26" name="Oval 25"/>
          <p:cNvSpPr/>
          <p:nvPr/>
        </p:nvSpPr>
        <p:spPr>
          <a:xfrm>
            <a:off x="6419088" y="4462272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79" y="4352544"/>
            <a:ext cx="472744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Aptos"/>
              </a:rPr>
              <a:t>Which access patterns must remain predictable?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6108192"/>
            <a:ext cx="4160520" cy="384048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050791" y="6144768"/>
            <a:ext cx="4014215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050709"/>
                </a:solidFill>
                <a:latin typeface="Aptos"/>
              </a:rPr>
              <a:t>FLEXIBILITY + INTENTIONAL DESIGN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Why a Schema Still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A model prevents “anything goes” from becoming inconsistent application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3520440" cy="1874519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DF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627632"/>
            <a:ext cx="31089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>
                <a:solidFill>
                  <a:srgbClr val="DF4A37"/>
                </a:solidFill>
                <a:latin typeface="Aptos"/>
              </a:rPr>
              <a:t>Inconsistent 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84831"/>
            <a:ext cx="3054096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onsolas"/>
              </a:rPr>
              <a:t>status, orderStatus,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4088" y="2697480"/>
            <a:ext cx="1325880" cy="329184"/>
          </a:xfrm>
          <a:prstGeom prst="roundRect">
            <a:avLst/>
          </a:prstGeom>
          <a:solidFill>
            <a:srgbClr val="DF4A37"/>
          </a:solidFill>
          <a:ln w="12700">
            <a:solidFill>
              <a:srgbClr val="DF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734056"/>
            <a:ext cx="1179576" cy="25603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Naming drift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417320"/>
            <a:ext cx="3520440" cy="1874519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62855" y="1627632"/>
            <a:ext cx="31089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>
                <a:solidFill>
                  <a:srgbClr val="965AEB"/>
                </a:solidFill>
                <a:latin typeface="Aptos"/>
              </a:rPr>
              <a:t>Inconsistent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855" y="2084831"/>
            <a:ext cx="3054096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onsolas"/>
              </a:rPr>
              <a:t>price: 499.50 vs "499.50"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62855" y="2697480"/>
            <a:ext cx="1325880" cy="329184"/>
          </a:xfrm>
          <a:prstGeom prst="roundRect">
            <a:avLst/>
          </a:prstGeom>
          <a:solidFill>
            <a:srgbClr val="965AEB"/>
          </a:solidFill>
          <a:ln w="1270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36007" y="2734056"/>
            <a:ext cx="1179576" cy="25603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Type 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0456" y="1417320"/>
            <a:ext cx="3520440" cy="1874519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21624" y="1627632"/>
            <a:ext cx="31089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>
                <a:solidFill>
                  <a:srgbClr val="309AF5"/>
                </a:solidFill>
                <a:latin typeface="Aptos"/>
              </a:rPr>
              <a:t>Missing meaning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084831"/>
            <a:ext cx="3054096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Consolas"/>
              </a:rPr>
              <a:t>shipping vs shippingAddress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21624" y="2697480"/>
            <a:ext cx="1325880" cy="329184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94776" y="2734056"/>
            <a:ext cx="1179576" cy="256031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Semantic drift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03320"/>
            <a:ext cx="10835640" cy="1609344"/>
          </a:xfrm>
          <a:prstGeom prst="roundRect">
            <a:avLst/>
          </a:prstGeom>
          <a:solidFill>
            <a:srgbClr val="080C11"/>
          </a:solidFill>
          <a:ln w="1905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3904487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F59119"/>
                </a:solidFill>
                <a:latin typeface="Aptos"/>
              </a:rPr>
              <a:t>Requirement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4078224"/>
            <a:ext cx="914400" cy="0"/>
          </a:xfrm>
          <a:prstGeom prst="line">
            <a:avLst/>
          </a:prstGeom>
          <a:ln w="31750">
            <a:solidFill>
              <a:srgbClr val="F5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94760" y="3904487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309AF5"/>
                </a:solidFill>
                <a:latin typeface="Aptos"/>
              </a:rPr>
              <a:t>Document shape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806440" y="4078224"/>
            <a:ext cx="914400" cy="0"/>
          </a:xfrm>
          <a:prstGeom prst="line">
            <a:avLst/>
          </a:prstGeom>
          <a:ln w="31750">
            <a:solidFill>
              <a:srgbClr val="309A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629400" y="3904487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965AEB"/>
                </a:solidFill>
                <a:latin typeface="Aptos"/>
              </a:rPr>
              <a:t>Application access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41080" y="4078224"/>
            <a:ext cx="914400" cy="0"/>
          </a:xfrm>
          <a:prstGeom prst="line">
            <a:avLst/>
          </a:prstGeom>
          <a:ln w="31750">
            <a:solidFill>
              <a:srgbClr val="965A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372600" y="3904487"/>
            <a:ext cx="196596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700" b="1">
                <a:solidFill>
                  <a:srgbClr val="F5F7FA"/>
                </a:solidFill>
                <a:latin typeface="Aptos"/>
              </a:rPr>
              <a:t>Consistent data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4681728"/>
            <a:ext cx="105613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0">
                <a:solidFill>
                  <a:srgbClr val="A5AFB9"/>
                </a:solidFill>
                <a:latin typeface="Aptos"/>
              </a:rPr>
              <a:t>A good schema is less about restriction and more about making data predictable enough for the application.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Same Collection, Evolving 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Flexibility is useful when changes are purposeful and understood.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1109960" cy="4434840"/>
          </a:xfrm>
          <a:prstGeom prst="roundRect">
            <a:avLst/>
          </a:prstGeom>
          <a:solidFill>
            <a:srgbClr val="0A0E12"/>
          </a:solidFill>
          <a:ln w="2159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554480"/>
            <a:ext cx="1554480" cy="384048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591056"/>
            <a:ext cx="1408176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00" b="1">
                <a:solidFill>
                  <a:srgbClr val="F5F7FA"/>
                </a:solidFill>
                <a:latin typeface="Aptos"/>
              </a:rPr>
              <a:t>orders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2240280"/>
            <a:ext cx="2606040" cy="2240280"/>
          </a:xfrm>
          <a:prstGeom prst="roundRect">
            <a:avLst/>
          </a:prstGeom>
          <a:solidFill>
            <a:srgbClr val="070B10"/>
          </a:solidFill>
          <a:ln w="1905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97280" y="2450592"/>
            <a:ext cx="658368" cy="310896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70432" y="2487168"/>
            <a:ext cx="512063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2971800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orderId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856" y="3355848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3739896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items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39312" y="3337560"/>
            <a:ext cx="521208" cy="0"/>
          </a:xfrm>
          <a:prstGeom prst="line">
            <a:avLst/>
          </a:prstGeom>
          <a:ln w="30480">
            <a:solidFill>
              <a:srgbClr val="F5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343400" y="2240280"/>
            <a:ext cx="2606040" cy="2240280"/>
          </a:xfrm>
          <a:prstGeom prst="roundRect">
            <a:avLst/>
          </a:prstGeom>
          <a:solidFill>
            <a:srgbClr val="070B10"/>
          </a:solidFill>
          <a:ln w="1905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526280" y="2450592"/>
            <a:ext cx="658368" cy="310896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99432" y="2487168"/>
            <a:ext cx="512063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050709"/>
                </a:solidFill>
                <a:latin typeface="Aptos"/>
              </a:rPr>
              <a:t>v2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2971800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orderId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3355848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status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3739896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items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62856" y="4123944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shippingAddress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68312" y="3337560"/>
            <a:ext cx="521208" cy="0"/>
          </a:xfrm>
          <a:prstGeom prst="line">
            <a:avLst/>
          </a:prstGeom>
          <a:ln w="30480">
            <a:solidFill>
              <a:srgbClr val="F5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772400" y="2240280"/>
            <a:ext cx="2606040" cy="2240280"/>
          </a:xfrm>
          <a:prstGeom prst="roundRect">
            <a:avLst/>
          </a:prstGeom>
          <a:solidFill>
            <a:srgbClr val="070B10"/>
          </a:solidFill>
          <a:ln w="1905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955279" y="2450592"/>
            <a:ext cx="658368" cy="310896"/>
          </a:xfrm>
          <a:prstGeom prst="roundRect">
            <a:avLst/>
          </a:prstGeom>
          <a:solidFill>
            <a:srgbClr val="965AEB"/>
          </a:solidFill>
          <a:ln w="1270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28431" y="2487168"/>
            <a:ext cx="512063" cy="23774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v3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2971800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orderId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91856" y="3355848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status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91856" y="3739896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items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91856" y="4123944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shippingAddress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1856" y="4507992"/>
            <a:ext cx="21488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payment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892040"/>
            <a:ext cx="105613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The important question is not “Can the next document look different?” — it is “Do we understand the change and its impact?”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Order Management: Define the Intended Shape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Start from the business object before thinking about storage enforcement.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4754880" cy="4526280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420624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1">
                <a:solidFill>
                  <a:srgbClr val="F59119"/>
                </a:solidFill>
                <a:latin typeface="Aptos"/>
              </a:rPr>
              <a:t>Order document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84831"/>
            <a:ext cx="4251960" cy="2606040"/>
          </a:xfrm>
          <a:prstGeom prst="roundRect">
            <a:avLst/>
          </a:prstGeom>
          <a:solidFill>
            <a:srgbClr val="070C12"/>
          </a:solidFill>
          <a:ln w="1778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2194560"/>
            <a:ext cx="39776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59119"/>
                </a:solidFill>
                <a:latin typeface="Aptos"/>
              </a:rPr>
              <a:t>Intended shape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505456"/>
            <a:ext cx="39593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24911"/>
            <a:ext cx="39593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orderId: "ORD-1001",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944368"/>
            <a:ext cx="39593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orderDate: ISODate(...),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163824"/>
            <a:ext cx="39593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status: "CONFIRMED",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383280"/>
            <a:ext cx="39593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items: [ ... ],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602736"/>
            <a:ext cx="39593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shippingAddress: { ... },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3822192"/>
            <a:ext cx="39593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payment: { ...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041648"/>
            <a:ext cx="395935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983480"/>
            <a:ext cx="4160520" cy="5303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This is the contract your application designs around — it can evolve later.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1325880"/>
            <a:ext cx="6080760" cy="4526280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0" y="1572768"/>
            <a:ext cx="539496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100" b="1">
                <a:solidFill>
                  <a:srgbClr val="309AF5"/>
                </a:solidFill>
                <a:latin typeface="Aptos"/>
              </a:rPr>
              <a:t>What should be clear?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9008" y="2148840"/>
            <a:ext cx="1170432" cy="320040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52160" y="2185416"/>
            <a:ext cx="1024128" cy="2468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14032" y="2139696"/>
            <a:ext cx="40690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orderId, status, orderDate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79008" y="2971800"/>
            <a:ext cx="1170432" cy="320040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52160" y="3008376"/>
            <a:ext cx="1024128" cy="2468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Nested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14032" y="2962656"/>
            <a:ext cx="40690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shippingAddress, payment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79008" y="3794760"/>
            <a:ext cx="1170432" cy="320040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52160" y="3831336"/>
            <a:ext cx="1024128" cy="2468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Repeated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3785616"/>
            <a:ext cx="40690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items[]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779008" y="4617720"/>
            <a:ext cx="1170432" cy="320040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52160" y="4654296"/>
            <a:ext cx="1024128" cy="246887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100" b="1">
                <a:solidFill>
                  <a:srgbClr val="050709"/>
                </a:solidFill>
                <a:latin typeface="Aptos"/>
              </a:rPr>
              <a:t>Evolution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14032" y="4608576"/>
            <a:ext cx="4069080" cy="3657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Consolas"/>
              </a:rPr>
              <a:t>new optional fields only when useful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7296" y="5449824"/>
            <a:ext cx="544068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00" b="0">
                <a:solidFill>
                  <a:srgbClr val="A5AFB9"/>
                </a:solidFill>
                <a:latin typeface="Aptos"/>
              </a:rPr>
              <a:t>Next lesson: turn the shape into a deliberate document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A Practical Schema Design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Use a repeatable sequence instead of designing by accident.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1353312"/>
            <a:ext cx="384048" cy="384048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62456"/>
            <a:ext cx="384048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05070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1335024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Requirements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1353312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What does the application need?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2104" y="1764792"/>
            <a:ext cx="0" cy="448056"/>
          </a:xfrm>
          <a:prstGeom prst="line">
            <a:avLst/>
          </a:prstGeom>
          <a:ln w="22860">
            <a:solidFill>
              <a:srgbClr val="F5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640080" y="2286000"/>
            <a:ext cx="384048" cy="384048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295144"/>
            <a:ext cx="384048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050709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2267712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Document shape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286000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Which fields belong together?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" y="2697480"/>
            <a:ext cx="0" cy="448056"/>
          </a:xfrm>
          <a:prstGeom prst="line">
            <a:avLst/>
          </a:prstGeom>
          <a:ln w="22860">
            <a:solidFill>
              <a:srgbClr val="F5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40080" y="3218688"/>
            <a:ext cx="384048" cy="384048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227832"/>
            <a:ext cx="384048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050709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3200400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Access patterns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218688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How will reads and writes work?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32104" y="3630168"/>
            <a:ext cx="0" cy="448056"/>
          </a:xfrm>
          <a:prstGeom prst="line">
            <a:avLst/>
          </a:prstGeom>
          <a:ln w="22860">
            <a:solidFill>
              <a:srgbClr val="F5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640080" y="4151376"/>
            <a:ext cx="384048" cy="384048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4160520"/>
            <a:ext cx="384048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050709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70432" y="4133088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Evolution 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4151376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How might the shape change?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32104" y="4562856"/>
            <a:ext cx="0" cy="448056"/>
          </a:xfrm>
          <a:prstGeom prst="line">
            <a:avLst/>
          </a:prstGeom>
          <a:ln w="22860">
            <a:solidFill>
              <a:srgbClr val="F591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640080" y="5084064"/>
            <a:ext cx="384048" cy="384048"/>
          </a:xfrm>
          <a:prstGeom prst="ellipse">
            <a:avLst/>
          </a:prstGeom>
          <a:solidFill>
            <a:srgbClr val="30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5093208"/>
            <a:ext cx="384048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050709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70432" y="5065776"/>
            <a:ext cx="214884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800" b="1">
                <a:solidFill>
                  <a:srgbClr val="F5F7FA"/>
                </a:solidFill>
                <a:latin typeface="Aptos"/>
              </a:rPr>
              <a:t>Guardrails later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40" y="5084064"/>
            <a:ext cx="79095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Validation can enforce agreed rules when needed.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29800" y="1371600"/>
            <a:ext cx="1691640" cy="4343400"/>
          </a:xfrm>
          <a:prstGeom prst="roundRect">
            <a:avLst/>
          </a:prstGeom>
          <a:solidFill>
            <a:srgbClr val="0A0E12"/>
          </a:solidFill>
          <a:ln w="1905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30968" y="1664208"/>
            <a:ext cx="1280160" cy="45720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800" b="1">
                <a:solidFill>
                  <a:srgbClr val="DF4A37"/>
                </a:solidFill>
                <a:latin typeface="Aptos"/>
              </a:rPr>
              <a:t>DO NOT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30968" y="2212848"/>
            <a:ext cx="1298448" cy="105156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1">
                <a:solidFill>
                  <a:srgbClr val="F5F7FA"/>
                </a:solidFill>
                <a:latin typeface="Aptos"/>
              </a:rPr>
              <a:t>Copy a table schema blindly and hope the document model works.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30968" y="3675887"/>
            <a:ext cx="1298448" cy="11887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400" b="1">
                <a:solidFill>
                  <a:srgbClr val="F59119"/>
                </a:solidFill>
                <a:latin typeface="Aptos"/>
              </a:rPr>
              <a:t>Model around the business object and its access pattern.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Flexibility Has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Not every field should be equally flexible.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89888"/>
            <a:ext cx="11018520" cy="4251960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DF4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6517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900" b="1">
                <a:solidFill>
                  <a:srgbClr val="309AF5"/>
                </a:solidFill>
                <a:latin typeface="Aptos"/>
              </a:rPr>
              <a:t>Keep consistent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645920"/>
            <a:ext cx="26517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900" b="1">
                <a:solidFill>
                  <a:srgbClr val="F59119"/>
                </a:solidFill>
                <a:latin typeface="Aptos"/>
              </a:rPr>
              <a:t>Can evolve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45920"/>
            <a:ext cx="2651760" cy="29260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900" b="1">
                <a:solidFill>
                  <a:srgbClr val="965AEB"/>
                </a:solidFill>
                <a:latin typeface="Aptos"/>
              </a:rPr>
              <a:t>Needs a decision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✓  orderId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✓  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15468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✓  orderDate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✓  items[].qty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16052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✓  items[].price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214884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→  giftMessage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7" y="265176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→  deliveryNotes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5887" y="3154680"/>
            <a:ext cx="246888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→  marketingTag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148840"/>
            <a:ext cx="425196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?  embedded vs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834640"/>
            <a:ext cx="425196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?  field optionality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520440"/>
            <a:ext cx="4251960" cy="4114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600" b="0">
                <a:solidFill>
                  <a:srgbClr val="F5F7FA"/>
                </a:solidFill>
                <a:latin typeface="Consolas"/>
              </a:rPr>
              <a:t>?  array growth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" y="5074920"/>
            <a:ext cx="1028700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500" b="0">
                <a:solidFill>
                  <a:srgbClr val="A5AFB9"/>
                </a:solidFill>
                <a:latin typeface="Aptos"/>
              </a:rPr>
              <a:t>Schema thinking is the discipline of knowing which variation is intentional and which variation is accidental.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Hands-On: Inspect Schema Drift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Use mongosh to see the difference between a flexible model and an inconsistent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629400" cy="4343400"/>
          </a:xfrm>
          <a:prstGeom prst="roundRect">
            <a:avLst/>
          </a:prstGeom>
          <a:solidFill>
            <a:srgbClr val="070C12"/>
          </a:solidFill>
          <a:ln w="1778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635508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F59119"/>
                </a:solidFill>
                <a:latin typeface="Aptos"/>
              </a:rPr>
              <a:t>Step 1 — create representative 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92224"/>
            <a:ext cx="63367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use orderdb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11680"/>
            <a:ext cx="63367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db.orders.drop()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31136"/>
            <a:ext cx="63367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2450592"/>
            <a:ext cx="63367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db.orders.insertMany([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670048"/>
            <a:ext cx="63367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{ orderId: "ORD-1001", status: "CONFIRMED", totalAmount: 1250.00 },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889504"/>
            <a:ext cx="63367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{ orderId: "ORD-1002", status: "PLACED", totalAmount: "980.00", priority: true },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3108960"/>
            <a:ext cx="63367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{ orderId: "ORD-1003", status: "SHIPPED", shippingAddress: { city: "Chennai" }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328416"/>
            <a:ext cx="633679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])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60920" y="1371600"/>
            <a:ext cx="4297680" cy="4343400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589520" y="1645920"/>
            <a:ext cx="379476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>
                <a:solidFill>
                  <a:srgbClr val="309AF5"/>
                </a:solidFill>
                <a:latin typeface="Aptos"/>
              </a:rPr>
              <a:t>Inspect the shapes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0" y="2148840"/>
            <a:ext cx="3749039" cy="1874519"/>
          </a:xfrm>
          <a:prstGeom prst="roundRect">
            <a:avLst/>
          </a:prstGeom>
          <a:solidFill>
            <a:srgbClr val="070C12"/>
          </a:solidFill>
          <a:ln w="1778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80" y="2258568"/>
            <a:ext cx="34747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309AF5"/>
                </a:solidFill>
                <a:latin typeface="Aptos"/>
              </a:rPr>
              <a:t>Step 2 — 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35824" y="2569464"/>
            <a:ext cx="345643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db.orders.find(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35824" y="2788920"/>
            <a:ext cx="345643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{},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3008376"/>
            <a:ext cx="345643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{ _id: 0, orderId: 1, status: 1,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35824" y="3227832"/>
            <a:ext cx="345643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  totalAmount: 1, priority: 1,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35824" y="3447288"/>
            <a:ext cx="345643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  shippingAddress: 1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35824" y="3666744"/>
            <a:ext cx="3456432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).pretty()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0" y="4270248"/>
            <a:ext cx="3749039" cy="10058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1">
                <a:solidFill>
                  <a:srgbClr val="F5F7FA"/>
                </a:solidFill>
                <a:latin typeface="Aptos"/>
              </a:rPr>
              <a:t>Observation: one collection can hold different shapes, but unexpected variation can become application complexity.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Hands-On: Turn Observation Into a Design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Fix meaning at the application level before adding enforcement.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492240" cy="4526280"/>
          </a:xfrm>
          <a:prstGeom prst="roundRect">
            <a:avLst/>
          </a:prstGeom>
          <a:solidFill>
            <a:srgbClr val="070C12"/>
          </a:solidFill>
          <a:ln w="17780">
            <a:solidFill>
              <a:srgbClr val="965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621792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00" b="1">
                <a:solidFill>
                  <a:srgbClr val="965AEB"/>
                </a:solidFill>
                <a:latin typeface="Aptos"/>
              </a:rPr>
              <a:t>Step 3 — inspect meaning and shape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1792224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// Inspect the type of totalAmount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2011680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db.orders.aggregate([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2231136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{ $project: { orderId: 1,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" y="2450592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    amountType: { $type: "$totalAmount" } }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2670048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889504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9224" y="3108960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// Inspect which fields exist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" y="3328416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db.orders.aggregate([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" y="3547872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{ $project: { orderId: 1,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" y="3767328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    hasPriority: { $ne: ["$priority", null] },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" y="3986784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      hasShipping: { $ne: ["$shippingAddress", null] } }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4206240"/>
            <a:ext cx="6199631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150" b="0">
                <a:solidFill>
                  <a:srgbClr val="F5F7FA"/>
                </a:solidFill>
                <a:latin typeface="Consolas"/>
              </a:rPr>
              <a:t>])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1371600"/>
            <a:ext cx="4389120" cy="4526280"/>
          </a:xfrm>
          <a:prstGeom prst="roundRect">
            <a:avLst/>
          </a:prstGeom>
          <a:solidFill>
            <a:srgbClr val="0A0E12"/>
          </a:solidFill>
          <a:ln w="2032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98079" y="1645920"/>
            <a:ext cx="388620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2000" b="1">
                <a:solidFill>
                  <a:srgbClr val="F59119"/>
                </a:solidFill>
                <a:latin typeface="Aptos"/>
              </a:rPr>
              <a:t>Then decide</a:t>
            </a:r>
          </a:p>
        </p:txBody>
      </p:sp>
      <p:sp>
        <p:nvSpPr>
          <p:cNvPr id="22" name="Oval 21"/>
          <p:cNvSpPr/>
          <p:nvPr/>
        </p:nvSpPr>
        <p:spPr>
          <a:xfrm>
            <a:off x="7516368" y="2249424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0" y="2139696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Standardize totalAmount type</a:t>
            </a:r>
          </a:p>
        </p:txBody>
      </p:sp>
      <p:sp>
        <p:nvSpPr>
          <p:cNvPr id="24" name="Oval 23"/>
          <p:cNvSpPr/>
          <p:nvPr/>
        </p:nvSpPr>
        <p:spPr>
          <a:xfrm>
            <a:off x="7516368" y="2889504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0" y="2779776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Define which fields are core</a:t>
            </a:r>
          </a:p>
        </p:txBody>
      </p:sp>
      <p:sp>
        <p:nvSpPr>
          <p:cNvPr id="26" name="Oval 25"/>
          <p:cNvSpPr/>
          <p:nvPr/>
        </p:nvSpPr>
        <p:spPr>
          <a:xfrm>
            <a:off x="7516368" y="3529584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80960" y="3419856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Allow optional fields deliberately</a:t>
            </a:r>
          </a:p>
        </p:txBody>
      </p:sp>
      <p:sp>
        <p:nvSpPr>
          <p:cNvPr id="28" name="Oval 27"/>
          <p:cNvSpPr/>
          <p:nvPr/>
        </p:nvSpPr>
        <p:spPr>
          <a:xfrm>
            <a:off x="7516368" y="4169664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680960" y="4059936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Document version changes</a:t>
            </a:r>
          </a:p>
        </p:txBody>
      </p:sp>
      <p:sp>
        <p:nvSpPr>
          <p:cNvPr id="30" name="Oval 29"/>
          <p:cNvSpPr/>
          <p:nvPr/>
        </p:nvSpPr>
        <p:spPr>
          <a:xfrm>
            <a:off x="7516368" y="4809744"/>
            <a:ext cx="91440" cy="91440"/>
          </a:xfrm>
          <a:prstGeom prst="ellipse">
            <a:avLst/>
          </a:prstGeom>
          <a:solidFill>
            <a:srgbClr val="F591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0" y="4700016"/>
            <a:ext cx="3630168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Aptos"/>
              </a:rPr>
              <a:t>Add validation later when enforcement is needed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16368" y="5413248"/>
            <a:ext cx="3749039" cy="283464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300" b="1">
                <a:solidFill>
                  <a:srgbClr val="A5AFB9"/>
                </a:solidFill>
                <a:latin typeface="Aptos"/>
              </a:rPr>
              <a:t>Flexible storage + clear contract = manageable evolution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7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7955279" cy="5029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3000" b="1">
                <a:solidFill>
                  <a:srgbClr val="F5F7FA"/>
                </a:solidFill>
                <a:latin typeface="Aptos"/>
              </a:rPr>
              <a:t>Best Practices for Practical MongoDB Schemas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841248"/>
            <a:ext cx="8046720" cy="32004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400" b="0">
                <a:solidFill>
                  <a:srgbClr val="A5AFB9"/>
                </a:solidFill>
                <a:latin typeface="Aptos"/>
              </a:rPr>
              <a:t>Keep flexibility useful, visible, and aligned with the application.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195560" y="347472"/>
            <a:ext cx="1508760" cy="30175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r"/>
            <a:r>
              <a:rPr sz="1600" b="1">
                <a:solidFill>
                  <a:srgbClr val="F59119"/>
                </a:solidFill>
                <a:latin typeface="Aptos"/>
              </a:rPr>
              <a:t>MongoDB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5166360" cy="1024128"/>
          </a:xfrm>
          <a:prstGeom prst="roundRect">
            <a:avLst/>
          </a:prstGeom>
          <a:solidFill>
            <a:srgbClr val="0A0E12"/>
          </a:solidFill>
          <a:ln w="1651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58952" y="1572768"/>
            <a:ext cx="1115568" cy="292608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2104" y="1609344"/>
            <a:ext cx="969264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50709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39112" y="1545336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Meaningful names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9112" y="1874519"/>
            <a:ext cx="3474720" cy="3931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50" b="0">
                <a:solidFill>
                  <a:srgbClr val="A5AFB9"/>
                </a:solidFill>
                <a:latin typeface="Aptos"/>
              </a:rPr>
              <a:t>orderId, shippingAddress, 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17320"/>
            <a:ext cx="5166360" cy="1024128"/>
          </a:xfrm>
          <a:prstGeom prst="roundRect">
            <a:avLst/>
          </a:prstGeom>
          <a:solidFill>
            <a:srgbClr val="0A0E12"/>
          </a:solidFill>
          <a:ln w="1651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382512" y="1572768"/>
            <a:ext cx="1115568" cy="292608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55664" y="1609344"/>
            <a:ext cx="969264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5F7FA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62672" y="1545336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Consistent semantics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62672" y="1874519"/>
            <a:ext cx="3474720" cy="3931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50" b="0">
                <a:solidFill>
                  <a:srgbClr val="A5AFB9"/>
                </a:solidFill>
                <a:latin typeface="Aptos"/>
              </a:rPr>
              <a:t>the same field should mean the same thing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2743200"/>
            <a:ext cx="5166360" cy="1024128"/>
          </a:xfrm>
          <a:prstGeom prst="roundRect">
            <a:avLst/>
          </a:prstGeom>
          <a:solidFill>
            <a:srgbClr val="0A0E12"/>
          </a:solidFill>
          <a:ln w="1651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58952" y="2898648"/>
            <a:ext cx="1115568" cy="292608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" y="2935224"/>
            <a:ext cx="969264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50709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39112" y="2871216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Purposeful flexibility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39112" y="3200400"/>
            <a:ext cx="3474720" cy="3931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50" b="0">
                <a:solidFill>
                  <a:srgbClr val="A5AFB9"/>
                </a:solidFill>
                <a:latin typeface="Aptos"/>
              </a:rPr>
              <a:t>new fields solve a real requirement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743200"/>
            <a:ext cx="5166360" cy="1024128"/>
          </a:xfrm>
          <a:prstGeom prst="roundRect">
            <a:avLst/>
          </a:prstGeom>
          <a:solidFill>
            <a:srgbClr val="0A0E12"/>
          </a:solidFill>
          <a:ln w="1651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382512" y="2898648"/>
            <a:ext cx="1115568" cy="292608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55664" y="2935224"/>
            <a:ext cx="969264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5F7FA"/>
                </a:solidFill>
                <a:latin typeface="Aptos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2871216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Access-aware 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62672" y="3200400"/>
            <a:ext cx="3474720" cy="3931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50" b="0">
                <a:solidFill>
                  <a:srgbClr val="A5AFB9"/>
                </a:solidFill>
                <a:latin typeface="Aptos"/>
              </a:rPr>
              <a:t>model around common reads and writes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069080"/>
            <a:ext cx="5166360" cy="1024128"/>
          </a:xfrm>
          <a:prstGeom prst="roundRect">
            <a:avLst/>
          </a:prstGeom>
          <a:solidFill>
            <a:srgbClr val="0A0E12"/>
          </a:solidFill>
          <a:ln w="1651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58952" y="4224528"/>
            <a:ext cx="1115568" cy="292608"/>
          </a:xfrm>
          <a:prstGeom prst="roundRect">
            <a:avLst/>
          </a:prstGeom>
          <a:solidFill>
            <a:srgbClr val="F59119"/>
          </a:solidFill>
          <a:ln w="12700">
            <a:solidFill>
              <a:srgbClr val="F591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2104" y="4261104"/>
            <a:ext cx="969264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050709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39112" y="4197096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Explicit evolution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39112" y="4526280"/>
            <a:ext cx="3474720" cy="3931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50" b="0">
                <a:solidFill>
                  <a:srgbClr val="A5AFB9"/>
                </a:solidFill>
                <a:latin typeface="Aptos"/>
              </a:rPr>
              <a:t>know what changed and why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069080"/>
            <a:ext cx="5166360" cy="1024128"/>
          </a:xfrm>
          <a:prstGeom prst="roundRect">
            <a:avLst/>
          </a:prstGeom>
          <a:solidFill>
            <a:srgbClr val="0A0E12"/>
          </a:solidFill>
          <a:ln w="1651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382512" y="4224528"/>
            <a:ext cx="1115568" cy="292608"/>
          </a:xfrm>
          <a:prstGeom prst="roundRect">
            <a:avLst/>
          </a:prstGeom>
          <a:solidFill>
            <a:srgbClr val="309AF5"/>
          </a:solidFill>
          <a:ln w="12700">
            <a:solidFill>
              <a:srgbClr val="30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5664" y="4261104"/>
            <a:ext cx="969264" cy="21945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000" b="1">
                <a:solidFill>
                  <a:srgbClr val="F5F7FA"/>
                </a:solidFill>
                <a:latin typeface="Aptos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62672" y="4197096"/>
            <a:ext cx="3474720" cy="27432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700" b="1">
                <a:solidFill>
                  <a:srgbClr val="F5F7FA"/>
                </a:solidFill>
                <a:latin typeface="Aptos"/>
              </a:rPr>
              <a:t>Use guardrails when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4526280"/>
            <a:ext cx="3474720" cy="39319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250" b="0">
                <a:solidFill>
                  <a:srgbClr val="A5AFB9"/>
                </a:solidFill>
                <a:latin typeface="Aptos"/>
              </a:rPr>
              <a:t>validation can enforce agreed rules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96128"/>
            <a:ext cx="10789920" cy="310896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ctr"/>
            <a:r>
              <a:rPr sz="1600" b="1">
                <a:solidFill>
                  <a:srgbClr val="F5F7FA"/>
                </a:solidFill>
                <a:latin typeface="Aptos"/>
              </a:rPr>
              <a:t>Good schema design is a developer discipline — not simply a database setting.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0aed0b32-58fd-49a1-925b-0e19a34645b1}" enabled="1" method="Privileged" siteId="{97984c2b-a229-4609-8185-ae84947bc3f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1669</TotalTime>
  <Words>1124</Words>
  <Application>Microsoft Office PowerPoint</Application>
  <PresentationFormat>Widescreen</PresentationFormat>
  <Paragraphs>227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3</cp:revision>
  <dcterms:created xsi:type="dcterms:W3CDTF">2013-01-27T09:14:16Z</dcterms:created>
  <dcterms:modified xsi:type="dcterms:W3CDTF">2026-10-04T13:25:19Z</dcterms:modified>
  <cp:category/>
</cp:coreProperties>
</file>