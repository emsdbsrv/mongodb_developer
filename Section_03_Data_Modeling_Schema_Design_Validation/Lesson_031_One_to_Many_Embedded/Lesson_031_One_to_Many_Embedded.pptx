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6576"/>
            <a:ext cx="49834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5F7FA"/>
                </a:solidFill>
                <a:latin typeface="Aptos"/>
              </a:rPr>
              <a:t>One-to-Many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93792" y="36576"/>
            <a:ext cx="27889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39C12"/>
                </a:solidFill>
                <a:latin typeface="Aptos"/>
              </a:rPr>
              <a:t>Embedded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640080"/>
            <a:ext cx="815644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20" b="0">
                <a:solidFill>
                  <a:srgbClr val="F5F7FA"/>
                </a:solidFill>
                <a:latin typeface="Aptos"/>
              </a:rPr>
              <a:t>Model one parent with multiple related child objects inside the same MongoDB document.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14232" y="91440"/>
            <a:ext cx="3090672" cy="1335024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24544" y="201168"/>
            <a:ext cx="267004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20" b="1">
                <a:solidFill>
                  <a:srgbClr val="F39C12"/>
                </a:solidFill>
                <a:latin typeface="Aptos"/>
              </a:rPr>
              <a:t>In this lesson, you will: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557784"/>
            <a:ext cx="128016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39C12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25712" y="539496"/>
            <a:ext cx="2423160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19" b="0">
                <a:solidFill>
                  <a:srgbClr val="F5F7FA"/>
                </a:solidFill>
                <a:latin typeface="Aptos"/>
              </a:rPr>
              <a:t>Recognize one-to-many relationships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42832" y="731520"/>
            <a:ext cx="128016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39C12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712" y="713232"/>
            <a:ext cx="2423160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19" b="0">
                <a:solidFill>
                  <a:srgbClr val="F5F7FA"/>
                </a:solidFill>
                <a:latin typeface="Aptos"/>
              </a:rPr>
              <a:t>Model the many side as an embedded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905256"/>
            <a:ext cx="128016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39C12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5712" y="886968"/>
            <a:ext cx="2423160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19" b="0">
                <a:solidFill>
                  <a:srgbClr val="F5F7FA"/>
                </a:solidFill>
                <a:latin typeface="Aptos"/>
              </a:rPr>
              <a:t>Query nested child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2832" y="1078992"/>
            <a:ext cx="128016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39C12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1060704"/>
            <a:ext cx="2423160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19" b="0">
                <a:solidFill>
                  <a:srgbClr val="F5F7FA"/>
                </a:solidFill>
                <a:latin typeface="Aptos"/>
              </a:rPr>
              <a:t>Append and update embedded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1252728"/>
            <a:ext cx="128016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39C12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1234440"/>
            <a:ext cx="2423160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19" b="0">
                <a:solidFill>
                  <a:srgbClr val="F5F7FA"/>
                </a:solidFill>
                <a:latin typeface="Aptos"/>
              </a:rPr>
              <a:t>Recognize growth boundaries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" y="1444752"/>
            <a:ext cx="2761488" cy="1005840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4320" y="1563624"/>
            <a:ext cx="356616" cy="356616"/>
          </a:xfrm>
          <a:prstGeom prst="ellipse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1554480"/>
            <a:ext cx="193852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20" b="1">
                <a:solidFill>
                  <a:srgbClr val="F39C12"/>
                </a:solidFill>
                <a:latin typeface="Aptos"/>
              </a:rPr>
              <a:t>One-to-Many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" y="1892808"/>
            <a:ext cx="2359152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869">
                <a:solidFill>
                  <a:srgbClr val="F5F7FA"/>
                </a:solidFill>
                <a:latin typeface="Aptos"/>
              </a:defRPr>
            </a:pPr>
            <a:r>
              <a:t>• One order is the parent.</a:t>
            </a:r>
          </a:p>
          <a:p>
            <a:pPr>
              <a:spcAft>
                <a:spcPts val="200"/>
              </a:spcAft>
              <a:defRPr sz="869">
                <a:solidFill>
                  <a:srgbClr val="F5F7FA"/>
                </a:solidFill>
                <a:latin typeface="Aptos"/>
              </a:defRPr>
            </a:pPr>
            <a:r>
              <a:t>• The many side is an array.</a:t>
            </a:r>
          </a:p>
          <a:p>
            <a:pPr>
              <a:spcAft>
                <a:spcPts val="200"/>
              </a:spcAft>
              <a:defRPr sz="869">
                <a:solidFill>
                  <a:srgbClr val="F5F7FA"/>
                </a:solidFill>
                <a:latin typeface="Aptos"/>
              </a:defRPr>
            </a:pPr>
            <a:r>
              <a:t>• Children stay inside the parent.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" y="2606040"/>
            <a:ext cx="2761488" cy="1005840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4320" y="2724912"/>
            <a:ext cx="356616" cy="356616"/>
          </a:xfrm>
          <a:prstGeom prst="ellipse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715768"/>
            <a:ext cx="193852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20" b="1">
                <a:solidFill>
                  <a:srgbClr val="F39C12"/>
                </a:solidFill>
                <a:latin typeface="Aptos"/>
              </a:rPr>
              <a:t>When to Embed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" y="3054096"/>
            <a:ext cx="2359152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869">
                <a:solidFill>
                  <a:srgbClr val="F5F7FA"/>
                </a:solidFill>
                <a:latin typeface="Aptos"/>
              </a:defRPr>
            </a:pPr>
            <a:r>
              <a:t>• Bounded child count.</a:t>
            </a:r>
          </a:p>
          <a:p>
            <a:pPr>
              <a:spcAft>
                <a:spcPts val="200"/>
              </a:spcAft>
              <a:defRPr sz="869">
                <a:solidFill>
                  <a:srgbClr val="F5F7FA"/>
                </a:solidFill>
                <a:latin typeface="Aptos"/>
              </a:defRPr>
            </a:pPr>
            <a:r>
              <a:t>• Owned by the parent.</a:t>
            </a:r>
          </a:p>
          <a:p>
            <a:pPr>
              <a:spcAft>
                <a:spcPts val="200"/>
              </a:spcAft>
              <a:defRPr sz="869">
                <a:solidFill>
                  <a:srgbClr val="F5F7FA"/>
                </a:solidFill>
                <a:latin typeface="Aptos"/>
              </a:defRPr>
            </a:pPr>
            <a:r>
              <a:t>• Read together.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" y="3767328"/>
            <a:ext cx="2761488" cy="1005840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4320" y="3886200"/>
            <a:ext cx="356616" cy="356616"/>
          </a:xfrm>
          <a:prstGeom prst="ellipse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877056"/>
            <a:ext cx="193852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20" b="1">
                <a:solidFill>
                  <a:srgbClr val="F39C12"/>
                </a:solidFill>
                <a:latin typeface="Aptos"/>
              </a:rPr>
              <a:t>Document Shape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" y="4215384"/>
            <a:ext cx="2359152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869">
                <a:solidFill>
                  <a:srgbClr val="F5F7FA"/>
                </a:solidFill>
                <a:latin typeface="Aptos"/>
              </a:defRPr>
            </a:pPr>
            <a:r>
              <a:t>• items[] holds the children.</a:t>
            </a:r>
          </a:p>
          <a:p>
            <a:pPr>
              <a:spcAft>
                <a:spcPts val="200"/>
              </a:spcAft>
              <a:defRPr sz="869">
                <a:solidFill>
                  <a:srgbClr val="F5F7FA"/>
                </a:solidFill>
                <a:latin typeface="Aptos"/>
              </a:defRPr>
            </a:pPr>
            <a:r>
              <a:t>• Each child is an embedded object.</a:t>
            </a:r>
          </a:p>
          <a:p>
            <a:pPr>
              <a:spcAft>
                <a:spcPts val="200"/>
              </a:spcAft>
              <a:defRPr sz="869">
                <a:solidFill>
                  <a:srgbClr val="F5F7FA"/>
                </a:solidFill>
                <a:latin typeface="Aptos"/>
              </a:defRPr>
            </a:pPr>
            <a:r>
              <a:t>• One document is the common read.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6304" y="4928616"/>
            <a:ext cx="2761488" cy="1005840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4320" y="5047488"/>
            <a:ext cx="356616" cy="356616"/>
          </a:xfrm>
          <a:prstGeom prst="ellipse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5038344"/>
            <a:ext cx="1938528" cy="246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20" b="1">
                <a:solidFill>
                  <a:srgbClr val="F39C12"/>
                </a:solidFill>
                <a:latin typeface="Aptos"/>
              </a:rPr>
              <a:t>Watch Growth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" y="5376672"/>
            <a:ext cx="2359152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869">
                <a:solidFill>
                  <a:srgbClr val="F5F7FA"/>
                </a:solidFill>
                <a:latin typeface="Aptos"/>
              </a:defRPr>
            </a:pPr>
            <a:r>
              <a:t>• Array growth and size.</a:t>
            </a:r>
          </a:p>
          <a:p>
            <a:pPr>
              <a:spcAft>
                <a:spcPts val="200"/>
              </a:spcAft>
              <a:defRPr sz="869">
                <a:solidFill>
                  <a:srgbClr val="F5F7FA"/>
                </a:solidFill>
                <a:latin typeface="Aptos"/>
              </a:defRPr>
            </a:pPr>
            <a:r>
              <a:t>• Independent child access.</a:t>
            </a:r>
          </a:p>
          <a:p>
            <a:pPr>
              <a:spcAft>
                <a:spcPts val="200"/>
              </a:spcAft>
              <a:defRPr sz="869">
                <a:solidFill>
                  <a:srgbClr val="F5F7FA"/>
                </a:solidFill>
                <a:latin typeface="Aptos"/>
              </a:defRPr>
            </a:pPr>
            <a:r>
              <a:t>• Different lifecycle or ownership.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99816" y="1444752"/>
            <a:ext cx="5669280" cy="411480"/>
          </a:xfrm>
          <a:prstGeom prst="roundRect">
            <a:avLst/>
          </a:prstGeom>
          <a:solidFill>
            <a:srgbClr val="A91B0F"/>
          </a:solidFill>
          <a:ln w="17145">
            <a:solidFill>
              <a:srgbClr val="F04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73552" y="1536192"/>
            <a:ext cx="5321808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20" b="1">
                <a:solidFill>
                  <a:srgbClr val="F5F7FA"/>
                </a:solidFill>
                <a:latin typeface="Aptos"/>
              </a:rPr>
              <a:t>Order Management Example in MongoDB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99816" y="1901952"/>
            <a:ext cx="5669280" cy="1828800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937760" y="2121408"/>
            <a:ext cx="1920240" cy="64008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38928" y="2249424"/>
            <a:ext cx="1517904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F39C12"/>
                </a:solidFill>
                <a:latin typeface="Aptos"/>
              </a:rPr>
              <a:t>ORDER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2487168"/>
            <a:ext cx="1517904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40" b="0">
                <a:solidFill>
                  <a:srgbClr val="B8C3CF"/>
                </a:solidFill>
                <a:latin typeface="Aptos"/>
              </a:rPr>
              <a:t>one parent document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01568" y="2944368"/>
            <a:ext cx="1005840" cy="576072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56432" y="3035808"/>
            <a:ext cx="89611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80" b="1">
                <a:solidFill>
                  <a:srgbClr val="22C7F2"/>
                </a:solidFill>
                <a:latin typeface="Aptos"/>
              </a:rPr>
              <a:t>ITEM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6432" y="3236976"/>
            <a:ext cx="896112" cy="137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60" b="0">
                <a:solidFill>
                  <a:srgbClr val="B8C3CF"/>
                </a:solidFill>
                <a:latin typeface="Aptos"/>
              </a:rPr>
              <a:t>Laptop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3904488" y="2761488"/>
            <a:ext cx="1993392" cy="182880"/>
          </a:xfrm>
          <a:prstGeom prst="line">
            <a:avLst/>
          </a:prstGeom>
          <a:ln w="2032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961888" y="2944368"/>
            <a:ext cx="1005840" cy="576072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16751" y="3035808"/>
            <a:ext cx="89611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80" b="1">
                <a:solidFill>
                  <a:srgbClr val="A56BFF"/>
                </a:solidFill>
                <a:latin typeface="Aptos"/>
              </a:rPr>
              <a:t>ITEM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16751" y="3236976"/>
            <a:ext cx="896112" cy="137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60" b="0">
                <a:solidFill>
                  <a:srgbClr val="B8C3CF"/>
                </a:solidFill>
                <a:latin typeface="Aptos"/>
              </a:rPr>
              <a:t>Mouse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897880" y="2761488"/>
            <a:ext cx="566927" cy="182880"/>
          </a:xfrm>
          <a:prstGeom prst="line">
            <a:avLst/>
          </a:prstGeom>
          <a:ln w="2032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424927" y="2944368"/>
            <a:ext cx="1005840" cy="576072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2F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79792" y="3035808"/>
            <a:ext cx="89611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80" b="1">
                <a:solidFill>
                  <a:srgbClr val="2FD6B0"/>
                </a:solidFill>
                <a:latin typeface="Aptos"/>
              </a:rPr>
              <a:t>ITEM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79792" y="3236976"/>
            <a:ext cx="896112" cy="137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60" b="0">
                <a:solidFill>
                  <a:srgbClr val="B8C3CF"/>
                </a:solidFill>
                <a:latin typeface="Aptos"/>
              </a:rPr>
              <a:t>Keyboard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897880" y="2761488"/>
            <a:ext cx="2029968" cy="182880"/>
          </a:xfrm>
          <a:prstGeom prst="line">
            <a:avLst/>
          </a:prstGeom>
          <a:ln w="20320">
            <a:solidFill>
              <a:srgbClr val="F5F7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4142232" y="3566160"/>
            <a:ext cx="3566160" cy="274320"/>
          </a:xfrm>
          <a:prstGeom prst="roundRect">
            <a:avLst/>
          </a:prstGeom>
          <a:solidFill>
            <a:srgbClr val="111D28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61104" y="3621024"/>
            <a:ext cx="3328416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60" b="1">
                <a:solidFill>
                  <a:srgbClr val="F39C12"/>
                </a:solidFill>
                <a:latin typeface="Aptos"/>
              </a:rPr>
              <a:t>items[]  =  many embedded children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99816" y="4041648"/>
            <a:ext cx="5669280" cy="1664208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6704" y="4242816"/>
            <a:ext cx="1737360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20" b="1">
                <a:solidFill>
                  <a:srgbClr val="F39C12"/>
                </a:solidFill>
                <a:latin typeface="Aptos"/>
              </a:rPr>
              <a:t>ORDER DOCUMENT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28416" y="4572000"/>
            <a:ext cx="3858768" cy="82296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38144" y="4663440"/>
            <a:ext cx="3639311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F5F7FA"/>
                </a:solidFill>
                <a:latin typeface="Consolas"/>
              </a:rPr>
              <a:t>{ orderId: "ORD-1001",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F5F7FA"/>
                </a:solidFill>
                <a:latin typeface="Consolas"/>
              </a:rPr>
              <a:t>  status: "CONFIRMED",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F5F7FA"/>
                </a:solidFill>
                <a:latin typeface="Consolas"/>
              </a:rPr>
              <a:t>  items: [ { productId: "P100" }, { productId: "P200" } ] 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42631" y="4572000"/>
            <a:ext cx="1078992" cy="804672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15783" y="4764024"/>
            <a:ext cx="932688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40" b="1">
                <a:solidFill>
                  <a:srgbClr val="A56BFF"/>
                </a:solidFill>
                <a:latin typeface="Aptos"/>
              </a:rPr>
              <a:t>items[]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15783" y="5020056"/>
            <a:ext cx="932688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10" b="0">
                <a:solidFill>
                  <a:srgbClr val="B8C3CF"/>
                </a:solidFill>
                <a:latin typeface="Aptos"/>
              </a:rPr>
              <a:t>embedded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69680" y="1554480"/>
            <a:ext cx="2907792" cy="4160520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70848" y="1728216"/>
            <a:ext cx="248716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  <a:latin typeface="Aptos"/>
              </a:rPr>
              <a:t>Hands-On Examples (mongosh)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15984" y="2139696"/>
            <a:ext cx="2578608" cy="41148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4E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125712" y="2203703"/>
            <a:ext cx="274320" cy="274320"/>
          </a:xfrm>
          <a:prstGeom prst="ellipse">
            <a:avLst/>
          </a:prstGeom>
          <a:solidFill>
            <a:srgbClr val="4EA3FF"/>
          </a:solidFill>
          <a:ln>
            <a:solidFill>
              <a:srgbClr val="4E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0616" y="2240279"/>
            <a:ext cx="1929384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40" b="1">
                <a:solidFill>
                  <a:srgbClr val="F5F7FA"/>
                </a:solidFill>
                <a:latin typeface="Aptos"/>
              </a:rPr>
              <a:t>Insert an order with items[]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15984" y="2706624"/>
            <a:ext cx="2578608" cy="41148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5712" y="2770632"/>
            <a:ext cx="274320" cy="274320"/>
          </a:xfrm>
          <a:prstGeom prst="ellipse">
            <a:avLst/>
          </a:prstGeom>
          <a:solidFill>
            <a:srgbClr val="22C7F2"/>
          </a:solidFill>
          <a:ln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00616" y="2807208"/>
            <a:ext cx="1929384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40" b="1">
                <a:solidFill>
                  <a:srgbClr val="F5F7FA"/>
                </a:solidFill>
                <a:latin typeface="Aptos"/>
              </a:rPr>
              <a:t>Query items.productId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15984" y="3273552"/>
            <a:ext cx="2578608" cy="41148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25712" y="3337560"/>
            <a:ext cx="274320" cy="274320"/>
          </a:xfrm>
          <a:prstGeom prst="ellipse">
            <a:avLst/>
          </a:prstGeom>
          <a:solidFill>
            <a:srgbClr val="A56BFF"/>
          </a:solidFill>
          <a:ln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00616" y="3374136"/>
            <a:ext cx="1929384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40" b="1">
                <a:solidFill>
                  <a:srgbClr val="F5F7FA"/>
                </a:solidFill>
                <a:latin typeface="Aptos"/>
              </a:rPr>
              <a:t>Append with $push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15984" y="3840479"/>
            <a:ext cx="2578608" cy="41148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25712" y="3904487"/>
            <a:ext cx="274320" cy="274320"/>
          </a:xfrm>
          <a:prstGeom prst="ellipse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00616" y="3941063"/>
            <a:ext cx="1929384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40" b="1">
                <a:solidFill>
                  <a:srgbClr val="F5F7FA"/>
                </a:solidFill>
                <a:latin typeface="Aptos"/>
              </a:rPr>
              <a:t>Update with items.$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015984" y="4407408"/>
            <a:ext cx="2578608" cy="41148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2F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125712" y="4471416"/>
            <a:ext cx="274320" cy="274320"/>
          </a:xfrm>
          <a:prstGeom prst="ellipse">
            <a:avLst/>
          </a:prstGeom>
          <a:solidFill>
            <a:srgbClr val="2FD6B0"/>
          </a:solidFill>
          <a:ln>
            <a:solidFill>
              <a:srgbClr val="2F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00616" y="4507992"/>
            <a:ext cx="1929384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40" b="1">
                <a:solidFill>
                  <a:srgbClr val="F5F7FA"/>
                </a:solidFill>
                <a:latin typeface="Aptos"/>
              </a:rPr>
              <a:t>Inspect final document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015984" y="4974336"/>
            <a:ext cx="2578608" cy="41148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125712" y="5038344"/>
            <a:ext cx="274320" cy="274320"/>
          </a:xfrm>
          <a:prstGeom prst="ellipse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00616" y="5074920"/>
            <a:ext cx="1929384" cy="1920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40" b="1">
                <a:solidFill>
                  <a:srgbClr val="F5F7FA"/>
                </a:solidFill>
                <a:latin typeface="Aptos"/>
              </a:rPr>
              <a:t>Discuss growth boundary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46304" y="5852160"/>
            <a:ext cx="11631168" cy="694944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60" y="6071616"/>
            <a:ext cx="1335024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20" b="1">
                <a:solidFill>
                  <a:srgbClr val="F39C12"/>
                </a:solidFill>
                <a:latin typeface="Aptos"/>
              </a:rPr>
              <a:t>Key Takeaways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47088" y="5980176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39C12"/>
                </a:solidFill>
                <a:latin typeface="Aptos"/>
              </a:rPr>
              <a:t>ONE → MANY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47088" y="6217920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19" b="1">
                <a:solidFill>
                  <a:srgbClr val="F5F7FA"/>
                </a:solidFill>
                <a:latin typeface="Aptos"/>
              </a:rPr>
              <a:t>one parent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3538728" y="5934456"/>
            <a:ext cx="0" cy="530352"/>
          </a:xfrm>
          <a:prstGeom prst="line">
            <a:avLst/>
          </a:prstGeom>
          <a:ln w="127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3657600" y="5980176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39C12"/>
                </a:solidFill>
                <a:latin typeface="Aptos"/>
              </a:rPr>
              <a:t>EMBED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0" y="6217920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19" b="1">
                <a:solidFill>
                  <a:srgbClr val="F5F7FA"/>
                </a:solidFill>
                <a:latin typeface="Aptos"/>
              </a:rPr>
              <a:t>items[]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5340096" y="5934456"/>
            <a:ext cx="0" cy="530352"/>
          </a:xfrm>
          <a:prstGeom prst="line">
            <a:avLst/>
          </a:prstGeom>
          <a:ln w="127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5458968" y="5980176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39C12"/>
                </a:solidFill>
                <a:latin typeface="Aptos"/>
              </a:rPr>
              <a:t>READ TOGETHER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58968" y="6217920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19" b="1">
                <a:solidFill>
                  <a:srgbClr val="F5F7FA"/>
                </a:solidFill>
                <a:latin typeface="Aptos"/>
              </a:rPr>
              <a:t>common access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7360919" y="5934456"/>
            <a:ext cx="0" cy="530352"/>
          </a:xfrm>
          <a:prstGeom prst="line">
            <a:avLst/>
          </a:prstGeom>
          <a:ln w="127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479792" y="5980176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39C12"/>
                </a:solidFill>
                <a:latin typeface="Aptos"/>
              </a:rPr>
              <a:t>UPDATE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79792" y="6217920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19" b="1">
                <a:solidFill>
                  <a:srgbClr val="F5F7FA"/>
                </a:solidFill>
                <a:latin typeface="Aptos"/>
              </a:rPr>
              <a:t>$push / items.$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9326880" y="5934456"/>
            <a:ext cx="0" cy="530352"/>
          </a:xfrm>
          <a:prstGeom prst="line">
            <a:avLst/>
          </a:prstGeom>
          <a:ln w="127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9445752" y="5980176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19" b="1">
                <a:solidFill>
                  <a:srgbClr val="F39C12"/>
                </a:solidFill>
                <a:latin typeface="Aptos"/>
              </a:rPr>
              <a:t>WATCH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445752" y="6217920"/>
            <a:ext cx="1444752" cy="1554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19" b="1">
                <a:solidFill>
                  <a:srgbClr val="F5F7FA"/>
                </a:solidFill>
                <a:latin typeface="Aptos"/>
              </a:rPr>
              <a:t>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046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What is one-to-many embedding?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078992"/>
            <a:ext cx="4718304" cy="4992624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828800" cy="310896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70D12"/>
                </a:solidFill>
                <a:latin typeface="Aptos Display"/>
              </a:rPr>
              <a:t>1:N EMBEDDED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847088"/>
            <a:ext cx="4224528" cy="3520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One parent document contains multiple related child objects.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The many side is represented as an array inside the parent document.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This keeps the related data together when the child set is reasonably bounded and commonly read with the parent.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078992"/>
            <a:ext cx="6629400" cy="4992624"/>
          </a:xfrm>
          <a:prstGeom prst="roundRect">
            <a:avLst/>
          </a:prstGeom>
          <a:solidFill>
            <a:srgbClr val="111D28"/>
          </a:solidFill>
          <a:ln w="17145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0" y="1463040"/>
            <a:ext cx="1920240" cy="100584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773936"/>
            <a:ext cx="155448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22C7F2"/>
                </a:solidFill>
                <a:latin typeface="Aptos"/>
              </a:rPr>
              <a:t>ONE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1965960" cy="749808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1554480"/>
            <a:ext cx="16459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39C12"/>
                </a:solidFill>
                <a:latin typeface="Aptos"/>
              </a:rPr>
              <a:t>ITEM 1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589520" y="1700784"/>
            <a:ext cx="868680" cy="237744"/>
          </a:xfrm>
          <a:prstGeom prst="line">
            <a:avLst/>
          </a:prstGeom>
          <a:ln w="254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58200" y="2459736"/>
            <a:ext cx="1965960" cy="749808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2" y="2688336"/>
            <a:ext cx="16459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A56BFF"/>
                </a:solidFill>
                <a:latin typeface="Aptos"/>
              </a:rPr>
              <a:t>ITEM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0" y="1938528"/>
            <a:ext cx="868680" cy="896112"/>
          </a:xfrm>
          <a:prstGeom prst="line">
            <a:avLst/>
          </a:prstGeom>
          <a:ln w="254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58200" y="3593591"/>
            <a:ext cx="1965960" cy="749808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2F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22792" y="3822191"/>
            <a:ext cx="16459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2FD6B0"/>
                </a:solidFill>
                <a:latin typeface="Aptos"/>
              </a:rPr>
              <a:t>ITEM 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0" y="1938528"/>
            <a:ext cx="868680" cy="2029968"/>
          </a:xfrm>
          <a:prstGeom prst="line">
            <a:avLst/>
          </a:prstGeom>
          <a:ln w="254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15584" y="2926080"/>
            <a:ext cx="4709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100" b="1">
                <a:solidFill>
                  <a:srgbClr val="F5F7FA"/>
                </a:solidFill>
                <a:latin typeface="Aptos"/>
              </a:rPr>
              <a:t>many embedded children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529584"/>
            <a:ext cx="4389120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0">
                <a:solidFill>
                  <a:srgbClr val="B8C3CF"/>
                </a:solidFill>
                <a:latin typeface="Aptos"/>
              </a:rPr>
              <a:t>The array is the relationship boundary.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5340096"/>
            <a:ext cx="5715000" cy="438912"/>
          </a:xfrm>
          <a:prstGeom prst="roundRect">
            <a:avLst/>
          </a:prstGeom>
          <a:solidFill>
            <a:srgbClr val="070D1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3872" y="5449824"/>
            <a:ext cx="5394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Key idea: One parent document contains multiple related child objects.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046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Order Management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078992"/>
            <a:ext cx="4718304" cy="4992624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828800" cy="310896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70D12"/>
                </a:solidFill>
                <a:latin typeface="Aptos Display"/>
              </a:rPr>
              <a:t>ORDER → ITEMS[]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847088"/>
            <a:ext cx="4224528" cy="3520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An order is the parent document.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The order keeps multiple line items in an embedded `items[]` array.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The item objects naturally belong to that order and are commonly returned with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078992"/>
            <a:ext cx="6629400" cy="4992624"/>
          </a:xfrm>
          <a:prstGeom prst="roundRect">
            <a:avLst/>
          </a:prstGeom>
          <a:solidFill>
            <a:srgbClr val="111D28"/>
          </a:solidFill>
          <a:ln w="17145">
            <a:solidFill>
              <a:srgbClr val="2F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0" y="1481328"/>
            <a:ext cx="2103120" cy="100584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25312" y="1783080"/>
            <a:ext cx="169164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22C7F2"/>
                </a:solidFill>
                <a:latin typeface="Aptos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5312" y="2066543"/>
            <a:ext cx="16916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0">
                <a:solidFill>
                  <a:srgbClr val="B8C3CF"/>
                </a:solidFill>
                <a:latin typeface="Aptos"/>
              </a:rPr>
              <a:t>parent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1298448"/>
            <a:ext cx="2395728" cy="73152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9056" y="1499616"/>
            <a:ext cx="21031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F39C12"/>
                </a:solidFill>
                <a:latin typeface="Aptos"/>
              </a:rPr>
              <a:t>Laptop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827264" y="1664207"/>
            <a:ext cx="475488" cy="320041"/>
          </a:xfrm>
          <a:prstGeom prst="line">
            <a:avLst/>
          </a:prstGeom>
          <a:ln w="254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02752" y="2304288"/>
            <a:ext cx="2395728" cy="73152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6" y="2505456"/>
            <a:ext cx="21031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A56BFF"/>
                </a:solidFill>
                <a:latin typeface="Aptos"/>
              </a:rPr>
              <a:t>Mouse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7264" y="1984248"/>
            <a:ext cx="475488" cy="685800"/>
          </a:xfrm>
          <a:prstGeom prst="line">
            <a:avLst/>
          </a:prstGeom>
          <a:ln w="254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02752" y="3310128"/>
            <a:ext cx="2395728" cy="73152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2F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3511296"/>
            <a:ext cx="21031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2FD6B0"/>
                </a:solidFill>
                <a:latin typeface="Aptos"/>
              </a:rPr>
              <a:t>Keyboard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27264" y="1984248"/>
            <a:ext cx="475488" cy="1691640"/>
          </a:xfrm>
          <a:prstGeom prst="line">
            <a:avLst/>
          </a:prstGeom>
          <a:ln w="254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870448" y="3255264"/>
            <a:ext cx="4626864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400" b="1">
                <a:solidFill>
                  <a:srgbClr val="F39C12"/>
                </a:solidFill>
                <a:latin typeface="Aptos"/>
              </a:rPr>
              <a:t>items[]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5340096"/>
            <a:ext cx="5715000" cy="438912"/>
          </a:xfrm>
          <a:prstGeom prst="roundRect">
            <a:avLst/>
          </a:prstGeom>
          <a:solidFill>
            <a:srgbClr val="070D1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3872" y="5449824"/>
            <a:ext cx="5394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Key idea: An order is the parent document.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046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Document shape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078992"/>
            <a:ext cx="4718304" cy="4992624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828800" cy="310896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70D12"/>
                </a:solidFill>
                <a:latin typeface="Aptos Display"/>
              </a:rPr>
              <a:t>DOCUMENT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847088"/>
            <a:ext cx="4224528" cy="3520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The array makes the relationship visible directly in the document structure.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Each embedded item can have its own fields such as `productId`, `name`, `qty`, and `price`.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The parent remains the unit of storage and the unit of the common read.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078992"/>
            <a:ext cx="6629400" cy="4992624"/>
          </a:xfrm>
          <a:prstGeom prst="roundRect">
            <a:avLst/>
          </a:prstGeom>
          <a:solidFill>
            <a:srgbClr val="111D28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96128" y="1490472"/>
            <a:ext cx="4343400" cy="352044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05856" y="1581912"/>
            <a:ext cx="4123944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{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orderId: "ORD-1001",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status: "CONFIRMED",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items: [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  { productId: "P100", name: "Laptop", qty: 1, price: 5000.00 },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  { productId: "P200", name: "Mouse", qty: 2, price: 500.00 }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]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1965960"/>
            <a:ext cx="23317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800" b="1">
                <a:solidFill>
                  <a:srgbClr val="F39C12"/>
                </a:solidFill>
                <a:latin typeface="Aptos"/>
              </a:rPr>
              <a:t>Parent + many child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377440"/>
            <a:ext cx="23317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0">
                <a:solidFill>
                  <a:srgbClr val="B8C3CF"/>
                </a:solidFill>
                <a:latin typeface="Aptos"/>
              </a:rPr>
              <a:t>stored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5340096"/>
            <a:ext cx="5715000" cy="438912"/>
          </a:xfrm>
          <a:prstGeom prst="roundRect">
            <a:avLst/>
          </a:prstGeom>
          <a:solidFill>
            <a:srgbClr val="070D1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33872" y="5449824"/>
            <a:ext cx="5394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Key idea: The array makes the relationship visible directly in the document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046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When embedding 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078992"/>
            <a:ext cx="4718304" cy="4992624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828800" cy="310896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70D12"/>
                </a:solidFill>
                <a:latin typeface="Aptos Display"/>
              </a:rPr>
              <a:t>BEST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847088"/>
            <a:ext cx="4224528" cy="3520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The number of child items is small or reasonably bounded.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The child data naturally belongs to the parent.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The application commonly reads parent and child data together.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A single document provides a simple access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078992"/>
            <a:ext cx="6629400" cy="4992624"/>
          </a:xfrm>
          <a:prstGeom prst="roundRect">
            <a:avLst/>
          </a:prstGeom>
          <a:solidFill>
            <a:srgbClr val="111D28"/>
          </a:solidFill>
          <a:ln w="17145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0" y="1463040"/>
            <a:ext cx="2148840" cy="96012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25312" y="1737360"/>
            <a:ext cx="181051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22C7F2"/>
                </a:solidFill>
                <a:latin typeface="Aptos"/>
              </a:rPr>
              <a:t>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463040"/>
            <a:ext cx="2148840" cy="96012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14232" y="1737360"/>
            <a:ext cx="181051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A56BFF"/>
                </a:solidFill>
                <a:latin typeface="Aptos"/>
              </a:rPr>
              <a:t>MODEL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09560" y="1938528"/>
            <a:ext cx="640080" cy="0"/>
          </a:xfrm>
          <a:prstGeom prst="line">
            <a:avLst/>
          </a:prstGeom>
          <a:ln w="254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28232" y="2971800"/>
            <a:ext cx="3657600" cy="141732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3236976"/>
            <a:ext cx="331012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F39C12"/>
                </a:solidFill>
                <a:latin typeface="Aptos"/>
              </a:rPr>
              <a:t>DECIDE FROM THE USE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685032"/>
            <a:ext cx="3346704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5F7FA"/>
                </a:solidFill>
                <a:latin typeface="Aptos"/>
              </a:rPr>
              <a:t>cardinality • ownership • co-read • growth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5340096"/>
            <a:ext cx="5715000" cy="438912"/>
          </a:xfrm>
          <a:prstGeom prst="roundRect">
            <a:avLst/>
          </a:prstGeom>
          <a:solidFill>
            <a:srgbClr val="070D1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3872" y="5449824"/>
            <a:ext cx="5394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Key idea: The number of child items is small or reasonably bounded.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046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Query the embedded relationship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078992"/>
            <a:ext cx="4718304" cy="4992624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828800" cy="310896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70D12"/>
                </a:solidFill>
                <a:latin typeface="Aptos Display"/>
              </a:rPr>
              <a:t>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847088"/>
            <a:ext cx="4224528" cy="3520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Use a dotted path to reach into the embedded array.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A filter such as `items.productId` can identify the parent order containing a matching item.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The query follows the document structure rather than requiring a separate collection lookup.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078992"/>
            <a:ext cx="6629400" cy="4992624"/>
          </a:xfrm>
          <a:prstGeom prst="roundRect">
            <a:avLst/>
          </a:prstGeom>
          <a:solidFill>
            <a:srgbClr val="111D28"/>
          </a:solidFill>
          <a:ln w="17145">
            <a:solidFill>
              <a:srgbClr val="4E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96128" y="1490472"/>
            <a:ext cx="4343400" cy="384048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05856" y="1581912"/>
            <a:ext cx="4123944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db.orders.findOne({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orderId: "ORD-1001",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"items.productId": "P200"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})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db.orders.updateOne(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{ orderId: "ORD-1001" },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{ $push: { items: {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    productId: "P300",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    name: "Keyboard",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    qty: 1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}}}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07424" y="1920240"/>
            <a:ext cx="2057400" cy="214884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08592" y="217627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A56BFF"/>
                </a:solidFill>
                <a:latin typeface="Aptos"/>
              </a:rPr>
              <a:t>FIELD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651760"/>
            <a:ext cx="1609344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items.productId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319272"/>
            <a:ext cx="1609344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F39C12"/>
                </a:solidFill>
                <a:latin typeface="Aptos"/>
              </a:rPr>
              <a:t>$push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5340096"/>
            <a:ext cx="5715000" cy="438912"/>
          </a:xfrm>
          <a:prstGeom prst="roundRect">
            <a:avLst/>
          </a:prstGeom>
          <a:solidFill>
            <a:srgbClr val="070D1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33872" y="5449824"/>
            <a:ext cx="5394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Key idea: Use a dotted path to reach into the embedded array.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046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Add and update embedded items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078992"/>
            <a:ext cx="4718304" cy="4992624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828800" cy="310896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70D12"/>
                </a:solidFill>
                <a:latin typeface="Aptos Display"/>
              </a:rPr>
              <a:t>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847088"/>
            <a:ext cx="4224528" cy="3520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`$push` can append a new embedded item to the array.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The positional `$` operator can update a matching embedded item.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These operations update the parent document that owns the array.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078992"/>
            <a:ext cx="6629400" cy="4992624"/>
          </a:xfrm>
          <a:prstGeom prst="roundRect">
            <a:avLst/>
          </a:prstGeom>
          <a:solidFill>
            <a:srgbClr val="111D28"/>
          </a:solidFill>
          <a:ln w="17145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96128" y="1490472"/>
            <a:ext cx="4343400" cy="384048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05856" y="1581912"/>
            <a:ext cx="4123944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db.orders.findOne({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orderId: "ORD-1001",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"items.productId": "P200"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})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db.orders.updateOne(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{ orderId: "ORD-1001" },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{ $push: { items: {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    productId: "P300",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    name: "Keyboard",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    qty: 1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  }}}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07424" y="1920240"/>
            <a:ext cx="2057400" cy="214884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08592" y="217627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A56BFF"/>
                </a:solidFill>
                <a:latin typeface="Aptos"/>
              </a:rPr>
              <a:t>FIELD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651760"/>
            <a:ext cx="1609344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items.productId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319272"/>
            <a:ext cx="1609344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F39C12"/>
                </a:solidFill>
                <a:latin typeface="Aptos"/>
              </a:rPr>
              <a:t>$push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5340096"/>
            <a:ext cx="5715000" cy="438912"/>
          </a:xfrm>
          <a:prstGeom prst="roundRect">
            <a:avLst/>
          </a:prstGeom>
          <a:solidFill>
            <a:srgbClr val="070D1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33872" y="5449824"/>
            <a:ext cx="5394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Key idea: `$push` can append a new embedded item to the array.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046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Growth boundary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078992"/>
            <a:ext cx="4718304" cy="4992624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828800" cy="310896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70D12"/>
                </a:solidFill>
                <a:latin typeface="Aptos Display"/>
              </a:rPr>
              <a:t>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847088"/>
            <a:ext cx="4224528" cy="3520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Watch the size and growth rate of the embedded array.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Reconsider the model when the child set grows without a practical bound.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Also revisit embedding when child records need independent access, updates, sharing, or lifecycle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078992"/>
            <a:ext cx="6629400" cy="4992624"/>
          </a:xfrm>
          <a:prstGeom prst="roundRect">
            <a:avLst/>
          </a:prstGeom>
          <a:solidFill>
            <a:srgbClr val="111D28"/>
          </a:solidFill>
          <a:ln w="17145">
            <a:solidFill>
              <a:srgbClr val="2F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50992" y="1481328"/>
            <a:ext cx="1783080" cy="585216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1645920"/>
            <a:ext cx="1554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22C7F2"/>
                </a:solidFill>
                <a:latin typeface="Aptos"/>
              </a:rPr>
              <a:t>BOUNDED?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1645920"/>
            <a:ext cx="196596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Child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50992" y="2350008"/>
            <a:ext cx="1783080" cy="585216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2FD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514600"/>
            <a:ext cx="1554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2FD6B0"/>
                </a:solidFill>
                <a:latin typeface="Aptos"/>
              </a:rPr>
              <a:t>OWNED?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514600"/>
            <a:ext cx="196596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Parent ownership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50992" y="3218688"/>
            <a:ext cx="1783080" cy="585216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3383280"/>
            <a:ext cx="1554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A56BFF"/>
                </a:solidFill>
                <a:latin typeface="Aptos"/>
              </a:rPr>
              <a:t>CO-READ?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3383280"/>
            <a:ext cx="196596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Common reads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0992" y="4087368"/>
            <a:ext cx="1783080" cy="585216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4251959"/>
            <a:ext cx="1554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39C12"/>
                </a:solidFill>
                <a:latin typeface="Aptos"/>
              </a:rPr>
              <a:t>GROWTH?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4251959"/>
            <a:ext cx="196596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Array growth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02368" y="1481328"/>
            <a:ext cx="1481328" cy="3584448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1892807"/>
            <a:ext cx="107899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F39C12"/>
                </a:solidFill>
                <a:latin typeface="Aptos"/>
              </a:rPr>
              <a:t>REVISIT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2560320"/>
            <a:ext cx="1078992" cy="960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when children
become
independent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5340096"/>
            <a:ext cx="5715000" cy="438912"/>
          </a:xfrm>
          <a:prstGeom prst="roundRect">
            <a:avLst/>
          </a:prstGeom>
          <a:solidFill>
            <a:srgbClr val="070D1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3872" y="5449824"/>
            <a:ext cx="5394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Key idea: Watch the size and growth rate of the embedded array.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046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Hands-on mongosh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078992"/>
            <a:ext cx="4718304" cy="4992624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828800" cy="310896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70D12"/>
                </a:solidFill>
                <a:latin typeface="Aptos Display"/>
              </a:rPr>
              <a:t>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847088"/>
            <a:ext cx="4224528" cy="3520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Insert one order with multiple embedded items.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Query an item by `items.productId`.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Append another item using `$push`.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Update one matching item with the positional `$` operator.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Inspect the final document.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078992"/>
            <a:ext cx="6629400" cy="4992624"/>
          </a:xfrm>
          <a:prstGeom prst="roundRect">
            <a:avLst/>
          </a:prstGeom>
          <a:solidFill>
            <a:srgbClr val="111D28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77840" y="1417320"/>
            <a:ext cx="4370832" cy="388620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87568" y="1508760"/>
            <a:ext cx="4151376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050">
                <a:solidFill>
                  <a:srgbClr val="F5F7FA"/>
                </a:solidFill>
                <a:latin typeface="Consolas"/>
              </a:rPr>
              <a:t>use orderdb_one_to_many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F5F7FA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F5F7FA"/>
                </a:solidFill>
                <a:latin typeface="Consolas"/>
              </a:rPr>
              <a:t>db.orders.insertOne({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F5F7FA"/>
                </a:solidFill>
                <a:latin typeface="Consolas"/>
              </a:rPr>
              <a:t>  orderId: "ORD-1001",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F5F7FA"/>
                </a:solidFill>
                <a:latin typeface="Consolas"/>
              </a:rPr>
              <a:t>  items: [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F5F7FA"/>
                </a:solidFill>
                <a:latin typeface="Consolas"/>
              </a:rPr>
              <a:t>    { productId: "P100", qty: 1 },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F5F7FA"/>
                </a:solidFill>
                <a:latin typeface="Consolas"/>
              </a:rPr>
              <a:t>    { productId: "P200", qty: 2 }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F5F7FA"/>
                </a:solidFill>
                <a:latin typeface="Consolas"/>
              </a:rPr>
              <a:t>  ]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F5F7FA"/>
                </a:solidFill>
                <a:latin typeface="Consolas"/>
              </a:rPr>
              <a:t>})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F5F7FA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F5F7FA"/>
                </a:solidFill>
                <a:latin typeface="Consolas"/>
              </a:rPr>
              <a:t>db.orders.findOne({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F5F7FA"/>
                </a:solidFill>
                <a:latin typeface="Consolas"/>
              </a:rPr>
              <a:t>  "items.productId": "P200"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F5F7FA"/>
                </a:solidFill>
                <a:latin typeface="Consolas"/>
              </a:rPr>
              <a:t>})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1554480"/>
            <a:ext cx="1188720" cy="658368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4E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8128" y="1773936"/>
            <a:ext cx="1060704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4EA3FF"/>
                </a:solidFill>
                <a:latin typeface="Aptos"/>
              </a:rPr>
              <a:t>INSERT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04120" y="2560320"/>
            <a:ext cx="1188720" cy="658368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8128" y="2779776"/>
            <a:ext cx="1060704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22C7F2"/>
                </a:solidFill>
                <a:latin typeface="Aptos"/>
              </a:rPr>
              <a:t>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20" y="3566160"/>
            <a:ext cx="1188720" cy="658368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68128" y="3785616"/>
            <a:ext cx="1060704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39C12"/>
                </a:solidFill>
                <a:latin typeface="Aptos"/>
              </a:rPr>
              <a:t>UPDATE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5340096"/>
            <a:ext cx="5715000" cy="438912"/>
          </a:xfrm>
          <a:prstGeom prst="roundRect">
            <a:avLst/>
          </a:prstGeom>
          <a:solidFill>
            <a:srgbClr val="070D1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3872" y="5449824"/>
            <a:ext cx="5394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Key idea: Insert one order with multiple embedded items.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8046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Design checklist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078992"/>
            <a:ext cx="4718304" cy="4992624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828800" cy="310896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70D12"/>
                </a:solidFill>
                <a:latin typeface="Aptos Display"/>
              </a:rPr>
              <a:t>DECISION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847088"/>
            <a:ext cx="4224528" cy="3520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Is the child count bounded or reasonably bounded?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Does the child naturally belong to one parent?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Are parent and child commonly read together?</a:t>
            </a:r>
          </a:p>
          <a:p>
            <a:pPr>
              <a:spcAft>
                <a:spcPts val="200"/>
              </a:spcAft>
              <a:defRPr sz="1430">
                <a:solidFill>
                  <a:srgbClr val="F5F7FA"/>
                </a:solidFill>
                <a:latin typeface="Aptos"/>
              </a:defRPr>
            </a:pPr>
            <a:r>
              <a:t>• Will the embedded array remain practical as the application grows?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078992"/>
            <a:ext cx="6629400" cy="4992624"/>
          </a:xfrm>
          <a:prstGeom prst="roundRect">
            <a:avLst/>
          </a:prstGeom>
          <a:solidFill>
            <a:srgbClr val="111D28"/>
          </a:solidFill>
          <a:ln w="17145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0" y="1463040"/>
            <a:ext cx="2148840" cy="96012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25312" y="1737360"/>
            <a:ext cx="181051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22C7F2"/>
                </a:solidFill>
                <a:latin typeface="Aptos"/>
              </a:rPr>
              <a:t>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463040"/>
            <a:ext cx="2148840" cy="96012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14232" y="1737360"/>
            <a:ext cx="1810512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A56BFF"/>
                </a:solidFill>
                <a:latin typeface="Aptos"/>
              </a:rPr>
              <a:t>MODEL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09560" y="1938528"/>
            <a:ext cx="640080" cy="0"/>
          </a:xfrm>
          <a:prstGeom prst="line">
            <a:avLst/>
          </a:prstGeom>
          <a:ln w="254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28232" y="2971800"/>
            <a:ext cx="3657600" cy="1417320"/>
          </a:xfrm>
          <a:prstGeom prst="roundRect">
            <a:avLst/>
          </a:prstGeom>
          <a:solidFill>
            <a:srgbClr val="061017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3236976"/>
            <a:ext cx="331012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F39C12"/>
                </a:solidFill>
                <a:latin typeface="Aptos"/>
              </a:rPr>
              <a:t>DECIDE FROM THE USE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685032"/>
            <a:ext cx="3346704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5F7FA"/>
                </a:solidFill>
                <a:latin typeface="Aptos"/>
              </a:rPr>
              <a:t>cardinality • ownership • co-read • growth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5340096"/>
            <a:ext cx="5715000" cy="438912"/>
          </a:xfrm>
          <a:prstGeom prst="roundRect">
            <a:avLst/>
          </a:prstGeom>
          <a:solidFill>
            <a:srgbClr val="070D1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3872" y="5449824"/>
            <a:ext cx="53949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  <a:latin typeface="Aptos"/>
              </a:rPr>
              <a:t>Key idea: Is the child count bounded or reasonably bounded?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39319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5F7FA"/>
                </a:solidFill>
                <a:latin typeface="Aptos"/>
              </a:rP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325880"/>
            <a:ext cx="3456432" cy="2514600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rgbClr val="22C7F2"/>
          </a:solidFill>
          <a:ln>
            <a:solidFill>
              <a:srgbClr val="22C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1609344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50" b="1">
                <a:solidFill>
                  <a:srgbClr val="F39C12"/>
                </a:solidFill>
                <a:latin typeface="Aptos"/>
              </a:rPr>
              <a:t>ONE → MANY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67712"/>
            <a:ext cx="278892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20" b="1">
                <a:solidFill>
                  <a:srgbClr val="F5F7FA"/>
                </a:solidFill>
                <a:latin typeface="Aptos"/>
              </a:rPr>
              <a:t>One parent contains multiple embedded child objects.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10128"/>
            <a:ext cx="27889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B8C3CF"/>
                </a:solidFill>
                <a:latin typeface="Aptos"/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3672" y="1325880"/>
            <a:ext cx="3456432" cy="2514600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62272" y="1581912"/>
            <a:ext cx="457200" cy="457200"/>
          </a:xfrm>
          <a:prstGeom prst="ellipse">
            <a:avLst/>
          </a:prstGeom>
          <a:solidFill>
            <a:srgbClr val="A56BFF"/>
          </a:solidFill>
          <a:ln>
            <a:solidFill>
              <a:srgbClr val="A5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609344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50" b="1">
                <a:solidFill>
                  <a:srgbClr val="F39C12"/>
                </a:solidFill>
                <a:latin typeface="Aptos"/>
              </a:rPr>
              <a:t>BEST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267712"/>
            <a:ext cx="278892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20" b="1">
                <a:solidFill>
                  <a:srgbClr val="F5F7FA"/>
                </a:solidFill>
                <a:latin typeface="Aptos"/>
              </a:rPr>
              <a:t>Bounded, owned and commonly read together.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3310128"/>
            <a:ext cx="27889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B8C3CF"/>
                </a:solidFill>
                <a:latin typeface="Aptos"/>
              </a:rPr>
              <a:t>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3" y="1325880"/>
            <a:ext cx="3456432" cy="2514600"/>
          </a:xfrm>
          <a:prstGeom prst="roundRect">
            <a:avLst/>
          </a:prstGeom>
          <a:solidFill>
            <a:srgbClr val="0D1822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84463" y="1581912"/>
            <a:ext cx="457200" cy="457200"/>
          </a:xfrm>
          <a:prstGeom prst="ellipse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0D12"/>
                </a:solidFill>
                <a:latin typeface="Aptos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7111" y="1609344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50" b="1">
                <a:solidFill>
                  <a:srgbClr val="F39C12"/>
                </a:solidFill>
                <a:latin typeface="Aptos"/>
              </a:rPr>
              <a:t>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2267712"/>
            <a:ext cx="278892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20" b="1">
                <a:solidFill>
                  <a:srgbClr val="F5F7FA"/>
                </a:solidFill>
                <a:latin typeface="Aptos"/>
              </a:rPr>
              <a:t>Revisit the model when growth or independence changes.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3310128"/>
            <a:ext cx="27889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B8C3CF"/>
                </a:solidFill>
                <a:latin typeface="Aptos"/>
              </a:rPr>
              <a:t>WATCH GROWTH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315968"/>
            <a:ext cx="11356848" cy="1234440"/>
          </a:xfrm>
          <a:prstGeom prst="roundRect">
            <a:avLst/>
          </a:prstGeom>
          <a:solidFill>
            <a:srgbClr val="111D28"/>
          </a:solidFill>
          <a:ln w="17145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572000"/>
            <a:ext cx="11887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  <a:latin typeface="Aptos"/>
              </a:rPr>
              <a:t>REMEMBER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507992"/>
            <a:ext cx="94640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000" b="1">
                <a:solidFill>
                  <a:srgbClr val="F5F7FA"/>
                </a:solidFill>
                <a:latin typeface="Aptos"/>
              </a:rPr>
              <a:t>Embedding keeps a bounded one-to-many relationship inside the parent document.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5843016"/>
            <a:ext cx="827532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50" b="0">
                <a:solidFill>
                  <a:srgbClr val="B8C3CF"/>
                </a:solidFill>
                <a:latin typeface="Aptos"/>
              </a:rPr>
              <a:t>One parent • many embedded children • query and update through the document shape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