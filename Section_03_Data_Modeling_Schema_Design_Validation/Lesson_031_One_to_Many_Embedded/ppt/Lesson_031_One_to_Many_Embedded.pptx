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" y="566928"/>
            <a:ext cx="841248" cy="91440"/>
          </a:xfrm>
          <a:prstGeom prst="rect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881360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100" b="1">
                <a:solidFill>
                  <a:srgbClr val="F5F8F6"/>
                </a:solidFill>
                <a:latin typeface="Aptos"/>
              </a:rPr>
              <a:t>Lesson 031 — One-to-Many — Embedded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106984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AAB4B0"/>
                </a:solidFill>
                <a:latin typeface="Aptos"/>
              </a:rPr>
              <a:t>Model many related child items as an embedded array inside Avi's document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3246120" cy="2834640"/>
          </a:xfrm>
          <a:prstGeom prst="roundRect">
            <a:avLst/>
          </a:prstGeom>
          <a:solidFill>
            <a:srgbClr val="0D1412"/>
          </a:solidFill>
          <a:ln w="1397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2514600"/>
            <a:ext cx="1097280" cy="347472"/>
          </a:xfrm>
          <a:prstGeom prst="roundRect">
            <a:avLst/>
          </a:prstGeom>
          <a:solidFill>
            <a:srgbClr val="124A28"/>
          </a:solidFill>
          <a:ln w="1397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551176"/>
            <a:ext cx="987552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PARENT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63240"/>
            <a:ext cx="269748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800" b="1">
                <a:solidFill>
                  <a:srgbClr val="F5F8F6"/>
                </a:solidFill>
                <a:latin typeface="Aptos"/>
              </a:rPr>
              <a:t>Avi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84448"/>
            <a:ext cx="2697480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0">
                <a:solidFill>
                  <a:srgbClr val="AAB4B0"/>
                </a:solidFill>
                <a:latin typeface="Aptos"/>
              </a:rPr>
              <a:t>Bangalore • RR Nagar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2697480" cy="3291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39E85A"/>
                </a:solidFill>
                <a:latin typeface="Consolas"/>
              </a:rPr>
              <a:t>addresses: [ … ]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60520" y="3182112"/>
            <a:ext cx="1005840" cy="530352"/>
          </a:xfrm>
          <a:prstGeom prst="rightArrow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0680" y="2240280"/>
            <a:ext cx="5715000" cy="2834640"/>
          </a:xfrm>
          <a:prstGeom prst="roundRect">
            <a:avLst/>
          </a:prstGeom>
          <a:solidFill>
            <a:srgbClr val="0D1412"/>
          </a:solidFill>
          <a:ln w="1397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2505456"/>
            <a:ext cx="51663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9E85A"/>
                </a:solidFill>
                <a:latin typeface="Aptos"/>
              </a:rPr>
              <a:t>EMBEDDED ONE-TO-MANY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3246120"/>
            <a:ext cx="1417320" cy="868680"/>
          </a:xfrm>
          <a:prstGeom prst="roundRect">
            <a:avLst/>
          </a:prstGeom>
          <a:solidFill>
            <a:srgbClr val="0A1A11"/>
          </a:solidFill>
          <a:ln w="1397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3511296"/>
            <a:ext cx="14173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Home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3246120"/>
            <a:ext cx="1417320" cy="868680"/>
          </a:xfrm>
          <a:prstGeom prst="roundRect">
            <a:avLst/>
          </a:prstGeom>
          <a:solidFill>
            <a:srgbClr val="0A1A11"/>
          </a:solidFill>
          <a:ln w="1397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3511296"/>
            <a:ext cx="14173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Office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3246120"/>
            <a:ext cx="1417320" cy="868680"/>
          </a:xfrm>
          <a:prstGeom prst="roundRect">
            <a:avLst/>
          </a:prstGeom>
          <a:solidFill>
            <a:srgbClr val="0A1A11"/>
          </a:solidFill>
          <a:ln w="1397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3511296"/>
            <a:ext cx="1417320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F5F8F6"/>
                </a:solidFill>
                <a:latin typeface="Aptos"/>
              </a:rPr>
              <a:t>Shipping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4407408"/>
            <a:ext cx="516636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50" b="0">
                <a:solidFill>
                  <a:srgbClr val="AAB4B0"/>
                </a:solidFill>
                <a:latin typeface="Aptos"/>
              </a:rPr>
              <a:t>One document contains one parent and multiple related embedded items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658368" cy="73152"/>
          </a:xfrm>
          <a:prstGeom prst="rect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24712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One-to-Many Means One Parent, Many Related Items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794760" cy="4434840"/>
          </a:xfrm>
          <a:prstGeom prst="roundRect">
            <a:avLst/>
          </a:prstGeom>
          <a:solidFill>
            <a:srgbClr val="0D1412"/>
          </a:solidFill>
          <a:ln w="1397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01952"/>
            <a:ext cx="3246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9E85A"/>
                </a:solidFill>
                <a:latin typeface="Aptos"/>
              </a:rPr>
              <a:t>ONE PARENT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50008"/>
            <a:ext cx="3246120" cy="51206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3000" b="1">
                <a:solidFill>
                  <a:srgbClr val="F5F8F6"/>
                </a:solidFill>
                <a:latin typeface="Aptos"/>
              </a:rPr>
              <a:t>Avi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324612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>
                <a:solidFill>
                  <a:srgbClr val="AAB4B0"/>
                </a:solidFill>
                <a:latin typeface="Aptos"/>
              </a:rPr>
              <a:t>Bangalore • RR Nagar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29000" y="3703320"/>
            <a:ext cx="1280160" cy="0"/>
          </a:xfrm>
          <a:prstGeom prst="line">
            <a:avLst/>
          </a:prstGeom>
          <a:ln w="25400">
            <a:solidFill>
              <a:srgbClr val="39E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846320" y="3465576"/>
            <a:ext cx="2148840" cy="475488"/>
          </a:xfrm>
          <a:prstGeom prst="roundRect">
            <a:avLst/>
          </a:prstGeom>
          <a:solidFill>
            <a:srgbClr val="0A1A11"/>
          </a:solidFill>
          <a:ln w="1397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3575303"/>
            <a:ext cx="19659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F5F8F6"/>
                </a:solidFill>
                <a:latin typeface="Aptos"/>
              </a:rPr>
              <a:t>Home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29000" y="4370832"/>
            <a:ext cx="1280160" cy="0"/>
          </a:xfrm>
          <a:prstGeom prst="line">
            <a:avLst/>
          </a:prstGeom>
          <a:ln w="25400">
            <a:solidFill>
              <a:srgbClr val="39E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846320" y="4133088"/>
            <a:ext cx="2148840" cy="475488"/>
          </a:xfrm>
          <a:prstGeom prst="roundRect">
            <a:avLst/>
          </a:prstGeom>
          <a:solidFill>
            <a:srgbClr val="0A1A11"/>
          </a:solidFill>
          <a:ln w="1397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4242816"/>
            <a:ext cx="19659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F5F8F6"/>
                </a:solidFill>
                <a:latin typeface="Aptos"/>
              </a:rPr>
              <a:t>Office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29000" y="5038344"/>
            <a:ext cx="1280160" cy="0"/>
          </a:xfrm>
          <a:prstGeom prst="line">
            <a:avLst/>
          </a:prstGeom>
          <a:ln w="25400">
            <a:solidFill>
              <a:srgbClr val="39E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846320" y="4800600"/>
            <a:ext cx="2148840" cy="475488"/>
          </a:xfrm>
          <a:prstGeom prst="roundRect">
            <a:avLst/>
          </a:prstGeom>
          <a:solidFill>
            <a:srgbClr val="0A1A11"/>
          </a:solidFill>
          <a:ln w="1397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4910328"/>
            <a:ext cx="19659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F5F8F6"/>
                </a:solidFill>
                <a:latin typeface="Aptos"/>
              </a:rPr>
              <a:t>Shipping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1645920"/>
            <a:ext cx="4206240" cy="4434840"/>
          </a:xfrm>
          <a:prstGeom prst="roundRect">
            <a:avLst/>
          </a:prstGeom>
          <a:solidFill>
            <a:srgbClr val="0D1412"/>
          </a:solidFill>
          <a:ln w="1397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1901952"/>
            <a:ext cx="35661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9E85A"/>
                </a:solidFill>
                <a:latin typeface="Aptos"/>
              </a:rPr>
              <a:t>RELATIONSHIP IN DOCUMENT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8" y="2487168"/>
            <a:ext cx="3383280" cy="2514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One Avi document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Many address objects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The child items are embedded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The relationship stays local to the parent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658368" cy="73152"/>
          </a:xfrm>
          <a:prstGeom prst="rect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24712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Document Shape: Embed the Many Side as an Array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27632"/>
            <a:ext cx="6720840" cy="4553712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764792"/>
            <a:ext cx="6391655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name: "Avi",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location: "Bangalore, RR Nagar",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addresses: [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  { type: "home", city: "Bangalore" },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  { type: "office", city: "Bangalore" },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  { type: "shipping", city: "Bangalore" }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  ]</a:t>
            </a:r>
          </a:p>
          <a:p>
            <a:pPr>
              <a:spcAft>
                <a:spcPts val="0"/>
              </a:spcAft>
              <a:defRPr sz="1600">
                <a:solidFill>
                  <a:srgbClr val="F5F8F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627632"/>
            <a:ext cx="3977639" cy="4553712"/>
          </a:xfrm>
          <a:prstGeom prst="roundRect">
            <a:avLst/>
          </a:prstGeom>
          <a:solidFill>
            <a:srgbClr val="0D1412"/>
          </a:solidFill>
          <a:ln w="1397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45552" y="1938528"/>
            <a:ext cx="329184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39E85A"/>
                </a:solidFill>
                <a:latin typeface="Aptos"/>
              </a:rPr>
              <a:t>Shape to notice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45552" y="2560320"/>
            <a:ext cx="31546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Parent fields stay at the top level.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The many side becomes an array.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Each child follows a consistent shape.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All related items live inside Avi's document.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658368" cy="73152"/>
          </a:xfrm>
          <a:prstGeom prst="rect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24712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When This Embedded Pattern 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691640"/>
            <a:ext cx="5166360" cy="1847088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0392" y="1911095"/>
            <a:ext cx="1325880" cy="347472"/>
          </a:xfrm>
          <a:prstGeom prst="roundRect">
            <a:avLst/>
          </a:prstGeom>
          <a:solidFill>
            <a:srgbClr val="124A28"/>
          </a:solidFill>
          <a:ln w="1397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947672"/>
            <a:ext cx="1216152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BOUNDED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4872" y="1993392"/>
            <a:ext cx="2971800" cy="10515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50" b="1">
                <a:solidFill>
                  <a:srgbClr val="F5F8F6"/>
                </a:solidFill>
                <a:latin typeface="Aptos"/>
              </a:rPr>
              <a:t>The number of related items is small or reasonably bounded.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691640"/>
            <a:ext cx="5166360" cy="1847088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73952" y="1911095"/>
            <a:ext cx="1325880" cy="347472"/>
          </a:xfrm>
          <a:prstGeom prst="roundRect">
            <a:avLst/>
          </a:prstGeom>
          <a:solidFill>
            <a:srgbClr val="124A28"/>
          </a:solidFill>
          <a:ln w="1397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8816" y="1947672"/>
            <a:ext cx="1216152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CO-READ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8431" y="1993392"/>
            <a:ext cx="2971800" cy="10515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50" b="1">
                <a:solidFill>
                  <a:srgbClr val="F5F8F6"/>
                </a:solidFill>
                <a:latin typeface="Aptos"/>
              </a:rPr>
              <a:t>The application commonly retrieves Avi and the addresses together.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3931920"/>
            <a:ext cx="5166360" cy="1847088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0392" y="4151376"/>
            <a:ext cx="1325880" cy="347472"/>
          </a:xfrm>
          <a:prstGeom prst="roundRect">
            <a:avLst/>
          </a:prstGeom>
          <a:solidFill>
            <a:srgbClr val="124A28"/>
          </a:solidFill>
          <a:ln w="1397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4187952"/>
            <a:ext cx="1216152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OWNED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4872" y="4233672"/>
            <a:ext cx="2971800" cy="10515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50" b="1">
                <a:solidFill>
                  <a:srgbClr val="F5F8F6"/>
                </a:solidFill>
                <a:latin typeface="Aptos"/>
              </a:rPr>
              <a:t>The addresses are naturally part of Avi's profile.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3931920"/>
            <a:ext cx="5166360" cy="1847088"/>
          </a:xfrm>
          <a:prstGeom prst="roundRect">
            <a:avLst/>
          </a:prstGeom>
          <a:solidFill>
            <a:srgbClr val="0B1210"/>
          </a:solidFill>
          <a:ln w="1397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73952" y="4151376"/>
            <a:ext cx="1325880" cy="347472"/>
          </a:xfrm>
          <a:prstGeom prst="roundRect">
            <a:avLst/>
          </a:prstGeom>
          <a:solidFill>
            <a:srgbClr val="124A28"/>
          </a:solidFill>
          <a:ln w="1397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4187952"/>
            <a:ext cx="1216152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LOCAL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4233672"/>
            <a:ext cx="2971800" cy="10515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50" b="1">
                <a:solidFill>
                  <a:srgbClr val="F5F8F6"/>
                </a:solidFill>
                <a:latin typeface="Aptos"/>
              </a:rPr>
              <a:t>The relationship can be managed within one document.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658368" cy="73152"/>
          </a:xfrm>
          <a:prstGeom prst="rect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24712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Query the Embedded Relationship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64208"/>
            <a:ext cx="5715000" cy="233172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801368"/>
            <a:ext cx="5385816" cy="20756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  <a:r>
              <a:t>db.people.findOne({</a:t>
            </a:r>
          </a:p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  <a:r>
              <a:t>  name: "Avi",</a:t>
            </a:r>
          </a:p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  <a:r>
              <a:t>  "addresses.type": "office"</a:t>
            </a:r>
          </a:p>
          <a:p>
            <a:pPr>
              <a:spcAft>
                <a:spcPts val="0"/>
              </a:spcAft>
              <a:defRPr sz="170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664208"/>
            <a:ext cx="4892040" cy="4434840"/>
          </a:xfrm>
          <a:prstGeom prst="roundRect">
            <a:avLst/>
          </a:prstGeom>
          <a:solidFill>
            <a:srgbClr val="0D1412"/>
          </a:solidFill>
          <a:ln w="1397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920240"/>
            <a:ext cx="4160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39E85A"/>
                </a:solidFill>
                <a:latin typeface="Aptos"/>
              </a:rPr>
              <a:t>What the query is doing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31152" y="2542032"/>
            <a:ext cx="3977639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Find Avi as the parent document.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Match a child object inside the embedded array.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Return the parent document that contains the relationship.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31152" y="5166360"/>
            <a:ext cx="2834640" cy="347472"/>
          </a:xfrm>
          <a:prstGeom prst="roundRect">
            <a:avLst/>
          </a:prstGeom>
          <a:solidFill>
            <a:srgbClr val="124A28"/>
          </a:solidFill>
          <a:ln w="1397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86016" y="5202936"/>
            <a:ext cx="2724912" cy="23774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F5F8F6"/>
                </a:solidFill>
                <a:latin typeface="Aptos"/>
              </a:rPr>
              <a:t>Parent + embedded children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658368" cy="73152"/>
          </a:xfrm>
          <a:prstGeom prst="rect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24712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Add Another Child with $push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64208"/>
            <a:ext cx="6583680" cy="452628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801368"/>
            <a:ext cx="6254496" cy="4270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550">
                <a:solidFill>
                  <a:srgbClr val="F5F8F6"/>
                </a:solidFill>
                <a:latin typeface="Consolas"/>
              </a:defRPr>
            </a:pPr>
            <a:r>
              <a:t>db.people.updateOne(</a:t>
            </a:r>
          </a:p>
          <a:p>
            <a:pPr>
              <a:spcAft>
                <a:spcPts val="0"/>
              </a:spcAft>
              <a:defRPr sz="1550">
                <a:solidFill>
                  <a:srgbClr val="F5F8F6"/>
                </a:solidFill>
                <a:latin typeface="Consolas"/>
              </a:defRPr>
            </a:pPr>
            <a:r>
              <a:t>  { name: "Avi" },</a:t>
            </a:r>
          </a:p>
          <a:p>
            <a:pPr>
              <a:spcAft>
                <a:spcPts val="0"/>
              </a:spcAft>
              <a:defRPr sz="1550">
                <a:solidFill>
                  <a:srgbClr val="F5F8F6"/>
                </a:solidFill>
                <a:latin typeface="Consolas"/>
              </a:defRPr>
            </a:pPr>
            <a:r>
              <a:t>  { $push: {</a:t>
            </a:r>
          </a:p>
          <a:p>
            <a:pPr>
              <a:spcAft>
                <a:spcPts val="0"/>
              </a:spcAft>
              <a:defRPr sz="1550">
                <a:solidFill>
                  <a:srgbClr val="F5F8F6"/>
                </a:solidFill>
                <a:latin typeface="Consolas"/>
              </a:defRPr>
            </a:pPr>
            <a:r>
              <a:t>      addresses: {</a:t>
            </a:r>
          </a:p>
          <a:p>
            <a:pPr>
              <a:spcAft>
                <a:spcPts val="0"/>
              </a:spcAft>
              <a:defRPr sz="1550">
                <a:solidFill>
                  <a:srgbClr val="F5F8F6"/>
                </a:solidFill>
                <a:latin typeface="Consolas"/>
              </a:defRPr>
            </a:pPr>
            <a:r>
              <a:t>        type: "billing",</a:t>
            </a:r>
          </a:p>
          <a:p>
            <a:pPr>
              <a:spcAft>
                <a:spcPts val="0"/>
              </a:spcAft>
              <a:defRPr sz="1550">
                <a:solidFill>
                  <a:srgbClr val="F5F8F6"/>
                </a:solidFill>
                <a:latin typeface="Consolas"/>
              </a:defRPr>
            </a:pPr>
            <a:r>
              <a:t>        city: "Bangalore"</a:t>
            </a:r>
          </a:p>
          <a:p>
            <a:pPr>
              <a:spcAft>
                <a:spcPts val="0"/>
              </a:spcAft>
              <a:defRPr sz="1550">
                <a:solidFill>
                  <a:srgbClr val="F5F8F6"/>
                </a:solidFill>
                <a:latin typeface="Consolas"/>
              </a:defRPr>
            </a:pPr>
            <a:r>
              <a:t>      }</a:t>
            </a:r>
          </a:p>
          <a:p>
            <a:pPr>
              <a:spcAft>
                <a:spcPts val="0"/>
              </a:spcAft>
              <a:defRPr sz="1550">
                <a:solidFill>
                  <a:srgbClr val="F5F8F6"/>
                </a:solidFill>
                <a:latin typeface="Consolas"/>
              </a:defRPr>
            </a:pPr>
            <a:r>
              <a:t>  }}</a:t>
            </a:r>
          </a:p>
          <a:p>
            <a:pPr>
              <a:spcAft>
                <a:spcPts val="0"/>
              </a:spcAft>
              <a:defRPr sz="1550">
                <a:solidFill>
                  <a:srgbClr val="F5F8F6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664208"/>
            <a:ext cx="4160520" cy="4526280"/>
          </a:xfrm>
          <a:prstGeom prst="roundRect">
            <a:avLst/>
          </a:prstGeom>
          <a:solidFill>
            <a:srgbClr val="0D1412"/>
          </a:solidFill>
          <a:ln w="1397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62672" y="1938528"/>
            <a:ext cx="33832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000" b="1">
                <a:solidFill>
                  <a:srgbClr val="39E85A"/>
                </a:solidFill>
                <a:latin typeface="Aptos"/>
              </a:rPr>
              <a:t>Update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62672" y="2578608"/>
            <a:ext cx="3429000" cy="566928"/>
          </a:xfrm>
          <a:prstGeom prst="roundRect">
            <a:avLst/>
          </a:prstGeom>
          <a:solidFill>
            <a:srgbClr val="0A1911"/>
          </a:solidFill>
          <a:ln w="1397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27264" y="2679191"/>
            <a:ext cx="310896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9E85A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660903"/>
            <a:ext cx="2514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5F8F6"/>
                </a:solidFill>
                <a:latin typeface="Aptos"/>
              </a:rPr>
              <a:t>Locate Avi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62672" y="3447287"/>
            <a:ext cx="3429000" cy="566928"/>
          </a:xfrm>
          <a:prstGeom prst="roundRect">
            <a:avLst/>
          </a:prstGeom>
          <a:solidFill>
            <a:srgbClr val="0A1911"/>
          </a:solidFill>
          <a:ln w="1397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27264" y="3547871"/>
            <a:ext cx="310896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9E85A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529583"/>
            <a:ext cx="2514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5F8F6"/>
                </a:solidFill>
                <a:latin typeface="Aptos"/>
              </a:rPr>
              <a:t>Append one address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62672" y="4315968"/>
            <a:ext cx="3429000" cy="566928"/>
          </a:xfrm>
          <a:prstGeom prst="roundRect">
            <a:avLst/>
          </a:prstGeom>
          <a:solidFill>
            <a:srgbClr val="0A1911"/>
          </a:solidFill>
          <a:ln w="1397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27264" y="4416552"/>
            <a:ext cx="310896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9E85A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398264"/>
            <a:ext cx="2514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5F8F6"/>
                </a:solidFill>
                <a:latin typeface="Aptos"/>
              </a:rPr>
              <a:t>Verify the array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658368" cy="73152"/>
          </a:xfrm>
          <a:prstGeom prst="rect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24712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Keep the Embedded Array Reasonably Bounded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5257800" cy="4343400"/>
          </a:xfrm>
          <a:prstGeom prst="roundRect">
            <a:avLst/>
          </a:prstGeom>
          <a:solidFill>
            <a:srgbClr val="0D1412"/>
          </a:solidFill>
          <a:ln w="1397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965960"/>
            <a:ext cx="4526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9E85A"/>
                </a:solidFill>
                <a:latin typeface="Aptos"/>
              </a:rPr>
              <a:t>HEALTHY SHAPE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87168"/>
            <a:ext cx="45262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300" b="1">
                <a:solidFill>
                  <a:srgbClr val="F5F8F6"/>
                </a:solidFill>
                <a:latin typeface="Aptos"/>
              </a:rPr>
              <a:t>Avi → 3–6 addresses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4892040"/>
            <a:ext cx="594360" cy="457200"/>
          </a:xfrm>
          <a:prstGeom prst="rect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57400" y="4526279"/>
            <a:ext cx="594360" cy="822960"/>
          </a:xfrm>
          <a:prstGeom prst="rect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71800" y="4114800"/>
            <a:ext cx="594360" cy="1234440"/>
          </a:xfrm>
          <a:prstGeom prst="rect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86200" y="3703320"/>
            <a:ext cx="594360" cy="1645920"/>
          </a:xfrm>
          <a:prstGeom prst="rect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44805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0">
                <a:solidFill>
                  <a:srgbClr val="AAB4B0"/>
                </a:solidFill>
                <a:latin typeface="Aptos"/>
              </a:rPr>
              <a:t>bounded growth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91640"/>
            <a:ext cx="5349240" cy="4343400"/>
          </a:xfrm>
          <a:prstGeom prst="roundRect">
            <a:avLst/>
          </a:prstGeom>
          <a:solidFill>
            <a:srgbClr val="0D1412"/>
          </a:solidFill>
          <a:ln w="1397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965960"/>
            <a:ext cx="4572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39E85A"/>
                </a:solidFill>
                <a:latin typeface="Aptos"/>
              </a:rPr>
              <a:t>REVISIT THE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578608"/>
            <a:ext cx="425196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The array can grow without a practical bound.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The parent document becomes very large.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Child records are accessed independently.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Child updates become frequent and separate.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658368" cy="73152"/>
          </a:xfrm>
          <a:prstGeom prst="rect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24712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Embedded Array vs Separate Child Collection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5303520" cy="4407408"/>
          </a:xfrm>
          <a:prstGeom prst="roundRect">
            <a:avLst/>
          </a:prstGeom>
          <a:solidFill>
            <a:srgbClr val="0D1412"/>
          </a:solidFill>
          <a:ln w="1397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938528"/>
            <a:ext cx="13258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39E85A"/>
                </a:solidFill>
                <a:latin typeface="Aptos"/>
              </a:rPr>
              <a:t>EMBED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423160"/>
            <a:ext cx="41605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F5F8F6"/>
                </a:solidFill>
                <a:latin typeface="Aptos"/>
              </a:rPr>
              <a:t>Avi + addresses[]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27248"/>
            <a:ext cx="416052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One document holds the relationship.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Reads are simple when data is co-accessed.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Good for bounded, parent-owned items.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257800" cy="4407408"/>
          </a:xfrm>
          <a:prstGeom prst="roundRect">
            <a:avLst/>
          </a:prstGeom>
          <a:solidFill>
            <a:srgbClr val="0D1412"/>
          </a:solidFill>
          <a:ln w="1397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938528"/>
            <a:ext cx="1645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39E85A"/>
                </a:solidFill>
                <a:latin typeface="Aptos"/>
              </a:rPr>
              <a:t>SEPARATE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423160"/>
            <a:ext cx="416052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F5F8F6"/>
                </a:solidFill>
                <a:latin typeface="Aptos"/>
              </a:rPr>
              <a:t>Avi + addresses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127248"/>
            <a:ext cx="416052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Child items grow independently.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Children may be queried on their own.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Useful when the relationship becomes independent.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658368" cy="73152"/>
          </a:xfrm>
          <a:prstGeom prst="rect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247120" cy="4754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Demo Focus: Avi and Multiple Addresses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27632"/>
            <a:ext cx="6629400" cy="4526280"/>
          </a:xfrm>
          <a:prstGeom prst="roundRect">
            <a:avLst/>
          </a:prstGeom>
          <a:solidFill>
            <a:srgbClr val="070C0B"/>
          </a:solidFill>
          <a:ln w="1397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764792"/>
            <a:ext cx="6300216" cy="4270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use lesson031_demo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db.people.insertOne({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name: "Avi",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location: "Bangalore, RR Nagar",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addresses: [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  { type: "home", city: "Bangalore" },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  { type: "office", city: "Bangalore" },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  { type: "shipping", city: "Bangalore" }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  ]</a:t>
            </a:r>
          </a:p>
          <a:p>
            <a:pPr>
              <a:spcAft>
                <a:spcPts val="0"/>
              </a:spcAft>
              <a:defRPr sz="1450">
                <a:solidFill>
                  <a:srgbClr val="F5F8F6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79792" y="1627632"/>
            <a:ext cx="4096512" cy="4526280"/>
          </a:xfrm>
          <a:prstGeom prst="roundRect">
            <a:avLst/>
          </a:prstGeom>
          <a:solidFill>
            <a:srgbClr val="0D1412"/>
          </a:solidFill>
          <a:ln w="1397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938528"/>
            <a:ext cx="33832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39E85A"/>
                </a:solidFill>
                <a:latin typeface="Aptos"/>
              </a:rPr>
              <a:t>Demo 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596896"/>
            <a:ext cx="3200400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Create the parent document.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Embed several address documents.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Query one child by its type.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Add a new address with $push.</a:t>
            </a:r>
          </a:p>
          <a:p>
            <a:pPr>
              <a:spcAft>
                <a:spcPts val="500"/>
              </a:spcAft>
              <a:defRPr sz="1800">
                <a:solidFill>
                  <a:srgbClr val="F5F8F6"/>
                </a:solidFill>
                <a:latin typeface="Aptos"/>
              </a:defRPr>
            </a:pPr>
            <a:r>
              <a:t>• Inspect the final document.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38912"/>
            <a:ext cx="107899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000" b="1">
                <a:solidFill>
                  <a:srgbClr val="F5F8F6"/>
                </a:solidFill>
                <a:latin typeface="Aptos"/>
              </a:rPr>
              <a:t>One-to-Many — Embedded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1051560" cy="73152"/>
          </a:xfrm>
          <a:prstGeom prst="rect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104241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AAB4B0"/>
                </a:solidFill>
                <a:latin typeface="Aptos"/>
              </a:rPr>
              <a:t>Graphic recap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57400"/>
            <a:ext cx="2423160" cy="1920240"/>
          </a:xfrm>
          <a:prstGeom prst="roundRect">
            <a:avLst/>
          </a:prstGeom>
          <a:solidFill>
            <a:srgbClr val="0A1411"/>
          </a:solidFill>
          <a:ln w="1397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04288"/>
            <a:ext cx="21488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50" b="1">
                <a:solidFill>
                  <a:srgbClr val="39E85A"/>
                </a:solidFill>
                <a:latin typeface="Aptos"/>
              </a:rPr>
              <a:t>PARENT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2148840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900" b="1">
                <a:solidFill>
                  <a:srgbClr val="F5F8F6"/>
                </a:solidFill>
                <a:latin typeface="Aptos"/>
              </a:rPr>
              <a:t>Avi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53512" y="2743200"/>
            <a:ext cx="384048" cy="475488"/>
          </a:xfrm>
          <a:prstGeom prst="rightArrow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2057400"/>
            <a:ext cx="2423160" cy="1920240"/>
          </a:xfrm>
          <a:prstGeom prst="roundRect">
            <a:avLst/>
          </a:prstGeom>
          <a:solidFill>
            <a:srgbClr val="0A1411"/>
          </a:solidFill>
          <a:ln w="1397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304288"/>
            <a:ext cx="21488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50" b="1">
                <a:solidFill>
                  <a:srgbClr val="39E85A"/>
                </a:solidFill>
                <a:latin typeface="Aptos"/>
              </a:rPr>
              <a:t>ARRAY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852928"/>
            <a:ext cx="2148840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900" b="1">
                <a:solidFill>
                  <a:srgbClr val="F5F8F6"/>
                </a:solidFill>
                <a:latin typeface="Aptos"/>
              </a:rPr>
              <a:t>addresses[]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33872" y="2743200"/>
            <a:ext cx="384048" cy="475488"/>
          </a:xfrm>
          <a:prstGeom prst="rightArrow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2057400"/>
            <a:ext cx="2423160" cy="1920240"/>
          </a:xfrm>
          <a:prstGeom prst="roundRect">
            <a:avLst/>
          </a:prstGeom>
          <a:solidFill>
            <a:srgbClr val="0A1411"/>
          </a:solidFill>
          <a:ln w="1397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304288"/>
            <a:ext cx="21488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50" b="1">
                <a:solidFill>
                  <a:srgbClr val="39E85A"/>
                </a:solidFill>
                <a:latin typeface="Aptos"/>
              </a:rPr>
              <a:t>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52928"/>
            <a:ext cx="2148840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900" b="1">
                <a:solidFill>
                  <a:srgbClr val="F5F8F6"/>
                </a:solidFill>
                <a:latin typeface="Aptos"/>
              </a:rPr>
              <a:t>Find by child field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14232" y="2743200"/>
            <a:ext cx="384048" cy="475488"/>
          </a:xfrm>
          <a:prstGeom prst="rightArrow">
            <a:avLst/>
          </a:prstGeom>
          <a:solidFill>
            <a:srgbClr val="39E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0" y="2057400"/>
            <a:ext cx="2423160" cy="1920240"/>
          </a:xfrm>
          <a:prstGeom prst="roundRect">
            <a:avLst/>
          </a:prstGeom>
          <a:solidFill>
            <a:srgbClr val="0A1411"/>
          </a:solidFill>
          <a:ln w="1397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2304288"/>
            <a:ext cx="214884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50" b="1">
                <a:solidFill>
                  <a:srgbClr val="39E85A"/>
                </a:solidFill>
                <a:latin typeface="Aptos"/>
              </a:rPr>
              <a:t>BOUND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852928"/>
            <a:ext cx="2148840" cy="6217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900" b="1">
                <a:solidFill>
                  <a:srgbClr val="F5F8F6"/>
                </a:solidFill>
                <a:latin typeface="Aptos"/>
              </a:rPr>
              <a:t>Keep growth bounded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89120"/>
            <a:ext cx="10744200" cy="1417320"/>
          </a:xfrm>
          <a:prstGeom prst="roundRect">
            <a:avLst/>
          </a:prstGeom>
          <a:solidFill>
            <a:srgbClr val="08120D"/>
          </a:solidFill>
          <a:ln w="13970">
            <a:solidFill>
              <a:srgbClr val="2A3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645152"/>
            <a:ext cx="384048" cy="2468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9E85A"/>
                </a:solidFill>
                <a:latin typeface="Aptos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2" y="4572000"/>
            <a:ext cx="1901952" cy="7863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8F6"/>
                </a:solidFill>
                <a:latin typeface="Aptos"/>
              </a:rPr>
              <a:t>One parent can contain many child objects.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4645152"/>
            <a:ext cx="384048" cy="2468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9E85A"/>
                </a:solidFill>
                <a:latin typeface="Apto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86783" y="4572000"/>
            <a:ext cx="1901952" cy="7863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8F6"/>
                </a:solidFill>
                <a:latin typeface="Aptos"/>
              </a:rPr>
              <a:t>Embed when the related items are bounded and co-read.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35624" y="4645152"/>
            <a:ext cx="384048" cy="2468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9E85A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4536" y="4572000"/>
            <a:ext cx="1901952" cy="7863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8F6"/>
                </a:solidFill>
                <a:latin typeface="Aptos"/>
              </a:rPr>
              <a:t>Use consistent child structure and predictable queries.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23376" y="4645152"/>
            <a:ext cx="384048" cy="24688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>
                <a:solidFill>
                  <a:srgbClr val="39E85A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2288" y="4572000"/>
            <a:ext cx="1901952" cy="78638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8F6"/>
                </a:solidFill>
                <a:latin typeface="Aptos"/>
              </a:rPr>
              <a:t>Revisit embedding when growth or access becomes independent.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6035040"/>
            <a:ext cx="10469880" cy="402336"/>
          </a:xfrm>
          <a:prstGeom prst="roundRect">
            <a:avLst/>
          </a:prstGeom>
          <a:solidFill>
            <a:srgbClr val="39E85A"/>
          </a:solidFill>
          <a:ln w="13970">
            <a:solidFill>
              <a:srgbClr val="39E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6117336"/>
            <a:ext cx="10222992" cy="21945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50" b="1">
                <a:solidFill>
                  <a:srgbClr val="050808"/>
                </a:solidFill>
                <a:latin typeface="Aptos"/>
              </a:rPr>
              <a:t>Pattern: parent document → embedded array → document-level access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