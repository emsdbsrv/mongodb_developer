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48640"/>
            <a:ext cx="914400" cy="91440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097280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039 — Collection Document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07899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FBAB5"/>
                </a:solidFill>
                <a:latin typeface="Aptos"/>
              </a:rPr>
              <a:t>Enforce the intended Order Management document shape at the collection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4572000" cy="283464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532888"/>
            <a:ext cx="16916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569464"/>
            <a:ext cx="16184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ORDER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17520"/>
            <a:ext cx="38862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F5F8F6"/>
                </a:solidFill>
                <a:latin typeface="Aptos"/>
              </a:rPr>
              <a:t>ORD-1001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93008"/>
            <a:ext cx="38862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status: 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041648"/>
            <a:ext cx="38862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AFBAB5"/>
                </a:solidFill>
                <a:latin typeface="Aptos"/>
              </a:rPr>
              <a:t>items[]   payment  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240280"/>
            <a:ext cx="5715000" cy="283464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15584" y="2532888"/>
            <a:ext cx="19659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569464"/>
            <a:ext cx="189280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COLLECTION GUARDRAIL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063240"/>
            <a:ext cx="48463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3657600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✓ required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57600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✓ BSON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4096512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✓ array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096512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AEB5B"/>
                </a:solidFill>
                <a:latin typeface="Aptos"/>
              </a:rPr>
              <a:t>✗ invalid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321808"/>
            <a:ext cx="106984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>
                <a:solidFill>
                  <a:srgbClr val="AFBAB5"/>
                </a:solidFill>
                <a:latin typeface="Aptos"/>
              </a:rPr>
              <a:t>Example: Order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Why Validate Order Documents?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5285232" cy="44805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920240"/>
            <a:ext cx="1874519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56816"/>
            <a:ext cx="180136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WITHOUT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44805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An order total can arrive with the wrong type.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 shipping address can become a string.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items can become a single object instead of an array.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Required order fields can be omitted.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27632"/>
            <a:ext cx="5321808" cy="44805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16459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956816"/>
            <a:ext cx="15727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WITH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15184"/>
            <a:ext cx="45720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Define the expected document contract.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Require important order fields.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Enforce expected BSON types.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Reject documents that violate the declared shape.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285232"/>
            <a:ext cx="457200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Validation protects the stored order shape.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Define the Order Contract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6192"/>
            <a:ext cx="6565392" cy="4590288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64207"/>
            <a:ext cx="6236207" cy="43342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orderId: "ORD-1001",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status: "CONFIRMED",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orderDate: ISODate(...),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shippingAddress: 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city: "Bangalore",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state: "Karnataka"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items: [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productId: "P100",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quantity: 1,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  unitPrice: 75000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],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payment: 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method: "UPI",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amount: 72900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88352" y="1536192"/>
            <a:ext cx="4133087" cy="459028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0" y="1837943"/>
            <a:ext cx="1143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17536" y="1874519"/>
            <a:ext cx="10698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CONTRACT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487168"/>
            <a:ext cx="3246120" cy="457200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587752"/>
            <a:ext cx="135331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orderId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578608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string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054096"/>
            <a:ext cx="3246120" cy="457200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154680"/>
            <a:ext cx="135331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145536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string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621024"/>
            <a:ext cx="3246120" cy="457200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721608"/>
            <a:ext cx="135331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orderDate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712463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187952"/>
            <a:ext cx="3246120" cy="457200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4288536"/>
            <a:ext cx="135331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shippingAddress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279392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object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754880"/>
            <a:ext cx="3246120" cy="457200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855464"/>
            <a:ext cx="135331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846320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array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5321808"/>
            <a:ext cx="3246120" cy="457200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5422392"/>
            <a:ext cx="135331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413248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object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5486400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0">
                <a:solidFill>
                  <a:srgbClr val="AFBAB5"/>
                </a:solidFill>
                <a:latin typeface="Aptos"/>
              </a:rPr>
              <a:t>The validator should mirror the agreed shape.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Validation Building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5230368" cy="1170432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1847088"/>
            <a:ext cx="1444752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83664"/>
            <a:ext cx="137160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2887" y="1920240"/>
            <a:ext cx="2852928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Mandatory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645920"/>
            <a:ext cx="5230368" cy="1170432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47088"/>
            <a:ext cx="1444752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883664"/>
            <a:ext cx="137160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bsonType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1920240"/>
            <a:ext cx="2852928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Expected BSON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90672"/>
            <a:ext cx="5230368" cy="1170432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" y="3291840"/>
            <a:ext cx="1444752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3328416"/>
            <a:ext cx="137160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7" y="3364991"/>
            <a:ext cx="2852928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Field-level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3090672"/>
            <a:ext cx="5230368" cy="1170432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0528" y="3291840"/>
            <a:ext cx="1444752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3328416"/>
            <a:ext cx="137160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364991"/>
            <a:ext cx="2852928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Rules for array elements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535424"/>
            <a:ext cx="5230368" cy="1170432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03320" y="4736592"/>
            <a:ext cx="1444752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9896" y="4773168"/>
            <a:ext cx="137160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minItems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809744"/>
            <a:ext cx="2852928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Minimum array size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Validate the Order Items Array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572768"/>
            <a:ext cx="6629400" cy="4590288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700784"/>
            <a:ext cx="6300216" cy="43342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items: {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bsonType: "array",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minItems: 1,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items: {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bsonType: "object",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required: [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  "productId",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  "quantity",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  "unitPrice"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properties: {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  productId: { bsonType: "string" },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  quantity:  { bsonType: "int", minimum: 1 },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  unitPrice: { bsonType: "decimal" }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38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72768"/>
            <a:ext cx="4069080" cy="459028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44968" y="1865376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81544" y="1901952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ITEM CONTRACT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4968" y="2514600"/>
            <a:ext cx="3200400" cy="45720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2" y="2624328"/>
            <a:ext cx="1078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984" y="2606040"/>
            <a:ext cx="1691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1">
                <a:solidFill>
                  <a:srgbClr val="F5F8F6"/>
                </a:solidFill>
                <a:latin typeface="Aptos"/>
              </a:rPr>
              <a:t>array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4968" y="3127248"/>
            <a:ext cx="3200400" cy="45720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2" y="3236976"/>
            <a:ext cx="1078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minItems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5984" y="3218688"/>
            <a:ext cx="1691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1">
                <a:solidFill>
                  <a:srgbClr val="F5F8F6"/>
                </a:solidFill>
                <a:latin typeface="Aptos"/>
              </a:rPr>
              <a:t>at least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4968" y="3739896"/>
            <a:ext cx="3200400" cy="45720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2" y="3849624"/>
            <a:ext cx="1078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productId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3831335"/>
            <a:ext cx="1691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1">
                <a:solidFill>
                  <a:srgbClr val="F5F8F6"/>
                </a:solidFill>
                <a:latin typeface="Aptos"/>
              </a:rPr>
              <a:t>string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4968" y="4352544"/>
            <a:ext cx="3200400" cy="45720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2" y="4462272"/>
            <a:ext cx="1078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quantity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4443983"/>
            <a:ext cx="1691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1">
                <a:solidFill>
                  <a:srgbClr val="F5F8F6"/>
                </a:solidFill>
                <a:latin typeface="Aptos"/>
              </a:rPr>
              <a:t>int ≥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44968" y="4965192"/>
            <a:ext cx="3200400" cy="45720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2" y="5074920"/>
            <a:ext cx="1078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unitPrice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5056631"/>
            <a:ext cx="169164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30" b="1">
                <a:solidFill>
                  <a:srgbClr val="F5F8F6"/>
                </a:solidFill>
                <a:latin typeface="Aptos"/>
              </a:rPr>
              <a:t>decimal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513832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0">
                <a:solidFill>
                  <a:srgbClr val="AFBAB5"/>
                </a:solidFill>
                <a:latin typeface="Aptos"/>
              </a:rPr>
              <a:t>Nested validation keeps each line item predictable.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Create the Validated Orders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517904"/>
            <a:ext cx="6629400" cy="470916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645919"/>
            <a:ext cx="6300216" cy="4453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db.createCollection("orders", {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validator: {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$jsonSchema: {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bsonType: "object",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required: [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  "orderId",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  "status",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  "orderDate",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  "items",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  "payment"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],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properties: {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  orderId:   { bsonType: "string" },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  status:    { bsonType: "string" },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  orderDate: { bsonType: "date" },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  items:     { bsonType: "array" },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  payment:   { bsonType: "object" }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  }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32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17904"/>
            <a:ext cx="4069080" cy="47091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54112" y="1810512"/>
            <a:ext cx="16002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1847088"/>
            <a:ext cx="15270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COLLECTION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2487168"/>
            <a:ext cx="324612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Attach the validator to orders.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Required fields define the minimum contract.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Field types define the expected BSON shape.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Nested item rules can be expanded in the same validator.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5349240"/>
            <a:ext cx="32461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Collection → validator → incoming document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Valid and Invalid Orders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627632"/>
            <a:ext cx="5257800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920240"/>
            <a:ext cx="914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56816"/>
            <a:ext cx="841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VALID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2542032"/>
            <a:ext cx="4434840" cy="237744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670048"/>
            <a:ext cx="4105655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orderId: "ORD-1001",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status: "CONFIRMED",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orderDate: ISODate(...),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items: [],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payment: {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  method: "UPI",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  amount: Decimal128("72900")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285232"/>
            <a:ext cx="429768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Required fields exist with expected 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27632"/>
            <a:ext cx="5257800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28816" y="1920240"/>
            <a:ext cx="10972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56816"/>
            <a:ext cx="102412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INVALID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2542032"/>
            <a:ext cx="4434840" cy="237744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670048"/>
            <a:ext cx="4105655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orderId: "ORD-1001",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status: 7,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orderDate: "2026-09-26",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items: {},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payment: {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  method: "UPI",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  amount: 72900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0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5285232"/>
            <a:ext cx="429768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Several fields violate the declared BSON types.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Inspect and Test the Validation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417320"/>
            <a:ext cx="6537960" cy="48463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545336"/>
            <a:ext cx="6208776" cy="4590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80">
                <a:solidFill>
                  <a:srgbClr val="3AEB5B"/>
                </a:solidFill>
                <a:latin typeface="Consolas"/>
              </a:defRPr>
            </a:pPr>
            <a:r>
              <a:t>// Inspect the collection definition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db.getCollectionInfos({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name: "orders"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80">
                <a:solidFill>
                  <a:srgbClr val="3AEB5B"/>
                </a:solidFill>
                <a:latin typeface="Consolas"/>
              </a:defRPr>
            </a:pPr>
            <a:r>
              <a:t>// Insert a valid order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db.orders.insertOne({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orderId: "ORD-1001",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status: "CONFIRMED",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orderDate: ISODate("2026-09-26"),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items: [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    productId: "P100",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    quantity: NumberInt(1),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    unitPrice: Decimal128("75000")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],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payment: {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  method: "UPI",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  amount: Decimal128("72900")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28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417320"/>
            <a:ext cx="4160520" cy="484632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53527" y="1719072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0103" y="1755648"/>
            <a:ext cx="13441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TEST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331720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2313432"/>
            <a:ext cx="2788920" cy="3383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F5F8F6"/>
                </a:solidFill>
                <a:latin typeface="Aptos"/>
              </a:rPr>
              <a:t>Inspect validator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971800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953512"/>
            <a:ext cx="2788920" cy="3383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F5F8F6"/>
                </a:solidFill>
                <a:latin typeface="Aptos"/>
              </a:rPr>
              <a:t>Insert valid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11879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3593591"/>
            <a:ext cx="2788920" cy="3383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F5F8F6"/>
                </a:solidFill>
                <a:latin typeface="Aptos"/>
              </a:rPr>
              <a:t>Insert invalid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251959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233672"/>
            <a:ext cx="2788920" cy="3383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F5F8F6"/>
                </a:solidFill>
                <a:latin typeface="Aptos"/>
              </a:rPr>
              <a:t>Observe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892040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4873752"/>
            <a:ext cx="2788920" cy="3383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20" b="1">
                <a:solidFill>
                  <a:srgbClr val="F5F8F6"/>
                </a:solidFill>
                <a:latin typeface="Aptos"/>
              </a:rPr>
              <a:t>Verify stored order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 Focus: Order Management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63040"/>
            <a:ext cx="6583680" cy="4773168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591056"/>
            <a:ext cx="6254496" cy="4517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use lesson039_demo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db.createCollection("orders", 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validator: 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$jsonSchema: 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bsonType: "object",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required: [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"orderId",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"status",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"items",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"payment"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],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properties: 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orderId: { bsonType: "string" },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status:  { bsonType: "string" },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items: 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  bsonType: "array",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  minItems: 1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},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payment: {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  bsonType: "object"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  }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30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3AEB5B"/>
                </a:solidFill>
                <a:latin typeface="Consolas"/>
              </a:defRPr>
            </a:pPr>
            <a:r>
              <a:t>// valid order → accepted</a:t>
            </a:r>
          </a:p>
          <a:p>
            <a:pPr>
              <a:spcAft>
                <a:spcPts val="0"/>
              </a:spcAft>
              <a:defRPr sz="1300">
                <a:solidFill>
                  <a:srgbClr val="3AEB5B"/>
                </a:solidFill>
                <a:latin typeface="Consolas"/>
              </a:defRPr>
            </a:pPr>
            <a:r>
              <a:t>// invalid order → rejected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24927" y="1463040"/>
            <a:ext cx="4096512" cy="477316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08392" y="1764792"/>
            <a:ext cx="1143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7" y="1801368"/>
            <a:ext cx="10698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DEMO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377440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359152"/>
            <a:ext cx="27889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10" b="1">
                <a:solidFill>
                  <a:srgbClr val="F5F8F6"/>
                </a:solidFill>
                <a:latin typeface="Aptos"/>
              </a:rPr>
              <a:t>Create validated orders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926080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907792"/>
            <a:ext cx="27889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10" b="1">
                <a:solidFill>
                  <a:srgbClr val="F5F8F6"/>
                </a:solidFill>
                <a:latin typeface="Aptos"/>
              </a:rPr>
              <a:t>Inspect validator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474720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456432"/>
            <a:ext cx="27889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10" b="1">
                <a:solidFill>
                  <a:srgbClr val="F5F8F6"/>
                </a:solidFill>
                <a:latin typeface="Aptos"/>
              </a:rPr>
              <a:t>Insert valid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4023360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005072"/>
            <a:ext cx="27889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10" b="1">
                <a:solidFill>
                  <a:srgbClr val="F5F8F6"/>
                </a:solidFill>
                <a:latin typeface="Aptos"/>
              </a:rPr>
              <a:t>Insert invalid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572000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4553712"/>
            <a:ext cx="27889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10" b="1">
                <a:solidFill>
                  <a:srgbClr val="F5F8F6"/>
                </a:solidFill>
                <a:latin typeface="Aptos"/>
              </a:rPr>
              <a:t>Review validation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120640"/>
            <a:ext cx="3200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5102352"/>
            <a:ext cx="27889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10" b="1">
                <a:solidFill>
                  <a:srgbClr val="F5F8F6"/>
                </a:solidFill>
                <a:latin typeface="Aptos"/>
              </a:rPr>
              <a:t>Verify valid order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8813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Collection Document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4630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FBAB5"/>
                </a:solidFill>
                <a:latin typeface="Aptos"/>
              </a:rPr>
              <a:t>Order Management: contract → guardrail →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965960"/>
            <a:ext cx="2578608" cy="175564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240280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3AEB5B"/>
                </a:solidFill>
                <a:latin typeface="Aptos"/>
              </a:rPr>
              <a:t>ORDER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743200"/>
            <a:ext cx="230428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Required fields
Nested objects
Arrays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91256" y="2560320"/>
            <a:ext cx="411480" cy="402336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1965960"/>
            <a:ext cx="2578608" cy="175564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2240280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3AEB5B"/>
                </a:solidFill>
                <a:latin typeface="Aptos"/>
              </a:rPr>
              <a:t>VALIDATOR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743200"/>
            <a:ext cx="230428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bsonType
properties
items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07608" y="2560320"/>
            <a:ext cx="411480" cy="402336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2578608" cy="175564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3AEB5B"/>
                </a:solidFill>
                <a:latin typeface="Aptos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43200"/>
            <a:ext cx="230428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orders
collection rule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23960" y="2560320"/>
            <a:ext cx="411480" cy="402336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34272" y="1965960"/>
            <a:ext cx="2578608" cy="1755648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2240280"/>
            <a:ext cx="23042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3AEB5B"/>
                </a:solidFill>
                <a:latin typeface="Aptos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743200"/>
            <a:ext cx="2304288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valid ✓
invalid 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4187952"/>
            <a:ext cx="10652760" cy="1389888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498848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443984"/>
            <a:ext cx="1901952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40" b="1">
                <a:solidFill>
                  <a:srgbClr val="F5F8F6"/>
                </a:solidFill>
                <a:latin typeface="Aptos"/>
              </a:rPr>
              <a:t>Define the order contract.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4498848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95928" y="4443984"/>
            <a:ext cx="1901952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40" b="1">
                <a:solidFill>
                  <a:srgbClr val="F5F8F6"/>
                </a:solidFill>
                <a:latin typeface="Aptos"/>
              </a:rPr>
              <a:t>Attach validation to the collection.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498848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443984"/>
            <a:ext cx="1901952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40" b="1">
                <a:solidFill>
                  <a:srgbClr val="F5F8F6"/>
                </a:solidFill>
                <a:latin typeface="Aptos"/>
              </a:rPr>
              <a:t>Test a valid and invalid order.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4498848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4443984"/>
            <a:ext cx="1901952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40" b="1">
                <a:solidFill>
                  <a:srgbClr val="F5F8F6"/>
                </a:solidFill>
                <a:latin typeface="Aptos"/>
              </a:rPr>
              <a:t>Keep the validator aligned with the model.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" y="5989320"/>
            <a:ext cx="10378440" cy="420624"/>
          </a:xfrm>
          <a:prstGeom prst="roundRect">
            <a:avLst/>
          </a:prstGeom>
          <a:solidFill>
            <a:srgbClr val="3AEB5B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6071616"/>
            <a:ext cx="10241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40" b="1">
                <a:solidFill>
                  <a:srgbClr val="040707"/>
                </a:solidFill>
                <a:latin typeface="Aptos"/>
              </a:rPr>
              <a:t>Order Management → intended shape → validation contract → controlled writes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