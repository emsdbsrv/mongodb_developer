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960120"/>
            <a:ext cx="118872" cy="4160520"/>
          </a:xfrm>
          <a:prstGeom prst="rect">
            <a:avLst/>
          </a:prstGeom>
          <a:solidFill>
            <a:srgbClr val="00D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9144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00D278"/>
                </a:solidFill>
                <a:latin typeface="Aptos"/>
              </a:defRPr>
            </a:pPr>
            <a:r>
              <a:t>Lesson 022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4200" b="1">
                <a:solidFill>
                  <a:srgbClr val="FFFFFF"/>
                </a:solidFill>
                <a:latin typeface="Aptos"/>
              </a:defRPr>
            </a:pPr>
            <a:r>
              <a:t>Build with JSON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5176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Understand JSON as the developer-facing representation of MongoDB documents.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24612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Learn objects, arrays, values, and nested structures.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84048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Then map the structure into MongoDB.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9B9B9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685800"/>
          </a:xfrm>
          <a:prstGeom prst="rect">
            <a:avLst/>
          </a:prstGeom>
          <a:solidFill>
            <a:srgbClr val="00D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ptos Display"/>
              </a:defRPr>
            </a:pPr>
            <a:r>
              <a:t>What Is JSON?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JSON stands for JavaScript Object Notation.</a:t>
            </a:r>
          </a:p>
          <a:p>
            <a:pPr>
              <a:spcAft>
                <a:spcPts val="8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JSON is a text-based format for representing structured data.</a:t>
            </a:r>
          </a:p>
          <a:p>
            <a:pPr>
              <a:spcAft>
                <a:spcPts val="8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Developers commonly use JSON when exchanging data between applications and services.</a:t>
            </a:r>
          </a:p>
          <a:p>
            <a:pPr>
              <a:spcAft>
                <a:spcPts val="8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MongoDB documents are often displayed using a JSON-like syntax.</a:t>
            </a:r>
          </a:p>
          <a:p>
            <a:pPr>
              <a:spcAft>
                <a:spcPts val="8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Understanding JSON makes MongoDB documents easier to read and design.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9B9B9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685800"/>
          </a:xfrm>
          <a:prstGeom prst="rect">
            <a:avLst/>
          </a:prstGeom>
          <a:solidFill>
            <a:srgbClr val="00D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ptos Display"/>
              </a:defRPr>
            </a:pPr>
            <a:r>
              <a:t>A Simple JSON Object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JSON data is built from name-value pairs.</a:t>
            </a:r>
          </a:p>
          <a:p>
            <a:pPr>
              <a:spcAft>
                <a:spcPts val="8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Names are written as strings.</a:t>
            </a:r>
          </a:p>
          <a:p>
            <a:pPr>
              <a:spcAft>
                <a:spcPts val="8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Values can be strings, numbers, booleans, null, objects, or arrays.</a:t>
            </a:r>
          </a:p>
          <a:p>
            <a:pPr>
              <a:spcAft>
                <a:spcPts val="8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Objects are enclosed in curly braces.</a:t>
            </a:r>
          </a:p>
          <a:p>
            <a:pPr>
              <a:spcAft>
                <a:spcPts val="8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This structure maps naturally to many application objects.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417320"/>
            <a:ext cx="3291840" cy="685800"/>
          </a:xfrm>
          <a:prstGeom prst="roundRect">
            <a:avLst/>
          </a:prstGeom>
          <a:solidFill>
            <a:srgbClr val="191919"/>
          </a:solidFill>
          <a:ln>
            <a:solidFill>
              <a:srgbClr val="00D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JSON Object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2651760"/>
            <a:ext cx="1920240" cy="640080"/>
          </a:xfrm>
          <a:prstGeom prst="roundRect">
            <a:avLst/>
          </a:prstGeom>
          <a:solidFill>
            <a:srgbClr val="191919"/>
          </a:solidFill>
          <a:ln>
            <a:solidFill>
              <a:srgbClr val="00D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name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651760"/>
            <a:ext cx="1920240" cy="640080"/>
          </a:xfrm>
          <a:prstGeom prst="roundRect">
            <a:avLst/>
          </a:prstGeom>
          <a:solidFill>
            <a:srgbClr val="191919"/>
          </a:solidFill>
          <a:ln>
            <a:solidFill>
              <a:srgbClr val="00D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email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3794760"/>
            <a:ext cx="1920240" cy="640080"/>
          </a:xfrm>
          <a:prstGeom prst="roundRect">
            <a:avLst/>
          </a:prstGeom>
          <a:solidFill>
            <a:srgbClr val="191919"/>
          </a:solidFill>
          <a:ln>
            <a:solidFill>
              <a:srgbClr val="00D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address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3794760"/>
            <a:ext cx="1920240" cy="640080"/>
          </a:xfrm>
          <a:prstGeom prst="roundRect">
            <a:avLst/>
          </a:prstGeom>
          <a:solidFill>
            <a:srgbClr val="191919"/>
          </a:solidFill>
          <a:ln>
            <a:solidFill>
              <a:srgbClr val="00D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tags[]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9B9B9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685800"/>
          </a:xfrm>
          <a:prstGeom prst="rect">
            <a:avLst/>
          </a:prstGeom>
          <a:solidFill>
            <a:srgbClr val="00D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ptos Display"/>
              </a:defRPr>
            </a:pPr>
            <a:r>
              <a:t>JSON Object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An object can represent a customer.</a:t>
            </a:r>
          </a:p>
          <a:p>
            <a:pPr>
              <a:spcAft>
                <a:spcPts val="8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The customer can contain fields such as name and email.</a:t>
            </a:r>
          </a:p>
          <a:p>
            <a:pPr>
              <a:spcAft>
                <a:spcPts val="8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Each field has a name and a value.</a:t>
            </a:r>
          </a:p>
          <a:p>
            <a:pPr>
              <a:spcAft>
                <a:spcPts val="8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Nested objects can represent related information.</a:t>
            </a:r>
          </a:p>
          <a:p>
            <a:pPr>
              <a:spcAft>
                <a:spcPts val="8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This creates a hierarchical data structure.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9B9B9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685800"/>
          </a:xfrm>
          <a:prstGeom prst="rect">
            <a:avLst/>
          </a:prstGeom>
          <a:solidFill>
            <a:srgbClr val="00D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ptos Display"/>
              </a:defRPr>
            </a:pPr>
            <a:r>
              <a:t>JSON Arrays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An array represents an ordered collection of values.</a:t>
            </a:r>
          </a:p>
          <a:p>
            <a:pPr>
              <a:spcAft>
                <a:spcPts val="8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Arrays are written using square brackets.</a:t>
            </a:r>
          </a:p>
          <a:p>
            <a:pPr>
              <a:spcAft>
                <a:spcPts val="8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An array can contain strings, numbers, objects, or other arrays.</a:t>
            </a:r>
          </a:p>
          <a:p>
            <a:pPr>
              <a:spcAft>
                <a:spcPts val="8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MongoDB documents can store arrays directly.</a:t>
            </a:r>
          </a:p>
          <a:p>
            <a:pPr>
              <a:spcAft>
                <a:spcPts val="8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Arrays are useful for tags, addresses, items, and other repeated 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463040"/>
            <a:ext cx="3200400" cy="685800"/>
          </a:xfrm>
          <a:prstGeom prst="roundRect">
            <a:avLst/>
          </a:prstGeom>
          <a:solidFill>
            <a:srgbClr val="191919"/>
          </a:solidFill>
          <a:ln>
            <a:solidFill>
              <a:srgbClr val="00D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tags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2743200"/>
            <a:ext cx="1645920" cy="640080"/>
          </a:xfrm>
          <a:prstGeom prst="roundRect">
            <a:avLst/>
          </a:prstGeom>
          <a:solidFill>
            <a:srgbClr val="191919"/>
          </a:solidFill>
          <a:ln>
            <a:solidFill>
              <a:srgbClr val="00D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"mongodb"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2743200"/>
            <a:ext cx="1645920" cy="640080"/>
          </a:xfrm>
          <a:prstGeom prst="roundRect">
            <a:avLst/>
          </a:prstGeom>
          <a:solidFill>
            <a:srgbClr val="191919"/>
          </a:solidFill>
          <a:ln>
            <a:solidFill>
              <a:srgbClr val="00D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"developer"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09760" y="2743200"/>
            <a:ext cx="1188720" cy="640080"/>
          </a:xfrm>
          <a:prstGeom prst="roundRect">
            <a:avLst/>
          </a:prstGeom>
          <a:solidFill>
            <a:srgbClr val="191919"/>
          </a:solidFill>
          <a:ln>
            <a:solidFill>
              <a:srgbClr val="00D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"db"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0080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9B9B9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685800"/>
          </a:xfrm>
          <a:prstGeom prst="rect">
            <a:avLst/>
          </a:prstGeom>
          <a:solidFill>
            <a:srgbClr val="00D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ptos Display"/>
              </a:defRPr>
            </a:pPr>
            <a:r>
              <a:t>Nested JSON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JSON objects can contain other JSON objects.</a:t>
            </a:r>
          </a:p>
          <a:p>
            <a:pPr>
              <a:spcAft>
                <a:spcPts val="8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An object can also contain an array of objects.</a:t>
            </a:r>
          </a:p>
          <a:p>
            <a:pPr>
              <a:spcAft>
                <a:spcPts val="8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This allows complex application data to be represented in one structure.</a:t>
            </a:r>
          </a:p>
          <a:p>
            <a:pPr>
              <a:spcAft>
                <a:spcPts val="8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MongoDB uses this capability extensively in document design.</a:t>
            </a:r>
          </a:p>
          <a:p>
            <a:pPr>
              <a:spcAft>
                <a:spcPts val="8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The nesting depth should still be practical for the application.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9B9B9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685800"/>
          </a:xfrm>
          <a:prstGeom prst="rect">
            <a:avLst/>
          </a:prstGeom>
          <a:solidFill>
            <a:srgbClr val="00D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ptos Display"/>
              </a:defRPr>
            </a:pPr>
            <a:r>
              <a:t>JSON Example —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customerId: "C001"</a:t>
            </a:r>
          </a:p>
          <a:p>
            <a:pPr>
              <a:spcAft>
                <a:spcPts val="8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name: "John Smith"</a:t>
            </a:r>
          </a:p>
          <a:p>
            <a:pPr>
              <a:spcAft>
                <a:spcPts val="8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email: "john@example.com"</a:t>
            </a:r>
          </a:p>
          <a:p>
            <a:pPr>
              <a:spcAft>
                <a:spcPts val="8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address: { city: "Chennai", country: "India" }</a:t>
            </a:r>
          </a:p>
          <a:p>
            <a:pPr>
              <a:spcAft>
                <a:spcPts val="8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tags: [ "developer", "mongodb"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9B9B9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685800"/>
          </a:xfrm>
          <a:prstGeom prst="rect">
            <a:avLst/>
          </a:prstGeom>
          <a:solidFill>
            <a:srgbClr val="00D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ptos Display"/>
              </a:defRPr>
            </a:pPr>
            <a:r>
              <a:t>JSON and MongoDB Documents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4389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JSON is a text representation.</a:t>
            </a:r>
          </a:p>
          <a:p>
            <a:pPr>
              <a:spcAft>
                <a:spcPts val="8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MongoDB stores documents internally as BSON.</a:t>
            </a:r>
          </a:p>
          <a:p>
            <a:pPr>
              <a:spcAft>
                <a:spcPts val="8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BSON extends the JSON model with additional data types.</a:t>
            </a:r>
          </a:p>
          <a:p>
            <a:pPr>
              <a:spcAft>
                <a:spcPts val="8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Examples include dates, ObjectId, binary data, and specific numeric types.</a:t>
            </a:r>
          </a:p>
          <a:p>
            <a:pPr>
              <a:spcAft>
                <a:spcPts val="8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Developers commonly work with JSON-like document syntax while MongoDB stores BSON.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60720" y="1554480"/>
            <a:ext cx="2103120" cy="685800"/>
          </a:xfrm>
          <a:prstGeom prst="roundRect">
            <a:avLst/>
          </a:prstGeom>
          <a:solidFill>
            <a:srgbClr val="191919"/>
          </a:solidFill>
          <a:ln>
            <a:solidFill>
              <a:srgbClr val="00D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JSON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69680" y="1554480"/>
            <a:ext cx="2103120" cy="685800"/>
          </a:xfrm>
          <a:prstGeom prst="roundRect">
            <a:avLst/>
          </a:prstGeom>
          <a:solidFill>
            <a:srgbClr val="191919"/>
          </a:solidFill>
          <a:ln>
            <a:solidFill>
              <a:srgbClr val="00D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BSON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2743200"/>
            <a:ext cx="5212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Text representation</a:t>
            </a:r>
          </a:p>
          <a:p>
            <a:pPr>
              <a:spcAft>
                <a:spcPts val="8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Additional MongoDB data types</a:t>
            </a:r>
          </a:p>
          <a:p>
            <a:pPr>
              <a:spcAft>
                <a:spcPts val="8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Efficient binary encoding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9B9B9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685800"/>
          </a:xfrm>
          <a:prstGeom prst="rect">
            <a:avLst/>
          </a:prstGeom>
          <a:solidFill>
            <a:srgbClr val="00D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ptos Display"/>
              </a:defRPr>
            </a:pPr>
            <a:r>
              <a:t>Why BSON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BSON provides types that are not part of standard JSON.</a:t>
            </a:r>
          </a:p>
          <a:p>
            <a:pPr>
              <a:spcAft>
                <a:spcPts val="8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MongoDB can represent dates and binary values directly.</a:t>
            </a:r>
          </a:p>
          <a:p>
            <a:pPr>
              <a:spcAft>
                <a:spcPts val="8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MongoDB can distinguish numeric types more precisely.</a:t>
            </a:r>
          </a:p>
          <a:p>
            <a:pPr>
              <a:spcAft>
                <a:spcPts val="8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BSON also supports efficient encoding and decoding.</a:t>
            </a:r>
          </a:p>
          <a:p>
            <a:pPr>
              <a:spcAft>
                <a:spcPts val="8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The next lesson will examine JSON and BSON in more detail.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9B9B9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685800"/>
          </a:xfrm>
          <a:prstGeom prst="rect">
            <a:avLst/>
          </a:prstGeom>
          <a:solidFill>
            <a:srgbClr val="00D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ptos Display"/>
              </a:defRPr>
            </a:pPr>
            <a:r>
              <a:t>Designing JSON for MongoDB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Start with the application's data requirements.</a:t>
            </a:r>
          </a:p>
          <a:p>
            <a:pPr>
              <a:spcAft>
                <a:spcPts val="8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Group information that is commonly accessed together.</a:t>
            </a:r>
          </a:p>
          <a:p>
            <a:pPr>
              <a:spcAft>
                <a:spcPts val="8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Use nested objects for naturally hierarchical data.</a:t>
            </a:r>
          </a:p>
          <a:p>
            <a:pPr>
              <a:spcAft>
                <a:spcPts val="8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Use arrays for repeated values or embedded objects.</a:t>
            </a:r>
          </a:p>
          <a:p>
            <a:pPr>
              <a:spcAft>
                <a:spcPts val="8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Do not create deeply nested structures without a clear application reason.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9B9B9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685800"/>
          </a:xfrm>
          <a:prstGeom prst="rect">
            <a:avLst/>
          </a:prstGeom>
          <a:solidFill>
            <a:srgbClr val="00D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ptos Display"/>
              </a:defRPr>
            </a:pPr>
            <a:r>
              <a:t>Lesson 022 — 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JSON is a common text representation for structured data.</a:t>
            </a:r>
          </a:p>
          <a:p>
            <a:pPr>
              <a:spcAft>
                <a:spcPts val="8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JSON uses objects, fields, values, and arrays.</a:t>
            </a:r>
          </a:p>
          <a:p>
            <a:pPr>
              <a:spcAft>
                <a:spcPts val="8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MongoDB documents are represented in a JSON-like form to developers.</a:t>
            </a:r>
          </a:p>
          <a:p>
            <a:pPr>
              <a:spcAft>
                <a:spcPts val="8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MongoDB stores documents as BSON.</a:t>
            </a:r>
          </a:p>
          <a:p>
            <a:pPr>
              <a:spcAft>
                <a:spcPts val="8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JSON thinking is an important foundation for MongoDB document modeling.</a:t>
            </a:r>
          </a:p>
          <a:p>
            <a:pPr>
              <a:spcAft>
                <a:spcPts val="8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Next, we will compare JSON and BSON.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9B9B9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