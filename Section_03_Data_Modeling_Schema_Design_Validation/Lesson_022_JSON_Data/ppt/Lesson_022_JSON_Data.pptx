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6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0896" y="310896"/>
            <a:ext cx="1417320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800" b="1" i="0">
                <a:solidFill>
                  <a:srgbClr val="F28B22"/>
                </a:solidFill>
                <a:latin typeface="Aptos Display"/>
              </a:rPr>
              <a:t>JSON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83080" y="310896"/>
            <a:ext cx="1828800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800" b="1" i="0">
                <a:solidFill>
                  <a:srgbClr val="F8F8F5"/>
                </a:solidFill>
                <a:latin typeface="Aptos Display"/>
              </a:rPr>
              <a:t>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" y="941832"/>
            <a:ext cx="71323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37C6E4"/>
                </a:solidFill>
                <a:latin typeface="Aptos Display"/>
              </a:rPr>
              <a:t>A simple, readable structure for representing application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1444752"/>
            <a:ext cx="5989320" cy="4251960"/>
          </a:xfrm>
          <a:prstGeom prst="roundRect">
            <a:avLst/>
          </a:prstGeom>
          <a:solidFill>
            <a:srgbClr val="0D171F"/>
          </a:solidFill>
          <a:ln w="17780">
            <a:solidFill>
              <a:srgbClr val="F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64208"/>
            <a:ext cx="402336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 i="0">
                <a:solidFill>
                  <a:srgbClr val="F28B22"/>
                </a:solidFill>
                <a:latin typeface="Aptos Display"/>
              </a:rPr>
              <a:t>Running Example — Order Management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2057400"/>
            <a:ext cx="3246120" cy="3246120"/>
          </a:xfrm>
          <a:prstGeom prst="roundRect">
            <a:avLst/>
          </a:prstGeom>
          <a:solidFill>
            <a:srgbClr val="081016"/>
          </a:solidFill>
          <a:ln w="13970">
            <a:solidFill>
              <a:srgbClr val="F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" y="2057400"/>
            <a:ext cx="3246120" cy="320040"/>
          </a:xfrm>
          <a:prstGeom prst="rect">
            <a:avLst/>
          </a:prstGeom>
          <a:solidFill>
            <a:srgbClr val="131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2148840"/>
            <a:ext cx="64008" cy="64008"/>
          </a:xfrm>
          <a:prstGeom prst="ellipse">
            <a:avLst/>
          </a:prstGeom>
          <a:solidFill>
            <a:srgbClr val="E5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3815" y="2148840"/>
            <a:ext cx="64008" cy="64008"/>
          </a:xfrm>
          <a:prstGeom prst="ellipse">
            <a:avLst/>
          </a:prstGeom>
          <a:solidFill>
            <a:srgbClr val="FFAE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7552" y="2148840"/>
            <a:ext cx="64008" cy="64008"/>
          </a:xfrm>
          <a:prstGeom prst="ellipse">
            <a:avLst/>
          </a:prstGeom>
          <a:solidFill>
            <a:srgbClr val="37C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103120"/>
            <a:ext cx="2697479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19" b="1" i="0">
                <a:solidFill>
                  <a:srgbClr val="F8F8F5"/>
                </a:solidFill>
                <a:latin typeface="Aptos Display"/>
              </a:rPr>
              <a:t>JSON object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450592"/>
            <a:ext cx="2990087" cy="27706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120">
                <a:solidFill>
                  <a:srgbClr val="E8BC8B"/>
                </a:solidFill>
                <a:latin typeface="Cascadia Mono"/>
              </a:defRPr>
            </a:pPr>
            <a:r>
              <a:t>{</a:t>
            </a:r>
          </a:p>
          <a:p>
            <a:pPr>
              <a:defRPr sz="1120">
                <a:solidFill>
                  <a:srgbClr val="DCE2E6"/>
                </a:solidFill>
                <a:latin typeface="Cascadia Mono"/>
              </a:defRPr>
            </a:pPr>
            <a:r>
              <a:t>  "orderId": "ORD-1001",</a:t>
            </a:r>
          </a:p>
          <a:p>
            <a:pPr>
              <a:defRPr sz="1120">
                <a:solidFill>
                  <a:srgbClr val="DCE2E6"/>
                </a:solidFill>
                <a:latin typeface="Cascadia Mono"/>
              </a:defRPr>
            </a:pPr>
            <a:r>
              <a:t>  "status": "CONFIRMED",</a:t>
            </a:r>
          </a:p>
          <a:p>
            <a:pPr>
              <a:defRPr sz="1120">
                <a:solidFill>
                  <a:srgbClr val="E8BC8B"/>
                </a:solidFill>
                <a:latin typeface="Cascadia Mono"/>
              </a:defRPr>
            </a:pPr>
            <a:r>
              <a:t>  "items": [</a:t>
            </a:r>
          </a:p>
          <a:p>
            <a:pPr>
              <a:defRPr sz="1120">
                <a:solidFill>
                  <a:srgbClr val="E8BC8B"/>
                </a:solidFill>
                <a:latin typeface="Cascadia Mono"/>
              </a:defRPr>
            </a:pPr>
            <a:r>
              <a:t>    { "productId": "P100", "qty": 2 },</a:t>
            </a:r>
          </a:p>
          <a:p>
            <a:pPr>
              <a:defRPr sz="1120">
                <a:solidFill>
                  <a:srgbClr val="E8BC8B"/>
                </a:solidFill>
                <a:latin typeface="Cascadia Mono"/>
              </a:defRPr>
            </a:pPr>
            <a:r>
              <a:t>    { "productId": "P200", "qty": 1 }</a:t>
            </a:r>
          </a:p>
          <a:p>
            <a:pPr>
              <a:defRPr sz="1120">
                <a:solidFill>
                  <a:srgbClr val="E8BC8B"/>
                </a:solidFill>
                <a:latin typeface="Cascadia Mono"/>
              </a:defRPr>
            </a:pPr>
            <a:r>
              <a:t>  ],</a:t>
            </a:r>
          </a:p>
          <a:p>
            <a:pPr>
              <a:defRPr sz="1120">
                <a:solidFill>
                  <a:srgbClr val="E8BC8B"/>
                </a:solidFill>
                <a:latin typeface="Cascadia Mono"/>
              </a:defRPr>
            </a:pPr>
            <a:r>
              <a:t>  "shippingAddress": {</a:t>
            </a:r>
          </a:p>
          <a:p>
            <a:pPr>
              <a:defRPr sz="1120">
                <a:solidFill>
                  <a:srgbClr val="DCE2E6"/>
                </a:solidFill>
                <a:latin typeface="Cascadia Mono"/>
              </a:defRPr>
            </a:pPr>
            <a:r>
              <a:t>    "city": "Chennai",</a:t>
            </a:r>
          </a:p>
          <a:p>
            <a:pPr>
              <a:defRPr sz="1120">
                <a:solidFill>
                  <a:srgbClr val="DCE2E6"/>
                </a:solidFill>
                <a:latin typeface="Cascadia Mono"/>
              </a:defRPr>
            </a:pPr>
            <a:r>
              <a:t>    "country": "India"</a:t>
            </a:r>
          </a:p>
          <a:p>
            <a:pPr>
              <a:defRPr sz="1120">
                <a:solidFill>
                  <a:srgbClr val="E8BC8B"/>
                </a:solidFill>
                <a:latin typeface="Cascadia Mono"/>
              </a:defRPr>
            </a:pPr>
            <a:r>
              <a:t>  }</a:t>
            </a:r>
          </a:p>
          <a:p>
            <a:pPr>
              <a:defRPr sz="1120">
                <a:solidFill>
                  <a:srgbClr val="E8BC8B"/>
                </a:solidFill>
                <a:latin typeface="Cascadia Mono"/>
              </a:defRPr>
            </a:pPr>
            <a:r>
              <a:t>}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77639" y="2057400"/>
            <a:ext cx="2057400" cy="3246120"/>
          </a:xfrm>
          <a:prstGeom prst="roundRect">
            <a:avLst/>
          </a:prstGeom>
          <a:solidFill>
            <a:srgbClr val="121E28"/>
          </a:solidFill>
          <a:ln w="17780">
            <a:solidFill>
              <a:srgbClr val="26A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87952" y="2240280"/>
            <a:ext cx="1645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 i="0">
                <a:solidFill>
                  <a:srgbClr val="F8F8F5"/>
                </a:solidFill>
                <a:latin typeface="Aptos Display"/>
              </a:rPr>
              <a:t>JSON is built from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87952" y="2697480"/>
            <a:ext cx="1636776" cy="420624"/>
          </a:xfrm>
          <a:prstGeom prst="roundRect">
            <a:avLst/>
          </a:prstGeom>
          <a:solidFill>
            <a:srgbClr val="0A141C"/>
          </a:solidFill>
          <a:ln w="12700">
            <a:solidFill>
              <a:srgbClr val="F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24528" y="2752344"/>
            <a:ext cx="1563624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120" b="1" i="0">
                <a:solidFill>
                  <a:srgbClr val="F28B22"/>
                </a:solidFill>
                <a:latin typeface="Aptos Display"/>
              </a:rPr>
              <a:t>Objects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87952" y="3264408"/>
            <a:ext cx="1636776" cy="420624"/>
          </a:xfrm>
          <a:prstGeom prst="roundRect">
            <a:avLst/>
          </a:prstGeom>
          <a:solidFill>
            <a:srgbClr val="0A141C"/>
          </a:solidFill>
          <a:ln w="12700">
            <a:solidFill>
              <a:srgbClr val="26A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24528" y="3319272"/>
            <a:ext cx="1563624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120" b="1" i="0">
                <a:solidFill>
                  <a:srgbClr val="26A1EB"/>
                </a:solidFill>
                <a:latin typeface="Aptos Display"/>
              </a:rPr>
              <a:t>Key / value pairs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87952" y="3831336"/>
            <a:ext cx="1636776" cy="420624"/>
          </a:xfrm>
          <a:prstGeom prst="roundRect">
            <a:avLst/>
          </a:prstGeom>
          <a:solidFill>
            <a:srgbClr val="0A141C"/>
          </a:solidFill>
          <a:ln w="12700">
            <a:solidFill>
              <a:srgbClr val="9D5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24528" y="3886200"/>
            <a:ext cx="1563624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120" b="1" i="0">
                <a:solidFill>
                  <a:srgbClr val="9D5CE6"/>
                </a:solidFill>
                <a:latin typeface="Aptos Display"/>
              </a:rPr>
              <a:t>Arrays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87952" y="4398264"/>
            <a:ext cx="1636776" cy="420624"/>
          </a:xfrm>
          <a:prstGeom prst="roundRect">
            <a:avLst/>
          </a:prstGeom>
          <a:solidFill>
            <a:srgbClr val="0A141C"/>
          </a:solidFill>
          <a:ln w="12700">
            <a:solidFill>
              <a:srgbClr val="37C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24528" y="4453127"/>
            <a:ext cx="1563624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120" b="1" i="0">
                <a:solidFill>
                  <a:srgbClr val="37C6E4"/>
                </a:solidFill>
                <a:latin typeface="Aptos Display"/>
              </a:rPr>
              <a:t>Nested objects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37960" y="310896"/>
            <a:ext cx="5340096" cy="5394960"/>
          </a:xfrm>
          <a:prstGeom prst="roundRect">
            <a:avLst/>
          </a:prstGeom>
          <a:solidFill>
            <a:srgbClr val="0D171F"/>
          </a:solidFill>
          <a:ln w="17780">
            <a:solidFill>
              <a:srgbClr val="F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39712" y="548640"/>
            <a:ext cx="4297680" cy="3017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 i="0">
                <a:solidFill>
                  <a:srgbClr val="F28B22"/>
                </a:solidFill>
                <a:latin typeface="Aptos Display"/>
              </a:rPr>
              <a:t>In this lesson, you will: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9712" y="1005840"/>
            <a:ext cx="4526280" cy="3749039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500"/>
              </a:spcAft>
              <a:defRPr sz="1320">
                <a:solidFill>
                  <a:srgbClr val="F8F8F5"/>
                </a:solidFill>
                <a:latin typeface="Aptos"/>
              </a:defRPr>
            </a:pPr>
            <a:r>
              <a:t>• Understand what JSON is and why developers use it</a:t>
            </a:r>
          </a:p>
          <a:p>
            <a:pPr>
              <a:spcAft>
                <a:spcPts val="500"/>
              </a:spcAft>
              <a:defRPr sz="1320">
                <a:solidFill>
                  <a:srgbClr val="F8F8F5"/>
                </a:solidFill>
                <a:latin typeface="Aptos"/>
              </a:defRPr>
            </a:pPr>
            <a:r>
              <a:t>• Recognize objects, key/value pairs and arrays</a:t>
            </a:r>
          </a:p>
          <a:p>
            <a:pPr>
              <a:spcAft>
                <a:spcPts val="500"/>
              </a:spcAft>
              <a:defRPr sz="1320">
                <a:solidFill>
                  <a:srgbClr val="F8F8F5"/>
                </a:solidFill>
                <a:latin typeface="Aptos"/>
              </a:defRPr>
            </a:pPr>
            <a:r>
              <a:t>• Build nested JSON structures</a:t>
            </a:r>
          </a:p>
          <a:p>
            <a:pPr>
              <a:spcAft>
                <a:spcPts val="500"/>
              </a:spcAft>
              <a:defRPr sz="1320">
                <a:solidFill>
                  <a:srgbClr val="F8F8F5"/>
                </a:solidFill>
                <a:latin typeface="Aptos"/>
              </a:defRPr>
            </a:pPr>
            <a:r>
              <a:t>• Read a real Order Management document</a:t>
            </a:r>
          </a:p>
          <a:p>
            <a:pPr>
              <a:spcAft>
                <a:spcPts val="500"/>
              </a:spcAft>
              <a:defRPr sz="1320">
                <a:solidFill>
                  <a:srgbClr val="F8F8F5"/>
                </a:solidFill>
                <a:latin typeface="Aptos"/>
              </a:defRPr>
            </a:pPr>
            <a:r>
              <a:t>• Connect JSON with APIs and MongoDB</a:t>
            </a:r>
          </a:p>
          <a:p>
            <a:pPr>
              <a:spcAft>
                <a:spcPts val="500"/>
              </a:spcAft>
              <a:defRPr sz="1320">
                <a:solidFill>
                  <a:srgbClr val="F8F8F5"/>
                </a:solidFill>
                <a:latin typeface="Aptos"/>
              </a:defRPr>
            </a:pPr>
            <a:r>
              <a:t>• Apply simple rules for readable structure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76288" y="4983480"/>
            <a:ext cx="105156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37C6E4"/>
                </a:solidFill>
                <a:latin typeface="Aptos Display"/>
              </a:rPr>
              <a:t>Foundation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4956048"/>
            <a:ext cx="2148840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8F8F5"/>
                </a:solidFill>
                <a:latin typeface="Aptos Display"/>
              </a:rPr>
              <a:t>Next: JSON → BSON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6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10312"/>
            <a:ext cx="850392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900" b="1" i="0">
                <a:solidFill>
                  <a:srgbClr val="F8F8F5"/>
                </a:solidFill>
                <a:latin typeface="Aptos Display"/>
              </a:rPr>
              <a:t>Why JSON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749808"/>
            <a:ext cx="1133856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B9C5CD"/>
                </a:solidFill>
                <a:latin typeface="Aptos Display"/>
              </a:rPr>
              <a:t>Developers can understand structured data at a glance — without a table diagram.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17320"/>
            <a:ext cx="5349240" cy="1874519"/>
          </a:xfrm>
          <a:prstGeom prst="roundRect">
            <a:avLst/>
          </a:prstGeom>
          <a:solidFill>
            <a:srgbClr val="0D171F"/>
          </a:solidFill>
          <a:ln w="17780">
            <a:solidFill>
              <a:srgbClr val="F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12648" y="1618488"/>
            <a:ext cx="384048" cy="384048"/>
          </a:xfrm>
          <a:prstGeom prst="ellipse">
            <a:avLst/>
          </a:prstGeom>
          <a:solidFill>
            <a:srgbClr val="F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627632"/>
            <a:ext cx="384048" cy="3749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60C10"/>
                </a:solidFill>
                <a:latin typeface="Aptos Display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1600200"/>
            <a:ext cx="443484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 i="0">
                <a:solidFill>
                  <a:srgbClr val="F28B22"/>
                </a:solidFill>
                <a:latin typeface="Aptos Display"/>
              </a:rPr>
              <a:t>Readable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" y="2075688"/>
            <a:ext cx="443484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F8F8F5"/>
                </a:solidFill>
                <a:latin typeface="Aptos Display"/>
              </a:rPr>
              <a:t>Human-friendly syntax makes the structure easy to inspect.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1417320"/>
            <a:ext cx="5806440" cy="1874519"/>
          </a:xfrm>
          <a:prstGeom prst="roundRect">
            <a:avLst/>
          </a:prstGeom>
          <a:solidFill>
            <a:srgbClr val="0D171F"/>
          </a:solidFill>
          <a:ln w="17780">
            <a:solidFill>
              <a:srgbClr val="26A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90488" y="1618488"/>
            <a:ext cx="384048" cy="384048"/>
          </a:xfrm>
          <a:prstGeom prst="ellipse">
            <a:avLst/>
          </a:prstGeom>
          <a:solidFill>
            <a:srgbClr val="26A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0488" y="1627632"/>
            <a:ext cx="384048" cy="3749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60C10"/>
                </a:solidFill>
                <a:latin typeface="Aptos Display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02552" y="1600200"/>
            <a:ext cx="489204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 i="0">
                <a:solidFill>
                  <a:srgbClr val="26A1EB"/>
                </a:solidFill>
                <a:latin typeface="Aptos Display"/>
              </a:rPr>
              <a:t>Hierarchical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02552" y="2075688"/>
            <a:ext cx="489204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F8F8F5"/>
                </a:solidFill>
                <a:latin typeface="Aptos Display"/>
              </a:rPr>
              <a:t>Objects and arrays can represent nested application data.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520440"/>
            <a:ext cx="5349240" cy="1874519"/>
          </a:xfrm>
          <a:prstGeom prst="roundRect">
            <a:avLst/>
          </a:prstGeom>
          <a:solidFill>
            <a:srgbClr val="0D171F"/>
          </a:solidFill>
          <a:ln w="17780">
            <a:solidFill>
              <a:srgbClr val="37C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12648" y="3721608"/>
            <a:ext cx="384048" cy="384048"/>
          </a:xfrm>
          <a:prstGeom prst="ellipse">
            <a:avLst/>
          </a:prstGeom>
          <a:solidFill>
            <a:srgbClr val="37C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3730752"/>
            <a:ext cx="384048" cy="3749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60C10"/>
                </a:solidFill>
                <a:latin typeface="Aptos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" y="3703320"/>
            <a:ext cx="443484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 i="0">
                <a:solidFill>
                  <a:srgbClr val="37C6E4"/>
                </a:solidFill>
                <a:latin typeface="Aptos Display"/>
              </a:rPr>
              <a:t>Portable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" y="4178808"/>
            <a:ext cx="443484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F8F8F5"/>
                </a:solidFill>
                <a:latin typeface="Aptos Display"/>
              </a:rPr>
              <a:t>JSON is widely used between applications, APIs and services.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89320" y="3520440"/>
            <a:ext cx="5806440" cy="1874519"/>
          </a:xfrm>
          <a:prstGeom prst="roundRect">
            <a:avLst/>
          </a:prstGeom>
          <a:solidFill>
            <a:srgbClr val="0D171F"/>
          </a:solidFill>
          <a:ln w="17780">
            <a:solidFill>
              <a:srgbClr val="9D5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190488" y="3721608"/>
            <a:ext cx="384048" cy="384048"/>
          </a:xfrm>
          <a:prstGeom prst="ellipse">
            <a:avLst/>
          </a:prstGeom>
          <a:solidFill>
            <a:srgbClr val="9D5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90488" y="3730752"/>
            <a:ext cx="384048" cy="3749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60C10"/>
                </a:solidFill>
                <a:latin typeface="Aptos Display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703320"/>
            <a:ext cx="489204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 i="0">
                <a:solidFill>
                  <a:srgbClr val="9D5CE6"/>
                </a:solidFill>
                <a:latin typeface="Aptos Display"/>
              </a:rPr>
              <a:t>Natural for Apps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02552" y="4178808"/>
            <a:ext cx="489204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F8F8F5"/>
                </a:solidFill>
                <a:latin typeface="Aptos Display"/>
              </a:rPr>
              <a:t>Many languages map JSON objects directly to application objects.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6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10312"/>
            <a:ext cx="850392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900" b="1" i="0">
                <a:solidFill>
                  <a:srgbClr val="F8F8F5"/>
                </a:solidFill>
                <a:latin typeface="Aptos Display"/>
              </a:rPr>
              <a:t>JSON Objects &amp; Key / Value Pairs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749808"/>
            <a:ext cx="1133856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B9C5CD"/>
                </a:solidFill>
                <a:latin typeface="Aptos Display"/>
              </a:rPr>
              <a:t>The core building block is an object: a set of named properties inside { }.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325880"/>
            <a:ext cx="5943600" cy="4526280"/>
          </a:xfrm>
          <a:prstGeom prst="roundRect">
            <a:avLst/>
          </a:prstGeom>
          <a:solidFill>
            <a:srgbClr val="0D171F"/>
          </a:solidFill>
          <a:ln w="17780">
            <a:solidFill>
              <a:srgbClr val="F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4630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28B22"/>
                </a:solidFill>
                <a:latin typeface="Aptos Display"/>
              </a:rPr>
              <a:t>Order object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" y="1920240"/>
            <a:ext cx="4800600" cy="3383280"/>
          </a:xfrm>
          <a:prstGeom prst="roundRect">
            <a:avLst/>
          </a:prstGeom>
          <a:solidFill>
            <a:srgbClr val="081016"/>
          </a:solidFill>
          <a:ln w="13970">
            <a:solidFill>
              <a:srgbClr val="F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3504" y="1920240"/>
            <a:ext cx="4800600" cy="320040"/>
          </a:xfrm>
          <a:prstGeom prst="rect">
            <a:avLst/>
          </a:prstGeom>
          <a:solidFill>
            <a:srgbClr val="131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2011680"/>
            <a:ext cx="64008" cy="64008"/>
          </a:xfrm>
          <a:prstGeom prst="ellipse">
            <a:avLst/>
          </a:prstGeom>
          <a:solidFill>
            <a:srgbClr val="E5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6968" y="2011680"/>
            <a:ext cx="64008" cy="64008"/>
          </a:xfrm>
          <a:prstGeom prst="ellipse">
            <a:avLst/>
          </a:prstGeom>
          <a:solidFill>
            <a:srgbClr val="FFAE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60704" y="2011680"/>
            <a:ext cx="64008" cy="64008"/>
          </a:xfrm>
          <a:prstGeom prst="ellipse">
            <a:avLst/>
          </a:prstGeom>
          <a:solidFill>
            <a:srgbClr val="37C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1965960"/>
            <a:ext cx="42519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19" b="1" i="0">
                <a:solidFill>
                  <a:srgbClr val="F8F8F5"/>
                </a:solidFill>
                <a:latin typeface="Aptos Display"/>
              </a:rPr>
              <a:t>JSON 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313432"/>
            <a:ext cx="4544568" cy="29077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120">
                <a:solidFill>
                  <a:srgbClr val="E8BC8B"/>
                </a:solidFill>
                <a:latin typeface="Cascadia Mono"/>
              </a:defRPr>
            </a:pPr>
            <a:r>
              <a:t>{</a:t>
            </a:r>
          </a:p>
          <a:p>
            <a:pPr>
              <a:defRPr sz="1120">
                <a:solidFill>
                  <a:srgbClr val="DCE2E6"/>
                </a:solidFill>
                <a:latin typeface="Cascadia Mono"/>
              </a:defRPr>
            </a:pPr>
            <a:r>
              <a:t>  "orderId": "ORD-1001",</a:t>
            </a:r>
          </a:p>
          <a:p>
            <a:pPr>
              <a:defRPr sz="1120">
                <a:solidFill>
                  <a:srgbClr val="DCE2E6"/>
                </a:solidFill>
                <a:latin typeface="Cascadia Mono"/>
              </a:defRPr>
            </a:pPr>
            <a:r>
              <a:t>  "status": "CONFIRMED",</a:t>
            </a:r>
          </a:p>
          <a:p>
            <a:pPr>
              <a:defRPr sz="1120">
                <a:solidFill>
                  <a:srgbClr val="DCE2E6"/>
                </a:solidFill>
                <a:latin typeface="Cascadia Mono"/>
              </a:defRPr>
            </a:pPr>
            <a:r>
              <a:t>  "totalAmount": 1001.00</a:t>
            </a:r>
          </a:p>
          <a:p>
            <a:pPr>
              <a:defRPr sz="1120">
                <a:solidFill>
                  <a:srgbClr val="E8BC8B"/>
                </a:solidFill>
                <a:latin typeface="Cascadia Mono"/>
              </a:defRPr>
            </a:pPr>
            <a:r>
              <a:t>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65392" y="1325880"/>
            <a:ext cx="5257800" cy="4526280"/>
          </a:xfrm>
          <a:prstGeom prst="roundRect">
            <a:avLst/>
          </a:prstGeom>
          <a:solidFill>
            <a:srgbClr val="0D171F"/>
          </a:solidFill>
          <a:ln w="17780">
            <a:solidFill>
              <a:srgbClr val="26A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30568" y="1581912"/>
            <a:ext cx="2377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26A1EB"/>
                </a:solidFill>
                <a:latin typeface="Aptos Display"/>
              </a:rPr>
              <a:t>Think in properties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2103120"/>
            <a:ext cx="4480560" cy="704088"/>
          </a:xfrm>
          <a:prstGeom prst="roundRect">
            <a:avLst/>
          </a:prstGeom>
          <a:solidFill>
            <a:srgbClr val="081118"/>
          </a:solidFill>
          <a:ln w="12700">
            <a:solidFill>
              <a:srgbClr val="F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22592" y="2267712"/>
            <a:ext cx="7315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1" i="0">
                <a:solidFill>
                  <a:srgbClr val="F28B22"/>
                </a:solidFill>
                <a:latin typeface="Aptos Display"/>
              </a:rPr>
              <a:t>Key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2212848"/>
            <a:ext cx="31089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F8F8F5"/>
                </a:solidFill>
                <a:latin typeface="Aptos Display"/>
              </a:rPr>
              <a:t>orderId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0" y="3063239"/>
            <a:ext cx="4480560" cy="704088"/>
          </a:xfrm>
          <a:prstGeom prst="roundRect">
            <a:avLst/>
          </a:prstGeom>
          <a:solidFill>
            <a:srgbClr val="081118"/>
          </a:solidFill>
          <a:ln w="12700">
            <a:solidFill>
              <a:srgbClr val="37C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22592" y="3227832"/>
            <a:ext cx="7315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1" i="0">
                <a:solidFill>
                  <a:srgbClr val="37C6E4"/>
                </a:solidFill>
                <a:latin typeface="Aptos Display"/>
              </a:rPr>
              <a:t>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3172968"/>
            <a:ext cx="31089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F8F8F5"/>
                </a:solidFill>
                <a:latin typeface="Aptos Display"/>
              </a:rPr>
              <a:t>ORD-1001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0" y="4023360"/>
            <a:ext cx="4480560" cy="704088"/>
          </a:xfrm>
          <a:prstGeom prst="roundRect">
            <a:avLst/>
          </a:prstGeom>
          <a:solidFill>
            <a:srgbClr val="081118"/>
          </a:solidFill>
          <a:ln w="12700">
            <a:solidFill>
              <a:srgbClr val="9D5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22592" y="4187952"/>
            <a:ext cx="7315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1" i="0">
                <a:solidFill>
                  <a:srgbClr val="9D5CE6"/>
                </a:solidFill>
                <a:latin typeface="Aptos Display"/>
              </a:rPr>
              <a:t>Pair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8120" y="4133087"/>
            <a:ext cx="31089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F8F8F5"/>
                </a:solidFill>
                <a:latin typeface="Aptos Display"/>
              </a:rPr>
              <a:t>"status": "CONFIRMED"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5074920"/>
            <a:ext cx="429768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30" b="0" i="1">
                <a:solidFill>
                  <a:srgbClr val="B9C5CD"/>
                </a:solidFill>
                <a:latin typeface="Aptos Display"/>
              </a:rPr>
              <a:t>A key identifies the field; the value carries the data.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6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10312"/>
            <a:ext cx="850392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900" b="1" i="0">
                <a:solidFill>
                  <a:srgbClr val="F8F8F5"/>
                </a:solidFill>
                <a:latin typeface="Aptos Display"/>
              </a:rPr>
              <a:t>JSON Arrays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749808"/>
            <a:ext cx="1133856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B9C5CD"/>
                </a:solidFill>
                <a:latin typeface="Aptos Display"/>
              </a:rPr>
              <a:t>Arrays are ordered lists written with [ ], and they can hold values or objects.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325880"/>
            <a:ext cx="5486400" cy="4526280"/>
          </a:xfrm>
          <a:prstGeom prst="roundRect">
            <a:avLst/>
          </a:prstGeom>
          <a:solidFill>
            <a:srgbClr val="0D171F"/>
          </a:solidFill>
          <a:ln w="17780">
            <a:solidFill>
              <a:srgbClr val="9D5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4173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9D5CE6"/>
                </a:solidFill>
                <a:latin typeface="Aptos Display"/>
              </a:rPr>
              <a:t>Simple array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38528"/>
            <a:ext cx="4617720" cy="1234440"/>
          </a:xfrm>
          <a:prstGeom prst="roundRect">
            <a:avLst/>
          </a:prstGeom>
          <a:solidFill>
            <a:srgbClr val="081016"/>
          </a:solidFill>
          <a:ln w="13970">
            <a:solidFill>
              <a:srgbClr val="9D5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938528"/>
            <a:ext cx="4617720" cy="320040"/>
          </a:xfrm>
          <a:prstGeom prst="rect">
            <a:avLst/>
          </a:prstGeom>
          <a:solidFill>
            <a:srgbClr val="131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49808" y="2029968"/>
            <a:ext cx="64008" cy="64008"/>
          </a:xfrm>
          <a:prstGeom prst="ellipse">
            <a:avLst/>
          </a:prstGeom>
          <a:solidFill>
            <a:srgbClr val="E5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23544" y="2029968"/>
            <a:ext cx="64008" cy="64008"/>
          </a:xfrm>
          <a:prstGeom prst="ellipse">
            <a:avLst/>
          </a:prstGeom>
          <a:solidFill>
            <a:srgbClr val="FFAE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97280" y="2029968"/>
            <a:ext cx="64008" cy="64008"/>
          </a:xfrm>
          <a:prstGeom prst="ellipse">
            <a:avLst/>
          </a:prstGeom>
          <a:solidFill>
            <a:srgbClr val="37C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1984248"/>
            <a:ext cx="406908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19" b="1" i="0">
                <a:solidFill>
                  <a:srgbClr val="F8F8F5"/>
                </a:solidFill>
                <a:latin typeface="Aptos Display"/>
              </a:rPr>
              <a:t>strings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331720"/>
            <a:ext cx="4361688" cy="7589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120">
                <a:solidFill>
                  <a:srgbClr val="E8BC8B"/>
                </a:solidFill>
                <a:latin typeface="Cascadia Mono"/>
              </a:defRPr>
            </a:pPr>
            <a:r>
              <a:t>[</a:t>
            </a:r>
          </a:p>
          <a:p>
            <a:pPr>
              <a:defRPr sz="1120">
                <a:solidFill>
                  <a:srgbClr val="DCE2E6"/>
                </a:solidFill>
                <a:latin typeface="Cascadia Mono"/>
              </a:defRPr>
            </a:pPr>
            <a:r>
              <a:t>  "laptop",</a:t>
            </a:r>
          </a:p>
          <a:p>
            <a:pPr>
              <a:defRPr sz="1120">
                <a:solidFill>
                  <a:srgbClr val="DCE2E6"/>
                </a:solidFill>
                <a:latin typeface="Cascadia Mono"/>
              </a:defRPr>
            </a:pPr>
            <a:r>
              <a:t>  "mouse",</a:t>
            </a:r>
          </a:p>
          <a:p>
            <a:pPr>
              <a:defRPr sz="1120">
                <a:solidFill>
                  <a:srgbClr val="DCE2E6"/>
                </a:solidFill>
                <a:latin typeface="Cascadia Mono"/>
              </a:defRPr>
            </a:pPr>
            <a:r>
              <a:t>  "keyboard"</a:t>
            </a:r>
          </a:p>
          <a:p>
            <a:pPr>
              <a:defRPr sz="1120">
                <a:solidFill>
                  <a:srgbClr val="E8BC8B"/>
                </a:solidFill>
                <a:latin typeface="Cascadia Mono"/>
              </a:defRPr>
            </a:pPr>
            <a:r>
              <a:t>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401568"/>
            <a:ext cx="18288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F28B22"/>
                </a:solidFill>
                <a:latin typeface="Aptos Display"/>
              </a:rPr>
              <a:t>Array of objects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30752"/>
            <a:ext cx="4617720" cy="1627632"/>
          </a:xfrm>
          <a:prstGeom prst="roundRect">
            <a:avLst/>
          </a:prstGeom>
          <a:solidFill>
            <a:srgbClr val="081016"/>
          </a:solidFill>
          <a:ln w="13970">
            <a:solidFill>
              <a:srgbClr val="F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730752"/>
            <a:ext cx="4617720" cy="320040"/>
          </a:xfrm>
          <a:prstGeom prst="rect">
            <a:avLst/>
          </a:prstGeom>
          <a:solidFill>
            <a:srgbClr val="131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49808" y="3822191"/>
            <a:ext cx="64008" cy="64008"/>
          </a:xfrm>
          <a:prstGeom prst="ellipse">
            <a:avLst/>
          </a:prstGeom>
          <a:solidFill>
            <a:srgbClr val="E5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3544" y="3822191"/>
            <a:ext cx="64008" cy="64008"/>
          </a:xfrm>
          <a:prstGeom prst="ellipse">
            <a:avLst/>
          </a:prstGeom>
          <a:solidFill>
            <a:srgbClr val="FFAE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97280" y="3822191"/>
            <a:ext cx="64008" cy="64008"/>
          </a:xfrm>
          <a:prstGeom prst="ellipse">
            <a:avLst/>
          </a:prstGeom>
          <a:solidFill>
            <a:srgbClr val="37C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3776472"/>
            <a:ext cx="406908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19" b="1" i="0">
                <a:solidFill>
                  <a:srgbClr val="F8F8F5"/>
                </a:solidFill>
                <a:latin typeface="Aptos Display"/>
              </a:rPr>
              <a:t>items[]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4123944"/>
            <a:ext cx="4361688" cy="11521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120">
                <a:solidFill>
                  <a:srgbClr val="E8BC8B"/>
                </a:solidFill>
                <a:latin typeface="Cascadia Mono"/>
              </a:defRPr>
            </a:pPr>
            <a:r>
              <a:t>[</a:t>
            </a:r>
          </a:p>
          <a:p>
            <a:pPr>
              <a:defRPr sz="1120">
                <a:solidFill>
                  <a:srgbClr val="E8BC8B"/>
                </a:solidFill>
                <a:latin typeface="Cascadia Mono"/>
              </a:defRPr>
            </a:pPr>
            <a:r>
              <a:t>  { "productId": "P100", "qty": 2 },</a:t>
            </a:r>
          </a:p>
          <a:p>
            <a:pPr>
              <a:defRPr sz="1120">
                <a:solidFill>
                  <a:srgbClr val="E8BC8B"/>
                </a:solidFill>
                <a:latin typeface="Cascadia Mono"/>
              </a:defRPr>
            </a:pPr>
            <a:r>
              <a:t>  { "productId": "P200", "qty": 1 }</a:t>
            </a:r>
          </a:p>
          <a:p>
            <a:pPr>
              <a:defRPr sz="1120">
                <a:solidFill>
                  <a:srgbClr val="E8BC8B"/>
                </a:solidFill>
                <a:latin typeface="Cascadia Mono"/>
              </a:defRPr>
            </a:pPr>
            <a:r>
              <a:t>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1325880"/>
            <a:ext cx="5623560" cy="4526280"/>
          </a:xfrm>
          <a:prstGeom prst="roundRect">
            <a:avLst/>
          </a:prstGeom>
          <a:solidFill>
            <a:srgbClr val="0D171F"/>
          </a:solidFill>
          <a:ln w="17780">
            <a:solidFill>
              <a:srgbClr val="26A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72768"/>
            <a:ext cx="23317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26A1EB"/>
                </a:solidFill>
                <a:latin typeface="Aptos Display"/>
              </a:rPr>
              <a:t>Where arrays appear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28232" y="2103120"/>
            <a:ext cx="5074920" cy="594360"/>
          </a:xfrm>
          <a:prstGeom prst="roundRect">
            <a:avLst/>
          </a:prstGeom>
          <a:solidFill>
            <a:srgbClr val="081219"/>
          </a:solidFill>
          <a:ln w="12700">
            <a:solidFill>
              <a:srgbClr val="37C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2221991"/>
            <a:ext cx="91440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7C6E4"/>
                </a:solidFill>
                <a:latin typeface="Aptos Display"/>
              </a:rPr>
              <a:t>Tags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2212848"/>
            <a:ext cx="361188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F8F8F5"/>
                </a:solidFill>
                <a:latin typeface="Aptos Display"/>
              </a:rPr>
              <a:t>A short list of labels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28232" y="2889503"/>
            <a:ext cx="5074920" cy="594360"/>
          </a:xfrm>
          <a:prstGeom prst="roundRect">
            <a:avLst/>
          </a:prstGeom>
          <a:solidFill>
            <a:srgbClr val="081219"/>
          </a:solidFill>
          <a:ln w="12700">
            <a:solidFill>
              <a:srgbClr val="F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3008375"/>
            <a:ext cx="91440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F28B22"/>
                </a:solidFill>
                <a:latin typeface="Aptos Display"/>
              </a:rPr>
              <a:t>Items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0" y="2999232"/>
            <a:ext cx="361188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F8F8F5"/>
                </a:solidFill>
                <a:latin typeface="Aptos Display"/>
              </a:rPr>
              <a:t>Repeated business objects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28232" y="3675887"/>
            <a:ext cx="5074920" cy="594360"/>
          </a:xfrm>
          <a:prstGeom prst="roundRect">
            <a:avLst/>
          </a:prstGeom>
          <a:solidFill>
            <a:srgbClr val="081219"/>
          </a:solidFill>
          <a:ln w="12700">
            <a:solidFill>
              <a:srgbClr val="9D5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3794759"/>
            <a:ext cx="91440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9D5CE6"/>
                </a:solidFill>
                <a:latin typeface="Aptos Display"/>
              </a:rPr>
              <a:t>History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3785615"/>
            <a:ext cx="361188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F8F8F5"/>
                </a:solidFill>
                <a:latin typeface="Aptos Display"/>
              </a:rPr>
              <a:t>Ordered events or states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28232" y="4462272"/>
            <a:ext cx="5074920" cy="594360"/>
          </a:xfrm>
          <a:prstGeom prst="roundRect">
            <a:avLst/>
          </a:prstGeom>
          <a:solidFill>
            <a:srgbClr val="081219"/>
          </a:solidFill>
          <a:ln w="12700">
            <a:solidFill>
              <a:srgbClr val="26A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0" y="4581144"/>
            <a:ext cx="91440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26A1EB"/>
                </a:solidFill>
                <a:latin typeface="Aptos Display"/>
              </a:rPr>
              <a:t>Options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4572000"/>
            <a:ext cx="361188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F8F8F5"/>
                </a:solidFill>
                <a:latin typeface="Aptos Display"/>
              </a:rPr>
              <a:t>Selectable values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5330952"/>
            <a:ext cx="4800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B9C5CD"/>
                </a:solidFill>
                <a:latin typeface="Aptos Display"/>
              </a:rPr>
              <a:t>Order matters when the application assigns meaning to position.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6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10312"/>
            <a:ext cx="850392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900" b="1" i="0">
                <a:solidFill>
                  <a:srgbClr val="F8F8F5"/>
                </a:solidFill>
                <a:latin typeface="Aptos Display"/>
              </a:rPr>
              <a:t>Nested Objects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749808"/>
            <a:ext cx="1133856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B9C5CD"/>
                </a:solidFill>
                <a:latin typeface="Aptos Display"/>
              </a:rPr>
              <a:t>One object can contain another object, creating a hierarchy that mirrors the application.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325880"/>
            <a:ext cx="6126480" cy="4526280"/>
          </a:xfrm>
          <a:prstGeom prst="roundRect">
            <a:avLst/>
          </a:prstGeom>
          <a:solidFill>
            <a:srgbClr val="0D171F"/>
          </a:solidFill>
          <a:ln w="17780">
            <a:solidFill>
              <a:srgbClr val="F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20116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F28B22"/>
                </a:solidFill>
                <a:latin typeface="Aptos Display"/>
              </a:rPr>
              <a:t>shippingAddress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965960"/>
            <a:ext cx="5166360" cy="3291840"/>
          </a:xfrm>
          <a:prstGeom prst="roundRect">
            <a:avLst/>
          </a:prstGeom>
          <a:solidFill>
            <a:srgbClr val="081016"/>
          </a:solidFill>
          <a:ln w="13970">
            <a:solidFill>
              <a:srgbClr val="F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965960"/>
            <a:ext cx="5166360" cy="320040"/>
          </a:xfrm>
          <a:prstGeom prst="rect">
            <a:avLst/>
          </a:prstGeom>
          <a:solidFill>
            <a:srgbClr val="131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68096" y="2057400"/>
            <a:ext cx="64008" cy="64008"/>
          </a:xfrm>
          <a:prstGeom prst="ellipse">
            <a:avLst/>
          </a:prstGeom>
          <a:solidFill>
            <a:srgbClr val="E5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1832" y="2057400"/>
            <a:ext cx="64008" cy="64008"/>
          </a:xfrm>
          <a:prstGeom prst="ellipse">
            <a:avLst/>
          </a:prstGeom>
          <a:solidFill>
            <a:srgbClr val="FFAE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15568" y="2057400"/>
            <a:ext cx="64008" cy="64008"/>
          </a:xfrm>
          <a:prstGeom prst="ellipse">
            <a:avLst/>
          </a:prstGeom>
          <a:solidFill>
            <a:srgbClr val="37C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11679"/>
            <a:ext cx="46177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19" b="1" i="0">
                <a:solidFill>
                  <a:srgbClr val="F8F8F5"/>
                </a:solidFill>
                <a:latin typeface="Aptos Display"/>
              </a:rPr>
              <a:t>Nested JSON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359152"/>
            <a:ext cx="4910328" cy="2816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120">
                <a:solidFill>
                  <a:srgbClr val="E8BC8B"/>
                </a:solidFill>
                <a:latin typeface="Cascadia Mono"/>
              </a:defRPr>
            </a:pPr>
            <a:r>
              <a:t>{</a:t>
            </a:r>
          </a:p>
          <a:p>
            <a:pPr>
              <a:defRPr sz="1120">
                <a:solidFill>
                  <a:srgbClr val="DCE2E6"/>
                </a:solidFill>
                <a:latin typeface="Cascadia Mono"/>
              </a:defRPr>
            </a:pPr>
            <a:r>
              <a:t>  "orderId": "ORD-1001",</a:t>
            </a:r>
          </a:p>
          <a:p>
            <a:pPr>
              <a:defRPr sz="1120">
                <a:solidFill>
                  <a:srgbClr val="E8BC8B"/>
                </a:solidFill>
                <a:latin typeface="Cascadia Mono"/>
              </a:defRPr>
            </a:pPr>
            <a:r>
              <a:t>  "shippingAddress": {</a:t>
            </a:r>
          </a:p>
          <a:p>
            <a:pPr>
              <a:defRPr sz="1120">
                <a:solidFill>
                  <a:srgbClr val="DCE2E6"/>
                </a:solidFill>
                <a:latin typeface="Cascadia Mono"/>
              </a:defRPr>
            </a:pPr>
            <a:r>
              <a:t>    "city": "Chennai",</a:t>
            </a:r>
          </a:p>
          <a:p>
            <a:pPr>
              <a:defRPr sz="1120">
                <a:solidFill>
                  <a:srgbClr val="DCE2E6"/>
                </a:solidFill>
                <a:latin typeface="Cascadia Mono"/>
              </a:defRPr>
            </a:pPr>
            <a:r>
              <a:t>    "country": "India"</a:t>
            </a:r>
          </a:p>
          <a:p>
            <a:pPr>
              <a:defRPr sz="1120">
                <a:solidFill>
                  <a:srgbClr val="E8BC8B"/>
                </a:solidFill>
                <a:latin typeface="Cascadia Mono"/>
              </a:defRPr>
            </a:pPr>
            <a:r>
              <a:t>  }</a:t>
            </a:r>
          </a:p>
          <a:p>
            <a:pPr>
              <a:defRPr sz="1120">
                <a:solidFill>
                  <a:srgbClr val="E8BC8B"/>
                </a:solidFill>
                <a:latin typeface="Cascadia Mono"/>
              </a:defRPr>
            </a:pPr>
            <a:r>
              <a:t>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4848" y="1325880"/>
            <a:ext cx="4992624" cy="4526280"/>
          </a:xfrm>
          <a:prstGeom prst="roundRect">
            <a:avLst/>
          </a:prstGeom>
          <a:solidFill>
            <a:srgbClr val="0D171F"/>
          </a:solidFill>
          <a:ln w="17780">
            <a:solidFill>
              <a:srgbClr val="37C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59168" y="1600200"/>
            <a:ext cx="20116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37C6E4"/>
                </a:solidFill>
                <a:latin typeface="Aptos Display"/>
              </a:rPr>
              <a:t>Follow the path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0" y="2423160"/>
            <a:ext cx="1325880" cy="1005840"/>
          </a:xfrm>
          <a:prstGeom prst="roundRect">
            <a:avLst/>
          </a:prstGeom>
          <a:solidFill>
            <a:srgbClr val="091218"/>
          </a:solidFill>
          <a:ln w="15240">
            <a:solidFill>
              <a:srgbClr val="F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14032" y="2615184"/>
            <a:ext cx="1179576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50" b="1" i="0">
                <a:solidFill>
                  <a:srgbClr val="F28B22"/>
                </a:solidFill>
                <a:latin typeface="Aptos Display"/>
              </a:rPr>
              <a:t>order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2" y="2907792"/>
            <a:ext cx="1179576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930" b="0" i="0">
                <a:solidFill>
                  <a:srgbClr val="B9C5CD"/>
                </a:solidFill>
                <a:latin typeface="Aptos Display"/>
              </a:rPr>
              <a:t>top level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375904" y="2926080"/>
            <a:ext cx="237744" cy="0"/>
          </a:xfrm>
          <a:prstGeom prst="line">
            <a:avLst/>
          </a:prstGeom>
          <a:ln w="25400">
            <a:solidFill>
              <a:srgbClr val="F28B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531352" y="2423160"/>
            <a:ext cx="1325880" cy="1005840"/>
          </a:xfrm>
          <a:prstGeom prst="roundRect">
            <a:avLst/>
          </a:prstGeom>
          <a:solidFill>
            <a:srgbClr val="091218"/>
          </a:solidFill>
          <a:ln w="15240">
            <a:solidFill>
              <a:srgbClr val="37C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04504" y="2615184"/>
            <a:ext cx="1179576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50" b="1" i="0">
                <a:solidFill>
                  <a:srgbClr val="37C6E4"/>
                </a:solidFill>
                <a:latin typeface="Aptos Display"/>
              </a:rPr>
              <a:t>shippingAddress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04504" y="2907792"/>
            <a:ext cx="1179576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930" b="0" i="0">
                <a:solidFill>
                  <a:srgbClr val="B9C5CD"/>
                </a:solidFill>
                <a:latin typeface="Aptos Display"/>
              </a:rPr>
              <a:t>nested object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866376" y="2926080"/>
            <a:ext cx="237744" cy="0"/>
          </a:xfrm>
          <a:prstGeom prst="line">
            <a:avLst/>
          </a:prstGeom>
          <a:ln w="25400">
            <a:solidFill>
              <a:srgbClr val="F28B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0021824" y="2423160"/>
            <a:ext cx="1325880" cy="1005840"/>
          </a:xfrm>
          <a:prstGeom prst="roundRect">
            <a:avLst/>
          </a:prstGeom>
          <a:solidFill>
            <a:srgbClr val="091218"/>
          </a:solidFill>
          <a:ln w="15240">
            <a:solidFill>
              <a:srgbClr val="9D5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94976" y="2615184"/>
            <a:ext cx="1179576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50" b="1" i="0">
                <a:solidFill>
                  <a:srgbClr val="9D5CE6"/>
                </a:solidFill>
                <a:latin typeface="Aptos Display"/>
              </a:rPr>
              <a:t>city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94976" y="2907792"/>
            <a:ext cx="1179576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930" b="0" i="0">
                <a:solidFill>
                  <a:srgbClr val="B9C5CD"/>
                </a:solidFill>
                <a:latin typeface="Aptos Display"/>
              </a:rPr>
              <a:t>target field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9168" y="3977639"/>
            <a:ext cx="4114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8F8F5"/>
                </a:solidFill>
                <a:latin typeface="Aptos Display"/>
              </a:rPr>
              <a:t>Field path: order → shippingAddress → city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9168" y="4526280"/>
            <a:ext cx="4069080" cy="7132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40" b="0" i="0">
                <a:solidFill>
                  <a:srgbClr val="B9C5CD"/>
                </a:solidFill>
                <a:latin typeface="Aptos Display"/>
              </a:rPr>
              <a:t>Nested structures are useful when the data belongs naturally to the parent object.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6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10312"/>
            <a:ext cx="850392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900" b="1" i="0">
                <a:solidFill>
                  <a:srgbClr val="F8F8F5"/>
                </a:solidFill>
                <a:latin typeface="Aptos Display"/>
              </a:rPr>
              <a:t>Order Management as JSON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749808"/>
            <a:ext cx="1133856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B9C5CD"/>
                </a:solidFill>
                <a:latin typeface="Aptos Display"/>
              </a:rPr>
              <a:t>One business object can combine strings, numbers, arrays and nested objects in one readable structure.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325880"/>
            <a:ext cx="11430000" cy="4709160"/>
          </a:xfrm>
          <a:prstGeom prst="roundRect">
            <a:avLst/>
          </a:prstGeom>
          <a:solidFill>
            <a:srgbClr val="0D171F"/>
          </a:solidFill>
          <a:ln w="17780">
            <a:solidFill>
              <a:srgbClr val="F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760720" cy="3977639"/>
          </a:xfrm>
          <a:prstGeom prst="roundRect">
            <a:avLst/>
          </a:prstGeom>
          <a:solidFill>
            <a:srgbClr val="081016"/>
          </a:solidFill>
          <a:ln w="13970">
            <a:solidFill>
              <a:srgbClr val="F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5760720" cy="320040"/>
          </a:xfrm>
          <a:prstGeom prst="rect">
            <a:avLst/>
          </a:prstGeom>
          <a:solidFill>
            <a:srgbClr val="131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49808" y="1783080"/>
            <a:ext cx="64008" cy="64008"/>
          </a:xfrm>
          <a:prstGeom prst="ellipse">
            <a:avLst/>
          </a:prstGeom>
          <a:solidFill>
            <a:srgbClr val="E5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23544" y="1783080"/>
            <a:ext cx="64008" cy="64008"/>
          </a:xfrm>
          <a:prstGeom prst="ellipse">
            <a:avLst/>
          </a:prstGeom>
          <a:solidFill>
            <a:srgbClr val="FFAE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1783080"/>
            <a:ext cx="64008" cy="64008"/>
          </a:xfrm>
          <a:prstGeom prst="ellipse">
            <a:avLst/>
          </a:prstGeom>
          <a:solidFill>
            <a:srgbClr val="37C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1737360"/>
            <a:ext cx="521208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19" b="1" i="0">
                <a:solidFill>
                  <a:srgbClr val="F8F8F5"/>
                </a:solidFill>
                <a:latin typeface="Aptos Display"/>
              </a:rPr>
              <a:t>Order document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084832"/>
            <a:ext cx="5504688" cy="35021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120">
                <a:solidFill>
                  <a:srgbClr val="E8BC8B"/>
                </a:solidFill>
                <a:latin typeface="Cascadia Mono"/>
              </a:defRPr>
            </a:pPr>
            <a:r>
              <a:t>{</a:t>
            </a:r>
          </a:p>
          <a:p>
            <a:pPr>
              <a:defRPr sz="1120">
                <a:solidFill>
                  <a:srgbClr val="DCE2E6"/>
                </a:solidFill>
                <a:latin typeface="Cascadia Mono"/>
              </a:defRPr>
            </a:pPr>
            <a:r>
              <a:t>  "orderId": "ORD-1001",</a:t>
            </a:r>
          </a:p>
          <a:p>
            <a:pPr>
              <a:defRPr sz="1120">
                <a:solidFill>
                  <a:srgbClr val="DCE2E6"/>
                </a:solidFill>
                <a:latin typeface="Cascadia Mono"/>
              </a:defRPr>
            </a:pPr>
            <a:r>
              <a:t>  "orderDate": "2026-09-15",</a:t>
            </a:r>
          </a:p>
          <a:p>
            <a:pPr>
              <a:defRPr sz="1120">
                <a:solidFill>
                  <a:srgbClr val="DCE2E6"/>
                </a:solidFill>
                <a:latin typeface="Cascadia Mono"/>
              </a:defRPr>
            </a:pPr>
            <a:r>
              <a:t>  "status": "CONFIRMED",</a:t>
            </a:r>
          </a:p>
          <a:p>
            <a:pPr>
              <a:defRPr sz="1120">
                <a:solidFill>
                  <a:srgbClr val="E8BC8B"/>
                </a:solidFill>
                <a:latin typeface="Cascadia Mono"/>
              </a:defRPr>
            </a:pPr>
            <a:r>
              <a:t>  "items": [</a:t>
            </a:r>
          </a:p>
          <a:p>
            <a:pPr>
              <a:defRPr sz="1120">
                <a:solidFill>
                  <a:srgbClr val="E8BC8B"/>
                </a:solidFill>
                <a:latin typeface="Cascadia Mono"/>
              </a:defRPr>
            </a:pPr>
            <a:r>
              <a:t>    { "productId": "P100", "qty": 2, "price": 499.50 },</a:t>
            </a:r>
          </a:p>
          <a:p>
            <a:pPr>
              <a:defRPr sz="1120">
                <a:solidFill>
                  <a:srgbClr val="E8BC8B"/>
                </a:solidFill>
                <a:latin typeface="Cascadia Mono"/>
              </a:defRPr>
            </a:pPr>
            <a:r>
              <a:t>    { "productId": "P200", "qty": 1, "price": 25.50 }</a:t>
            </a:r>
          </a:p>
          <a:p>
            <a:pPr>
              <a:defRPr sz="1120">
                <a:solidFill>
                  <a:srgbClr val="E8BC8B"/>
                </a:solidFill>
                <a:latin typeface="Cascadia Mono"/>
              </a:defRPr>
            </a:pPr>
            <a:r>
              <a:t>  ],</a:t>
            </a:r>
          </a:p>
          <a:p>
            <a:pPr>
              <a:defRPr sz="1120">
                <a:solidFill>
                  <a:srgbClr val="E8BC8B"/>
                </a:solidFill>
                <a:latin typeface="Cascadia Mono"/>
              </a:defRPr>
            </a:pPr>
            <a:r>
              <a:t>  "shippingAddress": { "city": "Chennai", "country": "India" },</a:t>
            </a:r>
          </a:p>
          <a:p>
            <a:pPr>
              <a:defRPr sz="1120">
                <a:solidFill>
                  <a:srgbClr val="E8BC8B"/>
                </a:solidFill>
                <a:latin typeface="Cascadia Mono"/>
              </a:defRPr>
            </a:pPr>
            <a:r>
              <a:t>  "payment": { "method": "CARD", "status": "AUTHORIZED" }</a:t>
            </a:r>
          </a:p>
          <a:p>
            <a:pPr>
              <a:defRPr sz="1120">
                <a:solidFill>
                  <a:srgbClr val="E8BC8B"/>
                </a:solidFill>
                <a:latin typeface="Cascadia Mono"/>
              </a:defRPr>
            </a:pPr>
            <a:r>
              <a:t>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1755648"/>
            <a:ext cx="4526280" cy="768096"/>
          </a:xfrm>
          <a:prstGeom prst="roundRect">
            <a:avLst/>
          </a:prstGeom>
          <a:solidFill>
            <a:srgbClr val="081218"/>
          </a:solidFill>
          <a:ln w="12700">
            <a:solidFill>
              <a:srgbClr val="F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67728" y="1892807"/>
            <a:ext cx="14173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1" i="0">
                <a:solidFill>
                  <a:srgbClr val="F28B22"/>
                </a:solidFill>
                <a:latin typeface="Aptos Display"/>
              </a:rPr>
              <a:t>Top-level fields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1874519"/>
            <a:ext cx="278892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8F8F5"/>
                </a:solidFill>
                <a:latin typeface="Aptos Display"/>
              </a:rPr>
              <a:t>orderId • status • orderDate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66560" y="2743200"/>
            <a:ext cx="4526280" cy="768096"/>
          </a:xfrm>
          <a:prstGeom prst="roundRect">
            <a:avLst/>
          </a:prstGeom>
          <a:solidFill>
            <a:srgbClr val="081218"/>
          </a:solidFill>
          <a:ln w="12700">
            <a:solidFill>
              <a:srgbClr val="9D5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67728" y="2880360"/>
            <a:ext cx="14173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1" i="0">
                <a:solidFill>
                  <a:srgbClr val="9D5CE6"/>
                </a:solidFill>
                <a:latin typeface="Aptos Display"/>
              </a:rPr>
              <a:t>Array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862072"/>
            <a:ext cx="278892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8F8F5"/>
                </a:solidFill>
                <a:latin typeface="Aptos Display"/>
              </a:rPr>
              <a:t>items[] holds repeated objects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66560" y="3730752"/>
            <a:ext cx="4526280" cy="768096"/>
          </a:xfrm>
          <a:prstGeom prst="roundRect">
            <a:avLst/>
          </a:prstGeom>
          <a:solidFill>
            <a:srgbClr val="081218"/>
          </a:solidFill>
          <a:ln w="12700">
            <a:solidFill>
              <a:srgbClr val="37C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67728" y="3867912"/>
            <a:ext cx="14173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1" i="0">
                <a:solidFill>
                  <a:srgbClr val="37C6E4"/>
                </a:solidFill>
                <a:latin typeface="Aptos Display"/>
              </a:rPr>
              <a:t>Nested object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849624"/>
            <a:ext cx="278892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8F8F5"/>
                </a:solidFill>
                <a:latin typeface="Aptos Display"/>
              </a:rPr>
              <a:t>shippingAddress and payment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66560" y="4718304"/>
            <a:ext cx="4526280" cy="768096"/>
          </a:xfrm>
          <a:prstGeom prst="roundRect">
            <a:avLst/>
          </a:prstGeom>
          <a:solidFill>
            <a:srgbClr val="081218"/>
          </a:solidFill>
          <a:ln w="12700">
            <a:solidFill>
              <a:srgbClr val="26A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67728" y="4855464"/>
            <a:ext cx="14173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1" i="0">
                <a:solidFill>
                  <a:srgbClr val="26A1EB"/>
                </a:solidFill>
                <a:latin typeface="Aptos Display"/>
              </a:rPr>
              <a:t>Simple values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4837176"/>
            <a:ext cx="278892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8F8F5"/>
                </a:solidFill>
                <a:latin typeface="Aptos Display"/>
              </a:rPr>
              <a:t>strings • numbers • booleans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6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10312"/>
            <a:ext cx="850392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900" b="1" i="0">
                <a:solidFill>
                  <a:srgbClr val="F8F8F5"/>
                </a:solidFill>
                <a:latin typeface="Aptos Display"/>
              </a:rPr>
              <a:t>Common JSON Value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749808"/>
            <a:ext cx="1133856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B9C5CD"/>
                </a:solidFill>
                <a:latin typeface="Aptos Display"/>
              </a:rPr>
              <a:t>Most JSON can be understood by recognizing a small set of value categories.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17320"/>
            <a:ext cx="3657600" cy="1417320"/>
          </a:xfrm>
          <a:prstGeom prst="roundRect">
            <a:avLst/>
          </a:prstGeom>
          <a:solidFill>
            <a:srgbClr val="0D171F"/>
          </a:solidFill>
          <a:ln w="15875">
            <a:solidFill>
              <a:srgbClr val="F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72" y="1581912"/>
            <a:ext cx="3328416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F28B22"/>
                </a:solidFill>
                <a:latin typeface="Aptos Display"/>
              </a:rPr>
              <a:t>String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" y="2075688"/>
            <a:ext cx="3328416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F8F8F5"/>
                </a:solidFill>
                <a:latin typeface="Aptos Display"/>
              </a:rPr>
              <a:t>"CONFIRMED"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441448"/>
            <a:ext cx="3328416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B9C5CD"/>
                </a:solidFill>
                <a:latin typeface="Aptos Display"/>
              </a:rPr>
              <a:t>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417320"/>
            <a:ext cx="3657600" cy="1417320"/>
          </a:xfrm>
          <a:prstGeom prst="roundRect">
            <a:avLst/>
          </a:prstGeom>
          <a:solidFill>
            <a:srgbClr val="0D171F"/>
          </a:solidFill>
          <a:ln w="15875">
            <a:solidFill>
              <a:srgbClr val="26A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2272" y="1581912"/>
            <a:ext cx="3328416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26A1EB"/>
                </a:solidFill>
                <a:latin typeface="Aptos Display"/>
              </a:rPr>
              <a:t>Number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2272" y="2075688"/>
            <a:ext cx="3328416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F8F8F5"/>
                </a:solidFill>
                <a:latin typeface="Aptos Display"/>
              </a:rPr>
              <a:t>1499.00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2272" y="2441448"/>
            <a:ext cx="3328416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B9C5CD"/>
                </a:solidFill>
                <a:latin typeface="Aptos Display"/>
              </a:rPr>
              <a:t>Numeric value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1417320"/>
            <a:ext cx="3566160" cy="1417320"/>
          </a:xfrm>
          <a:prstGeom prst="roundRect">
            <a:avLst/>
          </a:prstGeom>
          <a:solidFill>
            <a:srgbClr val="0D171F"/>
          </a:solidFill>
          <a:ln w="15875">
            <a:solidFill>
              <a:srgbClr val="9D5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48471" y="1581912"/>
            <a:ext cx="3236976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9D5CE6"/>
                </a:solidFill>
                <a:latin typeface="Aptos Display"/>
              </a:rPr>
              <a:t>Boolean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8471" y="2075688"/>
            <a:ext cx="3236976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F8F8F5"/>
                </a:solidFill>
                <a:latin typeface="Aptos Display"/>
              </a:rPr>
              <a:t>true / false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1" y="2441448"/>
            <a:ext cx="3236976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B9C5CD"/>
                </a:solidFill>
                <a:latin typeface="Aptos Display"/>
              </a:rPr>
              <a:t>Logical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3063240"/>
            <a:ext cx="3657600" cy="1417320"/>
          </a:xfrm>
          <a:prstGeom prst="roundRect">
            <a:avLst/>
          </a:prstGeom>
          <a:solidFill>
            <a:srgbClr val="0D171F"/>
          </a:solidFill>
          <a:ln w="15875">
            <a:solidFill>
              <a:srgbClr val="E54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3227832"/>
            <a:ext cx="3328416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E54949"/>
                </a:solidFill>
                <a:latin typeface="Aptos Display"/>
              </a:rPr>
              <a:t>Null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" y="3721608"/>
            <a:ext cx="3328416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F8F8F5"/>
                </a:solidFill>
                <a:latin typeface="Aptos Display"/>
              </a:rPr>
              <a:t>null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" y="4087368"/>
            <a:ext cx="3328416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B9C5CD"/>
                </a:solidFill>
                <a:latin typeface="Aptos Display"/>
              </a:rPr>
              <a:t>No value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3063240"/>
            <a:ext cx="3657600" cy="1417320"/>
          </a:xfrm>
          <a:prstGeom prst="roundRect">
            <a:avLst/>
          </a:prstGeom>
          <a:solidFill>
            <a:srgbClr val="0D171F"/>
          </a:solidFill>
          <a:ln w="15875">
            <a:solidFill>
              <a:srgbClr val="37C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62272" y="3227832"/>
            <a:ext cx="3328416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37C6E4"/>
                </a:solidFill>
                <a:latin typeface="Aptos Display"/>
              </a:rPr>
              <a:t>Object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62272" y="3721608"/>
            <a:ext cx="3328416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F8F8F5"/>
                </a:solidFill>
                <a:latin typeface="Aptos Display"/>
              </a:rPr>
              <a:t>{ … }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62272" y="4087368"/>
            <a:ext cx="3328416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B9C5CD"/>
                </a:solidFill>
                <a:latin typeface="Aptos Display"/>
              </a:rPr>
              <a:t>Nested structure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3879" y="3063240"/>
            <a:ext cx="3566160" cy="1417320"/>
          </a:xfrm>
          <a:prstGeom prst="roundRect">
            <a:avLst/>
          </a:prstGeom>
          <a:solidFill>
            <a:srgbClr val="0D171F"/>
          </a:solidFill>
          <a:ln w="15875">
            <a:solidFill>
              <a:srgbClr val="FFAE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48471" y="3227832"/>
            <a:ext cx="3236976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FFAE47"/>
                </a:solidFill>
                <a:latin typeface="Aptos Display"/>
              </a:rPr>
              <a:t>Array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48471" y="3721608"/>
            <a:ext cx="3236976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F8F8F5"/>
                </a:solidFill>
                <a:latin typeface="Aptos Display"/>
              </a:rPr>
              <a:t>[ … 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8471" y="4087368"/>
            <a:ext cx="3236976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B9C5CD"/>
                </a:solidFill>
                <a:latin typeface="Aptos Display"/>
              </a:rPr>
              <a:t>Ordered list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6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10312"/>
            <a:ext cx="850392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900" b="1" i="0">
                <a:solidFill>
                  <a:srgbClr val="F8F8F5"/>
                </a:solidFill>
                <a:latin typeface="Aptos Display"/>
              </a:rPr>
              <a:t>JSON Structure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749808"/>
            <a:ext cx="1133856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B9C5CD"/>
                </a:solidFill>
                <a:latin typeface="Aptos Display"/>
              </a:rPr>
              <a:t>Read from the outside in: object → properties → nested objects → arrays → values.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325880"/>
            <a:ext cx="11384280" cy="4526280"/>
          </a:xfrm>
          <a:prstGeom prst="roundRect">
            <a:avLst/>
          </a:prstGeom>
          <a:solidFill>
            <a:srgbClr val="0D171F"/>
          </a:solidFill>
          <a:ln w="17780">
            <a:solidFill>
              <a:srgbClr val="26A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74920" y="1874519"/>
            <a:ext cx="2057400" cy="676656"/>
          </a:xfrm>
          <a:prstGeom prst="roundRect">
            <a:avLst/>
          </a:prstGeom>
          <a:solidFill>
            <a:srgbClr val="10191F"/>
          </a:solidFill>
          <a:ln w="17780">
            <a:solidFill>
              <a:srgbClr val="F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66360" y="2039112"/>
            <a:ext cx="1874519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400" b="1" i="0">
                <a:solidFill>
                  <a:srgbClr val="F28B22"/>
                </a:solidFill>
                <a:latin typeface="Aptos Display"/>
              </a:rPr>
              <a:t>ORDER OBJECT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" y="3337560"/>
            <a:ext cx="1737360" cy="749808"/>
          </a:xfrm>
          <a:prstGeom prst="roundRect">
            <a:avLst/>
          </a:prstGeom>
          <a:solidFill>
            <a:srgbClr val="081117"/>
          </a:solidFill>
          <a:ln w="14604">
            <a:solidFill>
              <a:srgbClr val="F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456432"/>
            <a:ext cx="15544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60" b="1" i="0">
                <a:solidFill>
                  <a:srgbClr val="F28B22"/>
                </a:solidFill>
                <a:latin typeface="Aptos Display"/>
              </a:rPr>
              <a:t>orderId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730752"/>
            <a:ext cx="15544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930" b="0" i="0">
                <a:solidFill>
                  <a:srgbClr val="B9C5CD"/>
                </a:solidFill>
                <a:latin typeface="Aptos Display"/>
              </a:rPr>
              <a:t>String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1874519" y="2560320"/>
            <a:ext cx="4206241" cy="777240"/>
          </a:xfrm>
          <a:prstGeom prst="line">
            <a:avLst/>
          </a:prstGeom>
          <a:ln w="20320">
            <a:solidFill>
              <a:srgbClr val="F28B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749039" y="3337560"/>
            <a:ext cx="1737360" cy="749808"/>
          </a:xfrm>
          <a:prstGeom prst="roundRect">
            <a:avLst/>
          </a:prstGeom>
          <a:solidFill>
            <a:srgbClr val="081117"/>
          </a:solidFill>
          <a:ln w="14604">
            <a:solidFill>
              <a:srgbClr val="26A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79" y="3456432"/>
            <a:ext cx="15544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60" b="1" i="0">
                <a:solidFill>
                  <a:srgbClr val="26A1EB"/>
                </a:solidFill>
                <a:latin typeface="Aptos Display"/>
              </a:rPr>
              <a:t>status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79" y="3730752"/>
            <a:ext cx="15544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930" b="0" i="0">
                <a:solidFill>
                  <a:srgbClr val="B9C5CD"/>
                </a:solidFill>
                <a:latin typeface="Aptos Display"/>
              </a:rPr>
              <a:t>String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4617720" y="2560320"/>
            <a:ext cx="1463040" cy="777240"/>
          </a:xfrm>
          <a:prstGeom prst="line">
            <a:avLst/>
          </a:prstGeom>
          <a:ln w="20320">
            <a:solidFill>
              <a:srgbClr val="26A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086600" y="3337560"/>
            <a:ext cx="1737360" cy="749808"/>
          </a:xfrm>
          <a:prstGeom prst="roundRect">
            <a:avLst/>
          </a:prstGeom>
          <a:solidFill>
            <a:srgbClr val="081117"/>
          </a:solidFill>
          <a:ln w="14604">
            <a:solidFill>
              <a:srgbClr val="9D5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78040" y="3456432"/>
            <a:ext cx="15544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60" b="1" i="0">
                <a:solidFill>
                  <a:srgbClr val="9D5CE6"/>
                </a:solidFill>
                <a:latin typeface="Aptos Display"/>
              </a:rPr>
              <a:t>items[]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3730752"/>
            <a:ext cx="15544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930" b="0" i="0">
                <a:solidFill>
                  <a:srgbClr val="B9C5CD"/>
                </a:solidFill>
                <a:latin typeface="Aptos Display"/>
              </a:rPr>
              <a:t>Array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80760" y="2560320"/>
            <a:ext cx="1874519" cy="777240"/>
          </a:xfrm>
          <a:prstGeom prst="line">
            <a:avLst/>
          </a:prstGeom>
          <a:ln w="20320">
            <a:solidFill>
              <a:srgbClr val="9D5C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189720" y="3337560"/>
            <a:ext cx="1737360" cy="749808"/>
          </a:xfrm>
          <a:prstGeom prst="roundRect">
            <a:avLst/>
          </a:prstGeom>
          <a:solidFill>
            <a:srgbClr val="081117"/>
          </a:solidFill>
          <a:ln w="14604">
            <a:solidFill>
              <a:srgbClr val="37C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81160" y="3456432"/>
            <a:ext cx="15544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60" b="1" i="0">
                <a:solidFill>
                  <a:srgbClr val="37C6E4"/>
                </a:solidFill>
                <a:latin typeface="Aptos Display"/>
              </a:rPr>
              <a:t>shippingAddress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81160" y="3730752"/>
            <a:ext cx="15544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930" b="0" i="0">
                <a:solidFill>
                  <a:srgbClr val="B9C5CD"/>
                </a:solidFill>
                <a:latin typeface="Aptos Display"/>
              </a:rPr>
              <a:t>Object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80760" y="2560320"/>
            <a:ext cx="3977640" cy="777240"/>
          </a:xfrm>
          <a:prstGeom prst="line">
            <a:avLst/>
          </a:prstGeom>
          <a:ln w="20320">
            <a:solidFill>
              <a:srgbClr val="37C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487168" y="5074920"/>
            <a:ext cx="722376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F8F8F5"/>
                </a:solidFill>
                <a:latin typeface="Aptos Display"/>
              </a:rPr>
              <a:t>JSON is hierarchical: the structure tells you how the pieces belong together.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6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10312"/>
            <a:ext cx="850392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900" b="1" i="0">
                <a:solidFill>
                  <a:srgbClr val="F8F8F5"/>
                </a:solidFill>
                <a:latin typeface="Aptos Display"/>
              </a:rPr>
              <a:t>JSON in Application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749808"/>
            <a:ext cx="1133856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B9C5CD"/>
                </a:solidFill>
                <a:latin typeface="Aptos Display"/>
              </a:rPr>
              <a:t>JSON often sits between application objects, APIs, and database documents.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828800"/>
            <a:ext cx="2286000" cy="2468880"/>
          </a:xfrm>
          <a:prstGeom prst="roundRect">
            <a:avLst/>
          </a:prstGeom>
          <a:solidFill>
            <a:srgbClr val="0D171F"/>
          </a:solidFill>
          <a:ln w="16510">
            <a:solidFill>
              <a:srgbClr val="26A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58952" y="1993392"/>
            <a:ext cx="384048" cy="384048"/>
          </a:xfrm>
          <a:prstGeom prst="ellipse">
            <a:avLst/>
          </a:prstGeom>
          <a:solidFill>
            <a:srgbClr val="26A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002536"/>
            <a:ext cx="384048" cy="3749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60C10"/>
                </a:solidFill>
                <a:latin typeface="Aptos Display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93392"/>
            <a:ext cx="141732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 i="0">
                <a:solidFill>
                  <a:srgbClr val="26A1EB"/>
                </a:solidFill>
                <a:latin typeface="Aptos Display"/>
              </a:rPr>
              <a:t>Application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44168" y="2487168"/>
            <a:ext cx="82296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2700" b="1" i="0">
                <a:solidFill>
                  <a:srgbClr val="F8F8F5"/>
                </a:solidFill>
                <a:latin typeface="Aptos Display"/>
              </a:rPr>
              <a:t>&lt;/&gt;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54680"/>
            <a:ext cx="1828800" cy="8046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40" b="0" i="0">
                <a:solidFill>
                  <a:srgbClr val="F8F8F5"/>
                </a:solidFill>
                <a:latin typeface="Aptos Display"/>
              </a:rPr>
              <a:t>Create an object
in Java, Python,
Node.js, etc.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898648" y="2971800"/>
            <a:ext cx="438912" cy="0"/>
          </a:xfrm>
          <a:prstGeom prst="line">
            <a:avLst/>
          </a:prstGeom>
          <a:ln w="27940">
            <a:solidFill>
              <a:srgbClr val="F28B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456432" y="1828800"/>
            <a:ext cx="2286000" cy="2468880"/>
          </a:xfrm>
          <a:prstGeom prst="roundRect">
            <a:avLst/>
          </a:prstGeom>
          <a:solidFill>
            <a:srgbClr val="0D171F"/>
          </a:solidFill>
          <a:ln w="16510">
            <a:solidFill>
              <a:srgbClr val="F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21024" y="1993392"/>
            <a:ext cx="384048" cy="384048"/>
          </a:xfrm>
          <a:prstGeom prst="ellipse">
            <a:avLst/>
          </a:prstGeom>
          <a:solidFill>
            <a:srgbClr val="F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1024" y="2002536"/>
            <a:ext cx="384048" cy="3749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60C10"/>
                </a:solidFill>
                <a:latin typeface="Aptos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96511" y="1993392"/>
            <a:ext cx="141732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 i="0">
                <a:solidFill>
                  <a:srgbClr val="F28B22"/>
                </a:solidFill>
                <a:latin typeface="Aptos Display"/>
              </a:rPr>
              <a:t>Serialize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487168"/>
            <a:ext cx="82296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2700" b="1" i="0">
                <a:solidFill>
                  <a:srgbClr val="F8F8F5"/>
                </a:solidFill>
                <a:latin typeface="Aptos Display"/>
              </a:rPr>
              <a:t>{}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5031" y="3154680"/>
            <a:ext cx="1828800" cy="8046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40" b="0" i="0">
                <a:solidFill>
                  <a:srgbClr val="F8F8F5"/>
                </a:solidFill>
                <a:latin typeface="Aptos Display"/>
              </a:rPr>
              <a:t>Convert the object
to JSON text.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60720" y="2971800"/>
            <a:ext cx="438911" cy="0"/>
          </a:xfrm>
          <a:prstGeom prst="line">
            <a:avLst/>
          </a:prstGeom>
          <a:ln w="27940">
            <a:solidFill>
              <a:srgbClr val="F28B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318504" y="1828800"/>
            <a:ext cx="2286000" cy="2468880"/>
          </a:xfrm>
          <a:prstGeom prst="roundRect">
            <a:avLst/>
          </a:prstGeom>
          <a:solidFill>
            <a:srgbClr val="0D171F"/>
          </a:solidFill>
          <a:ln w="16510">
            <a:solidFill>
              <a:srgbClr val="37C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83096" y="1993392"/>
            <a:ext cx="384048" cy="384048"/>
          </a:xfrm>
          <a:prstGeom prst="ellipse">
            <a:avLst/>
          </a:prstGeom>
          <a:solidFill>
            <a:srgbClr val="37C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3096" y="2002536"/>
            <a:ext cx="384048" cy="3749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60C10"/>
                </a:solidFill>
                <a:latin typeface="Aptos Display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58584" y="1993392"/>
            <a:ext cx="141732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 i="0">
                <a:solidFill>
                  <a:srgbClr val="37C6E4"/>
                </a:solidFill>
                <a:latin typeface="Aptos Display"/>
              </a:rPr>
              <a:t>API / Service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68312" y="2487168"/>
            <a:ext cx="82296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2700" b="1" i="0">
                <a:solidFill>
                  <a:srgbClr val="F8F8F5"/>
                </a:solidFill>
                <a:latin typeface="Aptos Display"/>
              </a:rPr>
              <a:t>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154680"/>
            <a:ext cx="1828800" cy="8046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40" b="0" i="0">
                <a:solidFill>
                  <a:srgbClr val="F8F8F5"/>
                </a:solidFill>
                <a:latin typeface="Aptos Display"/>
              </a:rPr>
              <a:t>Send JSON through
REST or messaging.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622792" y="2971800"/>
            <a:ext cx="438912" cy="0"/>
          </a:xfrm>
          <a:prstGeom prst="line">
            <a:avLst/>
          </a:prstGeom>
          <a:ln w="27940">
            <a:solidFill>
              <a:srgbClr val="F28B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180576" y="1828800"/>
            <a:ext cx="2286000" cy="2468880"/>
          </a:xfrm>
          <a:prstGeom prst="roundRect">
            <a:avLst/>
          </a:prstGeom>
          <a:solidFill>
            <a:srgbClr val="0D171F"/>
          </a:solidFill>
          <a:ln w="16510">
            <a:solidFill>
              <a:srgbClr val="9D5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345168" y="1993392"/>
            <a:ext cx="384048" cy="384048"/>
          </a:xfrm>
          <a:prstGeom prst="ellipse">
            <a:avLst/>
          </a:prstGeom>
          <a:solidFill>
            <a:srgbClr val="9D5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45168" y="2002536"/>
            <a:ext cx="384048" cy="3749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60C10"/>
                </a:solidFill>
                <a:latin typeface="Aptos Display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20656" y="1993392"/>
            <a:ext cx="141732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 i="0">
                <a:solidFill>
                  <a:srgbClr val="9D5CE6"/>
                </a:solidFill>
                <a:latin typeface="Aptos Display"/>
              </a:rPr>
              <a:t>MongoDB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20656" y="2505456"/>
            <a:ext cx="1005840" cy="603504"/>
          </a:xfrm>
          <a:prstGeom prst="roundRect">
            <a:avLst/>
          </a:prstGeom>
          <a:solidFill>
            <a:srgbClr val="9D5CE6"/>
          </a:solidFill>
          <a:ln>
            <a:solidFill>
              <a:srgbClr val="9D5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820656" y="2395728"/>
            <a:ext cx="1005840" cy="237744"/>
          </a:xfrm>
          <a:prstGeom prst="ellipse">
            <a:avLst/>
          </a:prstGeom>
          <a:solidFill>
            <a:srgbClr val="9D5CE6"/>
          </a:solidFill>
          <a:ln>
            <a:solidFill>
              <a:srgbClr val="9D5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820656" y="2980944"/>
            <a:ext cx="1005840" cy="237744"/>
          </a:xfrm>
          <a:prstGeom prst="ellipse">
            <a:avLst/>
          </a:prstGeom>
          <a:solidFill>
            <a:srgbClr val="9D5CE6"/>
          </a:solidFill>
          <a:ln>
            <a:solidFill>
              <a:srgbClr val="9D5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20656" y="2642616"/>
            <a:ext cx="100584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8F8F5"/>
                </a:solidFill>
                <a:latin typeface="Aptos Display"/>
              </a:rPr>
              <a:t>MongoDB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09176" y="3154680"/>
            <a:ext cx="1828800" cy="8046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40" b="0" i="0">
                <a:solidFill>
                  <a:srgbClr val="F8F8F5"/>
                </a:solidFill>
                <a:latin typeface="Aptos Display"/>
              </a:rPr>
              <a:t>Represent data as a
JSON-like BSON document.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" y="4892040"/>
            <a:ext cx="10469880" cy="566928"/>
          </a:xfrm>
          <a:prstGeom prst="roundRect">
            <a:avLst/>
          </a:prstGeom>
          <a:solidFill>
            <a:srgbClr val="0C141A"/>
          </a:solidFill>
          <a:ln w="12700">
            <a:solidFill>
              <a:srgbClr val="F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5038344"/>
            <a:ext cx="101041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50" b="1" i="0">
                <a:solidFill>
                  <a:srgbClr val="F28B22"/>
                </a:solidFill>
                <a:latin typeface="Aptos Display"/>
              </a:rPr>
              <a:t>Developer habit: keep the object shape readable before it crosses a service boundary.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6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10312"/>
            <a:ext cx="850392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900" b="1" i="0">
                <a:solidFill>
                  <a:srgbClr val="F8F8F5"/>
                </a:solidFill>
                <a:latin typeface="Aptos Display"/>
              </a:rPr>
              <a:t>Practical JSON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749808"/>
            <a:ext cx="1133856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B9C5CD"/>
                </a:solidFill>
                <a:latin typeface="Aptos Display"/>
              </a:rPr>
              <a:t>Use the checklist whenever you create or review structured application data.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44752"/>
            <a:ext cx="11155680" cy="594360"/>
          </a:xfrm>
          <a:prstGeom prst="roundRect">
            <a:avLst/>
          </a:prstGeom>
          <a:solidFill>
            <a:srgbClr val="0D171F"/>
          </a:solidFill>
          <a:ln w="12700">
            <a:solidFill>
              <a:srgbClr val="F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13232" y="1545336"/>
            <a:ext cx="365760" cy="365760"/>
          </a:xfrm>
          <a:prstGeom prst="ellipse">
            <a:avLst/>
          </a:prstGeom>
          <a:solidFill>
            <a:srgbClr val="F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554480"/>
            <a:ext cx="365760" cy="3566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60C10"/>
                </a:solidFill>
                <a:latin typeface="Aptos Display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872" y="1554480"/>
            <a:ext cx="32461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28B22"/>
                </a:solidFill>
                <a:latin typeface="Aptos Display"/>
              </a:rPr>
              <a:t>Start with the business object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545336"/>
            <a:ext cx="63550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40" b="0" i="0">
                <a:solidFill>
                  <a:srgbClr val="F8F8F5"/>
                </a:solidFill>
                <a:latin typeface="Aptos Display"/>
              </a:rPr>
              <a:t>What real-world thing are you representing?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203704"/>
            <a:ext cx="11155680" cy="594360"/>
          </a:xfrm>
          <a:prstGeom prst="roundRect">
            <a:avLst/>
          </a:prstGeom>
          <a:solidFill>
            <a:srgbClr val="0D171F"/>
          </a:solidFill>
          <a:ln w="12700">
            <a:solidFill>
              <a:srgbClr val="26A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3232" y="2304288"/>
            <a:ext cx="365760" cy="365760"/>
          </a:xfrm>
          <a:prstGeom prst="ellipse">
            <a:avLst/>
          </a:prstGeom>
          <a:solidFill>
            <a:srgbClr val="26A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313432"/>
            <a:ext cx="365760" cy="3566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60C10"/>
                </a:solidFill>
                <a:latin typeface="Aptos Display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1872" y="2313432"/>
            <a:ext cx="32461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6A1EB"/>
                </a:solidFill>
                <a:latin typeface="Aptos Display"/>
              </a:rPr>
              <a:t>Name properties clearly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304288"/>
            <a:ext cx="63550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40" b="0" i="0">
                <a:solidFill>
                  <a:srgbClr val="F8F8F5"/>
                </a:solidFill>
                <a:latin typeface="Aptos Display"/>
              </a:rPr>
              <a:t>Can another developer understand the keys?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962656"/>
            <a:ext cx="11155680" cy="594360"/>
          </a:xfrm>
          <a:prstGeom prst="roundRect">
            <a:avLst/>
          </a:prstGeom>
          <a:solidFill>
            <a:srgbClr val="0D171F"/>
          </a:solidFill>
          <a:ln w="12700">
            <a:solidFill>
              <a:srgbClr val="37C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3063240"/>
            <a:ext cx="365760" cy="365760"/>
          </a:xfrm>
          <a:prstGeom prst="ellipse">
            <a:avLst/>
          </a:prstGeom>
          <a:solidFill>
            <a:srgbClr val="37C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3072384"/>
            <a:ext cx="365760" cy="3566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60C10"/>
                </a:solidFill>
                <a:latin typeface="Aptos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3072384"/>
            <a:ext cx="32461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37C6E4"/>
                </a:solidFill>
                <a:latin typeface="Aptos Display"/>
              </a:rPr>
              <a:t>Choose the right structure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063240"/>
            <a:ext cx="63550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40" b="0" i="0">
                <a:solidFill>
                  <a:srgbClr val="F8F8F5"/>
                </a:solidFill>
                <a:latin typeface="Aptos Display"/>
              </a:rPr>
              <a:t>Should this be a scalar, object or array?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721608"/>
            <a:ext cx="11155680" cy="594360"/>
          </a:xfrm>
          <a:prstGeom prst="roundRect">
            <a:avLst/>
          </a:prstGeom>
          <a:solidFill>
            <a:srgbClr val="0D171F"/>
          </a:solidFill>
          <a:ln w="12700">
            <a:solidFill>
              <a:srgbClr val="E54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3232" y="3822192"/>
            <a:ext cx="365760" cy="365760"/>
          </a:xfrm>
          <a:prstGeom prst="ellipse">
            <a:avLst/>
          </a:prstGeom>
          <a:solidFill>
            <a:srgbClr val="E5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3831336"/>
            <a:ext cx="365760" cy="3566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60C10"/>
                </a:solidFill>
                <a:latin typeface="Aptos Display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61872" y="3831336"/>
            <a:ext cx="32461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54949"/>
                </a:solidFill>
                <a:latin typeface="Aptos Display"/>
              </a:rPr>
              <a:t>Group related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3822192"/>
            <a:ext cx="63550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40" b="0" i="0">
                <a:solidFill>
                  <a:srgbClr val="F8F8F5"/>
                </a:solidFill>
                <a:latin typeface="Aptos Display"/>
              </a:rPr>
              <a:t>Does the nesting reflect the relationship?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480560"/>
            <a:ext cx="11155680" cy="594360"/>
          </a:xfrm>
          <a:prstGeom prst="roundRect">
            <a:avLst/>
          </a:prstGeom>
          <a:solidFill>
            <a:srgbClr val="0D171F"/>
          </a:solidFill>
          <a:ln w="12700">
            <a:solidFill>
              <a:srgbClr val="9D5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13232" y="4581144"/>
            <a:ext cx="365760" cy="365760"/>
          </a:xfrm>
          <a:prstGeom prst="ellipse">
            <a:avLst/>
          </a:prstGeom>
          <a:solidFill>
            <a:srgbClr val="9D5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590288"/>
            <a:ext cx="365760" cy="3566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60C10"/>
                </a:solidFill>
                <a:latin typeface="Aptos Display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61872" y="4590288"/>
            <a:ext cx="32461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9D5CE6"/>
                </a:solidFill>
                <a:latin typeface="Aptos Display"/>
              </a:rPr>
              <a:t>Keep the shape readable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4581144"/>
            <a:ext cx="63550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40" b="0" i="0">
                <a:solidFill>
                  <a:srgbClr val="F8F8F5"/>
                </a:solidFill>
                <a:latin typeface="Aptos Display"/>
              </a:rPr>
              <a:t>Can someone understand the structure at a glance?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5440680"/>
            <a:ext cx="10378440" cy="411480"/>
          </a:xfrm>
          <a:prstGeom prst="roundRect">
            <a:avLst/>
          </a:prstGeom>
          <a:solidFill>
            <a:srgbClr val="0D161D"/>
          </a:solidFill>
          <a:ln w="12700">
            <a:solidFill>
              <a:srgbClr val="F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5541264"/>
            <a:ext cx="100126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80" b="1" i="0">
                <a:solidFill>
                  <a:srgbClr val="F28B22"/>
                </a:solidFill>
                <a:latin typeface="Aptos Display"/>
              </a:rPr>
              <a:t>These habits make the next BSON, schema and data-modeling lessons easier to understand.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6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sson22_summary_16x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