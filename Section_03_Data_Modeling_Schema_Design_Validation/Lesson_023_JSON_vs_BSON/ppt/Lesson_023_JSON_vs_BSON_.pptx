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19456"/>
            <a:ext cx="1417320" cy="438912"/>
          </a:xfrm>
          <a:prstGeom prst="roundRect">
            <a:avLst/>
          </a:prstGeom>
          <a:solidFill>
            <a:srgbClr val="F59114"/>
          </a:solidFill>
          <a:ln w="1905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51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80B0F"/>
                </a:solidFill>
                <a:latin typeface="Aptos"/>
              </a:rPr>
              <a:t>JSON vs BSON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6675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JSON vs BSON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490472"/>
            <a:ext cx="6858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BEC8D2"/>
                </a:solidFill>
                <a:latin typeface="Aptos"/>
              </a:rPr>
              <a:t>Two representations of MongoDB document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64240" cy="3611880"/>
          </a:xfrm>
          <a:prstGeom prst="roundRect">
            <a:avLst/>
          </a:prstGeom>
          <a:solidFill>
            <a:srgbClr val="111B26"/>
          </a:solidFill>
          <a:ln w="15240">
            <a:solidFill>
              <a:srgbClr val="2E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3657600" cy="265176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59114"/>
                </a:solidFill>
                <a:latin typeface="Aptos"/>
              </a:rPr>
              <a:t>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" y="3182112"/>
            <a:ext cx="3246120" cy="1719072"/>
          </a:xfrm>
          <a:prstGeom prst="roundRect">
            <a:avLst/>
          </a:prstGeom>
          <a:solidFill>
            <a:srgbClr val="111B26"/>
          </a:solidFill>
          <a:ln w="1524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3255264"/>
            <a:ext cx="29535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9114"/>
                </a:solidFill>
                <a:latin typeface="Aptos"/>
              </a:rPr>
              <a:t>Readable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566160"/>
            <a:ext cx="2953512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  <a:latin typeface="Consolas"/>
              </a:rPr>
              <a:t>{
  "orderId": "ORD-1001",
  "status": "CONFIRMED",
  "items": [ ... ]
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" y="4"/>
            <a:ext cx="1" cy="0"/>
          </a:xfrm>
          <a:prstGeom prst="rect">
            <a:avLst/>
          </a:prstGeom>
          <a:ln w="3810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0" y="2560320"/>
            <a:ext cx="3657600" cy="265176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7568" y="274320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E90FF"/>
                </a:solidFill>
                <a:latin typeface="Aptos"/>
              </a:rPr>
              <a:t>BSON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87568" y="3182112"/>
            <a:ext cx="3246120" cy="1719072"/>
          </a:xfrm>
          <a:prstGeom prst="roundRect">
            <a:avLst/>
          </a:prstGeom>
          <a:solidFill>
            <a:srgbClr val="111B26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3255264"/>
            <a:ext cx="29535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Typed binary representation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3566160"/>
            <a:ext cx="2953512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  <a:latin typeface="Consolas"/>
              </a:rPr>
              <a:t>ObjectId(...)
Date(...)
Decimal128(...)
Binary(...)</a:t>
            </a:r>
          </a:p>
        </p:txBody>
      </p:sp>
      <p:sp>
        <p:nvSpPr>
          <p:cNvPr id="18" name="Oval 17"/>
          <p:cNvSpPr/>
          <p:nvPr/>
        </p:nvSpPr>
        <p:spPr>
          <a:xfrm>
            <a:off x="10" y="2"/>
            <a:ext cx="1" cy="0"/>
          </a:xfrm>
          <a:prstGeom prst="ellipse">
            <a:avLst/>
          </a:prstGeom>
          <a:solidFill>
            <a:srgbClr val="144678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" y="3"/>
            <a:ext cx="1" cy="0"/>
          </a:xfrm>
          <a:prstGeom prst="ellipse">
            <a:avLst/>
          </a:prstGeom>
          <a:solidFill>
            <a:srgbClr val="144678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" y="3"/>
            <a:ext cx="1" cy="0"/>
          </a:xfrm>
          <a:prstGeom prst="ellipse">
            <a:avLst/>
          </a:prstGeom>
          <a:solidFill>
            <a:srgbClr val="144678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38360" y="2852928"/>
            <a:ext cx="1325880" cy="1371600"/>
          </a:xfrm>
          <a:prstGeom prst="rect">
            <a:avLst/>
          </a:prstGeom>
          <a:solidFill>
            <a:srgbClr val="143C64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8088" y="3310128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MongoDB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49824"/>
            <a:ext cx="9966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Aptos"/>
              </a:rPr>
              <a:t>JSON-like syntax for developers • BSON for storage and wire representation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68096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C8D2"/>
                </a:solidFill>
                <a:latin typeface="Aptos"/>
              </a:rPr>
              <a:t>By the end, learners should be able to distinguish the readable JSON view from the BSON representation used by MongoDB.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657600" cy="2743200"/>
          </a:xfrm>
          <a:prstGeom prst="roundRect">
            <a:avLst/>
          </a:prstGeom>
          <a:solidFill>
            <a:srgbClr val="0D141C"/>
          </a:solidFill>
          <a:ln w="1524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527048"/>
            <a:ext cx="332841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59114"/>
                </a:solidFill>
                <a:latin typeface="Aptos"/>
              </a:rPr>
              <a:t>Understand the distinction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929384"/>
            <a:ext cx="33284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JSON is text-based and human-readable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33284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BSON is a typed binary encoding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734056"/>
            <a:ext cx="33284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The two are related, but not interchangeable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17320"/>
            <a:ext cx="3657600" cy="2743200"/>
          </a:xfrm>
          <a:prstGeom prst="roundRect">
            <a:avLst/>
          </a:prstGeom>
          <a:solidFill>
            <a:srgbClr val="0D141C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527048"/>
            <a:ext cx="332841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E90FF"/>
                </a:solidFill>
                <a:latin typeface="Aptos"/>
              </a:rPr>
              <a:t>Recognize what BSON adds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929384"/>
            <a:ext cx="33284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ObjectId and Date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331720"/>
            <a:ext cx="33284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Binary data and richer numeric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734056"/>
            <a:ext cx="33284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Type information with stored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417320"/>
            <a:ext cx="3520440" cy="2743200"/>
          </a:xfrm>
          <a:prstGeom prst="roundRect">
            <a:avLst/>
          </a:prstGeom>
          <a:solidFill>
            <a:srgbClr val="0D141C"/>
          </a:solidFill>
          <a:ln w="15240">
            <a:solidFill>
              <a:srgbClr val="A0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527048"/>
            <a:ext cx="31912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A05FF5"/>
                </a:solidFill>
                <a:latin typeface="Aptos"/>
              </a:rPr>
              <a:t>Apply it in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29384"/>
            <a:ext cx="31912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Read JSON-like documents in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31720"/>
            <a:ext cx="31912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Understand what drivers send to MongoDB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734056"/>
            <a:ext cx="31912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Use Order Management examples to inspect types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526280"/>
            <a:ext cx="10058400" cy="114300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EB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68172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B5046"/>
                </a:solidFill>
                <a:latin typeface="Aptos"/>
              </a:rPr>
              <a:t>Developer mental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645152"/>
            <a:ext cx="72237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5F7FA"/>
                </a:solidFill>
                <a:latin typeface="Aptos"/>
              </a:rPr>
              <a:t>Application object → JSON for exchange/views → driver → BSON → MongoDB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JSON: The Readable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68096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C8D2"/>
                </a:solidFill>
                <a:latin typeface="Aptos"/>
              </a:rPr>
              <a:t>JSON gives developers a simple way to describe structured data using objects, key/value pairs and arrays.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657600" cy="3886200"/>
          </a:xfrm>
          <a:prstGeom prst="roundRect">
            <a:avLst/>
          </a:prstGeom>
          <a:solidFill>
            <a:srgbClr val="0D141C"/>
          </a:solidFill>
          <a:ln w="1524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527048"/>
            <a:ext cx="332841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59114"/>
                </a:solidFill>
                <a:latin typeface="Aptos"/>
              </a:rPr>
              <a:t>What JSON provides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929384"/>
            <a:ext cx="33284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Text-based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33284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Objects use {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734056"/>
            <a:ext cx="33284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Arrays use [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136392"/>
            <a:ext cx="33284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Values can be string, number, boolean, null, object or array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4709160" cy="3886200"/>
          </a:xfrm>
          <a:prstGeom prst="roundRect">
            <a:avLst/>
          </a:prstGeom>
          <a:solidFill>
            <a:srgbClr val="111B26"/>
          </a:solidFill>
          <a:ln w="1524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90472"/>
            <a:ext cx="44165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9114"/>
                </a:solidFill>
                <a:latin typeface="Aptos"/>
              </a:rPr>
              <a:t>Order Management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801368"/>
            <a:ext cx="4416552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5F7FA"/>
                </a:solidFill>
                <a:latin typeface="Consolas"/>
              </a:rPr>
              <a:t>{
  "orderId": "ORD-1001",
  "orderDate": "2026-09-15",
  "status": "CONFIRMED",
  "items": [
    { "productId": "P100", "qty": 2, "price": 499.50 }
  ],
  "shippingAddress": {
    "city": "Chennai",
    "country": "India"
  }
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417320"/>
            <a:ext cx="2286000" cy="388620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1609344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0FF"/>
                </a:solidFill>
                <a:latin typeface="Aptos"/>
              </a:rPr>
              <a:t>Read it outside-in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2912" y="2148840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1. Object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2912" y="2651760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2. Keys +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2912" y="3154680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3. Nested object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2" y="3657600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4. Array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912" y="4160520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5. Scalar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BSON: The MongoDB Data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68096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C8D2"/>
                </a:solidFill>
                <a:latin typeface="Aptos"/>
              </a:rPr>
              <a:t>BSON is MongoDB's binary-encoded document format and includes explicit type information.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703320" cy="3611880"/>
          </a:xfrm>
          <a:prstGeom prst="roundRect">
            <a:avLst/>
          </a:prstGeom>
          <a:solidFill>
            <a:srgbClr val="0D141C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527048"/>
            <a:ext cx="337413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E90FF"/>
                </a:solidFill>
                <a:latin typeface="Aptos"/>
              </a:rPr>
              <a:t>What BSON adds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929384"/>
            <a:ext cx="33741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Binary encoding for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33741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Embedded type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734056"/>
            <a:ext cx="33741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Additional types beyond standard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136392"/>
            <a:ext cx="33741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Designed for efficient encoding and decoding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81328"/>
            <a:ext cx="2423160" cy="82296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55448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9114"/>
                </a:solidFill>
                <a:latin typeface="Aptos"/>
              </a:rPr>
              <a:t>ObjectId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847088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ObjectId(...)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481328"/>
            <a:ext cx="2423160" cy="82296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06056" y="155448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6056" y="1847088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ISODate(...)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532888"/>
            <a:ext cx="2423160" cy="82296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A0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260604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05FF5"/>
                </a:solidFill>
                <a:latin typeface="Aptos"/>
              </a:rPr>
              <a:t>Decimal128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898648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NumberDecimal(...)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2532888"/>
            <a:ext cx="2423160" cy="82296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30B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6056" y="260604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0BCF0"/>
                </a:solidFill>
                <a:latin typeface="Aptos"/>
              </a:rPr>
              <a:t>Binary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056" y="2898648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BinData(...)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584448"/>
            <a:ext cx="2423160" cy="82296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EB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365760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B5046"/>
                </a:solidFill>
                <a:latin typeface="Aptos"/>
              </a:rPr>
              <a:t>Int32 / Int64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3950208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Aptos"/>
              </a:rPr>
              <a:t>NumberInt / NumberLong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1508760"/>
            <a:ext cx="1645920" cy="3337560"/>
          </a:xfrm>
          <a:prstGeom prst="roundRect">
            <a:avLst/>
          </a:prstGeom>
          <a:solidFill>
            <a:srgbClr val="111B26"/>
          </a:solidFill>
          <a:ln w="1905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20" y="1755648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9114"/>
                </a:solidFill>
                <a:latin typeface="Aptos"/>
              </a:rPr>
              <a:t>Think: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1552" y="2212848"/>
            <a:ext cx="123444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JSON
= readable
view
BSON
= typed
representation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The Same Order, Two Representations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68096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C8D2"/>
                </a:solidFill>
                <a:latin typeface="Aptos"/>
              </a:rPr>
              <a:t>The business meaning stays the same; the representation changes depending on where the data is being viewed or transported.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49240" cy="4206240"/>
          </a:xfrm>
          <a:prstGeom prst="roundRect">
            <a:avLst/>
          </a:prstGeom>
          <a:solidFill>
            <a:srgbClr val="111B26"/>
          </a:solidFill>
          <a:ln w="1524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490472"/>
            <a:ext cx="5056631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9114"/>
                </a:solidFill>
                <a:latin typeface="Aptos"/>
              </a:rPr>
              <a:t>JSON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801368"/>
            <a:ext cx="5056631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  <a:latin typeface="Consolas"/>
              </a:rPr>
              <a:t>{
  "orderId": "ORD-1001",
  "orderDate": "2026-09-15",
  "totalAmount": 1001.00,
  "customerId": "CUST-001"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417320"/>
            <a:ext cx="5349240" cy="4206240"/>
          </a:xfrm>
          <a:prstGeom prst="roundRect">
            <a:avLst/>
          </a:prstGeom>
          <a:solidFill>
            <a:srgbClr val="111B26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1656" y="1490472"/>
            <a:ext cx="5056631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BSON-aware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656" y="1801368"/>
            <a:ext cx="5056631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5F7FA"/>
                </a:solidFill>
                <a:latin typeface="Consolas"/>
              </a:rPr>
              <a:t>{
  orderId: "ORD-1001",
  orderDate: ISODate(...),
  totalAmount: NumberDecimal("1001.00"),
  customerId: ObjectId(...)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2743200"/>
            <a:ext cx="3063240" cy="960120"/>
          </a:xfrm>
          <a:prstGeom prst="roundRect">
            <a:avLst/>
          </a:prstGeom>
          <a:solidFill>
            <a:srgbClr val="1C2837"/>
          </a:solidFill>
          <a:ln w="19050">
            <a:solidFill>
              <a:srgbClr val="EB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889504"/>
            <a:ext cx="2651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EB5046"/>
                </a:solidFill>
                <a:latin typeface="Aptos"/>
              </a:rPr>
              <a:t>Same business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18688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Aptos"/>
              </a:rPr>
              <a:t>different representation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Key Differences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68096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C8D2"/>
                </a:solidFill>
                <a:latin typeface="Aptos"/>
              </a:rPr>
              <a:t>Focus on what changes for the developer and what MongoDB gains from BSON.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44168"/>
            <a:ext cx="3657600" cy="502920"/>
          </a:xfrm>
          <a:prstGeom prst="roundRect">
            <a:avLst/>
          </a:prstGeom>
          <a:solidFill>
            <a:srgbClr val="192D41"/>
          </a:solidFill>
          <a:ln w="1905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08176"/>
            <a:ext cx="3337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Aspect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344168"/>
            <a:ext cx="3657600" cy="502920"/>
          </a:xfrm>
          <a:prstGeom prst="roundRect">
            <a:avLst/>
          </a:prstGeom>
          <a:solidFill>
            <a:srgbClr val="192D41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408176"/>
            <a:ext cx="3337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47888" y="1344168"/>
            <a:ext cx="3657600" cy="502920"/>
          </a:xfrm>
          <a:prstGeom prst="roundRect">
            <a:avLst/>
          </a:prstGeom>
          <a:solidFill>
            <a:srgbClr val="192D41"/>
          </a:solidFill>
          <a:ln w="19050">
            <a:solidFill>
              <a:srgbClr val="A0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408176"/>
            <a:ext cx="3337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BSON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3657600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1901952"/>
            <a:ext cx="3657600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47888" y="1901952"/>
            <a:ext cx="3401568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A0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8424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8424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984248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Binary encoding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523744"/>
            <a:ext cx="3657600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07408" y="2523744"/>
            <a:ext cx="3657600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8" y="2523744"/>
            <a:ext cx="3401568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A0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06040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606040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Standard JSON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06040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Richer typed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145536"/>
            <a:ext cx="3657600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07408" y="3145536"/>
            <a:ext cx="3657600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47888" y="3145536"/>
            <a:ext cx="3401568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A0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227832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227832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Usually represented as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227832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Native date type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767328"/>
            <a:ext cx="3657600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07408" y="3767328"/>
            <a:ext cx="3657600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47888" y="3767328"/>
            <a:ext cx="3401568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A0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849624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Identifiers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849624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Usually strings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849624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ObjectId can preserve type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389120"/>
            <a:ext cx="3657600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07408" y="4389120"/>
            <a:ext cx="3657600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47888" y="4389120"/>
            <a:ext cx="3401568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A0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71416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Numbers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4471416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Single JSON number category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471416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Multiple numeric BSON types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010912"/>
            <a:ext cx="3657600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407408" y="5010912"/>
            <a:ext cx="3657600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47888" y="5010912"/>
            <a:ext cx="3401568" cy="502920"/>
          </a:xfrm>
          <a:prstGeom prst="roundRect">
            <a:avLst/>
          </a:prstGeom>
          <a:solidFill>
            <a:srgbClr val="0D141C"/>
          </a:solidFill>
          <a:ln w="10160">
            <a:solidFill>
              <a:srgbClr val="A0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09320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Binary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509320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No native binary type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5093208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Binary BSON 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BSON Is More Than “Binary JSON”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68096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C8D2"/>
                </a:solidFill>
                <a:latin typeface="Aptos"/>
              </a:rPr>
              <a:t>The name is useful as a starting point, but BSON is its own encoded representation with type tags and database-oriented data types.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379476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2880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9114"/>
                </a:solidFill>
                <a:latin typeface="Aptos"/>
              </a:rPr>
              <a:t>Not just smaller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Own binary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43784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Explicit type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47288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Additional BSON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50791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• Built for document traversal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240280"/>
            <a:ext cx="1417320" cy="91440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23744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JSON 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" y="2"/>
            <a:ext cx="0" cy="0"/>
          </a:xfrm>
          <a:prstGeom prst="rect">
            <a:avLst/>
          </a:prstGeom>
          <a:ln w="2540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2240280"/>
            <a:ext cx="1417320" cy="91440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523744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Driver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" y="2"/>
            <a:ext cx="0" cy="0"/>
          </a:xfrm>
          <a:prstGeom prst="rect">
            <a:avLst/>
          </a:prstGeom>
          <a:ln w="2540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09560" y="2240280"/>
            <a:ext cx="1417320" cy="91440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A0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523744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BSON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" y="2"/>
            <a:ext cx="0" cy="0"/>
          </a:xfrm>
          <a:prstGeom prst="rect">
            <a:avLst/>
          </a:prstGeom>
          <a:ln w="2540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0" y="2240280"/>
            <a:ext cx="1417320" cy="91440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30B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2523744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MongoDB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657600"/>
            <a:ext cx="6446520" cy="1371600"/>
          </a:xfrm>
          <a:prstGeom prst="roundRect">
            <a:avLst/>
          </a:prstGeom>
          <a:solidFill>
            <a:srgbClr val="111B26"/>
          </a:solidFill>
          <a:ln w="19050">
            <a:solidFill>
              <a:srgbClr val="EB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822191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B5046"/>
                </a:solidFill>
                <a:latin typeface="Aptos"/>
              </a:rPr>
              <a:t>Key idea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785615"/>
            <a:ext cx="4983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Developers often read JSON-like syntax, while MongoDB works with BSON internally.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Where JSON and BSON Fit in an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68096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C8D2"/>
                </a:solidFill>
                <a:latin typeface="Aptos"/>
              </a:rPr>
              <a:t>The distinction becomes clearer when you follow data from application code to the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2240280" cy="169164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2148840"/>
            <a:ext cx="2011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615184"/>
            <a:ext cx="1965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Aptos"/>
              </a:rPr>
              <a:t>Object /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" y="2"/>
            <a:ext cx="0" cy="0"/>
          </a:xfrm>
          <a:prstGeom prst="rect">
            <a:avLst/>
          </a:prstGeom>
          <a:ln w="3810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1874519"/>
            <a:ext cx="2240280" cy="169164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2148840"/>
            <a:ext cx="2011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API /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615184"/>
            <a:ext cx="1965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Aptos"/>
              </a:rPr>
              <a:t>JSON payload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" y="2"/>
            <a:ext cx="0" cy="0"/>
          </a:xfrm>
          <a:prstGeom prst="rect">
            <a:avLst/>
          </a:prstGeom>
          <a:ln w="3810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91072" y="1874519"/>
            <a:ext cx="2240280" cy="169164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A0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2011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Driver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615184"/>
            <a:ext cx="1965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Aptos"/>
              </a:rPr>
              <a:t>Serialize / encode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" y="2"/>
            <a:ext cx="0" cy="0"/>
          </a:xfrm>
          <a:prstGeom prst="rect">
            <a:avLst/>
          </a:prstGeom>
          <a:ln w="3810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07424" y="1874519"/>
            <a:ext cx="2240280" cy="1691640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30B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2148840"/>
            <a:ext cx="2011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MongoDB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4584" y="2615184"/>
            <a:ext cx="1965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Aptos"/>
              </a:rPr>
              <a:t>BSON document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114800"/>
            <a:ext cx="8549640" cy="1143000"/>
          </a:xfrm>
          <a:prstGeom prst="roundRect">
            <a:avLst/>
          </a:prstGeom>
          <a:solidFill>
            <a:srgbClr val="111B26"/>
          </a:solidFill>
          <a:ln w="1905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4297680"/>
            <a:ext cx="1554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9114"/>
                </a:solidFill>
                <a:latin typeface="Aptos"/>
              </a:rPr>
              <a:t>Practical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187952"/>
            <a:ext cx="63550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Use JSON when readability and interchange matter; understand BSON when type fidelity and MongoDB behavior matter.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Order Management: Why the Difference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68096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C8D2"/>
                </a:solidFill>
                <a:latin typeface="Aptos"/>
              </a:rPr>
              <a:t>Use one business object to connect JSON readability with BSON type fidelity.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749039" cy="3611880"/>
          </a:xfrm>
          <a:prstGeom prst="roundRect">
            <a:avLst/>
          </a:prstGeom>
          <a:solidFill>
            <a:srgbClr val="111B26"/>
          </a:solidFill>
          <a:ln w="1524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490472"/>
            <a:ext cx="34564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9114"/>
                </a:solidFill>
                <a:latin typeface="Aptos"/>
              </a:rPr>
              <a:t>Business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01368"/>
            <a:ext cx="3456432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7FA"/>
                </a:solidFill>
                <a:latin typeface="Consolas"/>
              </a:rPr>
              <a:t>{
  orderId: "ORD-1001",
  orderDate: "2026-09-15",
  totalAmount: 1001.00,
  customerId: "CUST-001",
  notes: null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417320"/>
            <a:ext cx="3749039" cy="3611880"/>
          </a:xfrm>
          <a:prstGeom prst="roundRect">
            <a:avLst/>
          </a:prstGeom>
          <a:solidFill>
            <a:srgbClr val="111B26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4024" y="1490472"/>
            <a:ext cx="34564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E90FF"/>
                </a:solidFill>
                <a:latin typeface="Aptos"/>
              </a:rPr>
              <a:t>MongoDB-aware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4024" y="1801368"/>
            <a:ext cx="3456432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7FA"/>
                </a:solidFill>
                <a:latin typeface="Consolas"/>
              </a:rPr>
              <a:t>{
  orderId: "ORD-1001",
  orderDate: ISODate(...),
  totalAmount: NumberDecimal("1001.00"),
  customerId: ObjectId(...),
  notes: null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417320"/>
            <a:ext cx="2743200" cy="3611880"/>
          </a:xfrm>
          <a:prstGeom prst="roundRect">
            <a:avLst/>
          </a:prstGeom>
          <a:solidFill>
            <a:srgbClr val="0D141C"/>
          </a:solidFill>
          <a:ln w="15240">
            <a:solidFill>
              <a:srgbClr val="A0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9952" y="1527048"/>
            <a:ext cx="241401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A05FF5"/>
                </a:solidFill>
                <a:latin typeface="Aptos"/>
              </a:rPr>
              <a:t>What changed?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1929384"/>
            <a:ext cx="24140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Date has a real BSON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2331720"/>
            <a:ext cx="24140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Money can use Decimal128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2734056"/>
            <a:ext cx="24140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Identifier can use ObjectId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3136392"/>
            <a:ext cx="24140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Null stays explicitly represented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Developer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68096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C8D2"/>
                </a:solidFill>
                <a:latin typeface="Aptos"/>
              </a:rPr>
              <a:t>When a MongoDB document crosses application boundaries, ask what representation and types you actually need.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148840" cy="566928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27048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9114"/>
                </a:solidFill>
                <a:latin typeface="Aptos"/>
              </a:rPr>
              <a:t>Readability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472184"/>
            <a:ext cx="79552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Can a developer understand the payload quickly?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21992"/>
            <a:ext cx="2148840" cy="566928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9114"/>
                </a:solidFill>
                <a:latin typeface="Aptos"/>
              </a:rPr>
              <a:t>Type fidelity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276856"/>
            <a:ext cx="79552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Do dates, identifiers, numbers or binary values need native BSON types?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26664"/>
            <a:ext cx="2148840" cy="566928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36392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9114"/>
                </a:solidFill>
                <a:latin typeface="Aptos"/>
              </a:rPr>
              <a:t>Exchange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081528"/>
            <a:ext cx="79552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Will this data be sent over an API or message boundary as JSON?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31336"/>
            <a:ext cx="2148840" cy="566928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41064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9114"/>
                </a:solidFill>
                <a:latin typeface="Aptos"/>
              </a:rPr>
              <a:t>Inspection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886200"/>
            <a:ext cx="79552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Can you inspect the stored type rather than guessing?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36008"/>
            <a:ext cx="2148840" cy="566928"/>
          </a:xfrm>
          <a:prstGeom prst="roundRect">
            <a:avLst/>
          </a:prstGeom>
          <a:solidFill>
            <a:srgbClr val="0D141C"/>
          </a:solidFill>
          <a:ln w="1905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45736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9114"/>
                </a:solidFill>
                <a:latin typeface="Aptos"/>
              </a:rPr>
              <a:t>Consistency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690872"/>
            <a:ext cx="79552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Are application and database type expectations aligned?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8840" y="5513832"/>
            <a:ext cx="7863840" cy="502920"/>
          </a:xfrm>
          <a:prstGeom prst="roundRect">
            <a:avLst/>
          </a:prstGeom>
          <a:solidFill>
            <a:srgbClr val="192532"/>
          </a:solidFill>
          <a:ln w="19050">
            <a:solidFill>
              <a:srgbClr val="EB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5596128"/>
            <a:ext cx="749807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The goal is not to pick a “winner” — it is to understand the role of each representation.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de_infographic_style_slide_cheat_sheet_on_a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0" y="5989320"/>
            <a:ext cx="3246120" cy="502920"/>
          </a:xfrm>
          <a:prstGeom prst="roundRect">
            <a:avLst/>
          </a:prstGeom>
          <a:solidFill>
            <a:srgbClr val="080B0F"/>
          </a:solidFill>
          <a:ln w="12700">
            <a:solidFill>
              <a:srgbClr val="F5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21040" y="6080760"/>
            <a:ext cx="3063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9114"/>
                </a:solidFill>
                <a:latin typeface="Aptos"/>
              </a:rPr>
              <a:t>Key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