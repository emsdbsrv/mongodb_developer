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1BEA9A"/>
          </a:solidFill>
          <a:ln w="12700">
            <a:solidFill>
              <a:srgbClr val="1BE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Developer Learning Path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5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 023 — JSON vs BSON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D8DEDB"/>
                </a:solidFill>
              </a:rPr>
              <a:t>Readable application data meets MongoDB’s typed document format.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594360" y="205740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8DEDB"/>
                </a:solidFill>
              </a:rPr>
              <a:t>JSON is how data is represented for people and applications.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8DEDB"/>
                </a:solidFill>
              </a:rPr>
              <a:t>BSON is how MongoDB encodes documents with richer types.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342900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1BEA9A"/>
          </a:solidFill>
          <a:ln w="12700">
            <a:solidFill>
              <a:srgbClr val="1BEA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3497580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</a:rPr>
              <a:t>JSON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91640" y="342900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1D6E55"/>
          </a:solidFill>
          <a:ln w="12700">
            <a:solidFill>
              <a:srgbClr val="1D6E5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64792" y="3497580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7F6"/>
                </a:solidFill>
              </a:rPr>
              <a:t>BSON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3913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9893"/>
                </a:solidFill>
              </a:rPr>
              <a:t>Think: same document, different representation.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640080"/>
            <a:ext cx="5806440" cy="5440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5074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BEA9A"/>
                </a:solidFill>
              </a:rPr>
              <a:t>CORE IDEA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535838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6"/>
                </a:solidFill>
              </a:rPr>
              <a:t>JSON ≠ BSON — they solve different representation problems in the same document flow.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and BSON are related — not identical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98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can work with JSON-like data while MongoDB stores BSON.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880360" cy="3566160"/>
          </a:xfrm>
          <a:prstGeom prst="roundRect">
            <a:avLst>
              <a:gd name="adj" fmla="val 2540"/>
            </a:avLst>
          </a:prstGeom>
          <a:solidFill>
            <a:srgbClr val="0C1210"/>
          </a:solidFill>
          <a:ln w="12700">
            <a:solidFill>
              <a:srgbClr val="28453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01  APPLICATION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2331720" cy="1965960"/>
          </a:xfrm>
          <a:prstGeom prst="roundRect">
            <a:avLst>
              <a:gd name="adj" fmla="val 3721"/>
            </a:avLst>
          </a:prstGeom>
          <a:solidFill>
            <a:srgbClr val="0A0D0D"/>
          </a:solidFill>
          <a:ln w="12700">
            <a:solidFill>
              <a:srgbClr val="1C25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185416"/>
            <a:ext cx="2002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name: "Laptop",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price: 129.99,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active: 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297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DEDB"/>
                </a:solidFill>
              </a:rPr>
              <a:t>Developer-friendly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8DEDB"/>
                </a:solidFill>
              </a:rPr>
              <a:t>text representation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2880360" cy="3566160"/>
          </a:xfrm>
          <a:prstGeom prst="roundRect">
            <a:avLst>
              <a:gd name="adj" fmla="val 2540"/>
            </a:avLst>
          </a:prstGeom>
          <a:solidFill>
            <a:srgbClr val="0D1015"/>
          </a:solidFill>
          <a:ln w="12700">
            <a:solidFill>
              <a:srgbClr val="2C394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02  DRIVER / MONGOSH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10912" y="2212848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6BA8FF"/>
          </a:solidFill>
          <a:ln w="12700">
            <a:solidFill>
              <a:srgbClr val="6BA8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4064" y="228142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</a:rPr>
              <a:t>ENCODE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0" y="2807208"/>
            <a:ext cx="960120" cy="0"/>
          </a:xfrm>
          <a:prstGeom prst="line">
            <a:avLst/>
          </a:prstGeom>
          <a:noFill/>
          <a:ln w="27940">
            <a:solidFill>
              <a:srgbClr val="6BA8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92240" y="2212848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6BA8FF"/>
          </a:solidFill>
          <a:ln w="12700">
            <a:solidFill>
              <a:srgbClr val="6BA8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228142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</a:rPr>
              <a:t>DECODE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30632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DEDB"/>
                </a:solidFill>
              </a:rPr>
              <a:t>Moves values between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8DEDB"/>
                </a:solidFill>
              </a:rPr>
              <a:t>application types and BSON.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732520" y="1417320"/>
            <a:ext cx="2880360" cy="3566160"/>
          </a:xfrm>
          <a:prstGeom prst="roundRect">
            <a:avLst>
              <a:gd name="adj" fmla="val 2540"/>
            </a:avLst>
          </a:prstGeom>
          <a:solidFill>
            <a:srgbClr val="0E0F14"/>
          </a:solidFill>
          <a:ln w="12700">
            <a:solidFill>
              <a:srgbClr val="41365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06840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03  MONGODB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0" y="2231136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B98CFF"/>
          </a:solidFill>
          <a:ln w="12700">
            <a:solidFill>
              <a:srgbClr val="B98C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7152" y="229971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</a:rPr>
              <a:t>BSON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5256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6"/>
                </a:solidFill>
              </a:rPr>
              <a:t>Binary + typed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5F7F6"/>
                </a:solidFill>
              </a:rPr>
              <a:t>document encoding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006840" y="404164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82D23"/>
          </a:solidFill>
          <a:ln w="12700">
            <a:solidFill>
              <a:srgbClr val="182D2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0848" y="4105656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EA9A"/>
                </a:solidFill>
              </a:rPr>
              <a:t>ObjectId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012680" y="4041648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17263A"/>
          </a:solidFill>
          <a:ln w="12700">
            <a:solidFill>
              <a:srgbClr val="17263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76688" y="4105656"/>
            <a:ext cx="557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EA9A"/>
                </a:solidFill>
              </a:rPr>
              <a:t>Date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808208" y="4041648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28233D"/>
          </a:solidFill>
          <a:ln w="12700">
            <a:solidFill>
              <a:srgbClr val="28233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72216" y="4105656"/>
            <a:ext cx="7406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EA9A"/>
                </a:solidFill>
              </a:rPr>
              <a:t>Decimal128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66160" y="2926080"/>
            <a:ext cx="1005840" cy="0"/>
          </a:xfrm>
          <a:prstGeom prst="line">
            <a:avLst/>
          </a:prstGeom>
          <a:noFill/>
          <a:ln w="27940">
            <a:solidFill>
              <a:srgbClr val="1BEA9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635240" y="2926080"/>
            <a:ext cx="1005840" cy="0"/>
          </a:xfrm>
          <a:prstGeom prst="line">
            <a:avLst/>
          </a:prstGeom>
          <a:noFill/>
          <a:ln w="27940">
            <a:solidFill>
              <a:srgbClr val="1BEA9A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051560" y="5532120"/>
            <a:ext cx="9921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893"/>
                </a:solidFill>
              </a:rPr>
              <a:t>The mental model: you design documents; the driver handles representation changes.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is a human-readable text format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98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easy to inspect, log, transmit, and explain.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4800600" cy="4389120"/>
          </a:xfrm>
          <a:prstGeom prst="roundRect">
            <a:avLst>
              <a:gd name="adj" fmla="val 1667"/>
            </a:avLst>
          </a:prstGeom>
          <a:solidFill>
            <a:srgbClr val="0A0D0D"/>
          </a:solidFill>
          <a:ln w="12700">
            <a:solidFill>
              <a:srgbClr val="1C25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45336"/>
            <a:ext cx="4471416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"name": "Laptop",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"quantity": 2,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"inStock": true,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"tags": ["tech", "work"]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06440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COMMON JSON VALUE TYPES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06440" y="1920240"/>
            <a:ext cx="2514600" cy="768096"/>
          </a:xfrm>
          <a:prstGeom prst="roundRect">
            <a:avLst>
              <a:gd name="adj" fmla="val 9524"/>
            </a:avLst>
          </a:prstGeom>
          <a:solidFill>
            <a:srgbClr val="0D1110"/>
          </a:solidFill>
          <a:ln w="12700">
            <a:solidFill>
              <a:srgbClr val="2632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71032" y="204825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</a:rPr>
              <a:t>String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85432" y="20482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EA9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"Laptop"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95360" y="1920240"/>
            <a:ext cx="2514600" cy="768096"/>
          </a:xfrm>
          <a:prstGeom prst="roundRect">
            <a:avLst>
              <a:gd name="adj" fmla="val 9524"/>
            </a:avLst>
          </a:prstGeom>
          <a:solidFill>
            <a:srgbClr val="0D1110"/>
          </a:solidFill>
          <a:ln w="12700">
            <a:solidFill>
              <a:srgbClr val="2632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59952" y="204825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</a:rPr>
              <a:t>Number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74352" y="20482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EA9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129.99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2907792"/>
            <a:ext cx="2514600" cy="768096"/>
          </a:xfrm>
          <a:prstGeom prst="roundRect">
            <a:avLst>
              <a:gd name="adj" fmla="val 9524"/>
            </a:avLst>
          </a:prstGeom>
          <a:solidFill>
            <a:srgbClr val="0D1110"/>
          </a:solidFill>
          <a:ln w="12700">
            <a:solidFill>
              <a:srgbClr val="2632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1032" y="303580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</a:rPr>
              <a:t>Boolean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85432" y="30358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EA9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95360" y="2907792"/>
            <a:ext cx="2514600" cy="768096"/>
          </a:xfrm>
          <a:prstGeom prst="roundRect">
            <a:avLst>
              <a:gd name="adj" fmla="val 9524"/>
            </a:avLst>
          </a:prstGeom>
          <a:solidFill>
            <a:srgbClr val="0D1110"/>
          </a:solidFill>
          <a:ln w="12700">
            <a:solidFill>
              <a:srgbClr val="2632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59952" y="303580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</a:rPr>
              <a:t>Null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74352" y="30358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EA9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null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06440" y="3895344"/>
            <a:ext cx="2514600" cy="768096"/>
          </a:xfrm>
          <a:prstGeom prst="roundRect">
            <a:avLst>
              <a:gd name="adj" fmla="val 9524"/>
            </a:avLst>
          </a:prstGeom>
          <a:solidFill>
            <a:srgbClr val="0D1110"/>
          </a:solidFill>
          <a:ln w="12700">
            <a:solidFill>
              <a:srgbClr val="2632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71032" y="40233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</a:rPr>
              <a:t>Object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85432" y="40233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EA9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 … }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95360" y="3895344"/>
            <a:ext cx="2514600" cy="768096"/>
          </a:xfrm>
          <a:prstGeom prst="roundRect">
            <a:avLst>
              <a:gd name="adj" fmla="val 9524"/>
            </a:avLst>
          </a:prstGeom>
          <a:solidFill>
            <a:srgbClr val="0D1110"/>
          </a:solidFill>
          <a:ln w="12700">
            <a:solidFill>
              <a:srgbClr val="2632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9952" y="40233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</a:rPr>
              <a:t>Array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74352" y="40233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EA9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 … 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06440" y="5074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D8DEDB"/>
                </a:solidFill>
              </a:rPr>
              <a:t>What JSON does not fully preserve is MongoDB-specific type information such as ObjectId, Date, Decimal128, or explicit integer widths.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BSON is binary — and strongly typed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98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uses BSON to encode documents with richer value types.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0B110F"/>
          </a:solidFill>
          <a:ln w="12700">
            <a:solidFill>
              <a:srgbClr val="244B3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00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BINARY REPRESENTATION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2176272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1BEA9A"/>
          </a:solidFill>
          <a:ln w="12700">
            <a:solidFill>
              <a:srgbClr val="1BEA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263140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</a:rPr>
              <a:t>ObjectId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59152" y="22585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DEDB"/>
                </a:solidFill>
              </a:rPr>
              <a:t>unique identifier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798064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6BA8FF"/>
          </a:solidFill>
          <a:ln w="12700">
            <a:solidFill>
              <a:srgbClr val="6BA8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88493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</a:rPr>
              <a:t>Date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59152" y="28803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DEDB"/>
                </a:solidFill>
              </a:rPr>
              <a:t>time value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419856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F2C94C"/>
          </a:solidFill>
          <a:ln w="12700">
            <a:solidFill>
              <a:srgbClr val="F2C94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50672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</a:rPr>
              <a:t>Int32 / Int64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59152" y="35021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DEDB"/>
                </a:solidFill>
              </a:rPr>
              <a:t>explicit integer width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041648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B98CFF"/>
          </a:solidFill>
          <a:ln w="12700">
            <a:solidFill>
              <a:srgbClr val="B98C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128516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</a:rPr>
              <a:t>Decimal128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59152" y="41239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DEDB"/>
                </a:solidFill>
              </a:rPr>
              <a:t>exact decimal value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663440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FF7A90"/>
          </a:solidFill>
          <a:ln w="12700">
            <a:solidFill>
              <a:srgbClr val="FF7A9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7503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505"/>
                </a:solidFill>
              </a:rPr>
              <a:t>Binary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59152" y="47457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8DEDB"/>
                </a:solidFill>
              </a:rPr>
              <a:t>binary payload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17720" y="1417320"/>
            <a:ext cx="6903720" cy="4343400"/>
          </a:xfrm>
          <a:prstGeom prst="roundRect">
            <a:avLst>
              <a:gd name="adj" fmla="val 1684"/>
            </a:avLst>
          </a:prstGeom>
          <a:solidFill>
            <a:srgbClr val="0D0F0F"/>
          </a:solidFill>
          <a:ln w="12700">
            <a:solidFill>
              <a:srgbClr val="222A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7007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WHY DEVELOPERS NOTICE 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2350008"/>
            <a:ext cx="73152" cy="73152"/>
          </a:xfrm>
          <a:prstGeom prst="ellipse">
            <a:avLst/>
          </a:prstGeom>
          <a:solidFill>
            <a:srgbClr val="1BEA9A"/>
          </a:solidFill>
          <a:ln w="12700">
            <a:solidFill>
              <a:srgbClr val="1BEA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240280"/>
            <a:ext cx="5961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DEDB"/>
                </a:solidFill>
              </a:rPr>
              <a:t>A date can stay a date instead of becoming plain text.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937760" y="3008376"/>
            <a:ext cx="73152" cy="73152"/>
          </a:xfrm>
          <a:prstGeom prst="ellipse">
            <a:avLst/>
          </a:prstGeom>
          <a:solidFill>
            <a:srgbClr val="1BEA9A"/>
          </a:solidFill>
          <a:ln w="12700">
            <a:solidFill>
              <a:srgbClr val="1BEA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898648"/>
            <a:ext cx="5961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DEDB"/>
                </a:solidFill>
              </a:rPr>
              <a:t>An identifier can stay an ObjectId instead of a string.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937760" y="3666744"/>
            <a:ext cx="73152" cy="73152"/>
          </a:xfrm>
          <a:prstGeom prst="ellipse">
            <a:avLst/>
          </a:prstGeom>
          <a:solidFill>
            <a:srgbClr val="1BEA9A"/>
          </a:solidFill>
          <a:ln w="12700">
            <a:solidFill>
              <a:srgbClr val="1BEA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3557016"/>
            <a:ext cx="5961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DEDB"/>
                </a:solidFill>
              </a:rPr>
              <a:t>Decimal128 can preserve decimal semantics for values that need it.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937760" y="4325112"/>
            <a:ext cx="73152" cy="73152"/>
          </a:xfrm>
          <a:prstGeom prst="ellipse">
            <a:avLst/>
          </a:prstGeom>
          <a:solidFill>
            <a:srgbClr val="1BEA9A"/>
          </a:solidFill>
          <a:ln w="12700">
            <a:solidFill>
              <a:srgbClr val="1BEA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4215384"/>
            <a:ext cx="5961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DEDB"/>
                </a:solidFill>
              </a:rPr>
              <a:t>Integer width can be explicit when numeric type matters.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937760" y="5074920"/>
            <a:ext cx="6080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8D9893"/>
                </a:solidFill>
              </a:rPr>
              <a:t>BSON is not “better JSON.” It is a different encoding with a richer MongoDB type system.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type system changes how values behave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98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document may look JSON-like while the stored types are more specific.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0B0E0E"/>
          </a:solidFill>
          <a:ln w="12700">
            <a:solidFill>
              <a:srgbClr val="25302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JSON-LIKE INPUT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2029968"/>
            <a:ext cx="4526280" cy="2743200"/>
          </a:xfrm>
          <a:prstGeom prst="roundRect">
            <a:avLst>
              <a:gd name="adj" fmla="val 2667"/>
            </a:avLst>
          </a:prstGeom>
          <a:solidFill>
            <a:srgbClr val="0A0D0D"/>
          </a:solidFill>
          <a:ln w="12700">
            <a:solidFill>
              <a:srgbClr val="1C25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157984"/>
            <a:ext cx="41970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"_id": "64f…",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"price": 129.99,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"createdAt": "2026-09-25T10:00Z",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"quantity": 5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6080760" y="141732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0D0F14"/>
          </a:solidFill>
          <a:ln w="12700">
            <a:solidFill>
              <a:srgbClr val="322C4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MONGODB TYPES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55080" y="21488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"64f…"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258568"/>
            <a:ext cx="411480" cy="0"/>
          </a:xfrm>
          <a:prstGeom prst="line">
            <a:avLst/>
          </a:prstGeom>
          <a:noFill/>
          <a:ln w="21590">
            <a:solidFill>
              <a:srgbClr val="1BEA9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30768" y="2130552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BEA9A"/>
          </a:solidFill>
          <a:ln w="12700">
            <a:solidFill>
              <a:srgbClr val="1BEA9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2199132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</a:rPr>
              <a:t>ObjectId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75520" y="21488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893"/>
                </a:solidFill>
              </a:rPr>
              <a:t>identity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89864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129.99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3008376"/>
            <a:ext cx="411480" cy="0"/>
          </a:xfrm>
          <a:prstGeom prst="line">
            <a:avLst/>
          </a:prstGeom>
          <a:noFill/>
          <a:ln w="21590">
            <a:solidFill>
              <a:srgbClr val="1BEA9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30768" y="288036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B98CFF"/>
          </a:solidFill>
          <a:ln w="12700">
            <a:solidFill>
              <a:srgbClr val="B98C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948940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</a:rPr>
              <a:t>Decimal128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875520" y="28986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893"/>
                </a:solidFill>
              </a:rPr>
              <a:t>decimal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364845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ISO timestamp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55280" y="3758184"/>
            <a:ext cx="411480" cy="0"/>
          </a:xfrm>
          <a:prstGeom prst="line">
            <a:avLst/>
          </a:prstGeom>
          <a:noFill/>
          <a:ln w="21590">
            <a:solidFill>
              <a:srgbClr val="1BEA9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30768" y="3630168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6BA8FF"/>
          </a:solidFill>
          <a:ln w="12700">
            <a:solidFill>
              <a:srgbClr val="6BA8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3698748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</a:rPr>
              <a:t>Date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75520" y="36484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893"/>
                </a:solidFill>
              </a:rPr>
              <a:t>time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43982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55280" y="4507992"/>
            <a:ext cx="411480" cy="0"/>
          </a:xfrm>
          <a:prstGeom prst="line">
            <a:avLst/>
          </a:prstGeom>
          <a:noFill/>
          <a:ln w="21590">
            <a:solidFill>
              <a:srgbClr val="1BEA9A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430768" y="4379976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F2C94C"/>
          </a:solidFill>
          <a:ln w="12700">
            <a:solidFill>
              <a:srgbClr val="F2C94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4448556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</a:rPr>
              <a:t>Int32 / Int64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875520" y="439826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893"/>
                </a:solidFill>
              </a:rPr>
              <a:t>integer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528523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5F7F6"/>
                </a:solidFill>
              </a:rPr>
              <a:t>Choose the representation that preserves the meaning you need.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write vs. what MongoDB stores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98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driver or shell sits between the application view and BSON representation.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0E1210"/>
          </a:solidFill>
          <a:ln w="12700">
            <a:solidFill>
              <a:srgbClr val="24483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APPLICATION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1BEA9A"/>
          </a:solidFill>
          <a:ln w="12700">
            <a:solidFill>
              <a:srgbClr val="1BEA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583180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</a:rPr>
              <a:t>JSON-LIKE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0906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7F6"/>
                </a:solidFill>
              </a:rPr>
              <a:t>JavaScript / Java / Python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0A0D0D"/>
          </a:solidFill>
          <a:ln w="12700">
            <a:solidFill>
              <a:srgbClr val="1C25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922776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 name: "Laptop",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price: 129.99 }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0E1214"/>
          </a:solidFill>
          <a:ln w="12700">
            <a:solidFill>
              <a:srgbClr val="2D3F4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65192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ENCODING LAYER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65192" y="251460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6BA8FF"/>
          </a:solidFill>
          <a:ln w="12700">
            <a:solidFill>
              <a:srgbClr val="6BA8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2583180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</a:rPr>
              <a:t>CONVERSION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65192" y="30906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7F6"/>
                </a:solidFill>
              </a:rPr>
              <a:t>Driver / mongosh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78424" y="3749040"/>
            <a:ext cx="786384" cy="786384"/>
          </a:xfrm>
          <a:prstGeom prst="ellipse">
            <a:avLst/>
          </a:prstGeom>
          <a:solidFill>
            <a:srgbClr val="162B3A"/>
          </a:solidFill>
          <a:ln w="19050">
            <a:solidFill>
              <a:srgbClr val="6BA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97296" y="3922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BA8FF"/>
                </a:solidFill>
              </a:rPr>
              <a:t>↕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8851392" y="182880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100E14"/>
          </a:solidFill>
          <a:ln w="12700">
            <a:solidFill>
              <a:srgbClr val="3B315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07424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B98CFF"/>
                </a:solidFill>
              </a:rPr>
              <a:t>MONGODB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07424" y="251460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B98CFF"/>
          </a:solidFill>
          <a:ln w="12700">
            <a:solidFill>
              <a:srgbClr val="B98C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2583180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0505"/>
                </a:solidFill>
              </a:rPr>
              <a:t>TYPED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07424" y="30906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7F6"/>
                </a:solidFill>
              </a:rPr>
              <a:t>BSON document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107424" y="3767328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73123"/>
          </a:solidFill>
          <a:ln w="12700">
            <a:solidFill>
              <a:srgbClr val="17312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1432" y="3831336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EA9A"/>
                </a:solidFill>
              </a:rPr>
              <a:t>ObjectId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131552" y="3767328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5273A"/>
          </a:solidFill>
          <a:ln w="12700">
            <a:solidFill>
              <a:srgbClr val="15273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95560" y="3831336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EA9A"/>
                </a:solidFill>
              </a:rPr>
              <a:t>Date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881360" y="3767328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29223E"/>
          </a:solidFill>
          <a:ln w="12700">
            <a:solidFill>
              <a:srgbClr val="29223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45368" y="3831336"/>
            <a:ext cx="832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EA9A"/>
                </a:solidFill>
              </a:rPr>
              <a:t>Decimal128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3429000"/>
            <a:ext cx="1188720" cy="0"/>
          </a:xfrm>
          <a:prstGeom prst="line">
            <a:avLst/>
          </a:prstGeom>
          <a:noFill/>
          <a:ln w="30480">
            <a:solidFill>
              <a:srgbClr val="1BEA9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543800" y="3429000"/>
            <a:ext cx="1170432" cy="0"/>
          </a:xfrm>
          <a:prstGeom prst="line">
            <a:avLst/>
          </a:prstGeom>
          <a:noFill/>
          <a:ln w="30480">
            <a:solidFill>
              <a:srgbClr val="1BEA9A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051560" y="5532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8D9893"/>
                </a:solidFill>
              </a:rPr>
              <a:t>You do not manually convert every BSON byte. The driver handles the encoding/decoding path.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MongoDB uses BSON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98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format combines document structure with explicit, MongoDB-friendly types.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0D0F0F"/>
          </a:solidFill>
          <a:ln w="12700">
            <a:solidFill>
              <a:srgbClr val="28302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65960"/>
            <a:ext cx="621792" cy="621792"/>
          </a:xfrm>
          <a:prstGeom prst="ellipse">
            <a:avLst/>
          </a:prstGeom>
          <a:solidFill>
            <a:srgbClr val="1BEA9A"/>
          </a:solidFill>
          <a:ln w="12700">
            <a:solidFill>
              <a:srgbClr val="1BEA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1226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505"/>
                </a:solidFill>
              </a:rPr>
              <a:t>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64208" y="20482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F5F7F6"/>
                </a:solidFill>
              </a:rPr>
              <a:t>TYPE FIDELITY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DEDB"/>
                </a:solidFill>
              </a:rPr>
              <a:t>Preserves types such as Date, ObjectId, Decimal128, and integer widths.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4599432"/>
            <a:ext cx="2514600" cy="0"/>
          </a:xfrm>
          <a:prstGeom prst="line">
            <a:avLst/>
          </a:prstGeom>
          <a:noFill/>
          <a:ln w="30480">
            <a:solidFill>
              <a:srgbClr val="1BE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64592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0D0F0F"/>
          </a:solidFill>
          <a:ln w="12700">
            <a:solidFill>
              <a:srgbClr val="28302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1965960"/>
            <a:ext cx="621792" cy="621792"/>
          </a:xfrm>
          <a:prstGeom prst="ellipse">
            <a:avLst/>
          </a:prstGeom>
          <a:solidFill>
            <a:srgbClr val="6BA8FF"/>
          </a:solidFill>
          <a:ln w="12700">
            <a:solidFill>
              <a:srgbClr val="6BA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211226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505"/>
                </a:solidFill>
              </a:rPr>
              <a:t>↔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84648" y="20482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F5F7F6"/>
                </a:solidFill>
              </a:rPr>
              <a:t>EFFICIENT ENCODING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2880360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DEDB"/>
                </a:solidFill>
              </a:rPr>
              <a:t>Binary encoding is designed for machine processing rather than human editing.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434840" y="4599432"/>
            <a:ext cx="2514600" cy="0"/>
          </a:xfrm>
          <a:prstGeom prst="line">
            <a:avLst/>
          </a:prstGeom>
          <a:noFill/>
          <a:ln w="30480">
            <a:solidFill>
              <a:srgbClr val="6BA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164592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0D0F0F"/>
          </a:solidFill>
          <a:ln w="12700">
            <a:solidFill>
              <a:srgbClr val="28302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36992" y="1965960"/>
            <a:ext cx="621792" cy="621792"/>
          </a:xfrm>
          <a:prstGeom prst="ellipse">
            <a:avLst/>
          </a:prstGeom>
          <a:solidFill>
            <a:srgbClr val="B98CFF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6992" y="211226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505"/>
                </a:solidFill>
              </a:rPr>
              <a:t>01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705088" y="20482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F5F7F6"/>
                </a:solidFill>
              </a:rPr>
              <a:t>BINARY-SAFE DATA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55280" y="2880360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DEDB"/>
                </a:solidFill>
              </a:rPr>
              <a:t>Supports values that do not fit naturally into plain JSON text.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955280" y="4599432"/>
            <a:ext cx="2514600" cy="0"/>
          </a:xfrm>
          <a:prstGeom prst="line">
            <a:avLst/>
          </a:prstGeom>
          <a:noFill/>
          <a:ln w="30480">
            <a:solidFill>
              <a:srgbClr val="B9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5559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EA9A"/>
                </a:solidFill>
              </a:rPr>
              <a:t>Developer takeaway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5504688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5F7F6"/>
                </a:solidFill>
              </a:rPr>
              <a:t>Use JSON-like structures for readability; rely on MongoDB/driver types when type fidelity matters.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document through the stack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98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Seeing the same data at each layer makes the JSON/BSON distinction easier.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0C1210"/>
          </a:solidFill>
          <a:ln w="12700">
            <a:solidFill>
              <a:srgbClr val="24483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01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1  CODE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2395728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0A0D0D"/>
          </a:solidFill>
          <a:ln w="12700">
            <a:solidFill>
              <a:srgbClr val="1C25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523744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const order =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total: 149.99,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paid: true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3EAE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6"/>
                </a:solidFill>
              </a:rPr>
              <a:t>Application view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75888" y="164592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0C1015"/>
          </a:solidFill>
          <a:ln w="12700">
            <a:solidFill>
              <a:srgbClr val="2D3F4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50208" y="1901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2  DRIVER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2560320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14283A"/>
          </a:solidFill>
          <a:ln w="17780">
            <a:solidFill>
              <a:srgbClr val="6BA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28163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A8FF"/>
                </a:solidFill>
              </a:rPr>
              <a:t>encode()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069080" y="3794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DEDB"/>
                </a:solidFill>
              </a:rPr>
              <a:t>Converts values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D8DEDB"/>
                </a:solidFill>
              </a:rPr>
              <a:t>to BSON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57416" y="164592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0F0E14"/>
          </a:solidFill>
          <a:ln w="12700">
            <a:solidFill>
              <a:srgbClr val="3B315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31736" y="1901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3  STORAGE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59752" y="256032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29223E"/>
          </a:solidFill>
          <a:ln w="12700">
            <a:solidFill>
              <a:srgbClr val="29223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624328"/>
            <a:ext cx="9235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EA9A"/>
                </a:solidFill>
              </a:rPr>
              <a:t>Decimal128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93608" y="256032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B2F2A"/>
          </a:solidFill>
          <a:ln w="12700">
            <a:solidFill>
              <a:srgbClr val="1B2F2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2624328"/>
            <a:ext cx="694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EA9A"/>
                </a:solidFill>
              </a:rPr>
              <a:t>Boolean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77456" y="3794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6"/>
                </a:solidFill>
              </a:rPr>
              <a:t>BSON document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838944" y="1645920"/>
            <a:ext cx="1737360" cy="3474720"/>
          </a:xfrm>
          <a:prstGeom prst="roundRect">
            <a:avLst>
              <a:gd name="adj" fmla="val 4211"/>
            </a:avLst>
          </a:prstGeom>
          <a:solidFill>
            <a:srgbClr val="0F1111"/>
          </a:solidFill>
          <a:ln w="12700">
            <a:solidFill>
              <a:srgbClr val="2A302E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85832" y="1901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1BEA9A"/>
                </a:solidFill>
              </a:rPr>
              <a:t>4  RESULT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21824" y="2697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EA9A"/>
                </a:solidFill>
              </a:rPr>
              <a:t>decode()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012680" y="356616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DEDB"/>
                </a:solidFill>
              </a:rPr>
              <a:t>Back 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8DEDB"/>
                </a:solidFill>
              </a:rPr>
              <a:t>application types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46120" y="3200400"/>
            <a:ext cx="393192" cy="0"/>
          </a:xfrm>
          <a:prstGeom prst="line">
            <a:avLst/>
          </a:prstGeom>
          <a:noFill/>
          <a:ln w="25400">
            <a:solidFill>
              <a:srgbClr val="1BEA9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27648" y="3200400"/>
            <a:ext cx="393192" cy="0"/>
          </a:xfrm>
          <a:prstGeom prst="line">
            <a:avLst/>
          </a:prstGeom>
          <a:noFill/>
          <a:ln w="25400">
            <a:solidFill>
              <a:srgbClr val="1BEA9A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18320" y="3200400"/>
            <a:ext cx="384048" cy="0"/>
          </a:xfrm>
          <a:prstGeom prst="line">
            <a:avLst/>
          </a:prstGeom>
          <a:noFill/>
          <a:ln w="25400">
            <a:solidFill>
              <a:srgbClr val="1BEA9A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554480" y="548640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893"/>
                </a:solidFill>
              </a:rPr>
              <a:t>same business value → different technical representations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habits for MongoDB developers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98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meaning, types, and document shape — not BSON byte-level mechanics.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0D0F0F"/>
          </a:solidFill>
          <a:ln w="12700">
            <a:solidFill>
              <a:srgbClr val="28302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83080"/>
            <a:ext cx="566928" cy="566928"/>
          </a:xfrm>
          <a:prstGeom prst="ellipse">
            <a:avLst/>
          </a:prstGeom>
          <a:solidFill>
            <a:srgbClr val="1BEA9A"/>
          </a:solidFill>
          <a:ln w="12700">
            <a:solidFill>
              <a:srgbClr val="1BEA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568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64208" y="1709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7F6"/>
                </a:solidFill>
              </a:rPr>
              <a:t>Choose explicit types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64208" y="214884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8DEDB"/>
                </a:solidFill>
              </a:rPr>
              <a:t>Use Date, ObjectId, Decimal128, and integer types when they represent the domain value.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4630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0D0F0F"/>
          </a:solidFill>
          <a:ln w="12700">
            <a:solidFill>
              <a:srgbClr val="28302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1112" y="1783080"/>
            <a:ext cx="566928" cy="566928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9568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79208" y="1709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7F6"/>
                </a:solidFill>
              </a:rPr>
              <a:t>Keep documents intentional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379208" y="214884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8DEDB"/>
                </a:solidFill>
              </a:rPr>
              <a:t>Remember the 16 MiB maximum BSON document size and avoid unbounded document growth.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0D0F0F"/>
          </a:solidFill>
          <a:ln w="12700">
            <a:solidFill>
              <a:srgbClr val="28302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840480"/>
            <a:ext cx="566928" cy="566928"/>
          </a:xfrm>
          <a:prstGeom prst="ellipse">
            <a:avLst/>
          </a:prstGeom>
          <a:solidFill>
            <a:srgbClr val="1BEA9A"/>
          </a:solidFill>
          <a:ln w="12700">
            <a:solidFill>
              <a:srgbClr val="1BE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0142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64208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7F6"/>
                </a:solidFill>
              </a:rPr>
              <a:t>Inspect actual types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64208" y="420624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8DEDB"/>
                </a:solidFill>
              </a:rPr>
              <a:t>Use mongosh, Compass, or driver APIs to verify what is really stored.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55080" y="35204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0D0F0F"/>
          </a:solidFill>
          <a:ln w="12700">
            <a:solidFill>
              <a:srgbClr val="28302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11112" y="3840480"/>
            <a:ext cx="566928" cy="566928"/>
          </a:xfrm>
          <a:prstGeom prst="ellipse">
            <a:avLst/>
          </a:prstGeom>
          <a:solidFill>
            <a:srgbClr val="1BEA9A"/>
          </a:solidFill>
          <a:ln w="12700">
            <a:solidFill>
              <a:srgbClr val="1BEA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40142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79208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F7F6"/>
                </a:solidFill>
              </a:rPr>
              <a:t>Let drivers do the heavy lifting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379208" y="420624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8DEDB"/>
                </a:solidFill>
              </a:rPr>
              <a:t>Use language-driver types rather than manually constructing BSON whenever possible.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3232" y="57424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893"/>
                </a:solidFill>
              </a:rPr>
              <a:t>16 MiB = maximum BSON document size per document.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89320" y="574243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EA9A"/>
                </a:solidFill>
              </a:rPr>
              <a:t>The goal is correct domain types and predictable application behavior.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98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these four ideas as your working mental model.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8368" y="149047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1BEA9A"/>
          </a:solidFill>
          <a:ln w="12700">
            <a:solidFill>
              <a:srgbClr val="1BEA9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45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</a:rPr>
              <a:t>JSON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96896" y="1764792"/>
            <a:ext cx="466344" cy="0"/>
          </a:xfrm>
          <a:prstGeom prst="line">
            <a:avLst/>
          </a:prstGeom>
          <a:noFill/>
          <a:ln w="24130">
            <a:solidFill>
              <a:srgbClr val="1BEA9A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218688" y="156362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6"/>
                </a:solidFill>
              </a:rPr>
              <a:t>Human-readable text representation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2551176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6BA8FF"/>
          </a:solidFill>
          <a:ln w="12700">
            <a:solidFill>
              <a:srgbClr val="6BA8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7066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</a:rPr>
              <a:t>BSON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96896" y="2825496"/>
            <a:ext cx="466344" cy="0"/>
          </a:xfrm>
          <a:prstGeom prst="line">
            <a:avLst/>
          </a:prstGeom>
          <a:noFill/>
          <a:ln w="24130">
            <a:solidFill>
              <a:srgbClr val="6BA8F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218688" y="262432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6"/>
                </a:solidFill>
              </a:rPr>
              <a:t>Binary, typed document encoding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58368" y="361188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B98CFF"/>
          </a:solidFill>
          <a:ln w="12700">
            <a:solidFill>
              <a:srgbClr val="B98C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7673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</a:rPr>
              <a:t>Drivers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96896" y="3886200"/>
            <a:ext cx="466344" cy="0"/>
          </a:xfrm>
          <a:prstGeom prst="line">
            <a:avLst/>
          </a:prstGeom>
          <a:noFill/>
          <a:ln w="24130">
            <a:solidFill>
              <a:srgbClr val="B98CF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218688" y="36850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6"/>
                </a:solidFill>
              </a:rPr>
              <a:t>Bridge application values and BSON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58368" y="4672584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F2C94C"/>
          </a:solidFill>
          <a:ln w="12700">
            <a:solidFill>
              <a:srgbClr val="F2C94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8280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505"/>
                </a:solidFill>
              </a:rPr>
              <a:t>Developer focus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96896" y="4946904"/>
            <a:ext cx="466344" cy="0"/>
          </a:xfrm>
          <a:prstGeom prst="line">
            <a:avLst/>
          </a:prstGeom>
          <a:noFill/>
          <a:ln w="24130">
            <a:solidFill>
              <a:srgbClr val="F2C94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218688" y="474573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6"/>
                </a:solidFill>
              </a:rPr>
              <a:t>Pick types that preserve business meaning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58368" y="553212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0D110F"/>
          </a:solidFill>
          <a:ln w="12700">
            <a:solidFill>
              <a:srgbClr val="2342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696712"/>
            <a:ext cx="10241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EA9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JSON-like → encode → BSON → decode → JSON-like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023 — JSON vs BSON</dc:title>
  <dc:subject>MongoDB Developer Learning Path</dc:subject>
  <dc:creator>OpenAI</dc:creator>
  <cp:lastModifiedBy>OpenAI</cp:lastModifiedBy>
  <cp:revision>1</cp:revision>
  <dcterms:created xsi:type="dcterms:W3CDTF">2026-09-25T16:55:57Z</dcterms:created>
  <dcterms:modified xsi:type="dcterms:W3CDTF">2026-09-25T16:55:57Z</dcterms:modified>
</cp:coreProperties>
</file>