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48640"/>
            <a:ext cx="868680" cy="91440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09728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032 — One-to-Many —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07899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FBAB5"/>
                </a:solidFill>
                <a:latin typeface="Aptos"/>
              </a:rPr>
              <a:t>Keep the many-side items in a separate collection and connect them with a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40280"/>
            <a:ext cx="3200400" cy="274320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76" y="2496312"/>
            <a:ext cx="2697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2532888"/>
            <a:ext cx="26060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PARENT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6517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26517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Bangalore • RR Nagar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50791"/>
            <a:ext cx="2651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3AEB5B"/>
                </a:solidFill>
                <a:latin typeface="Aptos"/>
              </a:rPr>
              <a:t>_id: ObjectId(...)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3337560"/>
            <a:ext cx="1051560" cy="50292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0" y="2240280"/>
            <a:ext cx="5806440" cy="274320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42432" y="2496312"/>
            <a:ext cx="228600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8152" y="2532888"/>
            <a:ext cx="2194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CHILD COLLECTION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154680"/>
            <a:ext cx="1481328" cy="9875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3364992"/>
            <a:ext cx="14813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O1001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749039"/>
            <a:ext cx="148132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F5F8F6"/>
                </a:solidFill>
                <a:latin typeface="Aptos"/>
              </a:rPr>
              <a:t>customerId → Avi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3" y="3154680"/>
            <a:ext cx="1481328" cy="9875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7223" y="3364992"/>
            <a:ext cx="14813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O1002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3" y="3749039"/>
            <a:ext cx="148132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F5F8F6"/>
                </a:solidFill>
                <a:latin typeface="Aptos"/>
              </a:rPr>
              <a:t>customerId → Avi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8008" y="3154680"/>
            <a:ext cx="1481328" cy="987552"/>
          </a:xfrm>
          <a:prstGeom prst="roundRect">
            <a:avLst/>
          </a:prstGeom>
          <a:solidFill>
            <a:srgbClr val="0919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3364992"/>
            <a:ext cx="148132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O1003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749039"/>
            <a:ext cx="148132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F5F8F6"/>
                </a:solidFill>
                <a:latin typeface="Aptos"/>
              </a:rPr>
              <a:t>customerId → Avi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443984"/>
            <a:ext cx="5166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The child documents point back to Avi by identifier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 as a Reference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84048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874519"/>
            <a:ext cx="3154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04288"/>
            <a:ext cx="31546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89504"/>
            <a:ext cx="31546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3AEB5B"/>
                </a:solidFill>
                <a:latin typeface="Aptos"/>
              </a:rPr>
              <a:t>_id =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36976"/>
            <a:ext cx="3154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FBAB5"/>
                </a:solidFill>
                <a:latin typeface="Aptos"/>
              </a:rPr>
              <a:t>Bangalore • RR 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886200"/>
            <a:ext cx="233172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FBAB5"/>
                </a:solidFill>
                <a:latin typeface="Aptos"/>
              </a:rPr>
              <a:t>customers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4315968"/>
            <a:ext cx="1453896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4828031"/>
            <a:ext cx="1453896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5340096"/>
            <a:ext cx="1453896" cy="0"/>
          </a:xfrm>
          <a:prstGeom prst="line">
            <a:avLst/>
          </a:prstGeom>
          <a:ln w="25400">
            <a:solidFill>
              <a:srgbClr val="3AE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4078224"/>
            <a:ext cx="2011680" cy="38404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4142232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O1001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4142232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5F8F6"/>
                </a:solidFill>
                <a:latin typeface="Aptos"/>
              </a:rPr>
              <a:t>customerId: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4590288"/>
            <a:ext cx="2011680" cy="38404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4654296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O1002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654296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5F8F6"/>
                </a:solidFill>
                <a:latin typeface="Aptos"/>
              </a:rPr>
              <a:t>customerId: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5102352"/>
            <a:ext cx="2011680" cy="38404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5166360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O1003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5166360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5F8F6"/>
                </a:solidFill>
                <a:latin typeface="Aptos"/>
              </a:rPr>
              <a:t>customerId: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600200"/>
            <a:ext cx="425196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40" y="1901952"/>
            <a:ext cx="3474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AEB5B"/>
                </a:solidFill>
                <a:latin typeface="Aptos"/>
              </a:rPr>
              <a:t>What changes?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496312"/>
            <a:ext cx="3429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many-side documents live separately.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Each child stores a reference to Avi.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Child records can grow independently.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A single parent read does not automatically return children.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Reference Document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72768"/>
            <a:ext cx="649224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709928"/>
            <a:ext cx="6163055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3AEB5B"/>
                </a:solidFill>
                <a:latin typeface="Consolas"/>
              </a:defRPr>
            </a:pPr>
            <a:r>
              <a:t>// Parent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_id: ObjectId("...")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600">
                <a:solidFill>
                  <a:srgbClr val="3AEB5B"/>
                </a:solidFill>
                <a:latin typeface="Consolas"/>
              </a:defRPr>
            </a:pPr>
            <a:r>
              <a:t>// Child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orderId: "O1001",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customerId: ObjectId("..."),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total: 75000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572768"/>
            <a:ext cx="420624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62672" y="1901952"/>
            <a:ext cx="3520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AEB5B"/>
                </a:solidFill>
                <a:latin typeface="Aptos"/>
              </a:rPr>
              <a:t>Reference = shared identifier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578608"/>
            <a:ext cx="1417320" cy="84124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2807208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099816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3AEB5B"/>
                </a:solidFill>
                <a:latin typeface="Aptos"/>
              </a:rPr>
              <a:t>_id: 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00032" y="2761488"/>
            <a:ext cx="685800" cy="384048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95560" y="2578608"/>
            <a:ext cx="1097280" cy="84124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95560" y="2807208"/>
            <a:ext cx="10972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O1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3099816"/>
            <a:ext cx="1097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3AEB5B"/>
                </a:solidFill>
                <a:latin typeface="Aptos"/>
              </a:rPr>
              <a:t>customerId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822191"/>
            <a:ext cx="3429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Parent keeps its own fields.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Child stores the parent identifier.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relationship is explicit in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Why Reference the Many Side?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463039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984248"/>
            <a:ext cx="288036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Child count can grow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212080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956816"/>
            <a:ext cx="1463039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84248"/>
            <a:ext cx="288036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Children can be queried without the parent.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4069080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05656"/>
            <a:ext cx="1463039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4133088"/>
            <a:ext cx="288036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Child records may be created and updated separately.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5212080" cy="1828800"/>
          </a:xfrm>
          <a:prstGeom prst="roundRect">
            <a:avLst/>
          </a:prstGeom>
          <a:solidFill>
            <a:srgbClr val="0A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240" y="4069080"/>
            <a:ext cx="155448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105656"/>
            <a:ext cx="1463039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33088"/>
            <a:ext cx="288036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Parent document stays focused and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Reading by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5989320" cy="425196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64792"/>
            <a:ext cx="5660136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3AEB5B"/>
                </a:solidFill>
                <a:latin typeface="Consolas"/>
              </a:defRPr>
            </a:pPr>
            <a:r>
              <a:t>// Read Avi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const avi = db.customers.findOne({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name: "Avi"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700">
                <a:solidFill>
                  <a:srgbClr val="3AEB5B"/>
                </a:solidFill>
                <a:latin typeface="Consolas"/>
              </a:defRPr>
            </a:pPr>
            <a:r>
              <a:t>// Read Avi's orders separately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db.orders.find({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customerId: avi._id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627632"/>
            <a:ext cx="4526280" cy="42519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96912" y="1920240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Two access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633472"/>
            <a:ext cx="3794760" cy="713232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9792" y="2779776"/>
            <a:ext cx="502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743200"/>
            <a:ext cx="2697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6"/>
                </a:solidFill>
                <a:latin typeface="Aptos"/>
              </a:rPr>
              <a:t>Get Avi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611880"/>
            <a:ext cx="3794760" cy="713232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3758184"/>
            <a:ext cx="502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21608"/>
            <a:ext cx="2697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6"/>
                </a:solidFill>
                <a:latin typeface="Aptos"/>
              </a:rPr>
              <a:t>Use Avi._id to find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4846320"/>
            <a:ext cx="39227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AFBAB5"/>
                </a:solidFill>
                <a:latin typeface="Aptos"/>
              </a:rPr>
              <a:t>The reference connects the documents; your application decides how to fetch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Creating a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667512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737360"/>
            <a:ext cx="6345936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const aviId = db.customers.insertOne({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location: "Bangalore, RR Nagar"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}).insertedId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db.orders.insertMany([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orderId: "O1001", customerId: aviId, total: 75000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orderId: "O1002", customerId: aviId, total: 2000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orderId: "O1003", customerId: aviId, total: 3000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00200"/>
            <a:ext cx="4023360" cy="452628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920240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Reference creation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606040"/>
            <a:ext cx="3383280" cy="685800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2752344"/>
            <a:ext cx="320040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697480"/>
            <a:ext cx="2514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Create Avi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520440"/>
            <a:ext cx="3383280" cy="685800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3666744"/>
            <a:ext cx="320040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611880"/>
            <a:ext cx="2514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Capture Avi._id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434840"/>
            <a:ext cx="3383280" cy="685800"/>
          </a:xfrm>
          <a:prstGeom prst="roundRect">
            <a:avLst/>
          </a:prstGeom>
          <a:solidFill>
            <a:srgbClr val="091911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4581144"/>
            <a:ext cx="320040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AEB5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526279"/>
            <a:ext cx="2514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6"/>
                </a:solidFill>
                <a:latin typeface="Aptos"/>
              </a:rPr>
              <a:t>Store that _id in each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Updating and Deleting Child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27632"/>
            <a:ext cx="6400800" cy="43891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764792"/>
            <a:ext cx="6071616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Update one of Avi's orders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db.orders.updateOne(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orderId: "O1002",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customerId: avi._id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$set: { total: 2500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3AEB5B"/>
                </a:solidFill>
                <a:latin typeface="Consolas"/>
              </a:defRPr>
            </a:pPr>
            <a:r>
              <a:t>// Remove one order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db.orders.deleteOne({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orderId: "O1003",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customerId: avi._id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627632"/>
            <a:ext cx="4279392" cy="438912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1920240"/>
            <a:ext cx="3611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AEB5B"/>
                </a:solidFill>
                <a:latin typeface="Aptos"/>
              </a:rPr>
              <a:t>Independent child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560320"/>
            <a:ext cx="34290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Orders can change without rewriting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The reference remains the link.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 child record can be removed independently.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Application rules should define orphan handling.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Embedded vs Reference: Same Relationship, Different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534924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901952"/>
            <a:ext cx="141732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325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EMBEDDED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3AEB5B"/>
                </a:solidFill>
                <a:latin typeface="Aptos"/>
              </a:rPr>
              <a:t>orders: [ ...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44805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Child data lives inside parent.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Convenient when bounded and co-read.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Parent document carries child growth.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49240" cy="4480560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37960" y="1901952"/>
            <a:ext cx="1508760" cy="338328"/>
          </a:xfrm>
          <a:prstGeom prst="roundRect">
            <a:avLst/>
          </a:prstGeom>
          <a:solidFill>
            <a:srgbClr val="147D37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38528"/>
            <a:ext cx="1417319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07792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3AEB5B"/>
                </a:solidFill>
                <a:latin typeface="Aptos"/>
              </a:rPr>
              <a:t>orders → customerId: Avi._id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47872"/>
            <a:ext cx="44805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Child data lives separately.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Useful when children grow or are accessed independently.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Application performs the related reads.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77724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Demo: Avi's Referenced 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6446520" cy="446227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64792"/>
            <a:ext cx="6117336" cy="4187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use lesson032_demo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const avi = db.customers.findOne({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db.orders.find({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customerId: avi._id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db.orders.updateOne(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orderId: "O1002", customerId: avi._id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{ $set: { total: 2500 }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24927" y="1627632"/>
            <a:ext cx="4096512" cy="4462272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4112" y="1920240"/>
            <a:ext cx="333756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AEB5B"/>
                </a:solidFill>
                <a:latin typeface="Aptos"/>
              </a:rPr>
              <a:t>Demo storyline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2542032"/>
            <a:ext cx="31546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Avi.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Capture Avi's _id.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Create several orders with customerId.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Find orders through the reference.</a:t>
            </a:r>
          </a:p>
          <a:p>
            <a:pPr>
              <a:spcAft>
                <a:spcPts val="500"/>
              </a:spcAft>
              <a:defRPr sz="1700">
                <a:solidFill>
                  <a:srgbClr val="F5F8F6"/>
                </a:solidFill>
                <a:latin typeface="Aptos"/>
              </a:defRPr>
            </a:pPr>
            <a:r>
              <a:t>• Update one child independently.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 —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097280" cy="73152"/>
          </a:xfrm>
          <a:prstGeom prst="rect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698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FBAB5"/>
                </a:solidFill>
                <a:latin typeface="Aptos"/>
              </a:rPr>
              <a:t>Reference the parent instead of embedding the many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2304288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304288"/>
            <a:ext cx="202996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16352"/>
            <a:ext cx="202996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Avi
Bangalore • RR Nagar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0087" y="2670048"/>
            <a:ext cx="438912" cy="45720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56432" y="2057400"/>
            <a:ext cx="2304288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93591" y="2304288"/>
            <a:ext cx="202996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1" y="2816352"/>
            <a:ext cx="202996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Avi._id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8152" y="2670048"/>
            <a:ext cx="438912" cy="45720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54496" y="2057400"/>
            <a:ext cx="2304288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2304288"/>
            <a:ext cx="202996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816352"/>
            <a:ext cx="202996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orders[].customerId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86216" y="2670048"/>
            <a:ext cx="438912" cy="457200"/>
          </a:xfrm>
          <a:prstGeom prst="rightArrow">
            <a:avLst/>
          </a:prstGeom>
          <a:solidFill>
            <a:srgbClr val="3AE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2560" y="2057400"/>
            <a:ext cx="2304288" cy="1783080"/>
          </a:xfrm>
          <a:prstGeom prst="roundRect">
            <a:avLst/>
          </a:prstGeom>
          <a:solidFill>
            <a:srgbClr val="091410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2304288"/>
            <a:ext cx="202996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3AEB5B"/>
                </a:solidFill>
                <a:latin typeface="Aptos"/>
              </a:rPr>
              <a:t>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816352"/>
            <a:ext cx="202996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8F6"/>
                </a:solidFill>
                <a:latin typeface="Aptos"/>
              </a:rPr>
              <a:t>read separately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343400"/>
            <a:ext cx="10625328" cy="141732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B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590288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Separate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8" y="4882896"/>
            <a:ext cx="184708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AFBAB5"/>
                </a:solidFill>
                <a:latin typeface="Aptos"/>
              </a:rPr>
              <a:t>Child data has its own lifecycle.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90288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Store parent 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4882896"/>
            <a:ext cx="184708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AFBAB5"/>
                </a:solidFill>
                <a:latin typeface="Aptos"/>
              </a:rPr>
              <a:t>The identifier creates the link.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590288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Query separately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882896"/>
            <a:ext cx="184708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AFBAB5"/>
                </a:solidFill>
                <a:latin typeface="Aptos"/>
              </a:rPr>
              <a:t>The application fetches related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590288"/>
            <a:ext cx="38404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AEB5B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4553712"/>
            <a:ext cx="184708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Choose by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4882896"/>
            <a:ext cx="1847088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AFBAB5"/>
                </a:solidFill>
                <a:latin typeface="Aptos"/>
              </a:rPr>
              <a:t>Growth and independence drive the choice.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5989320"/>
            <a:ext cx="10378440" cy="420624"/>
          </a:xfrm>
          <a:prstGeom prst="roundRect">
            <a:avLst/>
          </a:prstGeom>
          <a:solidFill>
            <a:srgbClr val="3AEB5B"/>
          </a:solidFill>
          <a:ln w="13970">
            <a:solidFill>
              <a:srgbClr val="3AE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6062472"/>
            <a:ext cx="1019556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40707"/>
                </a:solidFill>
                <a:latin typeface="Aptos"/>
              </a:rPr>
              <a:t>Pattern: Avi parent → shared _id → referenced child documents → independent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Widescreen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2026-09-26T09:56:05Z</dcterms:modified>
  <cp:category/>
</cp:coreProperties>
</file>