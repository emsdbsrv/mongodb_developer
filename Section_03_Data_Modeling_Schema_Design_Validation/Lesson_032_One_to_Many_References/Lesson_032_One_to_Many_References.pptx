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Aptos"/>
              </a:rPr>
              <a:t>One-to-Many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8928" y="36576"/>
            <a:ext cx="3657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39C12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640080"/>
            <a:ext cx="815644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20" b="0">
                <a:solidFill>
                  <a:srgbClr val="F5F7FA"/>
                </a:solidFill>
                <a:latin typeface="Aptos"/>
              </a:rPr>
              <a:t>Model one parent with many related documents using identifiers.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14232" y="91440"/>
            <a:ext cx="3090672" cy="13350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24544" y="201168"/>
            <a:ext cx="267004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20" b="1">
                <a:solidFill>
                  <a:srgbClr val="F39C12"/>
                </a:solidFill>
                <a:latin typeface="Aptos"/>
              </a:rPr>
              <a:t>In this lesson, you will: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557784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25712" y="539496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Understand a one-to-many reference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2832" y="731520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713232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Store the many side in a separate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905256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2" y="886968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Connect child documents with a parent identifier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1078992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1060704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Query and update child records independently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1252728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1234440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Recognize growth and lifecycle trade-offs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" y="1444752"/>
            <a:ext cx="2761488" cy="100584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4320" y="1563624"/>
            <a:ext cx="356616" cy="356616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1545336"/>
            <a:ext cx="1947672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30" b="1">
                <a:solidFill>
                  <a:srgbClr val="F39C12"/>
                </a:solidFill>
                <a:latin typeface="Aptos"/>
              </a:rPr>
              <a:t>One Customer → Many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1911095"/>
            <a:ext cx="2359152" cy="4663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One parent document</a:t>
            </a:r>
          </a:p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Many separate child documents</a:t>
            </a:r>
          </a:p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Reference stored in each child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" y="2606040"/>
            <a:ext cx="2761488" cy="100584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4320" y="2724912"/>
            <a:ext cx="356616" cy="356616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706624"/>
            <a:ext cx="1947672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30" b="1">
                <a:solidFill>
                  <a:srgbClr val="F39C12"/>
                </a:solidFill>
                <a:latin typeface="Aptos"/>
              </a:rPr>
              <a:t>Reference 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" y="3072384"/>
            <a:ext cx="2359152" cy="4663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customers._id</a:t>
            </a:r>
          </a:p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orders.customerId</a:t>
            </a:r>
          </a:p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Identifier creates the link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" y="3767328"/>
            <a:ext cx="2761488" cy="100584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4320" y="3886200"/>
            <a:ext cx="356616" cy="356616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867912"/>
            <a:ext cx="1947672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30" b="1">
                <a:solidFill>
                  <a:srgbClr val="F39C12"/>
                </a:solidFill>
                <a:latin typeface="Aptos"/>
              </a:rPr>
              <a:t>When It 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4233672"/>
            <a:ext cx="2359152" cy="4663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Child data can grow</a:t>
            </a:r>
          </a:p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Independent access / updates</a:t>
            </a:r>
          </a:p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Different lifecycle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" y="4928616"/>
            <a:ext cx="2761488" cy="100584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" y="5047488"/>
            <a:ext cx="356616" cy="356616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029200"/>
            <a:ext cx="1947672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30" b="1">
                <a:solidFill>
                  <a:srgbClr val="F39C12"/>
                </a:solidFill>
                <a:latin typeface="Aptos"/>
              </a:rPr>
              <a:t>What to Watch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" y="5394960"/>
            <a:ext cx="2359152" cy="4663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More than one read</a:t>
            </a:r>
          </a:p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Reference field indexing</a:t>
            </a:r>
          </a:p>
          <a:p>
            <a:pPr>
              <a:spcAft>
                <a:spcPts val="200"/>
              </a:spcAft>
              <a:defRPr sz="850">
                <a:solidFill>
                  <a:srgbClr val="F5F7FA"/>
                </a:solidFill>
                <a:latin typeface="Aptos"/>
              </a:defRPr>
            </a:pPr>
            <a:r>
              <a:t>• Parent removal rules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99816" y="1444752"/>
            <a:ext cx="5669280" cy="411480"/>
          </a:xfrm>
          <a:prstGeom prst="roundRect">
            <a:avLst/>
          </a:prstGeom>
          <a:solidFill>
            <a:srgbClr val="A91B0F"/>
          </a:solidFill>
          <a:ln w="16510">
            <a:solidFill>
              <a:srgbClr val="F04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73552" y="1536192"/>
            <a:ext cx="5321808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20" b="1">
                <a:solidFill>
                  <a:srgbClr val="F5F7FA"/>
                </a:solidFill>
                <a:latin typeface="Aptos"/>
              </a:rPr>
              <a:t>Order Management Example in MongoDB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99816" y="1901952"/>
            <a:ext cx="5669280" cy="192024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01568" y="2258568"/>
            <a:ext cx="1847088" cy="73152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84448" y="2414016"/>
            <a:ext cx="148132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22C7F2"/>
                </a:solidFill>
                <a:latin typeface="Aptos"/>
              </a:rP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2642616"/>
            <a:ext cx="13258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B8C3CF"/>
                </a:solidFill>
                <a:latin typeface="Aptos"/>
              </a:rPr>
              <a:t>_id: C1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15584" y="2185416"/>
            <a:ext cx="960120" cy="841248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61304" y="2404872"/>
            <a:ext cx="8686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ORD-1001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61304" y="262432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0">
                <a:solidFill>
                  <a:srgbClr val="B8C3CF"/>
                </a:solidFill>
                <a:latin typeface="Aptos"/>
              </a:rPr>
              <a:t>customerId → C1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5257800" y="2578608"/>
            <a:ext cx="557784" cy="4572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59168" y="2185416"/>
            <a:ext cx="960120" cy="841248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4888" y="2404872"/>
            <a:ext cx="8686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A56BFF"/>
                </a:solidFill>
                <a:latin typeface="Aptos"/>
              </a:rPr>
              <a:t>ORD-1002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4888" y="262432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0">
                <a:solidFill>
                  <a:srgbClr val="B8C3CF"/>
                </a:solidFill>
                <a:latin typeface="Aptos"/>
              </a:rPr>
              <a:t>customerId → C1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5257800" y="2578608"/>
            <a:ext cx="1801368" cy="4572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302752" y="2185416"/>
            <a:ext cx="960120" cy="841248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8472" y="2404872"/>
            <a:ext cx="8686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2FD6B0"/>
                </a:solidFill>
                <a:latin typeface="Aptos"/>
              </a:rPr>
              <a:t>ORD-1003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262432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20" b="0">
                <a:solidFill>
                  <a:srgbClr val="B8C3CF"/>
                </a:solidFill>
                <a:latin typeface="Aptos"/>
              </a:rPr>
              <a:t>customerId → C1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5257800" y="2578608"/>
            <a:ext cx="3044952" cy="4572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133087" y="3163824"/>
            <a:ext cx="3547872" cy="365760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3255264"/>
            <a:ext cx="3291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39C12"/>
                </a:solidFill>
                <a:latin typeface="Aptos"/>
              </a:rPr>
              <a:t>CHILD DOCUMENTS STAY SEPARATE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99816" y="4050791"/>
            <a:ext cx="5669280" cy="1664208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6704" y="4242816"/>
            <a:ext cx="15727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10" b="1">
                <a:solidFill>
                  <a:srgbClr val="F39C12"/>
                </a:solidFill>
                <a:latin typeface="Aptos"/>
              </a:rPr>
              <a:t>REFERENCE SHAPE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4572000"/>
            <a:ext cx="3886200" cy="832104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47288" y="4663440"/>
            <a:ext cx="3666744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customers: { _id: C1 }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orders: { orderId: "ORD-1001", customerId: C1 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24927" y="4599432"/>
            <a:ext cx="1005840" cy="768096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88936" y="4818888"/>
            <a:ext cx="877824" cy="1737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A56BFF"/>
                </a:solidFill>
                <a:latin typeface="Aptos"/>
              </a:rPr>
              <a:t>linked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5056632"/>
            <a:ext cx="859536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30" b="0">
                <a:solidFill>
                  <a:srgbClr val="B8C3CF"/>
                </a:solidFill>
                <a:latin typeface="Aptos"/>
              </a:rPr>
              <a:t>by id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9680" y="1554480"/>
            <a:ext cx="2907792" cy="416052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70848" y="1728216"/>
            <a:ext cx="248716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Aptos"/>
              </a:rPr>
              <a:t>Hands-On Examples (mongosh)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15984" y="2139696"/>
            <a:ext cx="2578608" cy="41148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4E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25712" y="2203703"/>
            <a:ext cx="274320" cy="274320"/>
          </a:xfrm>
          <a:prstGeom prst="ellipse">
            <a:avLst/>
          </a:prstGeom>
          <a:solidFill>
            <a:srgbClr val="4EA3FF"/>
          </a:solidFill>
          <a:ln>
            <a:solidFill>
              <a:srgbClr val="4E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0616" y="2240279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Aptos"/>
              </a:rPr>
              <a:t>Create parent + capture _id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15984" y="2706624"/>
            <a:ext cx="2578608" cy="41148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5712" y="2770632"/>
            <a:ext cx="274320" cy="274320"/>
          </a:xfrm>
          <a:prstGeom prst="ellipse">
            <a:avLst/>
          </a:prstGeom>
          <a:solidFill>
            <a:srgbClr val="22C7F2"/>
          </a:solidFill>
          <a:ln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0616" y="2807208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Aptos"/>
              </a:rPr>
              <a:t>Insert many referenced orders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15984" y="3273552"/>
            <a:ext cx="2578608" cy="41148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25712" y="3337560"/>
            <a:ext cx="274320" cy="274320"/>
          </a:xfrm>
          <a:prstGeom prst="ellipse">
            <a:avLst/>
          </a:prstGeom>
          <a:solidFill>
            <a:srgbClr val="A56BFF"/>
          </a:solidFill>
          <a:ln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0616" y="3374136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Aptos"/>
              </a:rPr>
              <a:t>Query by customerId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15984" y="3840479"/>
            <a:ext cx="2578608" cy="41148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25712" y="3904487"/>
            <a:ext cx="274320" cy="274320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0616" y="3941063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Aptos"/>
              </a:rPr>
              <a:t>Update one order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15984" y="4407408"/>
            <a:ext cx="2578608" cy="41148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125712" y="4471416"/>
            <a:ext cx="274320" cy="274320"/>
          </a:xfrm>
          <a:prstGeom prst="ellipse">
            <a:avLst/>
          </a:prstGeom>
          <a:solidFill>
            <a:srgbClr val="2FD6B0"/>
          </a:solidFill>
          <a:ln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0616" y="4507992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Aptos"/>
              </a:rPr>
              <a:t>Create customerId index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15984" y="4974336"/>
            <a:ext cx="2578608" cy="41148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125712" y="5038344"/>
            <a:ext cx="274320" cy="274320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00616" y="5074920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Aptos"/>
              </a:rPr>
              <a:t>Inspect the index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46304" y="5852160"/>
            <a:ext cx="11631168" cy="69494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6071616"/>
            <a:ext cx="1335024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20" b="1">
                <a:solidFill>
                  <a:srgbClr val="F39C12"/>
                </a:solidFill>
                <a:latin typeface="Aptos"/>
              </a:rPr>
              <a:t>Key Takeaways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47088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ONE → MANY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47088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many children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538728" y="5934456"/>
            <a:ext cx="0" cy="530352"/>
          </a:xfrm>
          <a:prstGeom prst="line">
            <a:avLst/>
          </a:prstGeom>
          <a:ln w="127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657600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REFERENCE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0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customerId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5340096" y="5934456"/>
            <a:ext cx="0" cy="530352"/>
          </a:xfrm>
          <a:prstGeom prst="line">
            <a:avLst/>
          </a:prstGeom>
          <a:ln w="127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458968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SEPARATE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58968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child lifecycle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360919" y="5934456"/>
            <a:ext cx="0" cy="530352"/>
          </a:xfrm>
          <a:prstGeom prst="line">
            <a:avLst/>
          </a:prstGeom>
          <a:ln w="127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479792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QUERY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79792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read separately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326880" y="5934456"/>
            <a:ext cx="0" cy="530352"/>
          </a:xfrm>
          <a:prstGeom prst="line">
            <a:avLst/>
          </a:prstGeom>
          <a:ln w="127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445752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INDEX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45752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customerId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One Customer, Many Orders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8308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28800"/>
            <a:ext cx="4233672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A one-to-many relationship means one parent can be related to many child documents.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In a reference model, each child stores the parent identifier.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child documents remain separate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1517904"/>
            <a:ext cx="1828800" cy="96012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792224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22C7F2"/>
                </a:solidFill>
                <a:latin typeface="Aptos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35024"/>
            <a:ext cx="2057400" cy="749808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1563624"/>
            <a:ext cx="171907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Aptos"/>
              </a:rPr>
              <a:t>ORD-1001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1792224"/>
            <a:ext cx="1719072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B8C3CF"/>
                </a:solidFill>
                <a:latin typeface="Aptos"/>
              </a:rPr>
              <a:t>customerId → parent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571231" y="1709928"/>
            <a:ext cx="886969" cy="283464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58200" y="2414015"/>
            <a:ext cx="2057400" cy="749808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2642615"/>
            <a:ext cx="171907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A56BFF"/>
                </a:solidFill>
                <a:latin typeface="Aptos"/>
              </a:rPr>
              <a:t>ORD-1002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2" y="2871215"/>
            <a:ext cx="1719072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B8C3CF"/>
                </a:solidFill>
                <a:latin typeface="Aptos"/>
              </a:rPr>
              <a:t>customerId → parent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1" y="1993392"/>
            <a:ext cx="886969" cy="795528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58200" y="3493008"/>
            <a:ext cx="2057400" cy="749808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721608"/>
            <a:ext cx="171907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2FD6B0"/>
                </a:solidFill>
                <a:latin typeface="Aptos"/>
              </a:rPr>
              <a:t>ORD-1003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950208"/>
            <a:ext cx="1719072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B8C3CF"/>
                </a:solidFill>
                <a:latin typeface="Aptos"/>
              </a:rPr>
              <a:t>customerId → parent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71231" y="1993392"/>
            <a:ext cx="886969" cy="1874519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15000" y="4480560"/>
            <a:ext cx="53492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50" b="1">
                <a:solidFill>
                  <a:srgbClr val="F5F7FA"/>
                </a:solidFill>
                <a:latin typeface="Aptos"/>
              </a:rPr>
              <a:t>One parent → many independent child 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A one-to-many relationship means one parent can be related to many child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Reference Shape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8308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28800"/>
            <a:ext cx="4233672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parent has its own `_id`.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Each order stores the matching parent identifier in `customerId`.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identifier creates the logical relationship without embedding the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0" y="1417320"/>
            <a:ext cx="3108960" cy="324612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79008" y="1508760"/>
            <a:ext cx="2889504" cy="3063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F5F7FA"/>
                </a:solidFill>
                <a:latin typeface="Consolas"/>
              </a:rPr>
              <a:t>customers: { _id: C1 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5F7F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5F7FA"/>
                </a:solidFill>
                <a:latin typeface="Consolas"/>
              </a:rPr>
              <a:t>orders: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5F7FA"/>
                </a:solidFill>
                <a:latin typeface="Consolas"/>
              </a:rPr>
              <a:t>  orderId: "ORD-1001",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5F7FA"/>
                </a:solidFill>
                <a:latin typeface="Consolas"/>
              </a:rPr>
              <a:t>  customerId: C1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5F7FA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463040"/>
            <a:ext cx="2011680" cy="315468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1856231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F39C12"/>
                </a:solidFill>
                <a:latin typeface="Aptos"/>
              </a:rPr>
              <a:t>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8" y="2606040"/>
            <a:ext cx="16002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customerId
=
parent 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The parent has its own `_id`.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When References Fit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8308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WHEN IT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28800"/>
            <a:ext cx="4233672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Child records can grow independently from the parent.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Child records are queried or updated independently.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parent should remain focused instead of carrying an ever-growing array.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child side may have a different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0" y="1508760"/>
            <a:ext cx="2450592" cy="114300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15584" y="1691639"/>
            <a:ext cx="2157984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22C7F2"/>
                </a:solidFill>
                <a:latin typeface="Aptos"/>
              </a:rP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872" y="2029967"/>
            <a:ext cx="212140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Children can grow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508760"/>
            <a:ext cx="2450592" cy="114300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58784" y="1691639"/>
            <a:ext cx="2157984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A56BFF"/>
                </a:solidFill>
                <a:latin typeface="Aptos"/>
              </a:rP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029967"/>
            <a:ext cx="212140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Query independently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926080"/>
            <a:ext cx="2450592" cy="114300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5584" y="3108960"/>
            <a:ext cx="2157984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Aptos"/>
              </a:rPr>
              <a:t>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3447288"/>
            <a:ext cx="212140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Manage separately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926080"/>
            <a:ext cx="2450592" cy="114300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3108960"/>
            <a:ext cx="2157984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2FD6B0"/>
                </a:solidFill>
                <a:latin typeface="Aptos"/>
              </a:rPr>
              <a:t>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3447288"/>
            <a:ext cx="212140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Keep parent focused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Child records can grow independently from the parent.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Query the Relationship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8308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28800"/>
            <a:ext cx="4233672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Read the parent to obtain its identifier.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Use that identifier to query the child collection.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reference is an explicit link, not an automatic join.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96128" y="1481328"/>
            <a:ext cx="3977639" cy="324612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05856" y="1572768"/>
            <a:ext cx="3758183" cy="3063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const customer = db.customers.findOne({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customerCode: "CUST-1001"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})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db.orders.find({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customerId: customer._id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7232" y="1572768"/>
            <a:ext cx="1353312" cy="306324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94392" y="1938528"/>
            <a:ext cx="107899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A56BFF"/>
                </a:solidFill>
                <a:latin typeface="Aptos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2578608"/>
            <a:ext cx="114300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parent
↓
_id
↓
children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Read the parent to obtain its identifier.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8308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28800"/>
            <a:ext cx="4233672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References help avoid parent-document growth.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application may need additional reads or an aggregation with `$lookup`.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reference field should be indexed when the child side can grow.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4E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0" y="1463040"/>
            <a:ext cx="914400" cy="512064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0448" y="1581912"/>
            <a:ext cx="51206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22C7F2"/>
                </a:solidFill>
                <a:latin typeface="Apto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581912"/>
            <a:ext cx="3429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Avoids parent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304288"/>
            <a:ext cx="914400" cy="512064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2423160"/>
            <a:ext cx="51206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2FD6B0"/>
                </a:solidFill>
                <a:latin typeface="Apto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423160"/>
            <a:ext cx="3429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Independent child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145536"/>
            <a:ext cx="914400" cy="512064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3264408"/>
            <a:ext cx="51206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A56BFF"/>
                </a:solidFill>
                <a:latin typeface="Aptos"/>
              </a:rP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264408"/>
            <a:ext cx="3429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May require another 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986784"/>
            <a:ext cx="914400" cy="512064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4105656"/>
            <a:ext cx="51206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F39C12"/>
                </a:solidFill>
                <a:latin typeface="Aptos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105656"/>
            <a:ext cx="3429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Index the reference 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References help avoid parent-document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Independent Child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8308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28800"/>
            <a:ext cx="4233672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A new order can be created using the parent `_id`.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A single order can be updated using its own `orderId` and the reference.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A single order can be removed without modifying the parent document.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application should define what happens if the parent is removed.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42432" y="1691640"/>
            <a:ext cx="1444752" cy="713232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33872" y="1920240"/>
            <a:ext cx="126187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22C7F2"/>
                </a:solidFill>
                <a:latin typeface="Aptos"/>
              </a:rPr>
              <a:t>CREATE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87184" y="2048256"/>
            <a:ext cx="402336" cy="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0" y="1691640"/>
            <a:ext cx="1444752" cy="713232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126187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A56BFF"/>
                </a:solidFill>
                <a:latin typeface="Aptos"/>
              </a:rPr>
              <a:t>UPDATE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34272" y="2048256"/>
            <a:ext cx="402336" cy="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36608" y="1691640"/>
            <a:ext cx="1444752" cy="713232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920240"/>
            <a:ext cx="126187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39C12"/>
                </a:solidFill>
                <a:latin typeface="Aptos"/>
              </a:rPr>
              <a:t>DELETE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2926080"/>
            <a:ext cx="4206240" cy="150876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017520"/>
            <a:ext cx="3986783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070">
                <a:solidFill>
                  <a:srgbClr val="F5F7FA"/>
                </a:solidFill>
                <a:latin typeface="Consolas"/>
              </a:rPr>
              <a:t>db.orders.updateOne(</a:t>
            </a:r>
          </a:p>
          <a:p>
            <a:pPr>
              <a:spcAft>
                <a:spcPts val="0"/>
              </a:spcAft>
            </a:pPr>
            <a:r>
              <a:rPr sz="1070">
                <a:solidFill>
                  <a:srgbClr val="F5F7FA"/>
                </a:solidFill>
                <a:latin typeface="Consolas"/>
              </a:rPr>
              <a:t>  { orderId: "ORD-1002", customerId },</a:t>
            </a:r>
          </a:p>
          <a:p>
            <a:pPr>
              <a:spcAft>
                <a:spcPts val="0"/>
              </a:spcAft>
            </a:pPr>
            <a:r>
              <a:rPr sz="1070">
                <a:solidFill>
                  <a:srgbClr val="F5F7FA"/>
                </a:solidFill>
                <a:latin typeface="Consolas"/>
              </a:rPr>
              <a:t>  { $set: { totalAmount: 4500 } }</a:t>
            </a:r>
          </a:p>
          <a:p>
            <a:pPr>
              <a:spcAft>
                <a:spcPts val="0"/>
              </a:spcAft>
            </a:pPr>
            <a:r>
              <a:rPr sz="1070">
                <a:solidFill>
                  <a:srgbClr val="F5F7FA"/>
                </a:solidFill>
                <a:latin typeface="Consolas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A new order can be created using the parent `_id`.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Hands-On mongosh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8308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28800"/>
            <a:ext cx="4233672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Create a clean Order Management database.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Insert one parent customer and capture its generated identifier.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Insert multiple orders that share that identifier.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Query all orders through the reference.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Create an index on `customerId` and inspect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32120" y="1389888"/>
            <a:ext cx="4709160" cy="4069080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41848" y="1481328"/>
            <a:ext cx="4489704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const customerId = db.customers.insertOne({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  customerCode: "CUST-1001",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  segment: "Enterprise"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}).insertedId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db.orders.insertMany([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  { orderId: "ORD-1001", customerId, status: "CONFIRMED" },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  { orderId: "ORD-1002", customerId, status: "SHIPPED" },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  { orderId: "ORD-1003", customerId, status: "CREATED" }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F5F7FA"/>
                </a:solidFill>
                <a:latin typeface="Consolas"/>
              </a:rPr>
              <a:t>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0736" y="1499616"/>
            <a:ext cx="868680" cy="3749039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33888" y="175564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4EA3FF"/>
                </a:solidFill>
                <a:latin typeface="Aptos"/>
              </a:rPr>
              <a:t>PARENT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3888" y="2523744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22C7F2"/>
                </a:solidFill>
                <a:latin typeface="Aptos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33888" y="3291839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A56BFF"/>
                </a:solidFill>
                <a:latin typeface="Aptos"/>
              </a:rPr>
              <a:t>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4059935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39C12"/>
                </a:solidFill>
                <a:latin typeface="Aptos"/>
              </a:rPr>
              <a:t>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Create a clean Order Management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7955279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Design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8308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28800"/>
            <a:ext cx="4233672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Embedded: child data lives inside the parent document.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Referenced: child data lives separately and points back to the parent.</a:t>
            </a:r>
          </a:p>
          <a:p>
            <a:pPr>
              <a:spcAft>
                <a:spcPts val="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choice follows growth, access patterns, and lifecycle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50992" y="1481328"/>
            <a:ext cx="2505456" cy="3310128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7024" y="1755648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22C7F2"/>
                </a:solidFill>
                <a:latin typeface="Aptos"/>
              </a:rPr>
              <a:t>EMBEDDED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2331720"/>
            <a:ext cx="1938528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orders live inside
the parent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3319272"/>
            <a:ext cx="193852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B8C3CF"/>
                </a:solidFill>
                <a:latin typeface="Aptos"/>
              </a:rPr>
              <a:t>simple together-read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87968" y="1481328"/>
            <a:ext cx="2505456" cy="3310128"/>
          </a:xfrm>
          <a:prstGeom prst="roundRect">
            <a:avLst/>
          </a:prstGeom>
          <a:solidFill>
            <a:srgbClr val="061017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755648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A56BFF"/>
                </a:solidFill>
                <a:latin typeface="Aptos"/>
              </a:rPr>
              <a:t>REFERENCED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2331720"/>
            <a:ext cx="2011680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orders live in a
separate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3319272"/>
            <a:ext cx="2139696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B8C3CF"/>
                </a:solidFill>
                <a:latin typeface="Aptos"/>
              </a:rPr>
              <a:t>independent growth /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5102352"/>
            <a:ext cx="5349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39C12"/>
                </a:solidFill>
                <a:latin typeface="Aptos"/>
              </a:rPr>
              <a:t>Choose by growth, access patterns, and lifecycle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Embedded: child data lives inside the parent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39319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Aptos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325880"/>
            <a:ext cx="3456432" cy="251460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22C7F2"/>
          </a:solidFill>
          <a:ln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609344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50" b="1">
                <a:solidFill>
                  <a:srgbClr val="F39C12"/>
                </a:solidFill>
                <a:latin typeface="Aptos"/>
              </a:rPr>
              <a:t>ONE → 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0280"/>
            <a:ext cx="2816352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80" b="1">
                <a:solidFill>
                  <a:srgbClr val="F5F7FA"/>
                </a:solidFill>
                <a:latin typeface="Aptos"/>
              </a:rPr>
              <a:t>One parent can be referenced by many child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9272"/>
            <a:ext cx="28163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B8C3CF"/>
                </a:solidFill>
                <a:latin typeface="Aptos"/>
              </a:rPr>
              <a:t>RELATION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1325880"/>
            <a:ext cx="3456432" cy="251460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62272" y="1581912"/>
            <a:ext cx="457200" cy="457200"/>
          </a:xfrm>
          <a:prstGeom prst="ellipse">
            <a:avLst/>
          </a:prstGeom>
          <a:solidFill>
            <a:srgbClr val="A56BFF"/>
          </a:solidFill>
          <a:ln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09344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50" b="1">
                <a:solidFill>
                  <a:srgbClr val="F39C12"/>
                </a:solidFill>
                <a:latin typeface="Aptos"/>
              </a:rPr>
              <a:t>EXPLICIT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40280"/>
            <a:ext cx="2816352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80" b="1">
                <a:solidFill>
                  <a:srgbClr val="F5F7FA"/>
                </a:solidFill>
                <a:latin typeface="Aptos"/>
              </a:rPr>
              <a:t>Store the parent _id in each child reference field.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3319272"/>
            <a:ext cx="28163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B8C3CF"/>
                </a:solidFill>
                <a:latin typeface="Aptos"/>
              </a:rPr>
              <a:t>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3" y="1325880"/>
            <a:ext cx="3456432" cy="2514600"/>
          </a:xfrm>
          <a:prstGeom prst="roundRect">
            <a:avLst/>
          </a:prstGeom>
          <a:solidFill>
            <a:srgbClr val="0D1822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84463" y="1581912"/>
            <a:ext cx="457200" cy="457200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1" y="1609344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50" b="1">
                <a:solidFill>
                  <a:srgbClr val="F39C12"/>
                </a:solidFill>
                <a:latin typeface="Aptos"/>
              </a:rPr>
              <a:t>INDEPENDENT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240280"/>
            <a:ext cx="2816352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80" b="1">
                <a:solidFill>
                  <a:srgbClr val="F5F7FA"/>
                </a:solidFill>
                <a:latin typeface="Aptos"/>
              </a:rPr>
              <a:t>Children can grow, update, and be queried separately.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3319272"/>
            <a:ext cx="28163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B8C3CF"/>
                </a:solidFill>
                <a:latin typeface="Aptos"/>
              </a:rPr>
              <a:t>LIFECYCLE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315968"/>
            <a:ext cx="11356848" cy="1234440"/>
          </a:xfrm>
          <a:prstGeom prst="roundRect">
            <a:avLst/>
          </a:prstGeom>
          <a:solidFill>
            <a:srgbClr val="111D28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572000"/>
            <a:ext cx="11887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Aptos"/>
              </a:rPr>
              <a:t>REMEMBER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507992"/>
            <a:ext cx="94640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39" b="1">
                <a:solidFill>
                  <a:srgbClr val="F5F7FA"/>
                </a:solidFill>
                <a:latin typeface="Aptos"/>
              </a:rPr>
              <a:t>Keep the many side separate when growth, independent access, or lifecycle behavior makes a reference useful.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5843016"/>
            <a:ext cx="82753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0">
                <a:solidFill>
                  <a:srgbClr val="B8C3CF"/>
                </a:solidFill>
                <a:latin typeface="Aptos"/>
              </a:rPr>
              <a:t>Parent _id → child reference → separate reads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