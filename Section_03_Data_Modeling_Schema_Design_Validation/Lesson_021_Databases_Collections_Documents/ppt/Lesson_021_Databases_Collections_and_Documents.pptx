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8273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70B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6501384"/>
            <a:ext cx="11430000" cy="0"/>
          </a:xfrm>
          <a:prstGeom prst="line">
            <a:avLst/>
          </a:prstGeom>
          <a:noFill/>
          <a:ln w="12700">
            <a:solidFill>
              <a:srgbClr val="2235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B8C8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B8C8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B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65392"/>
            <a:ext cx="800000" cy="300000"/>
          </a:xfrm>
          <a:prstGeom prst="rect">
            <a:avLst/>
          </a:prstGeom>
          <a:ln/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B8C8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5F7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6C2BC"/>
                </a:solidFill>
              </a:rPr>
              <a:t>By the end of this lesson, learners should be comfortable with the three core building blocks.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542032" cy="2057400"/>
          </a:xfrm>
          <a:prstGeom prst="roundRect">
            <a:avLst>
              <a:gd name="adj" fmla="val 6222"/>
            </a:avLst>
          </a:prstGeom>
          <a:solidFill>
            <a:srgbClr val="111B18"/>
          </a:solidFill>
          <a:ln w="15240">
            <a:solidFill>
              <a:srgbClr val="F28C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67512" y="1581912"/>
            <a:ext cx="384048" cy="38404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143000" y="1572768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5F7F6"/>
                </a:solidFill>
              </a:rPr>
              <a:t>Understand the hierarchy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143000" y="1865376"/>
            <a:ext cx="1719072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6C2BC"/>
                </a:solidFill>
              </a:rPr>
              <a:t>Database → Collection → Document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67512" y="1051560"/>
            <a:ext cx="347472" cy="347472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67512" y="106070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0B0A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417320"/>
            <a:ext cx="2542032" cy="2057400"/>
          </a:xfrm>
          <a:prstGeom prst="roundRect">
            <a:avLst>
              <a:gd name="adj" fmla="val 6222"/>
            </a:avLst>
          </a:prstGeom>
          <a:solidFill>
            <a:srgbClr val="111B18"/>
          </a:solidFill>
          <a:ln w="15240">
            <a:solidFill>
              <a:srgbClr val="43E0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3502152" y="1581912"/>
            <a:ext cx="384048" cy="384048"/>
          </a:xfrm>
          <a:prstGeom prst="ellipse">
            <a:avLst/>
          </a:prstGeom>
          <a:solidFill>
            <a:srgbClr val="43E0C0"/>
          </a:solidFill>
          <a:ln w="12700">
            <a:solidFill>
              <a:srgbClr val="43E0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977640" y="1572768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5F7F6"/>
                </a:solidFill>
              </a:rPr>
              <a:t>Create a database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977640" y="1865376"/>
            <a:ext cx="1719072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6C2BC"/>
                </a:solidFill>
              </a:rPr>
              <a:t>Switch into an application database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502152" y="1051560"/>
            <a:ext cx="347472" cy="347472"/>
          </a:xfrm>
          <a:prstGeom prst="ellipse">
            <a:avLst/>
          </a:prstGeom>
          <a:solidFill>
            <a:srgbClr val="43E0C0"/>
          </a:solidFill>
          <a:ln w="12700">
            <a:solidFill>
              <a:srgbClr val="43E0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502152" y="106070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0B0A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1417320"/>
            <a:ext cx="2542032" cy="2057400"/>
          </a:xfrm>
          <a:prstGeom prst="roundRect">
            <a:avLst>
              <a:gd name="adj" fmla="val 6222"/>
            </a:avLst>
          </a:prstGeom>
          <a:solidFill>
            <a:srgbClr val="111B18"/>
          </a:solidFill>
          <a:ln w="15240">
            <a:solidFill>
              <a:srgbClr val="4AA8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336792" y="1581912"/>
            <a:ext cx="384048" cy="384048"/>
          </a:xfrm>
          <a:prstGeom prst="ellipse">
            <a:avLst/>
          </a:prstGeom>
          <a:solidFill>
            <a:srgbClr val="4AA8FF"/>
          </a:solidFill>
          <a:ln w="12700">
            <a:solidFill>
              <a:srgbClr val="4AA8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812280" y="1572768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5F7F6"/>
                </a:solidFill>
              </a:rPr>
              <a:t>Work with collections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812280" y="1865376"/>
            <a:ext cx="1719072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6C2BC"/>
                </a:solidFill>
              </a:rPr>
              <a:t>Create, list and manage collections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336792" y="1051560"/>
            <a:ext cx="347472" cy="347472"/>
          </a:xfrm>
          <a:prstGeom prst="ellipse">
            <a:avLst/>
          </a:prstGeom>
          <a:solidFill>
            <a:srgbClr val="4AA8FF"/>
          </a:solidFill>
          <a:ln w="12700">
            <a:solidFill>
              <a:srgbClr val="4AA8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336792" y="106070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0B0A"/>
                </a:solidFill>
              </a:rPr>
              <a:t>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006840" y="1417320"/>
            <a:ext cx="2542032" cy="2057400"/>
          </a:xfrm>
          <a:prstGeom prst="roundRect">
            <a:avLst>
              <a:gd name="adj" fmla="val 6222"/>
            </a:avLst>
          </a:prstGeom>
          <a:solidFill>
            <a:srgbClr val="111B18"/>
          </a:solidFill>
          <a:ln w="15240">
            <a:solidFill>
              <a:srgbClr val="B77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9171432" y="1581912"/>
            <a:ext cx="384048" cy="384048"/>
          </a:xfrm>
          <a:prstGeom prst="ellipse">
            <a:avLst/>
          </a:prstGeom>
          <a:solidFill>
            <a:srgbClr val="B77CFF"/>
          </a:solidFill>
          <a:ln w="12700">
            <a:solidFill>
              <a:srgbClr val="B77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9646920" y="1572768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5F7F6"/>
                </a:solidFill>
              </a:rPr>
              <a:t>Read documents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9646920" y="1865376"/>
            <a:ext cx="1719072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6C2BC"/>
                </a:solidFill>
              </a:rPr>
              <a:t>Insert, inspect and query documents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171432" y="1051560"/>
            <a:ext cx="347472" cy="347472"/>
          </a:xfrm>
          <a:prstGeom prst="ellipse">
            <a:avLst/>
          </a:prstGeom>
          <a:solidFill>
            <a:srgbClr val="B77CFF"/>
          </a:solidFill>
          <a:ln w="12700">
            <a:solidFill>
              <a:srgbClr val="B77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9171432" y="106070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0B0A"/>
                </a:solidFill>
              </a:rPr>
              <a:t>4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840480"/>
            <a:ext cx="11137392" cy="1664208"/>
          </a:xfrm>
          <a:prstGeom prst="roundRect">
            <a:avLst>
              <a:gd name="adj" fmla="val 7692"/>
            </a:avLst>
          </a:prstGeom>
          <a:solidFill>
            <a:srgbClr val="0A1210"/>
          </a:solidFill>
          <a:ln w="15240">
            <a:solidFill>
              <a:srgbClr val="29433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749808" y="407822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8C28"/>
                </a:solidFill>
              </a:rPr>
              <a:t>One running example — Order Management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749808" y="4462272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5F7F6"/>
                </a:solidFill>
              </a:rPr>
              <a:t>A practical order will carry us through the lesson so learners see where each MongoDB concept belongs in an application.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989320" y="4087368"/>
            <a:ext cx="1188720" cy="347472"/>
          </a:xfrm>
          <a:prstGeom prst="roundRect">
            <a:avLst>
              <a:gd name="adj" fmla="val 31579"/>
            </a:avLst>
          </a:prstGeom>
          <a:solidFill>
            <a:srgbClr val="13243A"/>
          </a:solidFill>
          <a:ln w="15240">
            <a:solidFill>
              <a:srgbClr val="4AA8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5989320" y="409651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A8FF"/>
                </a:solidFill>
              </a:rPr>
              <a:t>orders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296912" y="4087368"/>
            <a:ext cx="1325880" cy="347472"/>
          </a:xfrm>
          <a:prstGeom prst="roundRect">
            <a:avLst>
              <a:gd name="adj" fmla="val 31579"/>
            </a:avLst>
          </a:prstGeom>
          <a:solidFill>
            <a:srgbClr val="302617"/>
          </a:solidFill>
          <a:ln w="15240">
            <a:solidFill>
              <a:srgbClr val="FFA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7296912" y="409651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AA4A"/>
                </a:solidFill>
              </a:rPr>
              <a:t>customers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759952" y="4087368"/>
            <a:ext cx="1143000" cy="347472"/>
          </a:xfrm>
          <a:prstGeom prst="roundRect">
            <a:avLst>
              <a:gd name="adj" fmla="val 31579"/>
            </a:avLst>
          </a:prstGeom>
          <a:solidFill>
            <a:srgbClr val="241A33"/>
          </a:solidFill>
          <a:ln w="15240">
            <a:solidFill>
              <a:srgbClr val="B77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8759952" y="409651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77CFF"/>
                </a:solidFill>
              </a:rPr>
              <a:t>products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583680" y="4535424"/>
            <a:ext cx="0" cy="539496"/>
          </a:xfrm>
          <a:prstGeom prst="line">
            <a:avLst/>
          </a:prstGeom>
          <a:noFill/>
          <a:ln w="25400">
            <a:solidFill>
              <a:srgbClr val="F28C2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8229600" y="4535424"/>
            <a:ext cx="0" cy="539496"/>
          </a:xfrm>
          <a:prstGeom prst="line">
            <a:avLst/>
          </a:prstGeom>
          <a:noFill/>
          <a:ln w="25400">
            <a:solidFill>
              <a:srgbClr val="F28C2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9326880" y="4535424"/>
            <a:ext cx="0" cy="539496"/>
          </a:xfrm>
          <a:prstGeom prst="line">
            <a:avLst/>
          </a:prstGeom>
          <a:noFill/>
          <a:ln w="25400">
            <a:solidFill>
              <a:srgbClr val="F28C2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475488" y="6574536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C7A72"/>
                </a:solidFill>
              </a:rPr>
              <a:t>Build the mental model first; deeper CRUD, querying and data modeling come in later lessons.</a:t>
            </a:r>
            <a:endParaRPr lang="en-US" sz="85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65392"/>
            <a:ext cx="800000" cy="300000"/>
          </a:xfrm>
          <a:prstGeom prst="rect">
            <a:avLst/>
          </a:prstGeom>
          <a:ln/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B8C8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5F7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MongoDB in One Picture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6C2BC"/>
                </a:solidFill>
              </a:rPr>
              <a:t>The developer mental model starts with a simple hierarchy.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0972800" cy="4389120"/>
          </a:xfrm>
          <a:prstGeom prst="roundRect">
            <a:avLst>
              <a:gd name="adj" fmla="val 2917"/>
            </a:avLst>
          </a:prstGeom>
          <a:solidFill>
            <a:srgbClr val="0A1110"/>
          </a:solidFill>
          <a:ln w="15240">
            <a:solidFill>
              <a:srgbClr val="29433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919472" y="1691640"/>
            <a:ext cx="2331720" cy="502920"/>
          </a:xfrm>
          <a:prstGeom prst="ellipse">
            <a:avLst/>
          </a:prstGeom>
          <a:solidFill>
            <a:srgbClr val="1D5C3C"/>
          </a:solidFill>
          <a:ln w="25400">
            <a:solidFill>
              <a:srgbClr val="F28C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4919472" y="1920240"/>
            <a:ext cx="2331720" cy="502920"/>
          </a:xfrm>
          <a:prstGeom prst="rect">
            <a:avLst/>
          </a:prstGeom>
          <a:solidFill>
            <a:srgbClr val="133F2B"/>
          </a:solidFill>
          <a:ln w="25400">
            <a:solidFill>
              <a:srgbClr val="F28C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919472" y="2176272"/>
            <a:ext cx="2331720" cy="502920"/>
          </a:xfrm>
          <a:prstGeom prst="ellipse">
            <a:avLst/>
          </a:prstGeom>
          <a:solidFill>
            <a:srgbClr val="1D5C3C"/>
          </a:solidFill>
          <a:ln w="25400">
            <a:solidFill>
              <a:srgbClr val="F28C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157216" y="1929384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5F7F6"/>
                </a:solidFill>
              </a:rPr>
              <a:t>DATABASE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248656" y="2505456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6C2BC"/>
                </a:solidFill>
              </a:rPr>
              <a:t>Logical container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234440" y="3154680"/>
            <a:ext cx="2011680" cy="777240"/>
          </a:xfrm>
          <a:prstGeom prst="roundRect">
            <a:avLst>
              <a:gd name="adj" fmla="val 16471"/>
            </a:avLst>
          </a:prstGeom>
          <a:solidFill>
            <a:srgbClr val="111A18"/>
          </a:solidFill>
          <a:ln w="15240">
            <a:solidFill>
              <a:srgbClr val="FFA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1399032" y="3328416"/>
            <a:ext cx="566928" cy="438912"/>
          </a:xfrm>
          <a:prstGeom prst="rect">
            <a:avLst/>
          </a:prstGeom>
          <a:solidFill>
            <a:srgbClr val="0B1210"/>
          </a:solidFill>
          <a:ln w="25400">
            <a:solidFill>
              <a:srgbClr val="FFA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1545336" y="3374136"/>
            <a:ext cx="0" cy="320040"/>
          </a:xfrm>
          <a:prstGeom prst="line">
            <a:avLst/>
          </a:prstGeom>
          <a:noFill/>
          <a:ln w="25400">
            <a:solidFill>
              <a:srgbClr val="FFA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1682496" y="3374136"/>
            <a:ext cx="0" cy="320040"/>
          </a:xfrm>
          <a:prstGeom prst="line">
            <a:avLst/>
          </a:prstGeom>
          <a:noFill/>
          <a:ln w="25400">
            <a:solidFill>
              <a:srgbClr val="FFA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819656" y="3374136"/>
            <a:ext cx="0" cy="320040"/>
          </a:xfrm>
          <a:prstGeom prst="line">
            <a:avLst/>
          </a:prstGeom>
          <a:noFill/>
          <a:ln w="25400">
            <a:solidFill>
              <a:srgbClr val="FFA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2039112" y="331012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7F6"/>
                </a:solidFill>
              </a:rPr>
              <a:t>customers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039112" y="3602736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BC"/>
                </a:solidFill>
              </a:rPr>
              <a:t>collection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80760" y="2743200"/>
            <a:ext cx="0" cy="393192"/>
          </a:xfrm>
          <a:prstGeom prst="line">
            <a:avLst/>
          </a:prstGeom>
          <a:noFill/>
          <a:ln w="25400">
            <a:solidFill>
              <a:srgbClr val="FFAA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4297680" y="3154680"/>
            <a:ext cx="2011680" cy="777240"/>
          </a:xfrm>
          <a:prstGeom prst="roundRect">
            <a:avLst>
              <a:gd name="adj" fmla="val 16471"/>
            </a:avLst>
          </a:prstGeom>
          <a:solidFill>
            <a:srgbClr val="111A18"/>
          </a:solidFill>
          <a:ln w="15240">
            <a:solidFill>
              <a:srgbClr val="4AA8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4462272" y="3328416"/>
            <a:ext cx="566928" cy="438912"/>
          </a:xfrm>
          <a:prstGeom prst="rect">
            <a:avLst/>
          </a:prstGeom>
          <a:solidFill>
            <a:srgbClr val="0B1210"/>
          </a:solidFill>
          <a:ln w="25400">
            <a:solidFill>
              <a:srgbClr val="4AA8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4608576" y="3374136"/>
            <a:ext cx="0" cy="320040"/>
          </a:xfrm>
          <a:prstGeom prst="line">
            <a:avLst/>
          </a:prstGeom>
          <a:noFill/>
          <a:ln w="25400">
            <a:solidFill>
              <a:srgbClr val="4AA8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745736" y="3374136"/>
            <a:ext cx="0" cy="320040"/>
          </a:xfrm>
          <a:prstGeom prst="line">
            <a:avLst/>
          </a:prstGeom>
          <a:noFill/>
          <a:ln w="25400">
            <a:solidFill>
              <a:srgbClr val="4AA8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4882896" y="3374136"/>
            <a:ext cx="0" cy="320040"/>
          </a:xfrm>
          <a:prstGeom prst="line">
            <a:avLst/>
          </a:prstGeom>
          <a:noFill/>
          <a:ln w="25400">
            <a:solidFill>
              <a:srgbClr val="4AA8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5102352" y="331012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7F6"/>
                </a:solidFill>
              </a:rPr>
              <a:t>orders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102352" y="3602736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BC"/>
                </a:solidFill>
              </a:rPr>
              <a:t>collection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80760" y="2743200"/>
            <a:ext cx="0" cy="393192"/>
          </a:xfrm>
          <a:prstGeom prst="line">
            <a:avLst/>
          </a:prstGeom>
          <a:noFill/>
          <a:ln w="25400">
            <a:solidFill>
              <a:srgbClr val="4AA8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7360920" y="3154680"/>
            <a:ext cx="2011680" cy="777240"/>
          </a:xfrm>
          <a:prstGeom prst="roundRect">
            <a:avLst>
              <a:gd name="adj" fmla="val 16471"/>
            </a:avLst>
          </a:prstGeom>
          <a:solidFill>
            <a:srgbClr val="111A18"/>
          </a:solidFill>
          <a:ln w="15240">
            <a:solidFill>
              <a:srgbClr val="B77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7525512" y="3328416"/>
            <a:ext cx="566928" cy="438912"/>
          </a:xfrm>
          <a:prstGeom prst="rect">
            <a:avLst/>
          </a:prstGeom>
          <a:solidFill>
            <a:srgbClr val="0B1210"/>
          </a:solidFill>
          <a:ln w="25400">
            <a:solidFill>
              <a:srgbClr val="B77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7671816" y="3374136"/>
            <a:ext cx="0" cy="320040"/>
          </a:xfrm>
          <a:prstGeom prst="line">
            <a:avLst/>
          </a:prstGeom>
          <a:noFill/>
          <a:ln w="25400">
            <a:solidFill>
              <a:srgbClr val="B77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7808976" y="3374136"/>
            <a:ext cx="0" cy="320040"/>
          </a:xfrm>
          <a:prstGeom prst="line">
            <a:avLst/>
          </a:prstGeom>
          <a:noFill/>
          <a:ln w="25400">
            <a:solidFill>
              <a:srgbClr val="B77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7946136" y="3374136"/>
            <a:ext cx="0" cy="320040"/>
          </a:xfrm>
          <a:prstGeom prst="line">
            <a:avLst/>
          </a:prstGeom>
          <a:noFill/>
          <a:ln w="25400">
            <a:solidFill>
              <a:srgbClr val="B77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8165592" y="331012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7F6"/>
                </a:solidFill>
              </a:rPr>
              <a:t>products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165592" y="3602736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BC"/>
                </a:solidFill>
              </a:rPr>
              <a:t>collection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080760" y="2743200"/>
            <a:ext cx="2286000" cy="393192"/>
          </a:xfrm>
          <a:prstGeom prst="line">
            <a:avLst/>
          </a:prstGeom>
          <a:noFill/>
          <a:ln w="25400">
            <a:solidFill>
              <a:srgbClr val="B77C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868680" y="4343400"/>
            <a:ext cx="2560320" cy="932688"/>
          </a:xfrm>
          <a:prstGeom prst="roundRect">
            <a:avLst>
              <a:gd name="adj" fmla="val 13725"/>
            </a:avLst>
          </a:prstGeom>
          <a:solidFill>
            <a:srgbClr val="0B1210"/>
          </a:solidFill>
          <a:ln w="15240">
            <a:solidFill>
              <a:srgbClr val="FFA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996696" y="4453128"/>
            <a:ext cx="1371600" cy="256032"/>
          </a:xfrm>
          <a:prstGeom prst="roundRect">
            <a:avLst>
              <a:gd name="adj" fmla="val 42857"/>
            </a:avLst>
          </a:prstGeom>
          <a:solidFill>
            <a:srgbClr val="13221D"/>
          </a:solidFill>
          <a:ln w="15240">
            <a:solidFill>
              <a:srgbClr val="FFA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996696" y="44622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AA4A"/>
                </a:solidFill>
              </a:rPr>
              <a:t>Customer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033272" y="4800600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F5F7F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
</a:t>
            </a:r>
            <a:r>
              <a:rPr lang="en-US" sz="850" dirty="0">
                <a:solidFill>
                  <a:srgbClr val="B6C2B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_id, fields, ...
}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240280" y="3931920"/>
            <a:ext cx="0" cy="393192"/>
          </a:xfrm>
          <a:prstGeom prst="line">
            <a:avLst/>
          </a:prstGeom>
          <a:noFill/>
          <a:ln w="25400">
            <a:solidFill>
              <a:srgbClr val="FFAA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3931920" y="4343400"/>
            <a:ext cx="2560320" cy="932688"/>
          </a:xfrm>
          <a:prstGeom prst="roundRect">
            <a:avLst>
              <a:gd name="adj" fmla="val 13725"/>
            </a:avLst>
          </a:prstGeom>
          <a:solidFill>
            <a:srgbClr val="0B1210"/>
          </a:solidFill>
          <a:ln w="15240">
            <a:solidFill>
              <a:srgbClr val="4AA8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4059936" y="4453128"/>
            <a:ext cx="1371600" cy="256032"/>
          </a:xfrm>
          <a:prstGeom prst="roundRect">
            <a:avLst>
              <a:gd name="adj" fmla="val 42857"/>
            </a:avLst>
          </a:prstGeom>
          <a:solidFill>
            <a:srgbClr val="13221D"/>
          </a:solidFill>
          <a:ln w="15240">
            <a:solidFill>
              <a:srgbClr val="4AA8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4059936" y="44622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AA8FF"/>
                </a:solidFill>
              </a:rPr>
              <a:t>Order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096512" y="4800600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F5F7F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
</a:t>
            </a:r>
            <a:r>
              <a:rPr lang="en-US" sz="850" dirty="0">
                <a:solidFill>
                  <a:srgbClr val="B6C2B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_id, fields, ...
}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303520" y="3931920"/>
            <a:ext cx="0" cy="393192"/>
          </a:xfrm>
          <a:prstGeom prst="line">
            <a:avLst/>
          </a:prstGeom>
          <a:noFill/>
          <a:ln w="25400">
            <a:solidFill>
              <a:srgbClr val="4AA8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6995160" y="4343400"/>
            <a:ext cx="2560320" cy="932688"/>
          </a:xfrm>
          <a:prstGeom prst="roundRect">
            <a:avLst>
              <a:gd name="adj" fmla="val 13725"/>
            </a:avLst>
          </a:prstGeom>
          <a:solidFill>
            <a:srgbClr val="0B1210"/>
          </a:solidFill>
          <a:ln w="15240">
            <a:solidFill>
              <a:srgbClr val="B77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Shape 43"/>
          <p:cNvSpPr/>
          <p:nvPr/>
        </p:nvSpPr>
        <p:spPr>
          <a:xfrm>
            <a:off x="7123176" y="4453128"/>
            <a:ext cx="1371600" cy="256032"/>
          </a:xfrm>
          <a:prstGeom prst="roundRect">
            <a:avLst>
              <a:gd name="adj" fmla="val 42857"/>
            </a:avLst>
          </a:prstGeom>
          <a:solidFill>
            <a:srgbClr val="13221D"/>
          </a:solidFill>
          <a:ln w="15240">
            <a:solidFill>
              <a:srgbClr val="B77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7123176" y="44622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77CFF"/>
                </a:solidFill>
              </a:rPr>
              <a:t>Product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159752" y="4800600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F5F7F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
</a:t>
            </a:r>
            <a:r>
              <a:rPr lang="en-US" sz="850" dirty="0">
                <a:solidFill>
                  <a:srgbClr val="B6C2B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_id, fields, ...
}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8366760" y="3931920"/>
            <a:ext cx="0" cy="393192"/>
          </a:xfrm>
          <a:prstGeom prst="line">
            <a:avLst/>
          </a:prstGeom>
          <a:noFill/>
          <a:ln w="25400">
            <a:solidFill>
              <a:srgbClr val="B77C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9" name="Shape 47"/>
          <p:cNvSpPr/>
          <p:nvPr/>
        </p:nvSpPr>
        <p:spPr>
          <a:xfrm>
            <a:off x="9710928" y="1554480"/>
            <a:ext cx="1325880" cy="347472"/>
          </a:xfrm>
          <a:prstGeom prst="roundRect">
            <a:avLst>
              <a:gd name="adj" fmla="val 31579"/>
            </a:avLst>
          </a:prstGeom>
          <a:solidFill>
            <a:srgbClr val="13251B"/>
          </a:solidFill>
          <a:ln w="15240">
            <a:solidFill>
              <a:srgbClr val="F28C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9710928" y="156362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28C28"/>
                </a:solidFill>
              </a:rPr>
              <a:t>Think: App data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9555480" y="20574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F5F7F6"/>
                </a:solidFill>
              </a:rPr>
              <a:t>A document is the actual data object your application reads and writes.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475488" y="6574536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C7A72"/>
                </a:solidFill>
              </a:rPr>
              <a:t>Hierarchy: Database → Collection → Document</a:t>
            </a:r>
            <a:endParaRPr lang="en-US" sz="850" dirty="0"/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65392"/>
            <a:ext cx="800000" cy="300000"/>
          </a:xfrm>
          <a:prstGeom prst="rect">
            <a:avLst/>
          </a:prstGeom>
          <a:ln/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B8C8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5F7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 — Database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6C2BC"/>
                </a:solidFill>
              </a:rPr>
              <a:t>Use a database to group collections that belong to an application or domain.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749040" cy="4526280"/>
          </a:xfrm>
          <a:prstGeom prst="roundRect">
            <a:avLst>
              <a:gd name="adj" fmla="val 3415"/>
            </a:avLst>
          </a:prstGeom>
          <a:solidFill>
            <a:srgbClr val="0A1110"/>
          </a:solidFill>
          <a:ln w="15240">
            <a:solidFill>
              <a:srgbClr val="29433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41248" y="1737360"/>
            <a:ext cx="566928" cy="164592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41248" y="1819656"/>
            <a:ext cx="566928" cy="31089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841248" y="2002536"/>
            <a:ext cx="566928" cy="164592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572768" y="16916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28C28"/>
                </a:solidFill>
              </a:rPr>
              <a:t>orderdb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841248" y="2359152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5F7F6"/>
                </a:solidFill>
              </a:rPr>
              <a:t>A logical container for related collections.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41248" y="3127248"/>
            <a:ext cx="237744" cy="237744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41248" y="313639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0B0A"/>
                </a:solidFill>
              </a:rPr>
              <a:t>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207008" y="309981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F5F7F6"/>
                </a:solidFill>
              </a:rPr>
              <a:t>Name it for the application domain</a:t>
            </a:r>
            <a:endParaRPr lang="en-US" sz="1160" dirty="0"/>
          </a:p>
        </p:txBody>
      </p:sp>
      <p:sp>
        <p:nvSpPr>
          <p:cNvPr id="13" name="Shape 11"/>
          <p:cNvSpPr/>
          <p:nvPr/>
        </p:nvSpPr>
        <p:spPr>
          <a:xfrm>
            <a:off x="841248" y="3712464"/>
            <a:ext cx="237744" cy="237744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41248" y="372160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0B0A"/>
                </a:solidFill>
              </a:rPr>
              <a:t>✓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207008" y="368503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F5F7F6"/>
                </a:solidFill>
              </a:rPr>
              <a:t>Switch into it with use orderdb</a:t>
            </a:r>
            <a:endParaRPr lang="en-US" sz="1160" dirty="0"/>
          </a:p>
        </p:txBody>
      </p:sp>
      <p:sp>
        <p:nvSpPr>
          <p:cNvPr id="16" name="Shape 14"/>
          <p:cNvSpPr/>
          <p:nvPr/>
        </p:nvSpPr>
        <p:spPr>
          <a:xfrm>
            <a:off x="841248" y="4297680"/>
            <a:ext cx="237744" cy="237744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41248" y="4306824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0B0A"/>
                </a:solidFill>
              </a:rPr>
              <a:t>✓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207008" y="427024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F5F7F6"/>
                </a:solidFill>
              </a:rPr>
              <a:t>MongoDB can create it when data is first written</a:t>
            </a:r>
            <a:endParaRPr lang="en-US" sz="1160" dirty="0"/>
          </a:p>
        </p:txBody>
      </p:sp>
      <p:sp>
        <p:nvSpPr>
          <p:cNvPr id="19" name="Shape 17"/>
          <p:cNvSpPr/>
          <p:nvPr/>
        </p:nvSpPr>
        <p:spPr>
          <a:xfrm>
            <a:off x="841248" y="4882896"/>
            <a:ext cx="237744" cy="237744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841248" y="4892040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0B0A"/>
                </a:solidFill>
              </a:rPr>
              <a:t>✓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207008" y="485546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F5F7F6"/>
                </a:solidFill>
              </a:rPr>
              <a:t>Keep permissions and operational boundaries clear</a:t>
            </a:r>
            <a:endParaRPr lang="en-US" sz="1160" dirty="0"/>
          </a:p>
        </p:txBody>
      </p:sp>
      <p:sp>
        <p:nvSpPr>
          <p:cNvPr id="22" name="Shape 20"/>
          <p:cNvSpPr/>
          <p:nvPr/>
        </p:nvSpPr>
        <p:spPr>
          <a:xfrm>
            <a:off x="4526280" y="1417320"/>
            <a:ext cx="7086600" cy="2331720"/>
          </a:xfrm>
          <a:prstGeom prst="roundRect">
            <a:avLst>
              <a:gd name="adj" fmla="val 5490"/>
            </a:avLst>
          </a:prstGeom>
          <a:solidFill>
            <a:srgbClr val="0A1110"/>
          </a:solidFill>
          <a:ln w="15240">
            <a:solidFill>
              <a:srgbClr val="23433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4636008" y="1527048"/>
            <a:ext cx="822960" cy="219456"/>
          </a:xfrm>
          <a:prstGeom prst="roundRect">
            <a:avLst>
              <a:gd name="adj" fmla="val 33333"/>
            </a:avLst>
          </a:prstGeom>
          <a:solidFill>
            <a:srgbClr val="16241F"/>
          </a:solidFill>
          <a:ln w="6350">
            <a:solidFill>
              <a:srgbClr val="2846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4690872" y="1545336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F28C28"/>
                </a:solidFill>
              </a:rPr>
              <a:t>mongosh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90872" y="1847088"/>
            <a:ext cx="6793992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B6C2B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switch to the application database
</a:t>
            </a:r>
            <a:r>
              <a:rPr lang="en-US" sz="1030" dirty="0">
                <a:solidFill>
                  <a:srgbClr val="F28C2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use orderdb
</a:t>
            </a:r>
            <a:r>
              <a:rPr lang="en-US" sz="1030" dirty="0">
                <a:solidFill>
                  <a:srgbClr val="F5F7F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[object Object]
</a:t>
            </a:r>
            <a:r>
              <a:rPr lang="en-US" sz="1030" dirty="0">
                <a:solidFill>
                  <a:srgbClr val="B6C2B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inspect the current database
</a:t>
            </a:r>
            <a:r>
              <a:rPr lang="en-US" sz="1030" dirty="0">
                <a:solidFill>
                  <a:srgbClr val="4AA8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db.getName()
</a:t>
            </a:r>
            <a:r>
              <a:rPr lang="en-US" sz="1030" dirty="0">
                <a:solidFill>
                  <a:srgbClr val="F5F7F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[object Object]
</a:t>
            </a:r>
            <a:r>
              <a:rPr lang="en-US" sz="1030" dirty="0">
                <a:solidFill>
                  <a:srgbClr val="B6C2B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list databases (when permitted)
</a:t>
            </a:r>
            <a:r>
              <a:rPr lang="en-US" sz="1030" dirty="0">
                <a:solidFill>
                  <a:srgbClr val="FFAA4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show dbs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4526280" y="3977640"/>
            <a:ext cx="7086600" cy="1874520"/>
          </a:xfrm>
          <a:prstGeom prst="roundRect">
            <a:avLst>
              <a:gd name="adj" fmla="val 6829"/>
            </a:avLst>
          </a:prstGeom>
          <a:solidFill>
            <a:srgbClr val="0F1916"/>
          </a:solidFill>
          <a:ln w="15240">
            <a:solidFill>
              <a:srgbClr val="29433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773168" y="422452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8C28"/>
                </a:solidFill>
              </a:rPr>
              <a:t>Developer tip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773168" y="4572000"/>
            <a:ext cx="6355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5F7F6"/>
                </a:solidFill>
              </a:rPr>
              <a:t>Think of a database as the top-level boundary that gives your collections a shared home. It is not the same thing as a collection or a document.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75488" y="6574536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C7A72"/>
                </a:solidFill>
              </a:rPr>
              <a:t>Database = the logical home for related collections.</a:t>
            </a:r>
            <a:endParaRPr lang="en-US" sz="8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65392"/>
            <a:ext cx="800000" cy="300000"/>
          </a:xfrm>
          <a:prstGeom prst="rect">
            <a:avLst/>
          </a:prstGeom>
          <a:ln/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B8C8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5F7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 — Collections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6C2BC"/>
                </a:solidFill>
              </a:rPr>
              <a:t>Collections group related documents and provide the working surface for queries and indexes.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2212848" cy="2057400"/>
          </a:xfrm>
          <a:prstGeom prst="roundRect">
            <a:avLst>
              <a:gd name="adj" fmla="val 6222"/>
            </a:avLst>
          </a:prstGeom>
          <a:solidFill>
            <a:srgbClr val="0D1412"/>
          </a:solidFill>
          <a:ln w="15240">
            <a:solidFill>
              <a:srgbClr val="FFA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41248" y="1737360"/>
            <a:ext cx="566928" cy="438912"/>
          </a:xfrm>
          <a:prstGeom prst="rect">
            <a:avLst/>
          </a:prstGeom>
          <a:solidFill>
            <a:srgbClr val="0B1210"/>
          </a:solidFill>
          <a:ln w="25400">
            <a:solidFill>
              <a:srgbClr val="FFA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987552" y="1783080"/>
            <a:ext cx="0" cy="320040"/>
          </a:xfrm>
          <a:prstGeom prst="line">
            <a:avLst/>
          </a:prstGeom>
          <a:noFill/>
          <a:ln w="25400">
            <a:solidFill>
              <a:srgbClr val="FFA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24712" y="1783080"/>
            <a:ext cx="0" cy="320040"/>
          </a:xfrm>
          <a:prstGeom prst="line">
            <a:avLst/>
          </a:prstGeom>
          <a:noFill/>
          <a:ln w="25400">
            <a:solidFill>
              <a:srgbClr val="FFA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261872" y="1783080"/>
            <a:ext cx="0" cy="320040"/>
          </a:xfrm>
          <a:prstGeom prst="line">
            <a:avLst/>
          </a:prstGeom>
          <a:noFill/>
          <a:ln w="25400">
            <a:solidFill>
              <a:srgbClr val="FFA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41248" y="22402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F7F6"/>
                </a:solidFill>
              </a:rPr>
              <a:t>customers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59536" y="265176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6C2BC"/>
                </a:solidFill>
              </a:rPr>
              <a:t>customer documents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024128" y="3364992"/>
            <a:ext cx="1463040" cy="1234440"/>
          </a:xfrm>
          <a:prstGeom prst="roundRect">
            <a:avLst>
              <a:gd name="adj" fmla="val 10370"/>
            </a:avLst>
          </a:prstGeom>
          <a:solidFill>
            <a:srgbClr val="0B1210"/>
          </a:solidFill>
          <a:ln w="15240">
            <a:solidFill>
              <a:srgbClr val="FFA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1152144" y="3474720"/>
            <a:ext cx="1207008" cy="256032"/>
          </a:xfrm>
          <a:prstGeom prst="roundRect">
            <a:avLst>
              <a:gd name="adj" fmla="val 42857"/>
            </a:avLst>
          </a:prstGeom>
          <a:solidFill>
            <a:srgbClr val="13221D"/>
          </a:solidFill>
          <a:ln w="15240">
            <a:solidFill>
              <a:srgbClr val="FFA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1152144" y="3483864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AA4A"/>
                </a:solidFill>
              </a:rPr>
              <a:t>doc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188720" y="3822192"/>
            <a:ext cx="1133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F5F7F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
</a:t>
            </a:r>
            <a:r>
              <a:rPr lang="en-US" sz="850" dirty="0">
                <a:solidFill>
                  <a:srgbClr val="B6C2B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...
}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746504" y="3493008"/>
            <a:ext cx="0" cy="0"/>
          </a:xfrm>
          <a:prstGeom prst="line">
            <a:avLst/>
          </a:prstGeom>
          <a:noFill/>
          <a:ln w="25400">
            <a:solidFill>
              <a:srgbClr val="FFAA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3218688" y="1417320"/>
            <a:ext cx="2212848" cy="2057400"/>
          </a:xfrm>
          <a:prstGeom prst="roundRect">
            <a:avLst>
              <a:gd name="adj" fmla="val 6222"/>
            </a:avLst>
          </a:prstGeom>
          <a:solidFill>
            <a:srgbClr val="0D1412"/>
          </a:solidFill>
          <a:ln w="15240">
            <a:solidFill>
              <a:srgbClr val="4AA8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3419856" y="1737360"/>
            <a:ext cx="566928" cy="438912"/>
          </a:xfrm>
          <a:prstGeom prst="rect">
            <a:avLst/>
          </a:prstGeom>
          <a:solidFill>
            <a:srgbClr val="0B1210"/>
          </a:solidFill>
          <a:ln w="25400">
            <a:solidFill>
              <a:srgbClr val="4AA8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3566160" y="1783080"/>
            <a:ext cx="0" cy="320040"/>
          </a:xfrm>
          <a:prstGeom prst="line">
            <a:avLst/>
          </a:prstGeom>
          <a:noFill/>
          <a:ln w="25400">
            <a:solidFill>
              <a:srgbClr val="4AA8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3703320" y="1783080"/>
            <a:ext cx="0" cy="320040"/>
          </a:xfrm>
          <a:prstGeom prst="line">
            <a:avLst/>
          </a:prstGeom>
          <a:noFill/>
          <a:ln w="25400">
            <a:solidFill>
              <a:srgbClr val="4AA8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3840480" y="1783080"/>
            <a:ext cx="0" cy="320040"/>
          </a:xfrm>
          <a:prstGeom prst="line">
            <a:avLst/>
          </a:prstGeom>
          <a:noFill/>
          <a:ln w="25400">
            <a:solidFill>
              <a:srgbClr val="4AA8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3419856" y="22402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F7F6"/>
                </a:solidFill>
              </a:rPr>
              <a:t>orders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438144" y="265176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6C2BC"/>
                </a:solidFill>
              </a:rPr>
              <a:t>order documents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02736" y="3364992"/>
            <a:ext cx="1463040" cy="1234440"/>
          </a:xfrm>
          <a:prstGeom prst="roundRect">
            <a:avLst>
              <a:gd name="adj" fmla="val 10370"/>
            </a:avLst>
          </a:prstGeom>
          <a:solidFill>
            <a:srgbClr val="0B1210"/>
          </a:solidFill>
          <a:ln w="15240">
            <a:solidFill>
              <a:srgbClr val="4AA8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3730752" y="3474720"/>
            <a:ext cx="1207008" cy="256032"/>
          </a:xfrm>
          <a:prstGeom prst="roundRect">
            <a:avLst>
              <a:gd name="adj" fmla="val 42857"/>
            </a:avLst>
          </a:prstGeom>
          <a:solidFill>
            <a:srgbClr val="13221D"/>
          </a:solidFill>
          <a:ln w="15240">
            <a:solidFill>
              <a:srgbClr val="4AA8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3730752" y="3483864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AA8FF"/>
                </a:solidFill>
              </a:rPr>
              <a:t>doc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767328" y="3822192"/>
            <a:ext cx="1133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F5F7F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
</a:t>
            </a:r>
            <a:r>
              <a:rPr lang="en-US" sz="850" dirty="0">
                <a:solidFill>
                  <a:srgbClr val="B6C2B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...
}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325112" y="3493008"/>
            <a:ext cx="0" cy="0"/>
          </a:xfrm>
          <a:prstGeom prst="line">
            <a:avLst/>
          </a:prstGeom>
          <a:noFill/>
          <a:ln w="25400">
            <a:solidFill>
              <a:srgbClr val="4AA8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5797296" y="1417320"/>
            <a:ext cx="2212848" cy="2057400"/>
          </a:xfrm>
          <a:prstGeom prst="roundRect">
            <a:avLst>
              <a:gd name="adj" fmla="val 6222"/>
            </a:avLst>
          </a:prstGeom>
          <a:solidFill>
            <a:srgbClr val="0D1412"/>
          </a:solidFill>
          <a:ln w="15240">
            <a:solidFill>
              <a:srgbClr val="B77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5998464" y="1737360"/>
            <a:ext cx="566928" cy="438912"/>
          </a:xfrm>
          <a:prstGeom prst="rect">
            <a:avLst/>
          </a:prstGeom>
          <a:solidFill>
            <a:srgbClr val="0B1210"/>
          </a:solidFill>
          <a:ln w="25400">
            <a:solidFill>
              <a:srgbClr val="B77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6144768" y="1783080"/>
            <a:ext cx="0" cy="320040"/>
          </a:xfrm>
          <a:prstGeom prst="line">
            <a:avLst/>
          </a:prstGeom>
          <a:noFill/>
          <a:ln w="25400">
            <a:solidFill>
              <a:srgbClr val="B77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6281928" y="1783080"/>
            <a:ext cx="0" cy="320040"/>
          </a:xfrm>
          <a:prstGeom prst="line">
            <a:avLst/>
          </a:prstGeom>
          <a:noFill/>
          <a:ln w="25400">
            <a:solidFill>
              <a:srgbClr val="B77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6419088" y="1783080"/>
            <a:ext cx="0" cy="320040"/>
          </a:xfrm>
          <a:prstGeom prst="line">
            <a:avLst/>
          </a:prstGeom>
          <a:noFill/>
          <a:ln w="25400">
            <a:solidFill>
              <a:srgbClr val="B77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5998464" y="22402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F7F6"/>
                </a:solidFill>
              </a:rPr>
              <a:t>products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016752" y="265176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6C2BC"/>
                </a:solidFill>
              </a:rPr>
              <a:t>product documents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181344" y="3364992"/>
            <a:ext cx="1463040" cy="1234440"/>
          </a:xfrm>
          <a:prstGeom prst="roundRect">
            <a:avLst>
              <a:gd name="adj" fmla="val 10370"/>
            </a:avLst>
          </a:prstGeom>
          <a:solidFill>
            <a:srgbClr val="0B1210"/>
          </a:solidFill>
          <a:ln w="15240">
            <a:solidFill>
              <a:srgbClr val="B77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6309360" y="3474720"/>
            <a:ext cx="1207008" cy="256032"/>
          </a:xfrm>
          <a:prstGeom prst="roundRect">
            <a:avLst>
              <a:gd name="adj" fmla="val 42857"/>
            </a:avLst>
          </a:prstGeom>
          <a:solidFill>
            <a:srgbClr val="13221D"/>
          </a:solidFill>
          <a:ln w="15240">
            <a:solidFill>
              <a:srgbClr val="B77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6309360" y="3483864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77CFF"/>
                </a:solidFill>
              </a:rPr>
              <a:t>doc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345936" y="3822192"/>
            <a:ext cx="1133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F5F7F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
</a:t>
            </a:r>
            <a:r>
              <a:rPr lang="en-US" sz="850" dirty="0">
                <a:solidFill>
                  <a:srgbClr val="B6C2B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...
}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903720" y="3493008"/>
            <a:ext cx="0" cy="0"/>
          </a:xfrm>
          <a:prstGeom prst="line">
            <a:avLst/>
          </a:prstGeom>
          <a:noFill/>
          <a:ln w="25400">
            <a:solidFill>
              <a:srgbClr val="B77C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8686800" y="1417320"/>
            <a:ext cx="2788920" cy="4407408"/>
          </a:xfrm>
          <a:prstGeom prst="roundRect">
            <a:avLst>
              <a:gd name="adj" fmla="val 4590"/>
            </a:avLst>
          </a:prstGeom>
          <a:solidFill>
            <a:srgbClr val="0A1110"/>
          </a:solidFill>
          <a:ln w="15240">
            <a:solidFill>
              <a:srgbClr val="29433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8961120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8C28"/>
                </a:solidFill>
              </a:rPr>
              <a:t>Collections can also have: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8979408" y="2267712"/>
            <a:ext cx="210312" cy="210312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8979408" y="2276856"/>
            <a:ext cx="2103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0B0A"/>
                </a:solidFill>
              </a:rPr>
              <a:t>+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308592" y="2231136"/>
            <a:ext cx="1783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7F6"/>
                </a:solidFill>
              </a:rPr>
              <a:t>Indexes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979408" y="2889504"/>
            <a:ext cx="210312" cy="210312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8979408" y="2898648"/>
            <a:ext cx="2103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0B0A"/>
                </a:solidFill>
              </a:rPr>
              <a:t>+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9308592" y="2852928"/>
            <a:ext cx="1783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7F6"/>
                </a:solidFill>
              </a:rPr>
              <a:t>Validation rules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979408" y="3511296"/>
            <a:ext cx="210312" cy="210312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8979408" y="3520440"/>
            <a:ext cx="2103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0B0A"/>
                </a:solidFill>
              </a:rPr>
              <a:t>+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9308592" y="3474720"/>
            <a:ext cx="1783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7F6"/>
                </a:solidFill>
              </a:rPr>
              <a:t>Collection options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8979408" y="4133088"/>
            <a:ext cx="210312" cy="210312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8979408" y="4142232"/>
            <a:ext cx="2103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0B0A"/>
                </a:solidFill>
              </a:rPr>
              <a:t>+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9308592" y="4096512"/>
            <a:ext cx="1783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7F6"/>
                </a:solidFill>
              </a:rPr>
              <a:t>Independent lifecycle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8924544" y="4956048"/>
            <a:ext cx="2029968" cy="384048"/>
          </a:xfrm>
          <a:prstGeom prst="roundRect">
            <a:avLst>
              <a:gd name="adj" fmla="val 28571"/>
            </a:avLst>
          </a:prstGeom>
          <a:solidFill>
            <a:srgbClr val="12251F"/>
          </a:solidFill>
          <a:ln w="15240">
            <a:solidFill>
              <a:srgbClr val="43E0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8924544" y="496519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3E0C0"/>
                </a:solidFill>
              </a:rPr>
              <a:t>Similar idea: table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475488" y="6574536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C7A72"/>
                </a:solidFill>
              </a:rPr>
              <a:t>Collection = a named group of related documents.</a:t>
            </a:r>
            <a:endParaRPr lang="en-US" sz="850" dirty="0"/>
          </a:p>
        </p:txBody>
      </p:sp>
      <p:sp>
        <p:nvSpPr>
          <p:cNvPr id="5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65392"/>
            <a:ext cx="800000" cy="300000"/>
          </a:xfrm>
          <a:prstGeom prst="rect">
            <a:avLst/>
          </a:prstGeom>
          <a:ln/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B8C8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5F7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 — Documents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6C2BC"/>
                </a:solidFill>
              </a:rPr>
              <a:t>Documents hold the business data your application actually uses.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7040880" cy="4892040"/>
          </a:xfrm>
          <a:prstGeom prst="roundRect">
            <a:avLst>
              <a:gd name="adj" fmla="val 2617"/>
            </a:avLst>
          </a:prstGeom>
          <a:solidFill>
            <a:srgbClr val="0A1110"/>
          </a:solidFill>
          <a:ln w="15240">
            <a:solidFill>
              <a:srgbClr val="29433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49808" y="1572768"/>
            <a:ext cx="1481328" cy="365760"/>
          </a:xfrm>
          <a:prstGeom prst="roundRect">
            <a:avLst>
              <a:gd name="adj" fmla="val 30000"/>
            </a:avLst>
          </a:prstGeom>
          <a:solidFill>
            <a:srgbClr val="12243A"/>
          </a:solidFill>
          <a:ln w="15240">
            <a:solidFill>
              <a:srgbClr val="4AA8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49808" y="158191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A8FF"/>
                </a:solidFill>
              </a:rPr>
              <a:t>orders document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" y="2084832"/>
            <a:ext cx="6355080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5F7F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
</a:t>
            </a:r>
            <a:r>
              <a:rPr lang="en-US" sz="1300" dirty="0">
                <a:solidFill>
                  <a:srgbClr val="F28C2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orderId: "ORD-1001",
</a:t>
            </a:r>
            <a:r>
              <a:rPr lang="en-US" sz="1300" dirty="0">
                <a:solidFill>
                  <a:srgbClr val="B6C2B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orderDate: ISODate("2026-09-15"),
</a:t>
            </a:r>
            <a:r>
              <a:rPr lang="en-US" sz="1300" dirty="0">
                <a:solidFill>
                  <a:srgbClr val="F28C2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status: "CONFIRMED",
</a:t>
            </a:r>
            <a:r>
              <a:rPr lang="en-US" sz="1300" dirty="0">
                <a:solidFill>
                  <a:srgbClr val="B6C2B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items: [
    { productId: "P100", qty: 2, price: 499.50 },
    { productId: "P200", qty: 1, price: 25.50 }
  ],
  shippingAddress: { city: "Chennai", country: "India" },
</a:t>
            </a:r>
            <a:r>
              <a:rPr lang="en-US" sz="1300" dirty="0">
                <a:solidFill>
                  <a:srgbClr val="F28C2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payment: { method: "CARD", status: "AUTHORIZED" }
</a:t>
            </a:r>
            <a:r>
              <a:rPr lang="en-US" sz="1300" dirty="0">
                <a:solidFill>
                  <a:srgbClr val="F5F7F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2834640"/>
            <a:ext cx="1335024" cy="329184"/>
          </a:xfrm>
          <a:prstGeom prst="roundRect">
            <a:avLst>
              <a:gd name="adj" fmla="val 33333"/>
            </a:avLst>
          </a:prstGeom>
          <a:solidFill>
            <a:srgbClr val="1A1D30"/>
          </a:solidFill>
          <a:ln w="15240">
            <a:solidFill>
              <a:srgbClr val="B77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400800" y="2843784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77CFF"/>
                </a:solidFill>
              </a:rPr>
              <a:t>Nested object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0" y="3749040"/>
            <a:ext cx="1335024" cy="329184"/>
          </a:xfrm>
          <a:prstGeom prst="roundRect">
            <a:avLst>
              <a:gd name="adj" fmla="val 33333"/>
            </a:avLst>
          </a:prstGeom>
          <a:solidFill>
            <a:srgbClr val="1A1D30"/>
          </a:solidFill>
          <a:ln w="15240">
            <a:solidFill>
              <a:srgbClr val="4AA8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400800" y="3758184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AA8FF"/>
                </a:solidFill>
              </a:rPr>
              <a:t>Array of items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00800" y="4663440"/>
            <a:ext cx="1335024" cy="329184"/>
          </a:xfrm>
          <a:prstGeom prst="roundRect">
            <a:avLst>
              <a:gd name="adj" fmla="val 33333"/>
            </a:avLst>
          </a:prstGeom>
          <a:solidFill>
            <a:srgbClr val="1A1D30"/>
          </a:solidFill>
          <a:ln w="15240">
            <a:solidFill>
              <a:srgbClr val="FFA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0" y="4672584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AA4A"/>
                </a:solidFill>
              </a:rPr>
              <a:t>Native Date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818120" y="1298448"/>
            <a:ext cx="3822192" cy="4892040"/>
          </a:xfrm>
          <a:prstGeom prst="roundRect">
            <a:avLst>
              <a:gd name="adj" fmla="val 3349"/>
            </a:avLst>
          </a:prstGeom>
          <a:solidFill>
            <a:srgbClr val="0D1412"/>
          </a:solidFill>
          <a:ln w="15240">
            <a:solidFill>
              <a:srgbClr val="29433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8183880" y="1737360"/>
            <a:ext cx="438912" cy="566928"/>
          </a:xfrm>
          <a:prstGeom prst="rect">
            <a:avLst/>
          </a:prstGeom>
          <a:solidFill>
            <a:srgbClr val="0B1210"/>
          </a:solidFill>
          <a:ln w="25400">
            <a:solidFill>
              <a:srgbClr val="F28C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8293608" y="1920240"/>
            <a:ext cx="201168" cy="0"/>
          </a:xfrm>
          <a:prstGeom prst="line">
            <a:avLst/>
          </a:prstGeom>
          <a:noFill/>
          <a:ln w="19050">
            <a:solidFill>
              <a:srgbClr val="F28C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8293608" y="2029968"/>
            <a:ext cx="201168" cy="0"/>
          </a:xfrm>
          <a:prstGeom prst="line">
            <a:avLst/>
          </a:prstGeom>
          <a:noFill/>
          <a:ln w="19050">
            <a:solidFill>
              <a:srgbClr val="F28C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8293608" y="2139696"/>
            <a:ext cx="137160" cy="0"/>
          </a:xfrm>
          <a:prstGeom prst="line">
            <a:avLst/>
          </a:prstGeom>
          <a:noFill/>
          <a:ln w="19050">
            <a:solidFill>
              <a:srgbClr val="F28C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814816" y="171907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7F6"/>
                </a:solidFill>
              </a:rPr>
              <a:t>A document can contain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183880" y="2395728"/>
            <a:ext cx="201168" cy="2011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183880" y="240487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B0A"/>
                </a:solidFill>
              </a:rPr>
              <a:t>✓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503920" y="236829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7F6"/>
                </a:solidFill>
              </a:rPr>
              <a:t>scalars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83880" y="2990088"/>
            <a:ext cx="201168" cy="2011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8183880" y="29992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B0A"/>
                </a:solidFill>
              </a:rPr>
              <a:t>✓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503920" y="296265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7F6"/>
                </a:solidFill>
              </a:rPr>
              <a:t>nested documents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183880" y="3584448"/>
            <a:ext cx="201168" cy="2011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8183880" y="359359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B0A"/>
                </a:solidFill>
              </a:rPr>
              <a:t>✓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503920" y="355701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7F6"/>
                </a:solidFill>
              </a:rPr>
              <a:t>arrays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83880" y="4178808"/>
            <a:ext cx="201168" cy="2011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8183880" y="418795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B0A"/>
                </a:solidFill>
              </a:rPr>
              <a:t>✓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503920" y="415137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7F6"/>
                </a:solidFill>
              </a:rPr>
              <a:t>typed values such as dates and ObjectId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183880" y="5138928"/>
            <a:ext cx="2450592" cy="365760"/>
          </a:xfrm>
          <a:prstGeom prst="roundRect">
            <a:avLst>
              <a:gd name="adj" fmla="val 30000"/>
            </a:avLst>
          </a:prstGeom>
          <a:solidFill>
            <a:srgbClr val="14261B"/>
          </a:solidFill>
          <a:ln w="15240">
            <a:solidFill>
              <a:srgbClr val="F28C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8183880" y="5148072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28C28"/>
                </a:solidFill>
              </a:rPr>
              <a:t>BSON on the wire / disk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5488" y="6574536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C7A72"/>
                </a:solidFill>
              </a:rPr>
              <a:t>Document = one application-oriented record; its shape can be hierarchical.</a:t>
            </a:r>
            <a:endParaRPr lang="en-US" sz="85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65392"/>
            <a:ext cx="800000" cy="300000"/>
          </a:xfrm>
          <a:prstGeom prst="rect">
            <a:avLst/>
          </a:prstGeom>
          <a:ln/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B8C8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5F7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Order Management: Put the Three Pieces Together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6C2BC"/>
                </a:solidFill>
              </a:rPr>
              <a:t>Use one business object to see where each concept lives.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4434840"/>
          </a:xfrm>
          <a:prstGeom prst="roundRect">
            <a:avLst>
              <a:gd name="adj" fmla="val 2887"/>
            </a:avLst>
          </a:prstGeom>
          <a:solidFill>
            <a:srgbClr val="0B1110"/>
          </a:solidFill>
          <a:ln w="15240">
            <a:solidFill>
              <a:srgbClr val="29433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709160" y="1691640"/>
            <a:ext cx="2834640" cy="420624"/>
          </a:xfrm>
          <a:prstGeom prst="roundRect">
            <a:avLst>
              <a:gd name="adj" fmla="val 26087"/>
            </a:avLst>
          </a:prstGeom>
          <a:solidFill>
            <a:srgbClr val="15321F"/>
          </a:solidFill>
          <a:ln w="15240">
            <a:solidFill>
              <a:srgbClr val="F28C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709160" y="170078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8C28"/>
                </a:solidFill>
              </a:rPr>
              <a:t>ORDER MANAGEMENT APP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00600" y="2331720"/>
            <a:ext cx="2651760" cy="658368"/>
          </a:xfrm>
          <a:prstGeom prst="roundRect">
            <a:avLst>
              <a:gd name="adj" fmla="val 19444"/>
            </a:avLst>
          </a:prstGeom>
          <a:solidFill>
            <a:srgbClr val="13261E"/>
          </a:solidFill>
          <a:ln w="15240">
            <a:solidFill>
              <a:srgbClr val="F28C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5074920" y="2468880"/>
            <a:ext cx="566928" cy="164592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5074920" y="2551176"/>
            <a:ext cx="566928" cy="31089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5074920" y="2734056"/>
            <a:ext cx="566928" cy="164592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815584" y="243230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F7F6"/>
                </a:solidFill>
              </a:rPr>
              <a:t>orderdb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51560" y="3337560"/>
            <a:ext cx="2121408" cy="713232"/>
          </a:xfrm>
          <a:prstGeom prst="roundRect">
            <a:avLst>
              <a:gd name="adj" fmla="val 17949"/>
            </a:avLst>
          </a:prstGeom>
          <a:solidFill>
            <a:srgbClr val="111A18"/>
          </a:solidFill>
          <a:ln w="15240">
            <a:solidFill>
              <a:srgbClr val="FFA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1216152" y="3502152"/>
            <a:ext cx="566928" cy="438912"/>
          </a:xfrm>
          <a:prstGeom prst="rect">
            <a:avLst/>
          </a:prstGeom>
          <a:solidFill>
            <a:srgbClr val="0B1210"/>
          </a:solidFill>
          <a:ln w="25400">
            <a:solidFill>
              <a:srgbClr val="FFA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362456" y="3547872"/>
            <a:ext cx="0" cy="320040"/>
          </a:xfrm>
          <a:prstGeom prst="line">
            <a:avLst/>
          </a:prstGeom>
          <a:noFill/>
          <a:ln w="25400">
            <a:solidFill>
              <a:srgbClr val="FFA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499616" y="3547872"/>
            <a:ext cx="0" cy="320040"/>
          </a:xfrm>
          <a:prstGeom prst="line">
            <a:avLst/>
          </a:prstGeom>
          <a:noFill/>
          <a:ln w="25400">
            <a:solidFill>
              <a:srgbClr val="FFA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1636776" y="3547872"/>
            <a:ext cx="0" cy="320040"/>
          </a:xfrm>
          <a:prstGeom prst="line">
            <a:avLst/>
          </a:prstGeom>
          <a:noFill/>
          <a:ln w="25400">
            <a:solidFill>
              <a:srgbClr val="FFA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810512" y="3511296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7F6"/>
                </a:solidFill>
              </a:rPr>
              <a:t>customers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315968" y="3337560"/>
            <a:ext cx="2121408" cy="713232"/>
          </a:xfrm>
          <a:prstGeom prst="roundRect">
            <a:avLst>
              <a:gd name="adj" fmla="val 17949"/>
            </a:avLst>
          </a:prstGeom>
          <a:solidFill>
            <a:srgbClr val="111A18"/>
          </a:solidFill>
          <a:ln w="15240">
            <a:solidFill>
              <a:srgbClr val="4AA8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4480560" y="3502152"/>
            <a:ext cx="566928" cy="438912"/>
          </a:xfrm>
          <a:prstGeom prst="rect">
            <a:avLst/>
          </a:prstGeom>
          <a:solidFill>
            <a:srgbClr val="0B1210"/>
          </a:solidFill>
          <a:ln w="25400">
            <a:solidFill>
              <a:srgbClr val="4AA8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4626864" y="3547872"/>
            <a:ext cx="0" cy="320040"/>
          </a:xfrm>
          <a:prstGeom prst="line">
            <a:avLst/>
          </a:prstGeom>
          <a:noFill/>
          <a:ln w="25400">
            <a:solidFill>
              <a:srgbClr val="4AA8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764024" y="3547872"/>
            <a:ext cx="0" cy="320040"/>
          </a:xfrm>
          <a:prstGeom prst="line">
            <a:avLst/>
          </a:prstGeom>
          <a:noFill/>
          <a:ln w="25400">
            <a:solidFill>
              <a:srgbClr val="4AA8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4901184" y="3547872"/>
            <a:ext cx="0" cy="320040"/>
          </a:xfrm>
          <a:prstGeom prst="line">
            <a:avLst/>
          </a:prstGeom>
          <a:noFill/>
          <a:ln w="25400">
            <a:solidFill>
              <a:srgbClr val="4AA8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5074920" y="3511296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7F6"/>
                </a:solidFill>
              </a:rPr>
              <a:t>orders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589520" y="3337560"/>
            <a:ext cx="2121408" cy="713232"/>
          </a:xfrm>
          <a:prstGeom prst="roundRect">
            <a:avLst>
              <a:gd name="adj" fmla="val 17949"/>
            </a:avLst>
          </a:prstGeom>
          <a:solidFill>
            <a:srgbClr val="111A18"/>
          </a:solidFill>
          <a:ln w="15240">
            <a:solidFill>
              <a:srgbClr val="B77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7754112" y="3502152"/>
            <a:ext cx="566928" cy="438912"/>
          </a:xfrm>
          <a:prstGeom prst="rect">
            <a:avLst/>
          </a:prstGeom>
          <a:solidFill>
            <a:srgbClr val="0B1210"/>
          </a:solidFill>
          <a:ln w="25400">
            <a:solidFill>
              <a:srgbClr val="B77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7900416" y="3547872"/>
            <a:ext cx="0" cy="320040"/>
          </a:xfrm>
          <a:prstGeom prst="line">
            <a:avLst/>
          </a:prstGeom>
          <a:noFill/>
          <a:ln w="25400">
            <a:solidFill>
              <a:srgbClr val="B77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8037576" y="3547872"/>
            <a:ext cx="0" cy="320040"/>
          </a:xfrm>
          <a:prstGeom prst="line">
            <a:avLst/>
          </a:prstGeom>
          <a:noFill/>
          <a:ln w="25400">
            <a:solidFill>
              <a:srgbClr val="B77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8174736" y="3547872"/>
            <a:ext cx="0" cy="320040"/>
          </a:xfrm>
          <a:prstGeom prst="line">
            <a:avLst/>
          </a:prstGeom>
          <a:noFill/>
          <a:ln w="25400">
            <a:solidFill>
              <a:srgbClr val="B77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8348472" y="3511296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7F6"/>
                </a:solidFill>
              </a:rPr>
              <a:t>products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26480" y="2999232"/>
            <a:ext cx="0" cy="329184"/>
          </a:xfrm>
          <a:prstGeom prst="line">
            <a:avLst/>
          </a:prstGeom>
          <a:noFill/>
          <a:ln w="25400">
            <a:solidFill>
              <a:srgbClr val="FFAA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6126480" y="2999232"/>
            <a:ext cx="0" cy="329184"/>
          </a:xfrm>
          <a:prstGeom prst="line">
            <a:avLst/>
          </a:prstGeom>
          <a:noFill/>
          <a:ln w="25400">
            <a:solidFill>
              <a:srgbClr val="4AA8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6126480" y="2999232"/>
            <a:ext cx="2514600" cy="329184"/>
          </a:xfrm>
          <a:prstGeom prst="line">
            <a:avLst/>
          </a:prstGeom>
          <a:noFill/>
          <a:ln w="25400">
            <a:solidFill>
              <a:srgbClr val="B77C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1325880" y="4279392"/>
            <a:ext cx="1554480" cy="1143000"/>
          </a:xfrm>
          <a:prstGeom prst="roundRect">
            <a:avLst>
              <a:gd name="adj" fmla="val 11200"/>
            </a:avLst>
          </a:prstGeom>
          <a:solidFill>
            <a:srgbClr val="0B1210"/>
          </a:solidFill>
          <a:ln w="15240">
            <a:solidFill>
              <a:srgbClr val="FFA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1453896" y="4389120"/>
            <a:ext cx="1298448" cy="256032"/>
          </a:xfrm>
          <a:prstGeom prst="roundRect">
            <a:avLst>
              <a:gd name="adj" fmla="val 42857"/>
            </a:avLst>
          </a:prstGeom>
          <a:solidFill>
            <a:srgbClr val="13221D"/>
          </a:solidFill>
          <a:ln w="15240">
            <a:solidFill>
              <a:srgbClr val="FFA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1453896" y="4398264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AA4A"/>
                </a:solidFill>
              </a:rPr>
              <a:t>Customer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490472" y="4736592"/>
            <a:ext cx="1225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F5F7F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
</a:t>
            </a:r>
            <a:r>
              <a:rPr lang="en-US" sz="850" dirty="0">
                <a:solidFill>
                  <a:srgbClr val="B6C2B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fields,
  ...
}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103120" y="4069080"/>
            <a:ext cx="0" cy="192024"/>
          </a:xfrm>
          <a:prstGeom prst="line">
            <a:avLst/>
          </a:prstGeom>
          <a:noFill/>
          <a:ln w="25400">
            <a:solidFill>
              <a:srgbClr val="FFAA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4590288" y="4279392"/>
            <a:ext cx="1554480" cy="1143000"/>
          </a:xfrm>
          <a:prstGeom prst="roundRect">
            <a:avLst>
              <a:gd name="adj" fmla="val 11200"/>
            </a:avLst>
          </a:prstGeom>
          <a:solidFill>
            <a:srgbClr val="0B1210"/>
          </a:solidFill>
          <a:ln w="15240">
            <a:solidFill>
              <a:srgbClr val="4AA8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4718304" y="4389120"/>
            <a:ext cx="1298448" cy="256032"/>
          </a:xfrm>
          <a:prstGeom prst="roundRect">
            <a:avLst>
              <a:gd name="adj" fmla="val 42857"/>
            </a:avLst>
          </a:prstGeom>
          <a:solidFill>
            <a:srgbClr val="13221D"/>
          </a:solidFill>
          <a:ln w="15240">
            <a:solidFill>
              <a:srgbClr val="4AA8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4718304" y="4398264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AA8FF"/>
                </a:solidFill>
              </a:rPr>
              <a:t>Order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754880" y="4736592"/>
            <a:ext cx="1225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F5F7F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
</a:t>
            </a:r>
            <a:r>
              <a:rPr lang="en-US" sz="850" dirty="0">
                <a:solidFill>
                  <a:srgbClr val="B6C2B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fields,
  ...
}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367528" y="4069080"/>
            <a:ext cx="0" cy="192024"/>
          </a:xfrm>
          <a:prstGeom prst="line">
            <a:avLst/>
          </a:prstGeom>
          <a:noFill/>
          <a:ln w="25400">
            <a:solidFill>
              <a:srgbClr val="4AA8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3" name="Shape 41"/>
          <p:cNvSpPr/>
          <p:nvPr/>
        </p:nvSpPr>
        <p:spPr>
          <a:xfrm>
            <a:off x="7863840" y="4279392"/>
            <a:ext cx="1554480" cy="1143000"/>
          </a:xfrm>
          <a:prstGeom prst="roundRect">
            <a:avLst>
              <a:gd name="adj" fmla="val 11200"/>
            </a:avLst>
          </a:prstGeom>
          <a:solidFill>
            <a:srgbClr val="0B1210"/>
          </a:solidFill>
          <a:ln w="15240">
            <a:solidFill>
              <a:srgbClr val="B77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7991856" y="4389120"/>
            <a:ext cx="1298448" cy="256032"/>
          </a:xfrm>
          <a:prstGeom prst="roundRect">
            <a:avLst>
              <a:gd name="adj" fmla="val 42857"/>
            </a:avLst>
          </a:prstGeom>
          <a:solidFill>
            <a:srgbClr val="13221D"/>
          </a:solidFill>
          <a:ln w="15240">
            <a:solidFill>
              <a:srgbClr val="B77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7991856" y="4398264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77CFF"/>
                </a:solidFill>
              </a:rPr>
              <a:t>Product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028432" y="4736592"/>
            <a:ext cx="1225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F5F7F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
</a:t>
            </a:r>
            <a:r>
              <a:rPr lang="en-US" sz="850" dirty="0">
                <a:solidFill>
                  <a:srgbClr val="B6C2B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fields,
  ...
}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8641080" y="4069080"/>
            <a:ext cx="0" cy="192024"/>
          </a:xfrm>
          <a:prstGeom prst="line">
            <a:avLst/>
          </a:prstGeom>
          <a:noFill/>
          <a:ln w="25400">
            <a:solidFill>
              <a:srgbClr val="B77C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1828800" y="5623560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B6C2BC"/>
                </a:solidFill>
              </a:rPr>
              <a:t>The point is not memorization — it is knowing which level you are working at.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475488" y="6574536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C7A72"/>
                </a:solidFill>
              </a:rPr>
              <a:t>Think top-down: application requirement → database → collection → document.</a:t>
            </a:r>
            <a:endParaRPr lang="en-US" sz="850" dirty="0"/>
          </a:p>
        </p:txBody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65392"/>
            <a:ext cx="800000" cy="300000"/>
          </a:xfrm>
          <a:prstGeom prst="rect">
            <a:avLst/>
          </a:prstGeom>
          <a:ln/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B8C8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5F7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Developer Workflow in mongosh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6C2BC"/>
                </a:solidFill>
              </a:rPr>
              <a:t>The shell is your fast feedback loop while learning and exploring.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629400" cy="4389120"/>
          </a:xfrm>
          <a:prstGeom prst="roundRect">
            <a:avLst>
              <a:gd name="adj" fmla="val 2917"/>
            </a:avLst>
          </a:prstGeom>
          <a:solidFill>
            <a:srgbClr val="0A1110"/>
          </a:solidFill>
          <a:ln w="15240">
            <a:solidFill>
              <a:srgbClr val="23433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58368" y="1481328"/>
            <a:ext cx="822960" cy="219456"/>
          </a:xfrm>
          <a:prstGeom prst="roundRect">
            <a:avLst>
              <a:gd name="adj" fmla="val 33333"/>
            </a:avLst>
          </a:prstGeom>
          <a:solidFill>
            <a:srgbClr val="16241F"/>
          </a:solidFill>
          <a:ln w="6350">
            <a:solidFill>
              <a:srgbClr val="2846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13232" y="1499616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F28C28"/>
                </a:solidFill>
              </a:rPr>
              <a:t>mongosh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13232" y="1801368"/>
            <a:ext cx="6336792" cy="3858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B6C2B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1. switch to the application database
</a:t>
            </a:r>
            <a:r>
              <a:rPr lang="en-US" sz="1030" dirty="0">
                <a:solidFill>
                  <a:srgbClr val="F28C2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use orderdb
</a:t>
            </a:r>
            <a:r>
              <a:rPr lang="en-US" sz="1030" dirty="0">
                <a:solidFill>
                  <a:srgbClr val="F5F7F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[object Object]
</a:t>
            </a:r>
            <a:r>
              <a:rPr lang="en-US" sz="1030" dirty="0">
                <a:solidFill>
                  <a:srgbClr val="B6C2B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2. create collections explicitly
</a:t>
            </a:r>
            <a:r>
              <a:rPr lang="en-US" sz="1030" dirty="0">
                <a:solidFill>
                  <a:srgbClr val="4AA8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db.createCollection("orders")
</a:t>
            </a:r>
            <a:r>
              <a:rPr lang="en-US" sz="1030" dirty="0">
                <a:solidFill>
                  <a:srgbClr val="B77C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db.createCollection("products")
</a:t>
            </a:r>
            <a:r>
              <a:rPr lang="en-US" sz="1030" dirty="0">
                <a:solidFill>
                  <a:srgbClr val="F5F7F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[object Object]
</a:t>
            </a:r>
            <a:r>
              <a:rPr lang="en-US" sz="1030" dirty="0">
                <a:solidFill>
                  <a:srgbClr val="B6C2B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3. insert one document
</a:t>
            </a:r>
            <a:r>
              <a:rPr lang="en-US" sz="1030" dirty="0">
                <a:solidFill>
                  <a:srgbClr val="FFAA4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db.orders.insertOne({
</a:t>
            </a:r>
            <a:r>
              <a:rPr lang="en-US" sz="1030" dirty="0">
                <a:solidFill>
                  <a:srgbClr val="F5F7F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orderId: "ORD-1001",
</a:t>
            </a:r>
            <a:r>
              <a:rPr lang="en-US" sz="1030" dirty="0">
                <a:solidFill>
                  <a:srgbClr val="F28C2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status: "PLACED"
</a:t>
            </a:r>
            <a:r>
              <a:rPr lang="en-US" sz="1030" dirty="0">
                <a:solidFill>
                  <a:srgbClr val="FFAA4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})
</a:t>
            </a:r>
            <a:r>
              <a:rPr lang="en-US" sz="1030" dirty="0">
                <a:solidFill>
                  <a:srgbClr val="F5F7F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[object Object]
</a:t>
            </a:r>
            <a:r>
              <a:rPr lang="en-US" sz="1030" dirty="0">
                <a:solidFill>
                  <a:srgbClr val="B6C2B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4. inspect the data
</a:t>
            </a:r>
            <a:r>
              <a:rPr lang="en-US" sz="1030" dirty="0">
                <a:solidFill>
                  <a:srgbClr val="43E0C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show collections
</a:t>
            </a:r>
            <a:r>
              <a:rPr lang="en-US" sz="1030" dirty="0">
                <a:solidFill>
                  <a:srgbClr val="F28C2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db.orders.find().pretty()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7479792" y="1371600"/>
            <a:ext cx="4151376" cy="4389120"/>
          </a:xfrm>
          <a:prstGeom prst="roundRect">
            <a:avLst>
              <a:gd name="adj" fmla="val 3084"/>
            </a:avLst>
          </a:prstGeom>
          <a:solidFill>
            <a:srgbClr val="0D1412"/>
          </a:solidFill>
          <a:ln w="15240">
            <a:solidFill>
              <a:srgbClr val="29433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7818120" y="1783080"/>
            <a:ext cx="365760" cy="36576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7818120" y="179222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0B0A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375904" y="176479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7F6"/>
                </a:solidFill>
              </a:rPr>
              <a:t>Choose database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01000" y="2221992"/>
            <a:ext cx="0" cy="384048"/>
          </a:xfrm>
          <a:prstGeom prst="line">
            <a:avLst/>
          </a:prstGeom>
          <a:noFill/>
          <a:ln w="25400">
            <a:solidFill>
              <a:srgbClr val="405B4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7818120" y="2660904"/>
            <a:ext cx="365760" cy="365760"/>
          </a:xfrm>
          <a:prstGeom prst="ellipse">
            <a:avLst/>
          </a:prstGeom>
          <a:solidFill>
            <a:srgbClr val="4AA8FF"/>
          </a:solidFill>
          <a:ln w="12700">
            <a:solidFill>
              <a:srgbClr val="4AA8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818120" y="267004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0B0A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75904" y="264261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7F6"/>
                </a:solidFill>
              </a:rPr>
              <a:t>Create or use collection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01000" y="3099816"/>
            <a:ext cx="0" cy="384048"/>
          </a:xfrm>
          <a:prstGeom prst="line">
            <a:avLst/>
          </a:prstGeom>
          <a:noFill/>
          <a:ln w="25400">
            <a:solidFill>
              <a:srgbClr val="405B4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818120" y="3538728"/>
            <a:ext cx="365760" cy="365760"/>
          </a:xfrm>
          <a:prstGeom prst="ellipse">
            <a:avLst/>
          </a:prstGeom>
          <a:solidFill>
            <a:srgbClr val="FFAA4A"/>
          </a:solidFill>
          <a:ln w="12700">
            <a:solidFill>
              <a:srgbClr val="FFA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818120" y="354787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0B0A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75904" y="352044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7F6"/>
                </a:solidFill>
              </a:rPr>
              <a:t>Write document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01000" y="3977640"/>
            <a:ext cx="0" cy="384048"/>
          </a:xfrm>
          <a:prstGeom prst="line">
            <a:avLst/>
          </a:prstGeom>
          <a:noFill/>
          <a:ln w="25400">
            <a:solidFill>
              <a:srgbClr val="405B4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7818120" y="4416552"/>
            <a:ext cx="365760" cy="365760"/>
          </a:xfrm>
          <a:prstGeom prst="ellipse">
            <a:avLst/>
          </a:prstGeom>
          <a:solidFill>
            <a:srgbClr val="43E0C0"/>
          </a:solidFill>
          <a:ln w="12700">
            <a:solidFill>
              <a:srgbClr val="43E0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7818120" y="442569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0B0A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75904" y="439826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7F6"/>
                </a:solidFill>
              </a:rPr>
              <a:t>Read and inspect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366760" y="5212080"/>
            <a:ext cx="2423160" cy="384048"/>
          </a:xfrm>
          <a:prstGeom prst="roundRect">
            <a:avLst>
              <a:gd name="adj" fmla="val 28571"/>
            </a:avLst>
          </a:prstGeom>
          <a:solidFill>
            <a:srgbClr val="14311F"/>
          </a:solidFill>
          <a:ln w="15240">
            <a:solidFill>
              <a:srgbClr val="F28C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8366760" y="522122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28C28"/>
                </a:solidFill>
              </a:rPr>
              <a:t>Fast feedback, low ceremony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5488" y="6574536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C7A72"/>
                </a:solidFill>
              </a:rPr>
              <a:t>Use mongosh to build intuition; later, drivers will move the same operations into application code.</a:t>
            </a:r>
            <a:endParaRPr lang="en-US" sz="8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65392"/>
            <a:ext cx="800000" cy="300000"/>
          </a:xfrm>
          <a:prstGeom prst="rect">
            <a:avLst/>
          </a:prstGeom>
          <a:ln/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B8C8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5F7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Reading the Document Back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6C2BC"/>
                </a:solidFill>
              </a:rPr>
              <a:t>A document is useful only when the application can find the data it needs.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4069080" cy="4526280"/>
          </a:xfrm>
          <a:prstGeom prst="roundRect">
            <a:avLst>
              <a:gd name="adj" fmla="val 3146"/>
            </a:avLst>
          </a:prstGeom>
          <a:solidFill>
            <a:srgbClr val="0A1110"/>
          </a:solidFill>
          <a:ln w="15240">
            <a:solidFill>
              <a:srgbClr val="29433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41248" y="1755648"/>
            <a:ext cx="438912" cy="566928"/>
          </a:xfrm>
          <a:prstGeom prst="rect">
            <a:avLst/>
          </a:prstGeom>
          <a:solidFill>
            <a:srgbClr val="0B1210"/>
          </a:solidFill>
          <a:ln w="25400">
            <a:solidFill>
              <a:srgbClr val="4AA8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950976" y="1938528"/>
            <a:ext cx="201168" cy="0"/>
          </a:xfrm>
          <a:prstGeom prst="line">
            <a:avLst/>
          </a:prstGeom>
          <a:noFill/>
          <a:ln w="19050">
            <a:solidFill>
              <a:srgbClr val="4AA8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950976" y="2048256"/>
            <a:ext cx="201168" cy="0"/>
          </a:xfrm>
          <a:prstGeom prst="line">
            <a:avLst/>
          </a:prstGeom>
          <a:noFill/>
          <a:ln w="19050">
            <a:solidFill>
              <a:srgbClr val="4AA8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950976" y="2157984"/>
            <a:ext cx="137160" cy="0"/>
          </a:xfrm>
          <a:prstGeom prst="line">
            <a:avLst/>
          </a:prstGeom>
          <a:noFill/>
          <a:ln w="19050">
            <a:solidFill>
              <a:srgbClr val="4AA8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508760" y="1737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7F6"/>
                </a:solidFill>
              </a:rPr>
              <a:t>One document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2331720"/>
            <a:ext cx="3429000" cy="2286000"/>
          </a:xfrm>
          <a:prstGeom prst="roundRect">
            <a:avLst>
              <a:gd name="adj" fmla="val 5600"/>
            </a:avLst>
          </a:prstGeom>
          <a:solidFill>
            <a:srgbClr val="0B1210"/>
          </a:solidFill>
          <a:ln w="15240">
            <a:solidFill>
              <a:srgbClr val="4AA8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950976" y="2441448"/>
            <a:ext cx="1371600" cy="256032"/>
          </a:xfrm>
          <a:prstGeom prst="roundRect">
            <a:avLst>
              <a:gd name="adj" fmla="val 42857"/>
            </a:avLst>
          </a:prstGeom>
          <a:solidFill>
            <a:srgbClr val="13221D"/>
          </a:solidFill>
          <a:ln w="15240">
            <a:solidFill>
              <a:srgbClr val="4AA8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950976" y="24505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AA8FF"/>
                </a:solidFill>
              </a:rPr>
              <a:t>ORD-1001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87552" y="2788920"/>
            <a:ext cx="30998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F5F7F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
</a:t>
            </a:r>
            <a:r>
              <a:rPr lang="en-US" sz="850" dirty="0">
                <a:solidFill>
                  <a:srgbClr val="B6C2B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orderId: "ORD-1001",
 status: "PLACED",
 items: [ ... ],
 shippingAddress: { ... }
}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097280" y="4983480"/>
            <a:ext cx="2606040" cy="384048"/>
          </a:xfrm>
          <a:prstGeom prst="roundRect">
            <a:avLst>
              <a:gd name="adj" fmla="val 28571"/>
            </a:avLst>
          </a:prstGeom>
          <a:solidFill>
            <a:srgbClr val="13243A"/>
          </a:solidFill>
          <a:ln w="15240">
            <a:solidFill>
              <a:srgbClr val="4AA8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097280" y="499262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AA8FF"/>
                </a:solidFill>
              </a:rPr>
              <a:t>Business data, not rows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00600" y="1371600"/>
            <a:ext cx="6812280" cy="2377440"/>
          </a:xfrm>
          <a:prstGeom prst="roundRect">
            <a:avLst>
              <a:gd name="adj" fmla="val 5385"/>
            </a:avLst>
          </a:prstGeom>
          <a:solidFill>
            <a:srgbClr val="0A1110"/>
          </a:solidFill>
          <a:ln w="15240">
            <a:solidFill>
              <a:srgbClr val="23433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910328" y="1481328"/>
            <a:ext cx="822960" cy="219456"/>
          </a:xfrm>
          <a:prstGeom prst="roundRect">
            <a:avLst>
              <a:gd name="adj" fmla="val 33333"/>
            </a:avLst>
          </a:prstGeom>
          <a:solidFill>
            <a:srgbClr val="16241F"/>
          </a:solidFill>
          <a:ln w="6350">
            <a:solidFill>
              <a:srgbClr val="2846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965192" y="1499616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F28C28"/>
                </a:solidFill>
              </a:rPr>
              <a:t>mongosh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65192" y="1801368"/>
            <a:ext cx="6519672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B6C2B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exact lookup
</a:t>
            </a:r>
            <a:r>
              <a:rPr lang="en-US" sz="1030" dirty="0">
                <a:solidFill>
                  <a:srgbClr val="F28C2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db.orders.findOne({
</a:t>
            </a:r>
            <a:r>
              <a:rPr lang="en-US" sz="1030" dirty="0">
                <a:solidFill>
                  <a:srgbClr val="F5F7F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orderId: "ORD-1001"
</a:t>
            </a:r>
            <a:r>
              <a:rPr lang="en-US" sz="1030" dirty="0">
                <a:solidFill>
                  <a:srgbClr val="F28C2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})
</a:t>
            </a:r>
            <a:r>
              <a:rPr lang="en-US" sz="1030" dirty="0">
                <a:solidFill>
                  <a:srgbClr val="F5F7F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[object Object]
</a:t>
            </a:r>
            <a:r>
              <a:rPr lang="en-US" sz="1030" dirty="0">
                <a:solidFill>
                  <a:srgbClr val="B6C2B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inspect matching orders
</a:t>
            </a:r>
            <a:r>
              <a:rPr lang="en-US" sz="1030" dirty="0">
                <a:solidFill>
                  <a:srgbClr val="43E0C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db.orders.find({ status: "PLACED" }).pretty()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4800600" y="3977640"/>
            <a:ext cx="6812280" cy="1920240"/>
          </a:xfrm>
          <a:prstGeom prst="roundRect">
            <a:avLst>
              <a:gd name="adj" fmla="val 6667"/>
            </a:avLst>
          </a:prstGeom>
          <a:solidFill>
            <a:srgbClr val="0F1916"/>
          </a:solidFill>
          <a:ln w="15240">
            <a:solidFill>
              <a:srgbClr val="29433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5074920" y="42519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8C28"/>
                </a:solidFill>
              </a:rPr>
              <a:t>Reading mindset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074920" y="4617720"/>
            <a:ext cx="6172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5F7F6"/>
                </a:solidFill>
              </a:rPr>
              <a:t>Start with the business question, identify the field, then write the filter. Keep the query aligned with the document structure you designed.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5488" y="6574536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C7A72"/>
                </a:solidFill>
              </a:rPr>
              <a:t>The document model and the query model should reinforce each other.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65392"/>
            <a:ext cx="800000" cy="300000"/>
          </a:xfrm>
          <a:prstGeom prst="rect">
            <a:avLst/>
          </a:prstGeom>
          <a:ln/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B8C8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5F7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Design Rules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6C2BC"/>
                </a:solidFill>
              </a:rPr>
              <a:t>Keep the first MongoDB model simple enough to understand and useful enough to evolve.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881360" cy="658368"/>
          </a:xfrm>
          <a:prstGeom prst="roundRect">
            <a:avLst>
              <a:gd name="adj" fmla="val 19444"/>
            </a:avLst>
          </a:prstGeom>
          <a:solidFill>
            <a:srgbClr val="0D1412"/>
          </a:solidFill>
          <a:ln w="15240">
            <a:solidFill>
              <a:srgbClr val="F28C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68680" y="1453896"/>
            <a:ext cx="310896" cy="310896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68680" y="1463040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0B0A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53312" y="141732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5F7F6"/>
                </a:solidFill>
              </a:rPr>
              <a:t>Name things by business meaning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995160" y="142646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80" dirty="0">
                <a:solidFill>
                  <a:srgbClr val="B6C2BC"/>
                </a:solidFill>
              </a:rPr>
              <a:t>orderdb, orders, products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658368" y="2148840"/>
            <a:ext cx="10881360" cy="658368"/>
          </a:xfrm>
          <a:prstGeom prst="roundRect">
            <a:avLst>
              <a:gd name="adj" fmla="val 19444"/>
            </a:avLst>
          </a:prstGeom>
          <a:solidFill>
            <a:srgbClr val="0D1412"/>
          </a:solidFill>
          <a:ln w="15240">
            <a:solidFill>
              <a:srgbClr val="43E0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868680" y="2304288"/>
            <a:ext cx="310896" cy="310896"/>
          </a:xfrm>
          <a:prstGeom prst="ellipse">
            <a:avLst/>
          </a:prstGeom>
          <a:solidFill>
            <a:srgbClr val="43E0C0"/>
          </a:solidFill>
          <a:ln w="12700">
            <a:solidFill>
              <a:srgbClr val="43E0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68680" y="2313432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0B0A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53312" y="226771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5F7F6"/>
                </a:solidFill>
              </a:rPr>
              <a:t>Keep related data together when it is naturally read together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995160" y="227685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80" dirty="0">
                <a:solidFill>
                  <a:srgbClr val="B6C2BC"/>
                </a:solidFill>
              </a:rPr>
              <a:t>shippingAddress inside the order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58368" y="2999232"/>
            <a:ext cx="10881360" cy="658368"/>
          </a:xfrm>
          <a:prstGeom prst="roundRect">
            <a:avLst>
              <a:gd name="adj" fmla="val 19444"/>
            </a:avLst>
          </a:prstGeom>
          <a:solidFill>
            <a:srgbClr val="0D1412"/>
          </a:solidFill>
          <a:ln w="15240">
            <a:solidFill>
              <a:srgbClr val="4AA8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868680" y="3154680"/>
            <a:ext cx="310896" cy="310896"/>
          </a:xfrm>
          <a:prstGeom prst="ellipse">
            <a:avLst/>
          </a:prstGeom>
          <a:solidFill>
            <a:srgbClr val="4AA8FF"/>
          </a:solidFill>
          <a:ln w="12700">
            <a:solidFill>
              <a:srgbClr val="4AA8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868680" y="3163824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0B0A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53312" y="311810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5F7F6"/>
                </a:solidFill>
              </a:rPr>
              <a:t>Use collections as clear domain containers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995160" y="312724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80" dirty="0">
                <a:solidFill>
                  <a:srgbClr val="B6C2BC"/>
                </a:solidFill>
              </a:rPr>
              <a:t>orders, customers, products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658368" y="3849624"/>
            <a:ext cx="10881360" cy="658368"/>
          </a:xfrm>
          <a:prstGeom prst="roundRect">
            <a:avLst>
              <a:gd name="adj" fmla="val 19444"/>
            </a:avLst>
          </a:prstGeom>
          <a:solidFill>
            <a:srgbClr val="0D1412"/>
          </a:solidFill>
          <a:ln w="15240">
            <a:solidFill>
              <a:srgbClr val="B77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868680" y="4005072"/>
            <a:ext cx="310896" cy="310896"/>
          </a:xfrm>
          <a:prstGeom prst="ellipse">
            <a:avLst/>
          </a:prstGeom>
          <a:solidFill>
            <a:srgbClr val="B77CFF"/>
          </a:solidFill>
          <a:ln w="12700">
            <a:solidFill>
              <a:srgbClr val="B77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68680" y="4014216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0B0A"/>
                </a:solidFill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53312" y="396849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5F7F6"/>
                </a:solidFill>
              </a:rPr>
              <a:t>Treat document shape as an application design decision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995160" y="397764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80" dirty="0">
                <a:solidFill>
                  <a:srgbClr val="B6C2BC"/>
                </a:solidFill>
              </a:rPr>
              <a:t>model for access patterns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658368" y="4700016"/>
            <a:ext cx="10881360" cy="658368"/>
          </a:xfrm>
          <a:prstGeom prst="roundRect">
            <a:avLst>
              <a:gd name="adj" fmla="val 19444"/>
            </a:avLst>
          </a:prstGeom>
          <a:solidFill>
            <a:srgbClr val="0D1412"/>
          </a:solidFill>
          <a:ln w="15240">
            <a:solidFill>
              <a:srgbClr val="FFA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868680" y="4855464"/>
            <a:ext cx="310896" cy="310896"/>
          </a:xfrm>
          <a:prstGeom prst="ellipse">
            <a:avLst/>
          </a:prstGeom>
          <a:solidFill>
            <a:srgbClr val="FFAA4A"/>
          </a:solidFill>
          <a:ln w="12700">
            <a:solidFill>
              <a:srgbClr val="FFA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868680" y="4864608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0B0A"/>
                </a:solidFill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353312" y="481888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5F7F6"/>
                </a:solidFill>
              </a:rPr>
              <a:t>Inspect what you actually store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995160" y="482803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80" dirty="0">
                <a:solidFill>
                  <a:srgbClr val="B6C2BC"/>
                </a:solidFill>
              </a:rPr>
              <a:t>mongosh + find() + explain() later</a:t>
            </a:r>
            <a:endParaRPr lang="en-US" sz="1180" dirty="0"/>
          </a:p>
        </p:txBody>
      </p:sp>
      <p:sp>
        <p:nvSpPr>
          <p:cNvPr id="29" name="Text 27"/>
          <p:cNvSpPr/>
          <p:nvPr/>
        </p:nvSpPr>
        <p:spPr>
          <a:xfrm>
            <a:off x="475488" y="6574536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C7A72"/>
                </a:solidFill>
              </a:rPr>
              <a:t>Good document design starts from requirements and access patterns, not from copying a table schema.</a:t>
            </a:r>
            <a:endParaRPr lang="en-US" sz="8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65392"/>
            <a:ext cx="800000" cy="300000"/>
          </a:xfrm>
          <a:prstGeom prst="rect">
            <a:avLst/>
          </a:prstGeom>
          <a:ln/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B8C8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5F7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Takeaways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6C2BC"/>
                </a:solidFill>
              </a:rPr>
              <a:t>Remember the hierarchy, then use it in your next hands-on exercise.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3063240" cy="2286000"/>
          </a:xfrm>
          <a:prstGeom prst="roundRect">
            <a:avLst>
              <a:gd name="adj" fmla="val 5600"/>
            </a:avLst>
          </a:prstGeom>
          <a:solidFill>
            <a:srgbClr val="0E1714"/>
          </a:solidFill>
          <a:ln w="15240">
            <a:solidFill>
              <a:srgbClr val="F28C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2029968" y="1874520"/>
            <a:ext cx="566928" cy="164592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2029968" y="1956816"/>
            <a:ext cx="566928" cy="31089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2029968" y="2139696"/>
            <a:ext cx="566928" cy="164592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051560" y="254203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F7F6"/>
                </a:solidFill>
              </a:rPr>
              <a:t>DATABASE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296265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6C2BC"/>
                </a:solidFill>
              </a:rPr>
              <a:t>logical home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877056" y="2743200"/>
            <a:ext cx="512064" cy="0"/>
          </a:xfrm>
          <a:prstGeom prst="line">
            <a:avLst/>
          </a:prstGeom>
          <a:noFill/>
          <a:ln w="25400">
            <a:solidFill>
              <a:srgbClr val="F28C2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26280" y="1600200"/>
            <a:ext cx="3063240" cy="2286000"/>
          </a:xfrm>
          <a:prstGeom prst="roundRect">
            <a:avLst>
              <a:gd name="adj" fmla="val 5600"/>
            </a:avLst>
          </a:prstGeom>
          <a:solidFill>
            <a:srgbClr val="0E1714"/>
          </a:solidFill>
          <a:ln w="15240">
            <a:solidFill>
              <a:srgbClr val="4AA8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824728" y="1874520"/>
            <a:ext cx="566928" cy="438912"/>
          </a:xfrm>
          <a:prstGeom prst="rect">
            <a:avLst/>
          </a:prstGeom>
          <a:solidFill>
            <a:srgbClr val="0B1210"/>
          </a:solidFill>
          <a:ln w="25400">
            <a:solidFill>
              <a:srgbClr val="4AA8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5971032" y="1920240"/>
            <a:ext cx="0" cy="320040"/>
          </a:xfrm>
          <a:prstGeom prst="line">
            <a:avLst/>
          </a:prstGeom>
          <a:noFill/>
          <a:ln w="25400">
            <a:solidFill>
              <a:srgbClr val="4AA8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108192" y="1920240"/>
            <a:ext cx="0" cy="320040"/>
          </a:xfrm>
          <a:prstGeom prst="line">
            <a:avLst/>
          </a:prstGeom>
          <a:noFill/>
          <a:ln w="25400">
            <a:solidFill>
              <a:srgbClr val="4AA8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6245352" y="1920240"/>
            <a:ext cx="0" cy="320040"/>
          </a:xfrm>
          <a:prstGeom prst="line">
            <a:avLst/>
          </a:prstGeom>
          <a:noFill/>
          <a:ln w="25400">
            <a:solidFill>
              <a:srgbClr val="4AA8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846320" y="254203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F7F6"/>
                </a:solidFill>
              </a:rPr>
              <a:t>COLLECTION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846320" y="296265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6C2BC"/>
                </a:solidFill>
              </a:rPr>
              <a:t>group of documents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671816" y="2743200"/>
            <a:ext cx="512064" cy="0"/>
          </a:xfrm>
          <a:prstGeom prst="line">
            <a:avLst/>
          </a:prstGeom>
          <a:noFill/>
          <a:ln w="25400">
            <a:solidFill>
              <a:srgbClr val="F28C2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8321040" y="1600200"/>
            <a:ext cx="3063240" cy="2286000"/>
          </a:xfrm>
          <a:prstGeom prst="roundRect">
            <a:avLst>
              <a:gd name="adj" fmla="val 5600"/>
            </a:avLst>
          </a:prstGeom>
          <a:solidFill>
            <a:srgbClr val="0E1714"/>
          </a:solidFill>
          <a:ln w="15240">
            <a:solidFill>
              <a:srgbClr val="FFA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9619488" y="1874520"/>
            <a:ext cx="438912" cy="566928"/>
          </a:xfrm>
          <a:prstGeom prst="rect">
            <a:avLst/>
          </a:prstGeom>
          <a:solidFill>
            <a:srgbClr val="0B1210"/>
          </a:solidFill>
          <a:ln w="25400">
            <a:solidFill>
              <a:srgbClr val="FFA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9729216" y="2057400"/>
            <a:ext cx="201168" cy="0"/>
          </a:xfrm>
          <a:prstGeom prst="line">
            <a:avLst/>
          </a:prstGeom>
          <a:noFill/>
          <a:ln w="19050">
            <a:solidFill>
              <a:srgbClr val="FFA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9729216" y="2167128"/>
            <a:ext cx="201168" cy="0"/>
          </a:xfrm>
          <a:prstGeom prst="line">
            <a:avLst/>
          </a:prstGeom>
          <a:noFill/>
          <a:ln w="19050">
            <a:solidFill>
              <a:srgbClr val="FFA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9729216" y="2276856"/>
            <a:ext cx="137160" cy="0"/>
          </a:xfrm>
          <a:prstGeom prst="line">
            <a:avLst/>
          </a:prstGeom>
          <a:noFill/>
          <a:ln w="19050">
            <a:solidFill>
              <a:srgbClr val="FFA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8641080" y="254203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F7F6"/>
                </a:solidFill>
              </a:rPr>
              <a:t>DOCUMENT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641080" y="296265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6C2BC"/>
                </a:solidFill>
              </a:rPr>
              <a:t>business record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60120" y="4389120"/>
            <a:ext cx="10287000" cy="1325880"/>
          </a:xfrm>
          <a:prstGeom prst="roundRect">
            <a:avLst>
              <a:gd name="adj" fmla="val 9655"/>
            </a:avLst>
          </a:prstGeom>
          <a:solidFill>
            <a:srgbClr val="0A1110"/>
          </a:solidFill>
          <a:ln w="15240">
            <a:solidFill>
              <a:srgbClr val="29433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1298448" y="4709160"/>
            <a:ext cx="1645920" cy="365760"/>
          </a:xfrm>
          <a:prstGeom prst="roundRect">
            <a:avLst>
              <a:gd name="adj" fmla="val 30000"/>
            </a:avLst>
          </a:prstGeom>
          <a:solidFill>
            <a:srgbClr val="14301F"/>
          </a:solidFill>
          <a:ln w="15240">
            <a:solidFill>
              <a:srgbClr val="F28C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1298448" y="471830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8C28"/>
                </a:solidFill>
              </a:rPr>
              <a:t>Remember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18688" y="4672584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5F7F6"/>
                </a:solidFill>
              </a:rPr>
              <a:t>Application requirements → Database → Collection → Document → Query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2011680" y="55138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B6C2BC"/>
                </a:solidFill>
              </a:rPr>
              <a:t>Next: move from the structure to the data itself — JSON and BSON.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75488" y="6574536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C7A72"/>
                </a:solidFill>
              </a:rPr>
              <a:t>The goal is developer fluency: explain it, build it, inspect it.</a:t>
            </a:r>
            <a:endParaRPr lang="en-US" sz="85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65392"/>
            <a:ext cx="800000" cy="300000"/>
          </a:xfrm>
          <a:prstGeom prst="rect">
            <a:avLst/>
          </a:prstGeom>
          <a:ln/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B8C8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aed0b32-58fd-49a1-925b-0e19a34645b1}" enabled="1" method="Privileged" siteId="{97984c2b-a229-4609-8185-ae84947bc3f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1128</Words>
  <Application>Microsoft Office PowerPoint</Application>
  <PresentationFormat>Widescreen</PresentationFormat>
  <Paragraphs>191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Cascadia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Databases, Collections &amp; Documents</dc:title>
  <dc:subject>MongoDB Developer Udemy Learning Path</dc:subject>
  <dc:creator>OpenAI</dc:creator>
  <cp:lastModifiedBy>Avishesh Jha</cp:lastModifiedBy>
  <cp:revision>2</cp:revision>
  <dcterms:created xsi:type="dcterms:W3CDTF">2026-09-28T04:07:17Z</dcterms:created>
  <dcterms:modified xsi:type="dcterms:W3CDTF">2026-10-03T03:49:41Z</dcterms:modified>
</cp:coreProperties>
</file>