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7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6501384"/>
            <a:ext cx="11430000" cy="0"/>
          </a:xfrm>
          <a:prstGeom prst="line">
            <a:avLst/>
          </a:prstGeom>
          <a:noFill/>
          <a:ln w="12700">
            <a:solidFill>
              <a:srgbClr val="22352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Objectives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By the end of this lesson, learners should be comfortable with the three core building blocks.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42032" cy="2057400"/>
          </a:xfrm>
          <a:prstGeom prst="roundRect">
            <a:avLst>
              <a:gd name="adj" fmla="val 6222"/>
            </a:avLst>
          </a:prstGeom>
          <a:solidFill>
            <a:srgbClr val="111B18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67512" y="1581912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157276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7F6"/>
                </a:solidFill>
              </a:rPr>
              <a:t>Understand the hierarchy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43000" y="1865376"/>
            <a:ext cx="1719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Database → Collection → Document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7512" y="1051560"/>
            <a:ext cx="347472" cy="34747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" y="106070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542032" cy="2057400"/>
          </a:xfrm>
          <a:prstGeom prst="roundRect">
            <a:avLst>
              <a:gd name="adj" fmla="val 6222"/>
            </a:avLst>
          </a:prstGeom>
          <a:solidFill>
            <a:srgbClr val="111B18"/>
          </a:solidFill>
          <a:ln w="1524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02152" y="1581912"/>
            <a:ext cx="384048" cy="384048"/>
          </a:xfrm>
          <a:prstGeom prst="ellipse">
            <a:avLst/>
          </a:prstGeom>
          <a:solidFill>
            <a:srgbClr val="43E0C0"/>
          </a:solidFill>
          <a:ln w="1270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977640" y="157276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7F6"/>
                </a:solidFill>
              </a:rPr>
              <a:t>Create a database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977640" y="1865376"/>
            <a:ext cx="1719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Switch into an application database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02152" y="1051560"/>
            <a:ext cx="347472" cy="347472"/>
          </a:xfrm>
          <a:prstGeom prst="ellipse">
            <a:avLst/>
          </a:prstGeom>
          <a:solidFill>
            <a:srgbClr val="43E0C0"/>
          </a:solidFill>
          <a:ln w="1270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02152" y="106070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417320"/>
            <a:ext cx="2542032" cy="2057400"/>
          </a:xfrm>
          <a:prstGeom prst="roundRect">
            <a:avLst>
              <a:gd name="adj" fmla="val 6222"/>
            </a:avLst>
          </a:prstGeom>
          <a:solidFill>
            <a:srgbClr val="111B18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336792" y="1581912"/>
            <a:ext cx="384048" cy="384048"/>
          </a:xfrm>
          <a:prstGeom prst="ellipse">
            <a:avLst/>
          </a:prstGeom>
          <a:solidFill>
            <a:srgbClr val="4AA8FF"/>
          </a:solidFill>
          <a:ln w="127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12280" y="157276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7F6"/>
                </a:solidFill>
              </a:rPr>
              <a:t>Work with collections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812280" y="1865376"/>
            <a:ext cx="1719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Create, list and manage collections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36792" y="1051560"/>
            <a:ext cx="347472" cy="347472"/>
          </a:xfrm>
          <a:prstGeom prst="ellipse">
            <a:avLst/>
          </a:prstGeom>
          <a:solidFill>
            <a:srgbClr val="4AA8FF"/>
          </a:solidFill>
          <a:ln w="127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36792" y="106070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06840" y="1417320"/>
            <a:ext cx="2542032" cy="2057400"/>
          </a:xfrm>
          <a:prstGeom prst="roundRect">
            <a:avLst>
              <a:gd name="adj" fmla="val 6222"/>
            </a:avLst>
          </a:prstGeom>
          <a:solidFill>
            <a:srgbClr val="111B18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171432" y="1581912"/>
            <a:ext cx="384048" cy="384048"/>
          </a:xfrm>
          <a:prstGeom prst="ellipse">
            <a:avLst/>
          </a:prstGeom>
          <a:solidFill>
            <a:srgbClr val="B77CFF"/>
          </a:solidFill>
          <a:ln w="127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646920" y="157276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5F7F6"/>
                </a:solidFill>
              </a:rPr>
              <a:t>Read documents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646920" y="1865376"/>
            <a:ext cx="171907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Insert, inspect and query documents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71432" y="1051560"/>
            <a:ext cx="347472" cy="347472"/>
          </a:xfrm>
          <a:prstGeom prst="ellipse">
            <a:avLst/>
          </a:prstGeom>
          <a:solidFill>
            <a:srgbClr val="B77CFF"/>
          </a:solidFill>
          <a:ln w="127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71432" y="106070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840480"/>
            <a:ext cx="11137392" cy="1664208"/>
          </a:xfrm>
          <a:prstGeom prst="roundRect">
            <a:avLst>
              <a:gd name="adj" fmla="val 7692"/>
            </a:avLst>
          </a:prstGeom>
          <a:solidFill>
            <a:srgbClr val="0A12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40782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28"/>
                </a:solidFill>
              </a:rPr>
              <a:t>One running example — Order Management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</a:rPr>
              <a:t>A practical order will carry us through the lesson so learners see where each MongoDB concept belongs in an application.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89320" y="4087368"/>
            <a:ext cx="1188720" cy="347472"/>
          </a:xfrm>
          <a:prstGeom prst="roundRect">
            <a:avLst>
              <a:gd name="adj" fmla="val 31579"/>
            </a:avLst>
          </a:prstGeom>
          <a:solidFill>
            <a:srgbClr val="13243A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89320" y="40965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A8FF"/>
                </a:solidFill>
              </a:rPr>
              <a:t>orders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296912" y="4087368"/>
            <a:ext cx="1325880" cy="347472"/>
          </a:xfrm>
          <a:prstGeom prst="roundRect">
            <a:avLst>
              <a:gd name="adj" fmla="val 31579"/>
            </a:avLst>
          </a:prstGeom>
          <a:solidFill>
            <a:srgbClr val="302617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296912" y="40965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AA4A"/>
                </a:solidFill>
              </a:rPr>
              <a:t>customers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759952" y="4087368"/>
            <a:ext cx="1143000" cy="347472"/>
          </a:xfrm>
          <a:prstGeom prst="roundRect">
            <a:avLst>
              <a:gd name="adj" fmla="val 31579"/>
            </a:avLst>
          </a:prstGeom>
          <a:solidFill>
            <a:srgbClr val="241A33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759952" y="409651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CFF"/>
                </a:solidFill>
              </a:rPr>
              <a:t>products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4535424"/>
            <a:ext cx="0" cy="539496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29600" y="4535424"/>
            <a:ext cx="0" cy="539496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9326880" y="4535424"/>
            <a:ext cx="0" cy="539496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Build the mental model first; deeper CRUD, querying and data modeling come in later lessons.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MongoDB in One Picture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The developer mental model starts with a simple hierarchy.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0972800" cy="4389120"/>
          </a:xfrm>
          <a:prstGeom prst="roundRect">
            <a:avLst>
              <a:gd name="adj" fmla="val 2917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919472" y="1691640"/>
            <a:ext cx="2331720" cy="502920"/>
          </a:xfrm>
          <a:prstGeom prst="ellipse">
            <a:avLst/>
          </a:prstGeom>
          <a:solidFill>
            <a:srgbClr val="1D5C3C"/>
          </a:solidFill>
          <a:ln w="254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19472" y="1920240"/>
            <a:ext cx="2331720" cy="502920"/>
          </a:xfrm>
          <a:prstGeom prst="rect">
            <a:avLst/>
          </a:prstGeom>
          <a:solidFill>
            <a:srgbClr val="133F2B"/>
          </a:solidFill>
          <a:ln w="254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919472" y="2176272"/>
            <a:ext cx="2331720" cy="502920"/>
          </a:xfrm>
          <a:prstGeom prst="ellipse">
            <a:avLst/>
          </a:prstGeom>
          <a:solidFill>
            <a:srgbClr val="1D5C3C"/>
          </a:solidFill>
          <a:ln w="254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157216" y="192938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5F7F6"/>
                </a:solidFill>
              </a:rPr>
              <a:t>DATABASE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48656" y="250545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Logical container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34440" y="3154680"/>
            <a:ext cx="2011680" cy="777240"/>
          </a:xfrm>
          <a:prstGeom prst="roundRect">
            <a:avLst>
              <a:gd name="adj" fmla="val 16471"/>
            </a:avLst>
          </a:prstGeom>
          <a:solidFill>
            <a:srgbClr val="111A18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99032" y="3328416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545336" y="3374136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682496" y="3374136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819656" y="3374136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39112" y="33101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customers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039112" y="360273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6C2BC"/>
                </a:solidFill>
              </a:rPr>
              <a:t>collection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2743200"/>
            <a:ext cx="-3840480" cy="393192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297680" y="3154680"/>
            <a:ext cx="2011680" cy="777240"/>
          </a:xfrm>
          <a:prstGeom prst="roundRect">
            <a:avLst>
              <a:gd name="adj" fmla="val 16471"/>
            </a:avLst>
          </a:prstGeom>
          <a:solidFill>
            <a:srgbClr val="111A18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62272" y="3328416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08576" y="3374136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745736" y="3374136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882896" y="3374136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02352" y="33101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orders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02352" y="360273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6C2BC"/>
                </a:solidFill>
              </a:rPr>
              <a:t>collection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80760" y="2743200"/>
            <a:ext cx="-777240" cy="393192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60920" y="3154680"/>
            <a:ext cx="2011680" cy="777240"/>
          </a:xfrm>
          <a:prstGeom prst="roundRect">
            <a:avLst>
              <a:gd name="adj" fmla="val 16471"/>
            </a:avLst>
          </a:prstGeom>
          <a:solidFill>
            <a:srgbClr val="111A18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525512" y="3328416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671816" y="3374136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808976" y="3374136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946136" y="3374136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165592" y="331012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products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65592" y="360273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6C2BC"/>
                </a:solidFill>
              </a:rPr>
              <a:t>collection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80760" y="2743200"/>
            <a:ext cx="2286000" cy="393192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68680" y="4343400"/>
            <a:ext cx="2560320" cy="932688"/>
          </a:xfrm>
          <a:prstGeom prst="roundRect">
            <a:avLst>
              <a:gd name="adj" fmla="val 13725"/>
            </a:avLst>
          </a:prstGeom>
          <a:solidFill>
            <a:srgbClr val="0B1210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996696" y="4453128"/>
            <a:ext cx="1371600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96696" y="4462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AA4A"/>
                </a:solidFill>
              </a:rPr>
              <a:t>Customer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33272" y="480060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_id, fields,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240280" y="3931920"/>
            <a:ext cx="-91440" cy="393192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931920" y="4343400"/>
            <a:ext cx="2560320" cy="932688"/>
          </a:xfrm>
          <a:prstGeom prst="roundRect">
            <a:avLst>
              <a:gd name="adj" fmla="val 13725"/>
            </a:avLst>
          </a:prstGeom>
          <a:solidFill>
            <a:srgbClr val="0B1210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059936" y="4453128"/>
            <a:ext cx="1371600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059936" y="4462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A8FF"/>
                </a:solidFill>
              </a:rPr>
              <a:t>Order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096512" y="480060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_id, fields,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03520" y="3931920"/>
            <a:ext cx="-91440" cy="393192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995160" y="4343400"/>
            <a:ext cx="2560320" cy="932688"/>
          </a:xfrm>
          <a:prstGeom prst="roundRect">
            <a:avLst>
              <a:gd name="adj" fmla="val 13725"/>
            </a:avLst>
          </a:prstGeom>
          <a:solidFill>
            <a:srgbClr val="0B1210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123176" y="4453128"/>
            <a:ext cx="1371600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123176" y="4462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CFF"/>
                </a:solidFill>
              </a:rPr>
              <a:t>Product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59752" y="480060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_id, fields,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366760" y="3931920"/>
            <a:ext cx="-91440" cy="393192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710928" y="1554480"/>
            <a:ext cx="1325880" cy="347472"/>
          </a:xfrm>
          <a:prstGeom prst="roundRect">
            <a:avLst>
              <a:gd name="adj" fmla="val 31579"/>
            </a:avLst>
          </a:prstGeom>
          <a:solidFill>
            <a:srgbClr val="13251B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710928" y="156362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8C28"/>
                </a:solidFill>
              </a:rPr>
              <a:t>Think: App data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555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5F7F6"/>
                </a:solidFill>
              </a:rPr>
              <a:t>A document is the actual data object your application reads and writes.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Hierarchy: Database → Collection → Document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— Database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Use a database to group collections that belong to an application or domain.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749040" cy="4526280"/>
          </a:xfrm>
          <a:prstGeom prst="roundRect">
            <a:avLst>
              <a:gd name="adj" fmla="val 3415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737360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1819656"/>
            <a:ext cx="566928" cy="310896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2002536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72768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28C28"/>
                </a:solidFill>
              </a:rPr>
              <a:t>orderdb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</a:rPr>
              <a:t>A logical container for related collections.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41248" y="3127248"/>
            <a:ext cx="237744" cy="23774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" y="3136392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07008" y="309981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5F7F6"/>
                </a:solidFill>
              </a:rPr>
              <a:t>Name it for the application domain</a:t>
            </a:r>
            <a:endParaRPr lang="en-US" sz="1160" dirty="0"/>
          </a:p>
        </p:txBody>
      </p:sp>
      <p:sp>
        <p:nvSpPr>
          <p:cNvPr id="13" name="Shape 11"/>
          <p:cNvSpPr/>
          <p:nvPr/>
        </p:nvSpPr>
        <p:spPr>
          <a:xfrm>
            <a:off x="841248" y="3712464"/>
            <a:ext cx="237744" cy="23774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721608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07008" y="3685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5F7F6"/>
                </a:solidFill>
              </a:rPr>
              <a:t>Switch into it with use orderdb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841248" y="4297680"/>
            <a:ext cx="237744" cy="23774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" y="4306824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7008" y="42702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5F7F6"/>
                </a:solidFill>
              </a:rPr>
              <a:t>MongoDB can create it when data is first written</a:t>
            </a:r>
            <a:endParaRPr lang="en-US" sz="1160" dirty="0"/>
          </a:p>
        </p:txBody>
      </p:sp>
      <p:sp>
        <p:nvSpPr>
          <p:cNvPr id="19" name="Shape 17"/>
          <p:cNvSpPr/>
          <p:nvPr/>
        </p:nvSpPr>
        <p:spPr>
          <a:xfrm>
            <a:off x="841248" y="4882896"/>
            <a:ext cx="237744" cy="23774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" y="4892040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07008" y="485546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F5F7F6"/>
                </a:solidFill>
              </a:rPr>
              <a:t>Keep permissions and operational boundaries clear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4526280" y="1417320"/>
            <a:ext cx="7086600" cy="2331720"/>
          </a:xfrm>
          <a:prstGeom prst="roundRect">
            <a:avLst>
              <a:gd name="adj" fmla="val 5490"/>
            </a:avLst>
          </a:prstGeom>
          <a:solidFill>
            <a:srgbClr val="0A1110"/>
          </a:solidFill>
          <a:ln w="15240">
            <a:solidFill>
              <a:srgbClr val="234337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36008" y="1527048"/>
            <a:ext cx="822960" cy="219456"/>
          </a:xfrm>
          <a:prstGeom prst="roundRect">
            <a:avLst>
              <a:gd name="adj" fmla="val 33333"/>
            </a:avLst>
          </a:prstGeom>
          <a:solidFill>
            <a:srgbClr val="16241F"/>
          </a:solidFill>
          <a:ln w="6350">
            <a:solidFill>
              <a:srgbClr val="28463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90872" y="154533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28C28"/>
                </a:solidFill>
              </a:rPr>
              <a:t>mongosh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90872" y="1847088"/>
            <a:ext cx="679399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switch to the application database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use orderdb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inspect the current database
</a:t>
            </a:r>
            <a:pPr indent="0" marL="0">
              <a:buNone/>
            </a:pPr>
            <a:r>
              <a:rPr lang="en-US" sz="1030" dirty="0">
                <a:solidFill>
                  <a:srgbClr val="4AA8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db.getName()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list databases (when permitted)
</a:t>
            </a:r>
            <a:pPr indent="0" marL="0">
              <a:buNone/>
            </a:pPr>
            <a:r>
              <a:rPr lang="en-US" sz="1030" dirty="0">
                <a:solidFill>
                  <a:srgbClr val="FFAA4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show dbs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4526280" y="3977640"/>
            <a:ext cx="7086600" cy="1874520"/>
          </a:xfrm>
          <a:prstGeom prst="roundRect">
            <a:avLst>
              <a:gd name="adj" fmla="val 6829"/>
            </a:avLst>
          </a:prstGeom>
          <a:solidFill>
            <a:srgbClr val="0F1916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3168" y="4224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Developer tip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73168" y="4572000"/>
            <a:ext cx="6355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</a:rPr>
              <a:t>Think of a database as the top-level boundary that gives your collections a shared home. It is not the same thing as a collection or a document.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Database = the logical home for related collections.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— Collections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Collections group related documents and provide the working surface for queries and indexes.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212848" cy="2057400"/>
          </a:xfrm>
          <a:prstGeom prst="roundRect">
            <a:avLst>
              <a:gd name="adj" fmla="val 6222"/>
            </a:avLst>
          </a:prstGeom>
          <a:solidFill>
            <a:srgbClr val="0D1412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737360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87552" y="1783080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24712" y="1783080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61872" y="1783080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2240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customers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59536" y="26517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customer documents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24128" y="3364992"/>
            <a:ext cx="1463040" cy="1234440"/>
          </a:xfrm>
          <a:prstGeom prst="roundRect">
            <a:avLst>
              <a:gd name="adj" fmla="val 10370"/>
            </a:avLst>
          </a:prstGeom>
          <a:solidFill>
            <a:srgbClr val="0B1210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152144" y="3474720"/>
            <a:ext cx="120700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52144" y="34838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AA4A"/>
                </a:solidFill>
              </a:rPr>
              <a:t>doc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746504" y="3493008"/>
            <a:ext cx="0" cy="-173736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18688" y="1417320"/>
            <a:ext cx="2212848" cy="2057400"/>
          </a:xfrm>
          <a:prstGeom prst="roundRect">
            <a:avLst>
              <a:gd name="adj" fmla="val 6222"/>
            </a:avLst>
          </a:prstGeom>
          <a:solidFill>
            <a:srgbClr val="0D1412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419856" y="1737360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66160" y="178308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703320" y="178308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840480" y="178308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419856" y="2240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orders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38144" y="26517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order documents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02736" y="3364992"/>
            <a:ext cx="1463040" cy="1234440"/>
          </a:xfrm>
          <a:prstGeom prst="roundRect">
            <a:avLst>
              <a:gd name="adj" fmla="val 10370"/>
            </a:avLst>
          </a:prstGeom>
          <a:solidFill>
            <a:srgbClr val="0B1210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730752" y="3474720"/>
            <a:ext cx="120700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730752" y="34838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A8FF"/>
                </a:solidFill>
              </a:rPr>
              <a:t>doc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767328" y="3822192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25112" y="3493008"/>
            <a:ext cx="0" cy="-173736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797296" y="1417320"/>
            <a:ext cx="2212848" cy="2057400"/>
          </a:xfrm>
          <a:prstGeom prst="roundRect">
            <a:avLst>
              <a:gd name="adj" fmla="val 6222"/>
            </a:avLst>
          </a:prstGeom>
          <a:solidFill>
            <a:srgbClr val="0D1412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998464" y="1737360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44768" y="1783080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281928" y="1783080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19088" y="1783080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98464" y="2240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products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016752" y="265176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B6C2BC"/>
                </a:solidFill>
              </a:rPr>
              <a:t>product documents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81344" y="3364992"/>
            <a:ext cx="1463040" cy="1234440"/>
          </a:xfrm>
          <a:prstGeom prst="roundRect">
            <a:avLst>
              <a:gd name="adj" fmla="val 10370"/>
            </a:avLst>
          </a:prstGeom>
          <a:solidFill>
            <a:srgbClr val="0B1210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09360" y="3474720"/>
            <a:ext cx="120700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309360" y="34838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CFF"/>
                </a:solidFill>
              </a:rPr>
              <a:t>doc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45936" y="3822192"/>
            <a:ext cx="1133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903720" y="3493008"/>
            <a:ext cx="0" cy="-173736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8686800" y="1417320"/>
            <a:ext cx="2788920" cy="4407408"/>
          </a:xfrm>
          <a:prstGeom prst="roundRect">
            <a:avLst>
              <a:gd name="adj" fmla="val 4590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96112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C28"/>
                </a:solidFill>
              </a:rPr>
              <a:t>Collections can also have: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979408" y="2267712"/>
            <a:ext cx="210312" cy="21031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979408" y="2276856"/>
            <a:ext cx="2103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308592" y="2231136"/>
            <a:ext cx="1783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Indexes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979408" y="2889504"/>
            <a:ext cx="210312" cy="21031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8979408" y="2898648"/>
            <a:ext cx="2103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+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308592" y="2852928"/>
            <a:ext cx="1783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Validation rules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979408" y="3511296"/>
            <a:ext cx="210312" cy="21031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979408" y="3520440"/>
            <a:ext cx="2103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08592" y="3474720"/>
            <a:ext cx="1783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Collection options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79408" y="4133088"/>
            <a:ext cx="210312" cy="21031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979408" y="4142232"/>
            <a:ext cx="2103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0B0A"/>
                </a:solidFill>
              </a:rPr>
              <a:t>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9308592" y="4096512"/>
            <a:ext cx="1783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Independent lifecycle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924544" y="4956048"/>
            <a:ext cx="2029968" cy="384048"/>
          </a:xfrm>
          <a:prstGeom prst="roundRect">
            <a:avLst>
              <a:gd name="adj" fmla="val 28571"/>
            </a:avLst>
          </a:prstGeom>
          <a:solidFill>
            <a:srgbClr val="12251F"/>
          </a:solidFill>
          <a:ln w="1524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8924544" y="496519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3E0C0"/>
                </a:solidFill>
              </a:rPr>
              <a:t>Similar idea: table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Collection = a named group of related documents.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— Documents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Documents hold the business data your application actually uses.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7040880" cy="4892040"/>
          </a:xfrm>
          <a:prstGeom prst="roundRect">
            <a:avLst>
              <a:gd name="adj" fmla="val 2617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572768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12243A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58191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A8FF"/>
                </a:solidFill>
              </a:rPr>
              <a:t>orders document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084832"/>
            <a:ext cx="635508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orderId: "ORD-1001",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orderDate: ISODate("2026-09-15"),
</a:t>
            </a:r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status: "CONFIRMED",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items: [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{ productId: "P100", qty: 2, price: 499.50 },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{ productId: "P200", qty: 1, price: 25.50 }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],
</a:t>
            </a:r>
            <a:pPr indent="0" marL="0">
              <a:buNone/>
            </a:pPr>
            <a:r>
              <a:rPr lang="en-US" sz="130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shippingAddress: { city: "Chennai", country: "India" },
</a:t>
            </a:r>
            <a:pPr indent="0" marL="0">
              <a:buNone/>
            </a:pPr>
            <a:r>
              <a:rPr lang="en-US" sz="130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payment: { method: "CARD", status: "AUTHORIZED" }
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2834640"/>
            <a:ext cx="1335024" cy="329184"/>
          </a:xfrm>
          <a:prstGeom prst="roundRect">
            <a:avLst>
              <a:gd name="adj" fmla="val 33333"/>
            </a:avLst>
          </a:prstGeom>
          <a:solidFill>
            <a:srgbClr val="1A1D30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0" y="284378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CFF"/>
                </a:solidFill>
              </a:rPr>
              <a:t>Nested object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0" y="3749040"/>
            <a:ext cx="1335024" cy="329184"/>
          </a:xfrm>
          <a:prstGeom prst="roundRect">
            <a:avLst>
              <a:gd name="adj" fmla="val 33333"/>
            </a:avLst>
          </a:prstGeom>
          <a:solidFill>
            <a:srgbClr val="1A1D30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375818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A8FF"/>
                </a:solidFill>
              </a:rPr>
              <a:t>Array of items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4663440"/>
            <a:ext cx="1335024" cy="329184"/>
          </a:xfrm>
          <a:prstGeom prst="roundRect">
            <a:avLst>
              <a:gd name="adj" fmla="val 33333"/>
            </a:avLst>
          </a:prstGeom>
          <a:solidFill>
            <a:srgbClr val="1A1D30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467258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AA4A"/>
                </a:solidFill>
              </a:rPr>
              <a:t>Native Date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22192" cy="4892040"/>
          </a:xfrm>
          <a:prstGeom prst="roundRect">
            <a:avLst>
              <a:gd name="adj" fmla="val 3349"/>
            </a:avLst>
          </a:prstGeom>
          <a:solidFill>
            <a:srgbClr val="0D1412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183880" y="1737360"/>
            <a:ext cx="438912" cy="566928"/>
          </a:xfrm>
          <a:prstGeom prst="rect">
            <a:avLst/>
          </a:prstGeom>
          <a:solidFill>
            <a:srgbClr val="0B1210"/>
          </a:solidFill>
          <a:ln w="254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93608" y="1920240"/>
            <a:ext cx="201168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93608" y="2029968"/>
            <a:ext cx="201168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93608" y="2139696"/>
            <a:ext cx="137160" cy="0"/>
          </a:xfrm>
          <a:prstGeom prst="line">
            <a:avLst/>
          </a:prstGeom>
          <a:noFill/>
          <a:ln w="1905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814816" y="17190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6"/>
                </a:solidFill>
              </a:rPr>
              <a:t>A document can contain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183880" y="2395728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183880" y="24048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B0A"/>
                </a:solidFill>
              </a:rPr>
              <a:t>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03920" y="2368296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scalars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83880" y="2990088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83880" y="29992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B0A"/>
                </a:solidFill>
              </a:rPr>
              <a:t>✓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503920" y="2962656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nested documents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83880" y="3584448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183880" y="359359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B0A"/>
                </a:solidFill>
              </a:rPr>
              <a:t>✓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503920" y="3557016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arrays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83880" y="4178808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183880" y="418795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0B0A"/>
                </a:solidFill>
              </a:rPr>
              <a:t>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503920" y="4151376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</a:rPr>
              <a:t>typed values such as dates and ObjectId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83880" y="5138928"/>
            <a:ext cx="2450592" cy="365760"/>
          </a:xfrm>
          <a:prstGeom prst="roundRect">
            <a:avLst>
              <a:gd name="adj" fmla="val 30000"/>
            </a:avLst>
          </a:prstGeom>
          <a:solidFill>
            <a:srgbClr val="14261B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183880" y="514807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8C28"/>
                </a:solidFill>
              </a:rPr>
              <a:t>BSON on the wire / disk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Document = one application-oriented record; its shape can be hierarchical.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Order Management: Put the Three Pieces Together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Use one business object to see where each concept lives.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434840"/>
          </a:xfrm>
          <a:prstGeom prst="roundRect">
            <a:avLst>
              <a:gd name="adj" fmla="val 2887"/>
            </a:avLst>
          </a:prstGeom>
          <a:solidFill>
            <a:srgbClr val="0B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709160" y="1691640"/>
            <a:ext cx="2834640" cy="420624"/>
          </a:xfrm>
          <a:prstGeom prst="roundRect">
            <a:avLst>
              <a:gd name="adj" fmla="val 26087"/>
            </a:avLst>
          </a:prstGeom>
          <a:solidFill>
            <a:srgbClr val="15321F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709160" y="170078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8C28"/>
                </a:solidFill>
              </a:rPr>
              <a:t>ORDER MANAGEMENT APP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2331720"/>
            <a:ext cx="2651760" cy="658368"/>
          </a:xfrm>
          <a:prstGeom prst="roundRect">
            <a:avLst>
              <a:gd name="adj" fmla="val 19444"/>
            </a:avLst>
          </a:prstGeom>
          <a:solidFill>
            <a:srgbClr val="13261E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74920" y="2468880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074920" y="2551176"/>
            <a:ext cx="566928" cy="310896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74920" y="2734056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15584" y="24323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orderdb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1560" y="3337560"/>
            <a:ext cx="2121408" cy="713232"/>
          </a:xfrm>
          <a:prstGeom prst="roundRect">
            <a:avLst>
              <a:gd name="adj" fmla="val 17949"/>
            </a:avLst>
          </a:prstGeom>
          <a:solidFill>
            <a:srgbClr val="111A18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216152" y="3502152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362456" y="3547872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499616" y="3547872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636776" y="3547872"/>
            <a:ext cx="0" cy="320040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351129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customers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15968" y="3337560"/>
            <a:ext cx="2121408" cy="713232"/>
          </a:xfrm>
          <a:prstGeom prst="roundRect">
            <a:avLst>
              <a:gd name="adj" fmla="val 17949"/>
            </a:avLst>
          </a:prstGeom>
          <a:solidFill>
            <a:srgbClr val="111A18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80560" y="3502152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26864" y="3547872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764024" y="3547872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01184" y="3547872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74920" y="351129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orders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589520" y="3337560"/>
            <a:ext cx="2121408" cy="713232"/>
          </a:xfrm>
          <a:prstGeom prst="roundRect">
            <a:avLst>
              <a:gd name="adj" fmla="val 17949"/>
            </a:avLst>
          </a:prstGeom>
          <a:solidFill>
            <a:srgbClr val="111A18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754112" y="3502152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900416" y="3547872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37576" y="3547872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8174736" y="3547872"/>
            <a:ext cx="0" cy="320040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348472" y="351129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products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26480" y="2999232"/>
            <a:ext cx="-4023360" cy="329184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126480" y="2999232"/>
            <a:ext cx="-749808" cy="329184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126480" y="2999232"/>
            <a:ext cx="2514600" cy="329184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25880" y="4279392"/>
            <a:ext cx="1554480" cy="1143000"/>
          </a:xfrm>
          <a:prstGeom prst="roundRect">
            <a:avLst>
              <a:gd name="adj" fmla="val 11200"/>
            </a:avLst>
          </a:prstGeom>
          <a:solidFill>
            <a:srgbClr val="0B1210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453896" y="4389120"/>
            <a:ext cx="129844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453896" y="439826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AA4A"/>
                </a:solidFill>
              </a:rPr>
              <a:t>Customer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490472" y="4736592"/>
            <a:ext cx="1225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fields,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103120" y="4069080"/>
            <a:ext cx="0" cy="192024"/>
          </a:xfrm>
          <a:prstGeom prst="line">
            <a:avLst/>
          </a:prstGeom>
          <a:noFill/>
          <a:ln w="25400">
            <a:solidFill>
              <a:srgbClr val="FFAA4A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590288" y="4279392"/>
            <a:ext cx="1554480" cy="1143000"/>
          </a:xfrm>
          <a:prstGeom prst="roundRect">
            <a:avLst>
              <a:gd name="adj" fmla="val 11200"/>
            </a:avLst>
          </a:prstGeom>
          <a:solidFill>
            <a:srgbClr val="0B1210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4718304" y="4389120"/>
            <a:ext cx="129844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718304" y="439826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A8FF"/>
                </a:solidFill>
              </a:rPr>
              <a:t>Order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754880" y="4736592"/>
            <a:ext cx="1225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fields,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367528" y="4069080"/>
            <a:ext cx="0" cy="192024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7863840" y="4279392"/>
            <a:ext cx="1554480" cy="1143000"/>
          </a:xfrm>
          <a:prstGeom prst="roundRect">
            <a:avLst>
              <a:gd name="adj" fmla="val 11200"/>
            </a:avLst>
          </a:prstGeom>
          <a:solidFill>
            <a:srgbClr val="0B1210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7991856" y="4389120"/>
            <a:ext cx="1298448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991856" y="4398264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7CFF"/>
                </a:solidFill>
              </a:rPr>
              <a:t>Product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028432" y="4736592"/>
            <a:ext cx="1225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fields,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...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41080" y="4069080"/>
            <a:ext cx="0" cy="192024"/>
          </a:xfrm>
          <a:prstGeom prst="line">
            <a:avLst/>
          </a:prstGeom>
          <a:noFill/>
          <a:ln w="25400">
            <a:solidFill>
              <a:srgbClr val="B77C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828800" y="562356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The point is not memorization — it is knowing which level you are working at.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Think top-down: application requirement → database → collection → document.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Developer Workflow in mongosh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The shell is your fast feedback loop while learning and exploring.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629400" cy="4389120"/>
          </a:xfrm>
          <a:prstGeom prst="roundRect">
            <a:avLst>
              <a:gd name="adj" fmla="val 2917"/>
            </a:avLst>
          </a:prstGeom>
          <a:solidFill>
            <a:srgbClr val="0A1110"/>
          </a:solidFill>
          <a:ln w="15240">
            <a:solidFill>
              <a:srgbClr val="23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1481328"/>
            <a:ext cx="822960" cy="219456"/>
          </a:xfrm>
          <a:prstGeom prst="roundRect">
            <a:avLst>
              <a:gd name="adj" fmla="val 33333"/>
            </a:avLst>
          </a:prstGeom>
          <a:solidFill>
            <a:srgbClr val="16241F"/>
          </a:solidFill>
          <a:ln w="6350">
            <a:solidFill>
              <a:srgbClr val="28463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3232" y="14996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28C28"/>
                </a:solidFill>
              </a:rPr>
              <a:t>mongosh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" y="1801368"/>
            <a:ext cx="6336792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1. switch to the application database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use orderdb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2. create collections explicitly
</a:t>
            </a:r>
            <a:pPr indent="0" marL="0">
              <a:buNone/>
            </a:pPr>
            <a:r>
              <a:rPr lang="en-US" sz="1030" dirty="0">
                <a:solidFill>
                  <a:srgbClr val="4AA8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db.createCollection("orders")
</a:t>
            </a:r>
            <a:pPr indent="0" marL="0">
              <a:buNone/>
            </a:pPr>
            <a:r>
              <a:rPr lang="en-US" sz="1030" dirty="0">
                <a:solidFill>
                  <a:srgbClr val="B77C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db.createCollection("products")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3. insert one document
</a:t>
            </a:r>
            <a:pPr indent="0" marL="0">
              <a:buNone/>
            </a:pPr>
            <a:r>
              <a:rPr lang="en-US" sz="1030" dirty="0">
                <a:solidFill>
                  <a:srgbClr val="FFAA4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db.orders.insertOne({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orderId: "ORD-1001",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status: "PLACED"
</a:t>
            </a:r>
            <a:pPr indent="0" marL="0">
              <a:buNone/>
            </a:pPr>
            <a:r>
              <a:rPr lang="en-US" sz="1030" dirty="0">
                <a:solidFill>
                  <a:srgbClr val="FFAA4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})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4. inspect the data
</a:t>
            </a:r>
            <a:pPr indent="0" marL="0">
              <a:buNone/>
            </a:pPr>
            <a:r>
              <a:rPr lang="en-US" sz="1030" dirty="0">
                <a:solidFill>
                  <a:srgbClr val="43E0C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show collections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db.orders.find().pretty()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7479792" y="1371600"/>
            <a:ext cx="4151376" cy="4389120"/>
          </a:xfrm>
          <a:prstGeom prst="roundRect">
            <a:avLst>
              <a:gd name="adj" fmla="val 3084"/>
            </a:avLst>
          </a:prstGeom>
          <a:solidFill>
            <a:srgbClr val="0D1412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818120" y="178308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18120" y="17922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75904" y="17647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</a:rPr>
              <a:t>Choose database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01000" y="2221992"/>
            <a:ext cx="0" cy="384048"/>
          </a:xfrm>
          <a:prstGeom prst="line">
            <a:avLst/>
          </a:prstGeom>
          <a:noFill/>
          <a:ln w="25400">
            <a:solidFill>
              <a:srgbClr val="405B4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818120" y="2660904"/>
            <a:ext cx="365760" cy="365760"/>
          </a:xfrm>
          <a:prstGeom prst="ellipse">
            <a:avLst/>
          </a:prstGeom>
          <a:solidFill>
            <a:srgbClr val="4AA8FF"/>
          </a:solidFill>
          <a:ln w="127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18120" y="26700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264261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</a:rPr>
              <a:t>Create or use collection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3099816"/>
            <a:ext cx="0" cy="384048"/>
          </a:xfrm>
          <a:prstGeom prst="line">
            <a:avLst/>
          </a:prstGeom>
          <a:noFill/>
          <a:ln w="25400">
            <a:solidFill>
              <a:srgbClr val="405B4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818120" y="3538728"/>
            <a:ext cx="365760" cy="365760"/>
          </a:xfrm>
          <a:prstGeom prst="ellipse">
            <a:avLst/>
          </a:prstGeom>
          <a:solidFill>
            <a:srgbClr val="FFAA4A"/>
          </a:solidFill>
          <a:ln w="127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818120" y="35478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75904" y="3520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</a:rPr>
              <a:t>Write document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01000" y="3977640"/>
            <a:ext cx="0" cy="384048"/>
          </a:xfrm>
          <a:prstGeom prst="line">
            <a:avLst/>
          </a:prstGeom>
          <a:noFill/>
          <a:ln w="25400">
            <a:solidFill>
              <a:srgbClr val="405B4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818120" y="4416552"/>
            <a:ext cx="365760" cy="365760"/>
          </a:xfrm>
          <a:prstGeom prst="ellipse">
            <a:avLst/>
          </a:prstGeom>
          <a:solidFill>
            <a:srgbClr val="43E0C0"/>
          </a:solidFill>
          <a:ln w="1270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818120" y="442569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75904" y="439826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</a:rPr>
              <a:t>Read and inspect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66760" y="5212080"/>
            <a:ext cx="2423160" cy="384048"/>
          </a:xfrm>
          <a:prstGeom prst="roundRect">
            <a:avLst>
              <a:gd name="adj" fmla="val 28571"/>
            </a:avLst>
          </a:prstGeom>
          <a:solidFill>
            <a:srgbClr val="14311F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66760" y="522122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8C28"/>
                </a:solidFill>
              </a:rPr>
              <a:t>Fast feedback, low ceremony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Use mongosh to build intuition; later, drivers will move the same operations into application code.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Reading the Document Back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A document is useful only when the application can find the data it needs.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069080" cy="4526280"/>
          </a:xfrm>
          <a:prstGeom prst="roundRect">
            <a:avLst>
              <a:gd name="adj" fmla="val 3146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755648"/>
            <a:ext cx="438912" cy="566928"/>
          </a:xfrm>
          <a:prstGeom prst="rect">
            <a:avLst/>
          </a:prstGeom>
          <a:solidFill>
            <a:srgbClr val="0B1210"/>
          </a:solidFill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0976" y="1938528"/>
            <a:ext cx="201168" cy="0"/>
          </a:xfrm>
          <a:prstGeom prst="line">
            <a:avLst/>
          </a:prstGeom>
          <a:noFill/>
          <a:ln w="1905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0976" y="2048256"/>
            <a:ext cx="201168" cy="0"/>
          </a:xfrm>
          <a:prstGeom prst="line">
            <a:avLst/>
          </a:prstGeom>
          <a:noFill/>
          <a:ln w="1905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50976" y="2157984"/>
            <a:ext cx="137160" cy="0"/>
          </a:xfrm>
          <a:prstGeom prst="line">
            <a:avLst/>
          </a:prstGeom>
          <a:noFill/>
          <a:ln w="1905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08760" y="1737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One document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3429000" cy="2286000"/>
          </a:xfrm>
          <a:prstGeom prst="roundRect">
            <a:avLst>
              <a:gd name="adj" fmla="val 5600"/>
            </a:avLst>
          </a:prstGeom>
          <a:solidFill>
            <a:srgbClr val="0B1210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50976" y="2441448"/>
            <a:ext cx="1371600" cy="256032"/>
          </a:xfrm>
          <a:prstGeom prst="roundRect">
            <a:avLst>
              <a:gd name="adj" fmla="val 42857"/>
            </a:avLst>
          </a:prstGeom>
          <a:solidFill>
            <a:srgbClr val="13221D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50976" y="24505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A8FF"/>
                </a:solidFill>
              </a:rPr>
              <a:t>ORD-1001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87552" y="2788920"/>
            <a:ext cx="30998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orderId: "ORD-1001",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status: "PLACED",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items: [ ... ],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shippingAddress: { ... }
</a:t>
            </a:r>
            <a:pPr indent="0" marL="0">
              <a:buNone/>
            </a:pPr>
            <a:r>
              <a:rPr lang="en-US" sz="85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97280" y="4983480"/>
            <a:ext cx="2606040" cy="384048"/>
          </a:xfrm>
          <a:prstGeom prst="roundRect">
            <a:avLst>
              <a:gd name="adj" fmla="val 28571"/>
            </a:avLst>
          </a:prstGeom>
          <a:solidFill>
            <a:srgbClr val="13243A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499262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A8FF"/>
                </a:solidFill>
              </a:rPr>
              <a:t>Business data, not rows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00600" y="1371600"/>
            <a:ext cx="6812280" cy="2377440"/>
          </a:xfrm>
          <a:prstGeom prst="roundRect">
            <a:avLst>
              <a:gd name="adj" fmla="val 5385"/>
            </a:avLst>
          </a:prstGeom>
          <a:solidFill>
            <a:srgbClr val="0A1110"/>
          </a:solidFill>
          <a:ln w="15240">
            <a:solidFill>
              <a:srgbClr val="2343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910328" y="1481328"/>
            <a:ext cx="822960" cy="219456"/>
          </a:xfrm>
          <a:prstGeom prst="roundRect">
            <a:avLst>
              <a:gd name="adj" fmla="val 33333"/>
            </a:avLst>
          </a:prstGeom>
          <a:solidFill>
            <a:srgbClr val="16241F"/>
          </a:solidFill>
          <a:ln w="6350">
            <a:solidFill>
              <a:srgbClr val="28463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65192" y="1499616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28C28"/>
                </a:solidFill>
              </a:rPr>
              <a:t>mongosh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65192" y="1801368"/>
            <a:ext cx="651967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exact lookup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db.orders.findOne({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orderId: "ORD-1001"
</a:t>
            </a:r>
            <a:pPr indent="0" marL="0">
              <a:buNone/>
            </a:pPr>
            <a:r>
              <a:rPr lang="en-US" sz="1030" dirty="0">
                <a:solidFill>
                  <a:srgbClr val="F28C2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})
</a:t>
            </a:r>
            <a:pPr indent="0" marL="0">
              <a:buNone/>
            </a:pPr>
            <a:r>
              <a:rPr lang="en-US" sz="1030" dirty="0">
                <a:solidFill>
                  <a:srgbClr val="F5F7F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[object Object]
</a:t>
            </a:r>
            <a:pPr indent="0" marL="0">
              <a:buNone/>
            </a:pPr>
            <a:r>
              <a:rPr lang="en-US" sz="1030" dirty="0">
                <a:solidFill>
                  <a:srgbClr val="B6C2B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// inspect matching orders
</a:t>
            </a:r>
            <a:pPr indent="0" marL="0">
              <a:buNone/>
            </a:pPr>
            <a:r>
              <a:rPr lang="en-US" sz="1030" dirty="0">
                <a:solidFill>
                  <a:srgbClr val="43E0C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db.orders.find({ status: "PLACED" }).pretty()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00600" y="3977640"/>
            <a:ext cx="6812280" cy="1920240"/>
          </a:xfrm>
          <a:prstGeom prst="roundRect">
            <a:avLst>
              <a:gd name="adj" fmla="val 6667"/>
            </a:avLst>
          </a:prstGeom>
          <a:solidFill>
            <a:srgbClr val="0F1916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74920" y="42519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C28"/>
                </a:solidFill>
              </a:rPr>
              <a:t>Reading mindset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74920" y="4617720"/>
            <a:ext cx="6172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</a:rPr>
              <a:t>Start with the business question, identify the field, then write the filter. Keep the query aligned with the document structure you designed.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The document model and the query model should reinforce each other.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Design Rules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Keep the first MongoDB model simple enough to understand and useful enough to evolve.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10881360" cy="658368"/>
          </a:xfrm>
          <a:prstGeom prst="roundRect">
            <a:avLst>
              <a:gd name="adj" fmla="val 19444"/>
            </a:avLst>
          </a:prstGeom>
          <a:solidFill>
            <a:srgbClr val="0D1412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453896"/>
            <a:ext cx="310896" cy="310896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463040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53312" y="14173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</a:rPr>
              <a:t>Name things by business meaning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995160" y="1426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80" dirty="0">
                <a:solidFill>
                  <a:srgbClr val="B6C2BC"/>
                </a:solidFill>
              </a:rPr>
              <a:t>orderdb, orders, products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658368" y="2148840"/>
            <a:ext cx="10881360" cy="658368"/>
          </a:xfrm>
          <a:prstGeom prst="roundRect">
            <a:avLst>
              <a:gd name="adj" fmla="val 19444"/>
            </a:avLst>
          </a:prstGeom>
          <a:solidFill>
            <a:srgbClr val="0D1412"/>
          </a:solidFill>
          <a:ln w="1524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68680" y="2304288"/>
            <a:ext cx="310896" cy="310896"/>
          </a:xfrm>
          <a:prstGeom prst="ellipse">
            <a:avLst/>
          </a:prstGeom>
          <a:solidFill>
            <a:srgbClr val="43E0C0"/>
          </a:solidFill>
          <a:ln w="12700">
            <a:solidFill>
              <a:srgbClr val="43E0C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31343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53312" y="22677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</a:rPr>
              <a:t>Keep related data together when it is naturally read together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95160" y="22768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80" dirty="0">
                <a:solidFill>
                  <a:srgbClr val="B6C2BC"/>
                </a:solidFill>
              </a:rPr>
              <a:t>shippingAddress inside the order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58368" y="2999232"/>
            <a:ext cx="10881360" cy="658368"/>
          </a:xfrm>
          <a:prstGeom prst="roundRect">
            <a:avLst>
              <a:gd name="adj" fmla="val 19444"/>
            </a:avLst>
          </a:prstGeom>
          <a:solidFill>
            <a:srgbClr val="0D1412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154680"/>
            <a:ext cx="310896" cy="310896"/>
          </a:xfrm>
          <a:prstGeom prst="ellipse">
            <a:avLst/>
          </a:prstGeom>
          <a:solidFill>
            <a:srgbClr val="4AA8FF"/>
          </a:solidFill>
          <a:ln w="127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163824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</a:rPr>
              <a:t>Use collections as clear domain containers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95160" y="312724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80" dirty="0">
                <a:solidFill>
                  <a:srgbClr val="B6C2BC"/>
                </a:solidFill>
              </a:rPr>
              <a:t>orders, customers, products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658368" y="3849624"/>
            <a:ext cx="10881360" cy="658368"/>
          </a:xfrm>
          <a:prstGeom prst="roundRect">
            <a:avLst>
              <a:gd name="adj" fmla="val 19444"/>
            </a:avLst>
          </a:prstGeom>
          <a:solidFill>
            <a:srgbClr val="0D1412"/>
          </a:solidFill>
          <a:ln w="1524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8680" y="4005072"/>
            <a:ext cx="310896" cy="310896"/>
          </a:xfrm>
          <a:prstGeom prst="ellipse">
            <a:avLst/>
          </a:prstGeom>
          <a:solidFill>
            <a:srgbClr val="B77CFF"/>
          </a:solidFill>
          <a:ln w="12700">
            <a:solidFill>
              <a:srgbClr val="B77C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8680" y="4014216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53312" y="396849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</a:rPr>
              <a:t>Treat document shape as an application design decision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95160" y="397764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80" dirty="0">
                <a:solidFill>
                  <a:srgbClr val="B6C2BC"/>
                </a:solidFill>
              </a:rPr>
              <a:t>model for access patterns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658368" y="4700016"/>
            <a:ext cx="10881360" cy="658368"/>
          </a:xfrm>
          <a:prstGeom prst="roundRect">
            <a:avLst>
              <a:gd name="adj" fmla="val 19444"/>
            </a:avLst>
          </a:prstGeom>
          <a:solidFill>
            <a:srgbClr val="0D1412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68680" y="4855464"/>
            <a:ext cx="310896" cy="310896"/>
          </a:xfrm>
          <a:prstGeom prst="ellipse">
            <a:avLst/>
          </a:prstGeom>
          <a:solidFill>
            <a:srgbClr val="FFAA4A"/>
          </a:solidFill>
          <a:ln w="127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4864608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B0A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53312" y="48188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</a:rPr>
              <a:t>Inspect what you actually store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995160" y="48280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80" dirty="0">
                <a:solidFill>
                  <a:srgbClr val="B6C2BC"/>
                </a:solidFill>
              </a:rPr>
              <a:t>mongosh + find() + explain() later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Good document design starts from requirements and access patterns, not from copying a table schema.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7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Remember the hierarchy, then use it in your next hands-on exercise.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0E1714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029968" y="1874520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029968" y="1956816"/>
            <a:ext cx="566928" cy="310896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029968" y="2139696"/>
            <a:ext cx="566928" cy="16459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51560" y="25420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DATABASE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296265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6C2BC"/>
                </a:solidFill>
              </a:rPr>
              <a:t>logical home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77056" y="2743200"/>
            <a:ext cx="512064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26280" y="16002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0E1714"/>
          </a:solidFill>
          <a:ln w="1524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824728" y="1874520"/>
            <a:ext cx="566928" cy="438912"/>
          </a:xfrm>
          <a:prstGeom prst="rect">
            <a:avLst/>
          </a:prstGeom>
          <a:solidFill>
            <a:srgbClr val="0B1210"/>
          </a:solidFill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71032" y="192024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08192" y="192024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245352" y="1920240"/>
            <a:ext cx="0" cy="320040"/>
          </a:xfrm>
          <a:prstGeom prst="line">
            <a:avLst/>
          </a:prstGeom>
          <a:noFill/>
          <a:ln w="25400">
            <a:solidFill>
              <a:srgbClr val="4AA8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846320" y="25420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COLLECTION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46320" y="296265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6C2BC"/>
                </a:solidFill>
              </a:rPr>
              <a:t>group of documents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71816" y="2743200"/>
            <a:ext cx="512064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21040" y="16002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0E1714"/>
          </a:solidFill>
          <a:ln w="1524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619488" y="1874520"/>
            <a:ext cx="438912" cy="566928"/>
          </a:xfrm>
          <a:prstGeom prst="rect">
            <a:avLst/>
          </a:prstGeom>
          <a:solidFill>
            <a:srgbClr val="0B1210"/>
          </a:solidFill>
          <a:ln w="2540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29216" y="2057400"/>
            <a:ext cx="201168" cy="0"/>
          </a:xfrm>
          <a:prstGeom prst="line">
            <a:avLst/>
          </a:prstGeom>
          <a:noFill/>
          <a:ln w="1905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729216" y="2167128"/>
            <a:ext cx="201168" cy="0"/>
          </a:xfrm>
          <a:prstGeom prst="line">
            <a:avLst/>
          </a:prstGeom>
          <a:noFill/>
          <a:ln w="1905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729216" y="2276856"/>
            <a:ext cx="137160" cy="0"/>
          </a:xfrm>
          <a:prstGeom prst="line">
            <a:avLst/>
          </a:prstGeom>
          <a:noFill/>
          <a:ln w="19050">
            <a:solidFill>
              <a:srgbClr val="FFAA4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41080" y="25420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6"/>
                </a:solidFill>
              </a:rPr>
              <a:t>DOCUMENT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641080" y="296265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6C2BC"/>
                </a:solidFill>
              </a:rPr>
              <a:t>business record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60120" y="4389120"/>
            <a:ext cx="10287000" cy="1325880"/>
          </a:xfrm>
          <a:prstGeom prst="roundRect">
            <a:avLst>
              <a:gd name="adj" fmla="val 9655"/>
            </a:avLst>
          </a:prstGeom>
          <a:solidFill>
            <a:srgbClr val="0A1110"/>
          </a:solidFill>
          <a:ln w="15240">
            <a:solidFill>
              <a:srgbClr val="2943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98448" y="470916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14301F"/>
          </a:solidFill>
          <a:ln w="15240">
            <a:solidFill>
              <a:srgbClr val="F28C2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298448" y="4718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Remember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18688" y="467258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</a:rPr>
              <a:t>Application requirements → Database → Collection → Document → Query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011680" y="5513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6C2BC"/>
                </a:solidFill>
              </a:rPr>
              <a:t>Next: move from the structure to the data itself — JSON and BSON.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75488" y="6574536"/>
            <a:ext cx="9601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C7A72"/>
                </a:solidFill>
              </a:rPr>
              <a:t>The goal is developer fluency: explain it, build it, inspect it.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65392"/>
            <a:ext cx="800000" cy="300000"/>
          </a:xfrm>
          <a:prstGeom prst="rect">
            <a:avLst/>
          </a:prstGeom>
          <a:ln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Databases, Collections &amp; Documents</dc:title>
  <dc:subject>MongoDB Developer Udemy Learning Path</dc:subject>
  <dc:creator>OpenAI</dc:creator>
  <cp:lastModifiedBy>OpenAI</cp:lastModifiedBy>
  <cp:revision>1</cp:revision>
  <dcterms:created xsi:type="dcterms:W3CDTF">2026-09-28T04:07:17Z</dcterms:created>
  <dcterms:modified xsi:type="dcterms:W3CDTF">2026-09-28T04:07:17Z</dcterms:modified>
</cp:coreProperties>
</file>