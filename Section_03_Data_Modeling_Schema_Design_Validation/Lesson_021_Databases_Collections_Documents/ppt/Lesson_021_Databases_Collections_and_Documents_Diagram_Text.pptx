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817409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Databases, Collections and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00D278"/>
                </a:solidFill>
                <a:latin typeface="Aptos"/>
              </a:defRPr>
            </a:pPr>
            <a:r>
              <a:t>The MongoDB data hierarchy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057400"/>
            <a:ext cx="320040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MongoDB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246120"/>
            <a:ext cx="283464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4434840"/>
            <a:ext cx="246888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Collection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5532120"/>
            <a:ext cx="210312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Document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788920"/>
            <a:ext cx="0" cy="45720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3977639"/>
            <a:ext cx="0" cy="457201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60" y="5166360"/>
            <a:ext cx="0" cy="36576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What Is a Database?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A database provides a logical container for application data.</a:t>
            </a:r>
            <a:br/>
            <a:br/>
            <a:r>
              <a:t>A database can contain multiple collections.</a:t>
            </a:r>
            <a:br/>
            <a:br/>
            <a:r>
              <a:t>Different applications or domains can use separate databases.</a:t>
            </a:r>
            <a:br/>
            <a:br/>
            <a:r>
              <a:t>Use clear database names that developers can understand.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45920"/>
            <a:ext cx="256032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971800"/>
            <a:ext cx="274320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4343400"/>
            <a:ext cx="2194560" cy="68580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4343400"/>
            <a:ext cx="2194560" cy="68580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Orders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0" y="2377440"/>
            <a:ext cx="0" cy="59436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812280" y="3703320"/>
            <a:ext cx="960120" cy="64008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0" y="3703320"/>
            <a:ext cx="1554480" cy="64008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What Is a Collection?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A collection stores related MongoDB documents.</a:t>
            </a:r>
            <a:br/>
            <a:br/>
            <a:r>
              <a:t>It is similar to a relational table, but documents can have flexible structures.</a:t>
            </a:r>
            <a:br/>
            <a:br/>
            <a:r>
              <a:t>Collections are commonly organized around application entities or access patterns.</a:t>
            </a:r>
            <a:br/>
            <a:br/>
            <a:r>
              <a:t>Examples include customers, products, orders, and events.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2560320" cy="68580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2606040"/>
            <a:ext cx="3749039" cy="68580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Documents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3794760"/>
            <a:ext cx="1737360" cy="77724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Product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3794760"/>
            <a:ext cx="1737360" cy="77724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Product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3794760"/>
            <a:ext cx="1280160" cy="77724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...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80960" y="2103120"/>
            <a:ext cx="0" cy="50292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446520" y="3291840"/>
            <a:ext cx="1234440" cy="50292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80960" y="3291840"/>
            <a:ext cx="731520" cy="50292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80960" y="3291840"/>
            <a:ext cx="2468880" cy="50292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What Is a Document?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4389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A document is the basic unit of data stored in MongoDB.</a:t>
            </a:r>
            <a:br/>
            <a:br/>
            <a:r>
              <a:t>Documents contain field-value pairs.</a:t>
            </a:r>
            <a:br/>
            <a:br/>
            <a:r>
              <a:t>Fields can contain simple values, objects, or arrays.</a:t>
            </a:r>
            <a:br/>
            <a:br/>
            <a:r>
              <a:t>A document can represent a complete application object.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417320"/>
            <a:ext cx="5120640" cy="420624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{</a:t>
            </a:r>
            <a:br/>
            <a:r>
              <a:t>  name: "Laptop",</a:t>
            </a:r>
            <a:br/>
            <a:r>
              <a:t>  price: 1200,</a:t>
            </a:r>
            <a:br/>
            <a:r>
              <a:t>  category: "Computers",</a:t>
            </a:r>
            <a:br/>
            <a:r>
              <a:t>  tags: ["work", "mobile"],</a:t>
            </a:r>
            <a:br/>
            <a:r>
              <a:t>  details: {</a:t>
            </a:r>
            <a:br/>
            <a:r>
              <a:t>    brand: "Example"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Documents Can Contain Nested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MongoDB documents can contain nested objects.</a:t>
            </a:r>
            <a:br/>
            <a:br/>
            <a:r>
              <a:t>Arrays can contain multiple values or embedded documents.</a:t>
            </a:r>
            <a:br/>
            <a:br/>
            <a:r>
              <a:t>This allows related information to be represented naturally.</a:t>
            </a:r>
            <a:br/>
            <a:br/>
            <a:r>
              <a:t>The structure should match application access patterns.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417320"/>
            <a:ext cx="493776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Customer Document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2743200"/>
            <a:ext cx="192024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2743200"/>
            <a:ext cx="192024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orders[]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4160520"/>
            <a:ext cx="246888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address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160520"/>
            <a:ext cx="246888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order document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6675120" y="2148840"/>
            <a:ext cx="1371600" cy="59436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46720" y="2148840"/>
            <a:ext cx="1188720" cy="59436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675120" y="3474720"/>
            <a:ext cx="0" cy="68580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35440" y="3474720"/>
            <a:ext cx="0" cy="68580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Collections Are Not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Relational tables normally use predefined columns.</a:t>
            </a:r>
            <a:br/>
            <a:br/>
            <a:r>
              <a:t>MongoDB collections support flexible document structures.</a:t>
            </a:r>
            <a:br/>
            <a:br/>
            <a:r>
              <a:t>MongoDB can store nested data directly inside documents.</a:t>
            </a:r>
            <a:br/>
            <a:br/>
            <a:r>
              <a:t>Do not simply copy relational tables into MongoDB without evaluating the workload.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1417320"/>
            <a:ext cx="1920240" cy="68580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SQL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417320"/>
            <a:ext cx="2194560" cy="68580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MongoDB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2423160"/>
            <a:ext cx="2286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FFFFF"/>
                </a:solidFill>
                <a:latin typeface="Aptos"/>
              </a:defRPr>
            </a:pPr>
            <a:r>
              <a:t>Row</a:t>
            </a:r>
            <a:br/>
            <a:r>
              <a:t>Row</a:t>
            </a:r>
            <a:br/>
            <a:r>
              <a:t>Row</a:t>
            </a:r>
            <a:br/>
            <a:br/>
            <a:r>
              <a:t>Fixed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423160"/>
            <a:ext cx="2651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FFFFFF"/>
                </a:solidFill>
                <a:latin typeface="Aptos"/>
              </a:defRPr>
            </a:pPr>
            <a:r>
              <a:t>Document</a:t>
            </a:r>
            <a:br/>
            <a:r>
              <a:t>  nested object</a:t>
            </a:r>
            <a:br/>
            <a:r>
              <a:t>  array</a:t>
            </a:r>
            <a:br/>
            <a:br/>
            <a:r>
              <a:t>Flexible 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Embedding Related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Embedding stores related information inside a parent document.</a:t>
            </a:r>
            <a:br/>
            <a:br/>
            <a:r>
              <a:t>It can reduce additional database reads.</a:t>
            </a:r>
            <a:br/>
            <a:br/>
            <a:r>
              <a:t>It is useful when related data is normally accessed together.</a:t>
            </a:r>
            <a:br/>
            <a:br/>
            <a:r>
              <a:t>Document size and update behavior must still be considered.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0" y="1371600"/>
            <a:ext cx="411480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2743200"/>
            <a:ext cx="192024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Address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743200"/>
            <a:ext cx="192024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Preferences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4160520"/>
            <a:ext cx="228600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Orders[]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6446520" y="2103120"/>
            <a:ext cx="1463040" cy="64008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09560" y="2103120"/>
            <a:ext cx="914400" cy="64008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818120" y="2103120"/>
            <a:ext cx="91440" cy="205740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Referencing Related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4389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References keep related information in separate documents.</a:t>
            </a:r>
            <a:br/>
            <a:br/>
            <a:r>
              <a:t>They are useful when data is large or independently managed.</a:t>
            </a:r>
            <a:br/>
            <a:br/>
            <a:r>
              <a:t>References can also support relationships that change frequently.</a:t>
            </a:r>
            <a:br/>
            <a:br/>
            <a:r>
              <a:t>Aggregation can combine referenced data when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508760"/>
            <a:ext cx="219456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508760"/>
            <a:ext cx="219456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6733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278"/>
                </a:solidFill>
                <a:latin typeface="Aptos"/>
              </a:defRPr>
            </a:pPr>
            <a:r>
              <a:t>customerId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0" y="1874519"/>
            <a:ext cx="914400" cy="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577840" y="3337560"/>
            <a:ext cx="219456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Customer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3337560"/>
            <a:ext cx="219456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Order 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75120" y="2240280"/>
            <a:ext cx="0" cy="109728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784080" y="2240280"/>
            <a:ext cx="0" cy="109728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Developer Design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Start with the application's access patterns.</a:t>
            </a:r>
            <a:br/>
            <a:br/>
            <a:r>
              <a:t>Choose collections around meaningful application data.</a:t>
            </a:r>
            <a:br/>
            <a:br/>
            <a:r>
              <a:t>Choose document boundaries based on reads and updates.</a:t>
            </a:r>
            <a:br/>
            <a:br/>
            <a:r>
              <a:t>Decide deliberately between embedding and referencing.</a:t>
            </a:r>
            <a:br/>
            <a:br/>
            <a:r>
              <a:t>Good MongoDB modeling starts with the workload.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80160"/>
            <a:ext cx="2468880" cy="68580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2743200"/>
            <a:ext cx="1920240" cy="68580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Access 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743200"/>
            <a:ext cx="1920240" cy="68580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Data Relationships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4251960"/>
            <a:ext cx="2194560" cy="68580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Document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251960"/>
            <a:ext cx="2194560" cy="68580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Indexes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6583680" y="1965960"/>
            <a:ext cx="1051560" cy="77724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35240" y="1965960"/>
            <a:ext cx="1554480" cy="77724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583680" y="3429000"/>
            <a:ext cx="0" cy="82296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89720" y="3429000"/>
            <a:ext cx="0" cy="82296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321793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 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210312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417320"/>
            <a:ext cx="210312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Collection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210312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417320"/>
            <a:ext cx="2103120" cy="731520"/>
          </a:xfrm>
          <a:prstGeom prst="roundRect">
            <a:avLst/>
          </a:prstGeom>
          <a:solidFill>
            <a:srgbClr val="1C1C1C"/>
          </a:solidFill>
          <a:ln>
            <a:solidFill>
              <a:srgbClr val="00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Fields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1783080"/>
            <a:ext cx="640080" cy="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60720" y="1783080"/>
            <a:ext cx="640080" cy="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03920" y="1783080"/>
            <a:ext cx="640080" cy="0"/>
          </a:xfrm>
          <a:prstGeom prst="line">
            <a:avLst/>
          </a:prstGeom>
          <a:ln w="31750">
            <a:solidFill>
              <a:srgbClr val="00D2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788920"/>
            <a:ext cx="10241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  <a:latin typeface="Aptos"/>
              </a:defRPr>
            </a:pPr>
            <a:r>
              <a:t>Databases contain collections.</a:t>
            </a:r>
            <a:br/>
            <a:r>
              <a:t>Collections contain documents.</a:t>
            </a:r>
            <a:br/>
            <a:r>
              <a:t>Documents contain fields, objects, and arrays.</a:t>
            </a:r>
            <a:br/>
            <a:r>
              <a:t>MongoDB documents are stored as BSON.</a:t>
            </a:r>
            <a:br/>
            <a:r>
              <a:t>Document design should follow application access patterns.</a:t>
            </a:r>
            <a:br/>
            <a:r>
              <a:t>Next: JSON data and its relationship to MongoDB documents.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AAAA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2ae551e3-0043-40f0-9a67-12d995049d50}" enabled="1" method="Standard" siteId="{97984c2b-a229-4609-8185-ae84947bc3f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570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3</cp:revision>
  <dcterms:created xsi:type="dcterms:W3CDTF">2013-01-27T09:14:16Z</dcterms:created>
  <dcterms:modified xsi:type="dcterms:W3CDTF">2026-09-28T03:51:42Z</dcterms:modified>
  <cp:category/>
</cp:coreProperties>
</file>