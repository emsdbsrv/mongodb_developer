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6501384"/>
            <a:ext cx="11430000" cy="0"/>
          </a:xfrm>
          <a:prstGeom prst="line">
            <a:avLst/>
          </a:prstGeom>
          <a:noFill/>
          <a:ln w="12700">
            <a:solidFill>
              <a:srgbClr val="22352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polished_infographic_slide_style_image_w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By the end of this lesson, learners should be comfortable with the three core building blocks.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F7F6"/>
                </a:solidFill>
              </a:rPr>
              <a:t>Understand the hierarchy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Database → Collection → Document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051560"/>
            <a:ext cx="347472" cy="34747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43E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581912"/>
            <a:ext cx="384048" cy="384048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F7F6"/>
                </a:solidFill>
              </a:rPr>
              <a:t>Create a database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97764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Switch into an application database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02152" y="1051560"/>
            <a:ext cx="347472" cy="347472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1581912"/>
            <a:ext cx="384048" cy="384048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F7F6"/>
                </a:solidFill>
              </a:rPr>
              <a:t>Work with collections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1228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Create, list and manage collections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36792" y="1051560"/>
            <a:ext cx="347472" cy="347472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1581912"/>
            <a:ext cx="384048" cy="384048"/>
          </a:xfrm>
          <a:prstGeom prst="ellipse">
            <a:avLst/>
          </a:prstGeom>
          <a:solidFill>
            <a:srgbClr val="B77CFF"/>
          </a:solidFill>
          <a:ln w="12700">
            <a:solidFill>
              <a:srgbClr val="B77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F7F6"/>
                </a:solidFill>
              </a:rPr>
              <a:t>Read documents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64692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Insert, inspect and query documents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71432" y="1051560"/>
            <a:ext cx="347472" cy="347472"/>
          </a:xfrm>
          <a:prstGeom prst="ellipse">
            <a:avLst/>
          </a:prstGeom>
          <a:solidFill>
            <a:srgbClr val="B77CFF"/>
          </a:solidFill>
          <a:ln w="12700">
            <a:solidFill>
              <a:srgbClr val="B7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7143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840480"/>
            <a:ext cx="11137392" cy="1664208"/>
          </a:xfrm>
          <a:prstGeom prst="roundRect">
            <a:avLst>
              <a:gd name="adj" fmla="val 7692"/>
            </a:avLst>
          </a:prstGeom>
          <a:solidFill>
            <a:srgbClr val="0A12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FF3F"/>
                </a:solidFill>
              </a:rPr>
              <a:t>One running example — Order Management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9808" y="44622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6"/>
                </a:solidFill>
              </a:rPr>
              <a:t>A practical order will carry us through the lesson so learners see where each MongoDB concept belongs in an application.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89320" y="4087368"/>
            <a:ext cx="1188720" cy="347472"/>
          </a:xfrm>
          <a:prstGeom prst="roundRect">
            <a:avLst>
              <a:gd name="adj" fmla="val 31579"/>
            </a:avLst>
          </a:prstGeom>
          <a:solidFill>
            <a:srgbClr val="13243A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4096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A8FF"/>
                </a:solidFill>
              </a:rPr>
              <a:t>orders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96912" y="4087368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302617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A4A"/>
                </a:solidFill>
              </a:rPr>
              <a:t>customers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59952" y="408736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241A33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9952" y="40965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7CFF"/>
                </a:solidFill>
              </a:rPr>
              <a:t>products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535424"/>
            <a:ext cx="0" cy="539496"/>
          </a:xfrm>
          <a:prstGeom prst="line">
            <a:avLst/>
          </a:prstGeom>
          <a:noFill/>
          <a:ln w="25400">
            <a:solidFill>
              <a:srgbClr val="A3FF3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229600" y="4535424"/>
            <a:ext cx="0" cy="539496"/>
          </a:xfrm>
          <a:prstGeom prst="line">
            <a:avLst/>
          </a:prstGeom>
          <a:noFill/>
          <a:ln w="25400">
            <a:solidFill>
              <a:srgbClr val="A3FF3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326880" y="4535424"/>
            <a:ext cx="0" cy="539496"/>
          </a:xfrm>
          <a:prstGeom prst="line">
            <a:avLst/>
          </a:prstGeom>
          <a:noFill/>
          <a:ln w="25400">
            <a:solidFill>
              <a:srgbClr val="A3FF3F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Build the mental model first; deeper CRUD, querying and data modeling come in later lessons.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in One Picture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The developer mental model starts with a simple hierarchy.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972800" cy="4389120"/>
          </a:xfrm>
          <a:prstGeom prst="roundRect">
            <a:avLst>
              <a:gd name="adj" fmla="val 2917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9472" y="1691640"/>
            <a:ext cx="2331720" cy="502920"/>
          </a:xfrm>
          <a:prstGeom prst="ellipse">
            <a:avLst/>
          </a:prstGeom>
          <a:solidFill>
            <a:srgbClr val="1D5C3C"/>
          </a:solidFill>
          <a:ln w="25400">
            <a:solidFill>
              <a:srgbClr val="A3F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19472" y="1920240"/>
            <a:ext cx="2331720" cy="502920"/>
          </a:xfrm>
          <a:prstGeom prst="rect">
            <a:avLst/>
          </a:prstGeom>
          <a:solidFill>
            <a:srgbClr val="133F2B"/>
          </a:solidFill>
          <a:ln w="25400">
            <a:solidFill>
              <a:srgbClr val="A3FF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19472" y="2176272"/>
            <a:ext cx="2331720" cy="502920"/>
          </a:xfrm>
          <a:prstGeom prst="ellipse">
            <a:avLst/>
          </a:prstGeom>
          <a:solidFill>
            <a:srgbClr val="1D5C3C"/>
          </a:solidFill>
          <a:ln w="25400">
            <a:solidFill>
              <a:srgbClr val="A3F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57216" y="19293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DATABASE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248656" y="2505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Logical container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2011680" cy="777240"/>
          </a:xfrm>
          <a:prstGeom prst="roundRect">
            <a:avLst>
              <a:gd name="adj" fmla="val 16471"/>
            </a:avLst>
          </a:prstGeom>
          <a:solidFill>
            <a:srgbClr val="111A18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032" y="3328416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5336" y="3374136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82496" y="3374136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9656" y="3374136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customers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9112" y="3602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2B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2743200"/>
            <a:ext cx="-3840480" cy="393192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3154680"/>
            <a:ext cx="2011680" cy="777240"/>
          </a:xfrm>
          <a:prstGeom prst="roundRect">
            <a:avLst>
              <a:gd name="adj" fmla="val 16471"/>
            </a:avLst>
          </a:prstGeom>
          <a:solidFill>
            <a:srgbClr val="111A18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3328416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3374136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3374136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3374136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orders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02352" y="3602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2B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743200"/>
            <a:ext cx="-777240" cy="393192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60920" y="3154680"/>
            <a:ext cx="2011680" cy="777240"/>
          </a:xfrm>
          <a:prstGeom prst="roundRect">
            <a:avLst>
              <a:gd name="adj" fmla="val 16471"/>
            </a:avLst>
          </a:prstGeom>
          <a:solidFill>
            <a:srgbClr val="111A18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25512" y="3328416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B77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71816" y="3374136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08976" y="3374136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46136" y="3374136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products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65592" y="3602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2B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2743200"/>
            <a:ext cx="2286000" cy="393192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8680" y="4343400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0B1210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" y="445312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AA4A"/>
                </a:solidFill>
              </a:rPr>
              <a:t>Customer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33272" y="4800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_id, fields,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40280" y="3931920"/>
            <a:ext cx="-91440" cy="393192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931920" y="4343400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59936" y="445312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A8FF"/>
                </a:solidFill>
              </a:rPr>
              <a:t>Order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096512" y="4800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_id, fields,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03520" y="3931920"/>
            <a:ext cx="-91440" cy="393192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95160" y="4343400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0B1210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23176" y="445312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23176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CFF"/>
                </a:solidFill>
              </a:rPr>
              <a:t>Product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59752" y="4800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_id, fields,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66760" y="3931920"/>
            <a:ext cx="-91440" cy="393192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710928" y="1554480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13251B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10928" y="15636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FF3F"/>
                </a:solidFill>
              </a:rPr>
              <a:t>Think: App data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5554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6"/>
                </a:solidFill>
              </a:rPr>
              <a:t>A document is the actual data object your application reads and writes.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Hierarchy: Database → Collection → Document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— Database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Use a database to group collections that belong to an application or domain.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49040" cy="4526280"/>
          </a:xfrm>
          <a:prstGeom prst="roundRect">
            <a:avLst>
              <a:gd name="adj" fmla="val 3415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37360"/>
            <a:ext cx="566928" cy="16459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19656"/>
            <a:ext cx="566928" cy="310896"/>
          </a:xfrm>
          <a:prstGeom prst="rect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02536"/>
            <a:ext cx="566928" cy="16459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3FF3F"/>
                </a:solidFill>
              </a:rPr>
              <a:t>orderdb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</a:rPr>
              <a:t>A logical container for related collections.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3127248"/>
            <a:ext cx="237744" cy="237744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363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30998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5F7F6"/>
                </a:solidFill>
              </a:rPr>
              <a:t>Name it for the application domain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41248" y="3712464"/>
            <a:ext cx="237744" cy="237744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7216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07008" y="3685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5F7F6"/>
                </a:solidFill>
              </a:rPr>
              <a:t>Switch into it with use orderdb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41248" y="4297680"/>
            <a:ext cx="237744" cy="237744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306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7008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5F7F6"/>
                </a:solidFill>
              </a:rPr>
              <a:t>MongoDB can create it when data is first written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841248" y="4882896"/>
            <a:ext cx="237744" cy="237744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89204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07008" y="48554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5F7F6"/>
                </a:solidFill>
              </a:rPr>
              <a:t>Keep permissions and operational boundaries clear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526280" y="1417320"/>
            <a:ext cx="7086600" cy="2331720"/>
          </a:xfrm>
          <a:prstGeom prst="roundRect">
            <a:avLst>
              <a:gd name="adj" fmla="val 5490"/>
            </a:avLst>
          </a:prstGeom>
          <a:solidFill>
            <a:srgbClr val="0A1110"/>
          </a:solidFill>
          <a:ln w="15240">
            <a:solidFill>
              <a:srgbClr val="2343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6008" y="152704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6241F"/>
          </a:solidFill>
          <a:ln w="6350">
            <a:solidFill>
              <a:srgbClr val="284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154533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3FF3F"/>
                </a:solidFill>
              </a:rPr>
              <a:t>mongosh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847088"/>
            <a:ext cx="679399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switch to the application database
</a:t>
            </a:r>
            <a:pPr indent="0" marL="0">
              <a:buNone/>
            </a:pPr>
            <a:r>
              <a:rPr lang="en-US" sz="103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orderdb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inspect the current database
</a:t>
            </a:r>
            <a:pPr indent="0" marL="0">
              <a:buNone/>
            </a:pPr>
            <a:r>
              <a:rPr lang="en-US" sz="1030" dirty="0">
                <a:solidFill>
                  <a:srgbClr val="4AA8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db.getName()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list databases (when permitted)
</a:t>
            </a:r>
            <a:pPr indent="0" marL="0">
              <a:buNone/>
            </a:pPr>
            <a:r>
              <a:rPr lang="en-US" sz="1030" dirty="0">
                <a:solidFill>
                  <a:srgbClr val="FFA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show dbs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26280" y="3977640"/>
            <a:ext cx="7086600" cy="1874520"/>
          </a:xfrm>
          <a:prstGeom prst="roundRect">
            <a:avLst>
              <a:gd name="adj" fmla="val 6829"/>
            </a:avLst>
          </a:prstGeom>
          <a:solidFill>
            <a:srgbClr val="0F1916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224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FF3F"/>
                </a:solidFill>
              </a:rPr>
              <a:t>Developer tip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4572000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6"/>
                </a:solidFill>
              </a:rPr>
              <a:t>Think of a database as the top-level boundary that gives your collections a shared home. It is not the same thing as a collection or a document.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Database = the logical home for related collections.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— Collections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Collections group related documents and provide the working surface for queries and indexes.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212848" cy="2057400"/>
          </a:xfrm>
          <a:prstGeom prst="roundRect">
            <a:avLst>
              <a:gd name="adj" fmla="val 6222"/>
            </a:avLst>
          </a:prstGeom>
          <a:solidFill>
            <a:srgbClr val="0D1412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3736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83080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1783080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783080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customers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6517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customer documents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24128" y="3364992"/>
            <a:ext cx="1463040" cy="1234440"/>
          </a:xfrm>
          <a:prstGeom prst="roundRect">
            <a:avLst>
              <a:gd name="adj" fmla="val 10370"/>
            </a:avLst>
          </a:prstGeom>
          <a:solidFill>
            <a:srgbClr val="0B1210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347472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4838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AA4A"/>
                </a:solidFill>
              </a:rPr>
              <a:t>doc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46504" y="3493008"/>
            <a:ext cx="0" cy="-173736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18688" y="1417320"/>
            <a:ext cx="2212848" cy="2057400"/>
          </a:xfrm>
          <a:prstGeom prst="roundRect">
            <a:avLst>
              <a:gd name="adj" fmla="val 6222"/>
            </a:avLst>
          </a:prstGeom>
          <a:solidFill>
            <a:srgbClr val="0D1412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9856" y="173736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78308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178308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178308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orders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38144" y="26517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order documents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02736" y="3364992"/>
            <a:ext cx="1463040" cy="1234440"/>
          </a:xfrm>
          <a:prstGeom prst="roundRect">
            <a:avLst>
              <a:gd name="adj" fmla="val 10370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347472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4838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A8FF"/>
                </a:solidFill>
              </a:rPr>
              <a:t>doc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67328" y="382219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25112" y="3493008"/>
            <a:ext cx="0" cy="-173736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97296" y="1417320"/>
            <a:ext cx="2212848" cy="2057400"/>
          </a:xfrm>
          <a:prstGeom prst="roundRect">
            <a:avLst>
              <a:gd name="adj" fmla="val 6222"/>
            </a:avLst>
          </a:prstGeom>
          <a:solidFill>
            <a:srgbClr val="0D1412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98464" y="173736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B77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4768" y="1783080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1783080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1783080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8464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products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16752" y="26517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6C2BC"/>
                </a:solidFill>
              </a:rPr>
              <a:t>product documents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81344" y="3364992"/>
            <a:ext cx="1463040" cy="1234440"/>
          </a:xfrm>
          <a:prstGeom prst="roundRect">
            <a:avLst>
              <a:gd name="adj" fmla="val 10370"/>
            </a:avLst>
          </a:prstGeom>
          <a:solidFill>
            <a:srgbClr val="0B1210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47472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4838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CFF"/>
                </a:solidFill>
              </a:rPr>
              <a:t>doc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45936" y="382219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03720" y="3493008"/>
            <a:ext cx="0" cy="-173736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686800" y="1417320"/>
            <a:ext cx="2788920" cy="4407408"/>
          </a:xfrm>
          <a:prstGeom prst="roundRect">
            <a:avLst>
              <a:gd name="adj" fmla="val 4590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FF3F"/>
                </a:solidFill>
              </a:rPr>
              <a:t>Collections can also have: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979408" y="2267712"/>
            <a:ext cx="210312" cy="21031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79408" y="2276856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08592" y="2231136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Indexes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979408" y="2889504"/>
            <a:ext cx="210312" cy="21031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79408" y="2898648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308592" y="28529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Validation rules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79408" y="3511296"/>
            <a:ext cx="210312" cy="21031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79408" y="3520440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308592" y="34747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Collection options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79408" y="4133088"/>
            <a:ext cx="210312" cy="21031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79408" y="4142232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308592" y="40965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Independent lifecycle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924544" y="4956048"/>
            <a:ext cx="2029968" cy="384048"/>
          </a:xfrm>
          <a:prstGeom prst="roundRect">
            <a:avLst>
              <a:gd name="adj" fmla="val 28571"/>
            </a:avLst>
          </a:prstGeom>
          <a:solidFill>
            <a:srgbClr val="12251F"/>
          </a:solidFill>
          <a:ln w="15240">
            <a:solidFill>
              <a:srgbClr val="43E0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49651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E0C0"/>
                </a:solidFill>
              </a:rPr>
              <a:t>Similar idea: table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Collection = a named group of related documents.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—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Documents hold the business data your application actually uses.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7040880" cy="4892040"/>
          </a:xfrm>
          <a:prstGeom prst="roundRect">
            <a:avLst>
              <a:gd name="adj" fmla="val 2617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72768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819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A8FF"/>
                </a:solidFill>
              </a:rPr>
              <a:t>orders document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084832"/>
            <a:ext cx="63550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130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orderId: "ORD-1001",
</a:t>
            </a:r>
            <a:pPr indent="0" marL="0">
              <a:buNone/>
            </a:pP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orderDate: ISODate("2026-09-15"),
</a:t>
            </a:r>
            <a:pPr indent="0" marL="0">
              <a:buNone/>
            </a:pPr>
            <a:r>
              <a:rPr lang="en-US" sz="130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status: "CONFIRMED",
</a:t>
            </a:r>
            <a:pPr indent="0" marL="0">
              <a:buNone/>
            </a:pP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items: [
</a:t>
            </a:r>
            <a:pPr indent="0" marL="0">
              <a:buNone/>
            </a:pP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 productId: "P100", qty: 2, price: 499.50 },
</a:t>
            </a:r>
            <a:pPr indent="0" marL="0">
              <a:buNone/>
            </a:pP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 productId: "P200", qty: 1, price: 25.50 }
</a:t>
            </a:r>
            <a:pPr indent="0" marL="0">
              <a:buNone/>
            </a:pP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],
</a:t>
            </a:r>
            <a:pPr indent="0" marL="0">
              <a:buNone/>
            </a:pP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shippingAddress: { city: "Chennai", country: "India" },
</a:t>
            </a:r>
            <a:pPr indent="0" marL="0">
              <a:buNone/>
            </a:pPr>
            <a:r>
              <a:rPr lang="en-US" sz="130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payment: { method: "CARD", status: "AUTHORIZED" }
</a:t>
            </a:r>
            <a:pPr indent="0" marL="0">
              <a:buNone/>
            </a:pPr>
            <a:r>
              <a:rPr lang="en-US" sz="130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2834640"/>
            <a:ext cx="1335024" cy="329184"/>
          </a:xfrm>
          <a:prstGeom prst="roundRect">
            <a:avLst>
              <a:gd name="adj" fmla="val 33333"/>
            </a:avLst>
          </a:prstGeom>
          <a:solidFill>
            <a:srgbClr val="1A1D30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8437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CFF"/>
                </a:solidFill>
              </a:rPr>
              <a:t>Nested object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3749040"/>
            <a:ext cx="1335024" cy="329184"/>
          </a:xfrm>
          <a:prstGeom prst="roundRect">
            <a:avLst>
              <a:gd name="adj" fmla="val 33333"/>
            </a:avLst>
          </a:prstGeom>
          <a:solidFill>
            <a:srgbClr val="1A1D30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7581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A8FF"/>
                </a:solidFill>
              </a:rPr>
              <a:t>Array of items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4663440"/>
            <a:ext cx="1335024" cy="329184"/>
          </a:xfrm>
          <a:prstGeom prst="roundRect">
            <a:avLst>
              <a:gd name="adj" fmla="val 33333"/>
            </a:avLst>
          </a:prstGeom>
          <a:solidFill>
            <a:srgbClr val="1A1D30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6725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AA4A"/>
                </a:solidFill>
              </a:rPr>
              <a:t>Native 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1298448"/>
            <a:ext cx="3822192" cy="4892040"/>
          </a:xfrm>
          <a:prstGeom prst="roundRect">
            <a:avLst>
              <a:gd name="adj" fmla="val 3349"/>
            </a:avLst>
          </a:prstGeom>
          <a:solidFill>
            <a:srgbClr val="0D1412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737360"/>
            <a:ext cx="438912" cy="566928"/>
          </a:xfrm>
          <a:prstGeom prst="rect">
            <a:avLst/>
          </a:prstGeom>
          <a:solidFill>
            <a:srgbClr val="0B1210"/>
          </a:solidFill>
          <a:ln w="25400">
            <a:solidFill>
              <a:srgbClr val="A3FF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920240"/>
            <a:ext cx="201168" cy="0"/>
          </a:xfrm>
          <a:prstGeom prst="line">
            <a:avLst/>
          </a:prstGeom>
          <a:noFill/>
          <a:ln w="19050">
            <a:solidFill>
              <a:srgbClr val="A3FF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3608" y="2029968"/>
            <a:ext cx="201168" cy="0"/>
          </a:xfrm>
          <a:prstGeom prst="line">
            <a:avLst/>
          </a:prstGeom>
          <a:noFill/>
          <a:ln w="19050">
            <a:solidFill>
              <a:srgbClr val="A3FF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2139696"/>
            <a:ext cx="137160" cy="0"/>
          </a:xfrm>
          <a:prstGeom prst="line">
            <a:avLst/>
          </a:prstGeom>
          <a:noFill/>
          <a:ln w="19050">
            <a:solidFill>
              <a:srgbClr val="A3FF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14816" y="17190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6"/>
                </a:solidFill>
              </a:rPr>
              <a:t>A document can contain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83880" y="2395728"/>
            <a:ext cx="201168" cy="201168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4048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2368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scalars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2990088"/>
            <a:ext cx="201168" cy="201168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29992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2962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nested documents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3584448"/>
            <a:ext cx="201168" cy="201168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59359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35570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arrays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4178808"/>
            <a:ext cx="201168" cy="201168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1879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151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</a:rPr>
              <a:t>typed values such as dates and ObjectId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83880" y="5138928"/>
            <a:ext cx="2450592" cy="365760"/>
          </a:xfrm>
          <a:prstGeom prst="roundRect">
            <a:avLst>
              <a:gd name="adj" fmla="val 30000"/>
            </a:avLst>
          </a:prstGeom>
          <a:solidFill>
            <a:srgbClr val="14261B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51480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FF3F"/>
                </a:solidFill>
              </a:rPr>
              <a:t>BSON on the wire / disk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Document = one application-oriented record; its shape can be hierarchical.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Management: Put the Three Pieces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Use one business object to see where each concept lives.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434840"/>
          </a:xfrm>
          <a:prstGeom prst="roundRect">
            <a:avLst>
              <a:gd name="adj" fmla="val 2887"/>
            </a:avLst>
          </a:prstGeom>
          <a:solidFill>
            <a:srgbClr val="0B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691640"/>
            <a:ext cx="2834640" cy="420624"/>
          </a:xfrm>
          <a:prstGeom prst="roundRect">
            <a:avLst>
              <a:gd name="adj" fmla="val 26087"/>
            </a:avLst>
          </a:prstGeom>
          <a:solidFill>
            <a:srgbClr val="15321F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7007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FF3F"/>
                </a:solidFill>
              </a:rPr>
              <a:t>ORDER MANAGEMENT 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2331720"/>
            <a:ext cx="2651760" cy="658368"/>
          </a:xfrm>
          <a:prstGeom prst="roundRect">
            <a:avLst>
              <a:gd name="adj" fmla="val 19444"/>
            </a:avLst>
          </a:prstGeom>
          <a:solidFill>
            <a:srgbClr val="13261E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2468880"/>
            <a:ext cx="566928" cy="16459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2551176"/>
            <a:ext cx="566928" cy="310896"/>
          </a:xfrm>
          <a:prstGeom prst="rect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2734056"/>
            <a:ext cx="566928" cy="16459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5584" y="2432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orderdb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337560"/>
            <a:ext cx="2121408" cy="713232"/>
          </a:xfrm>
          <a:prstGeom prst="roundRect">
            <a:avLst>
              <a:gd name="adj" fmla="val 17949"/>
            </a:avLst>
          </a:prstGeom>
          <a:solidFill>
            <a:srgbClr val="111A18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6152" y="3502152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62456" y="3547872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9616" y="3547872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36776" y="3547872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0512" y="3511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customers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15968" y="3337560"/>
            <a:ext cx="2121408" cy="713232"/>
          </a:xfrm>
          <a:prstGeom prst="roundRect">
            <a:avLst>
              <a:gd name="adj" fmla="val 17949"/>
            </a:avLst>
          </a:prstGeom>
          <a:solidFill>
            <a:srgbClr val="111A18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3502152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3547872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3547872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3547872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511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orders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3337560"/>
            <a:ext cx="2121408" cy="713232"/>
          </a:xfrm>
          <a:prstGeom prst="roundRect">
            <a:avLst>
              <a:gd name="adj" fmla="val 17949"/>
            </a:avLst>
          </a:prstGeom>
          <a:solidFill>
            <a:srgbClr val="111A18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3502152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B77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0416" y="3547872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7576" y="3547872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3547872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3511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products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2999232"/>
            <a:ext cx="-4023360" cy="329184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2999232"/>
            <a:ext cx="-749808" cy="329184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26480" y="2999232"/>
            <a:ext cx="2514600" cy="329184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325880" y="4279392"/>
            <a:ext cx="1554480" cy="1143000"/>
          </a:xfrm>
          <a:prstGeom prst="roundRect">
            <a:avLst>
              <a:gd name="adj" fmla="val 11200"/>
            </a:avLst>
          </a:prstGeom>
          <a:solidFill>
            <a:srgbClr val="0B1210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53896" y="438912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439826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AA4A"/>
                </a:solidFill>
              </a:rPr>
              <a:t>Customer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90472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fields,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03120" y="4069080"/>
            <a:ext cx="0" cy="192024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90288" y="4279392"/>
            <a:ext cx="1554480" cy="1143000"/>
          </a:xfrm>
          <a:prstGeom prst="roundRect">
            <a:avLst>
              <a:gd name="adj" fmla="val 11200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438912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439826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A8FF"/>
                </a:solidFill>
              </a:rPr>
              <a:t>Order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fields,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67528" y="4069080"/>
            <a:ext cx="0" cy="192024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863840" y="4279392"/>
            <a:ext cx="1554480" cy="1143000"/>
          </a:xfrm>
          <a:prstGeom prst="roundRect">
            <a:avLst>
              <a:gd name="adj" fmla="val 11200"/>
            </a:avLst>
          </a:prstGeom>
          <a:solidFill>
            <a:srgbClr val="0B1210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91856" y="438912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91856" y="439826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CFF"/>
                </a:solidFill>
              </a:rPr>
              <a:t>Product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28432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fields,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641080" y="4069080"/>
            <a:ext cx="0" cy="192024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828800" y="56235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The point is not memorization — it is knowing which level you are working at.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Think top-down: application requirement → database → collection → document.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Developer Workflow in mongosh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The shell is your fast feedback loop while learning and exploring.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29400" cy="4389120"/>
          </a:xfrm>
          <a:prstGeom prst="roundRect">
            <a:avLst>
              <a:gd name="adj" fmla="val 2917"/>
            </a:avLst>
          </a:prstGeom>
          <a:solidFill>
            <a:srgbClr val="0A1110"/>
          </a:solidFill>
          <a:ln w="15240">
            <a:solidFill>
              <a:srgbClr val="234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6241F"/>
          </a:solidFill>
          <a:ln w="6350">
            <a:solidFill>
              <a:srgbClr val="284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996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3FF3F"/>
                </a:solidFill>
              </a:rPr>
              <a:t>mongosh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801368"/>
            <a:ext cx="6336792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1. switch to the application database
</a:t>
            </a:r>
            <a:pPr indent="0" marL="0">
              <a:buNone/>
            </a:pPr>
            <a:r>
              <a:rPr lang="en-US" sz="103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orderdb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2. create collections explicitly
</a:t>
            </a:r>
            <a:pPr indent="0" marL="0">
              <a:buNone/>
            </a:pPr>
            <a:r>
              <a:rPr lang="en-US" sz="1030" dirty="0">
                <a:solidFill>
                  <a:srgbClr val="4AA8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db.createCollection("orders")
</a:t>
            </a:r>
            <a:pPr indent="0" marL="0">
              <a:buNone/>
            </a:pPr>
            <a:r>
              <a:rPr lang="en-US" sz="1030" dirty="0">
                <a:solidFill>
                  <a:srgbClr val="B77C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db.createCollection("products")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3. insert one document
</a:t>
            </a:r>
            <a:pPr indent="0" marL="0">
              <a:buNone/>
            </a:pPr>
            <a:r>
              <a:rPr lang="en-US" sz="1030" dirty="0">
                <a:solidFill>
                  <a:srgbClr val="FFA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db.orders.insertOne({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orderId: "ORD-1001",
</a:t>
            </a:r>
            <a:pPr indent="0" marL="0">
              <a:buNone/>
            </a:pPr>
            <a:r>
              <a:rPr lang="en-US" sz="103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status: "PLACED"
</a:t>
            </a:r>
            <a:pPr indent="0" marL="0">
              <a:buNone/>
            </a:pPr>
            <a:r>
              <a:rPr lang="en-US" sz="1030" dirty="0">
                <a:solidFill>
                  <a:srgbClr val="FFA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4. inspect the data
</a:t>
            </a:r>
            <a:pPr indent="0" marL="0">
              <a:buNone/>
            </a:pPr>
            <a:r>
              <a:rPr lang="en-US" sz="1030" dirty="0">
                <a:solidFill>
                  <a:srgbClr val="43E0C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show collections
</a:t>
            </a:r>
            <a:pPr indent="0" marL="0">
              <a:buNone/>
            </a:pPr>
            <a:r>
              <a:rPr lang="en-US" sz="103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db.orders.find().pretty()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7479792" y="1371600"/>
            <a:ext cx="4151376" cy="4389120"/>
          </a:xfrm>
          <a:prstGeom prst="roundRect">
            <a:avLst>
              <a:gd name="adj" fmla="val 3084"/>
            </a:avLst>
          </a:prstGeom>
          <a:solidFill>
            <a:srgbClr val="0D1412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1783080"/>
            <a:ext cx="365760" cy="365760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7922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75904" y="1764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Choose database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221992"/>
            <a:ext cx="0" cy="384048"/>
          </a:xfrm>
          <a:prstGeom prst="line">
            <a:avLst/>
          </a:prstGeom>
          <a:noFill/>
          <a:ln w="25400">
            <a:solidFill>
              <a:srgbClr val="405B4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18120" y="2660904"/>
            <a:ext cx="365760" cy="365760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6700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75904" y="2642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Create or use collection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3099816"/>
            <a:ext cx="0" cy="384048"/>
          </a:xfrm>
          <a:prstGeom prst="line">
            <a:avLst/>
          </a:prstGeom>
          <a:noFill/>
          <a:ln w="25400">
            <a:solidFill>
              <a:srgbClr val="405B4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3538728"/>
            <a:ext cx="365760" cy="365760"/>
          </a:xfrm>
          <a:prstGeom prst="ellipse">
            <a:avLst/>
          </a:prstGeom>
          <a:solidFill>
            <a:srgbClr val="FFAA4A"/>
          </a:solidFill>
          <a:ln w="12700">
            <a:solidFill>
              <a:srgbClr val="FFA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5478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75904" y="35204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Write document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3977640"/>
            <a:ext cx="0" cy="384048"/>
          </a:xfrm>
          <a:prstGeom prst="line">
            <a:avLst/>
          </a:prstGeom>
          <a:noFill/>
          <a:ln w="25400">
            <a:solidFill>
              <a:srgbClr val="405B4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18120" y="4416552"/>
            <a:ext cx="365760" cy="365760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44256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43982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Read and inspect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66760" y="5212080"/>
            <a:ext cx="2423160" cy="384048"/>
          </a:xfrm>
          <a:prstGeom prst="roundRect">
            <a:avLst>
              <a:gd name="adj" fmla="val 28571"/>
            </a:avLst>
          </a:prstGeom>
          <a:solidFill>
            <a:srgbClr val="14311F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52212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FF3F"/>
                </a:solidFill>
              </a:rPr>
              <a:t>Fast feedback, low ceremony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Use mongosh to build intuition; later, drivers will move the same operations into application code.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the Document Back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A document is useful only when the application can find the data it needs.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69080" cy="4526280"/>
          </a:xfrm>
          <a:prstGeom prst="roundRect">
            <a:avLst>
              <a:gd name="adj" fmla="val 3146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55648"/>
            <a:ext cx="438912" cy="566928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938528"/>
            <a:ext cx="201168" cy="0"/>
          </a:xfrm>
          <a:prstGeom prst="line">
            <a:avLst/>
          </a:prstGeom>
          <a:noFill/>
          <a:ln w="19050">
            <a:solidFill>
              <a:srgbClr val="4AA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048256"/>
            <a:ext cx="201168" cy="0"/>
          </a:xfrm>
          <a:prstGeom prst="line">
            <a:avLst/>
          </a:prstGeom>
          <a:noFill/>
          <a:ln w="19050">
            <a:solidFill>
              <a:srgbClr val="4AA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2157984"/>
            <a:ext cx="137160" cy="0"/>
          </a:xfrm>
          <a:prstGeom prst="line">
            <a:avLst/>
          </a:prstGeom>
          <a:noFill/>
          <a:ln w="19050">
            <a:solidFill>
              <a:srgbClr val="4AA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One document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44144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450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A8FF"/>
                </a:solidFill>
              </a:rPr>
              <a:t>ORD-1001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87552" y="2788920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orderId: "ORD-1001",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status: "PLACED",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items: [ ... ],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shippingAddress: { ... }
</a:t>
            </a:r>
            <a:pPr indent="0" marL="0">
              <a:buNone/>
            </a:pP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7280" y="498348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13243A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9926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A8FF"/>
                </a:solidFill>
              </a:rPr>
              <a:t>Business data, not rows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371600"/>
            <a:ext cx="6812280" cy="2377440"/>
          </a:xfrm>
          <a:prstGeom prst="roundRect">
            <a:avLst>
              <a:gd name="adj" fmla="val 5385"/>
            </a:avLst>
          </a:prstGeom>
          <a:solidFill>
            <a:srgbClr val="0A1110"/>
          </a:solidFill>
          <a:ln w="15240">
            <a:solidFill>
              <a:srgbClr val="2343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148132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6241F"/>
          </a:solidFill>
          <a:ln w="6350">
            <a:solidFill>
              <a:srgbClr val="284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4996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3FF3F"/>
                </a:solidFill>
              </a:rPr>
              <a:t>mongosh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5192" y="1801368"/>
            <a:ext cx="651967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exact lookup
</a:t>
            </a:r>
            <a:pPr indent="0" marL="0">
              <a:buNone/>
            </a:pPr>
            <a:r>
              <a:rPr lang="en-US" sz="103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db.orders.findOne({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orderId: "ORD-1001"
</a:t>
            </a:r>
            <a:pPr indent="0" marL="0">
              <a:buNone/>
            </a:pPr>
            <a:r>
              <a:rPr lang="en-US" sz="1030" dirty="0">
                <a:solidFill>
                  <a:srgbClr val="A3F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
</a:t>
            </a:r>
            <a:pPr indent="0" marL="0">
              <a:buNone/>
            </a:pP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pPr indent="0" marL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inspect matching orders
</a:t>
            </a:r>
            <a:pPr indent="0" marL="0">
              <a:buNone/>
            </a:pPr>
            <a:r>
              <a:rPr lang="en-US" sz="1030" dirty="0">
                <a:solidFill>
                  <a:srgbClr val="43E0C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db.orders.find({ status: "PLACED" }).pretty()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800600" y="3977640"/>
            <a:ext cx="6812280" cy="1920240"/>
          </a:xfrm>
          <a:prstGeom prst="roundRect">
            <a:avLst>
              <a:gd name="adj" fmla="val 6667"/>
            </a:avLst>
          </a:prstGeom>
          <a:solidFill>
            <a:srgbClr val="0F1916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251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FF3F"/>
                </a:solidFill>
              </a:rPr>
              <a:t>Reading mindset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461772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6"/>
                </a:solidFill>
              </a:rPr>
              <a:t>Start with the business question, identify the field, then write the filter. Keep the query aligned with the document structure you designed.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The document model and the query model should reinforce each other.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Design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Keep the first MongoDB model simple enough to understand and useful enough to evolve.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53896"/>
            <a:ext cx="310896" cy="310896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</a:rPr>
              <a:t>Name things by business meaning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95160" y="14264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80" dirty="0">
                <a:solidFill>
                  <a:srgbClr val="B6C2BC"/>
                </a:solidFill>
              </a:rPr>
              <a:t>orderdb, orders, products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43E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04288"/>
            <a:ext cx="310896" cy="310896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134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53312" y="22677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</a:rPr>
              <a:t>Keep related data together when it is naturally read together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95160" y="22768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80" dirty="0">
                <a:solidFill>
                  <a:srgbClr val="B6C2BC"/>
                </a:solidFill>
              </a:rPr>
              <a:t>shippingAddress inside the order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58368" y="2999232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154680"/>
            <a:ext cx="310896" cy="310896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6382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53312" y="3118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</a:rPr>
              <a:t>Use collections as clear domain containers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95160" y="31272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80" dirty="0">
                <a:solidFill>
                  <a:srgbClr val="B6C2BC"/>
                </a:solidFill>
              </a:rPr>
              <a:t>orders, customers, products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58368" y="3849624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B77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005072"/>
            <a:ext cx="310896" cy="310896"/>
          </a:xfrm>
          <a:prstGeom prst="ellipse">
            <a:avLst/>
          </a:prstGeom>
          <a:solidFill>
            <a:srgbClr val="B77CFF"/>
          </a:solidFill>
          <a:ln w="12700">
            <a:solidFill>
              <a:srgbClr val="B7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0142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53312" y="39684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</a:rPr>
              <a:t>Treat document shape as an application design decision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39776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80" dirty="0">
                <a:solidFill>
                  <a:srgbClr val="B6C2BC"/>
                </a:solidFill>
              </a:rPr>
              <a:t>model for access patterns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58368" y="4700016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55464"/>
            <a:ext cx="310896" cy="310896"/>
          </a:xfrm>
          <a:prstGeom prst="ellipse">
            <a:avLst/>
          </a:prstGeom>
          <a:solidFill>
            <a:srgbClr val="FFAA4A"/>
          </a:solidFill>
          <a:ln w="12700">
            <a:solidFill>
              <a:srgbClr val="FFA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8646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0A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53312" y="48188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</a:rPr>
              <a:t>Inspect what you actually store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95160" y="48280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80" dirty="0">
                <a:solidFill>
                  <a:srgbClr val="B6C2BC"/>
                </a:solidFill>
              </a:rPr>
              <a:t>mongosh + find() + explain() later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Good document design starts from requirements and access patterns, not from copying a table schema.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Remember the hierarchy, then use it in your next hands-on exercise.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0E1714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1874520"/>
            <a:ext cx="566928" cy="16459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1956816"/>
            <a:ext cx="566928" cy="310896"/>
          </a:xfrm>
          <a:prstGeom prst="rect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2139696"/>
            <a:ext cx="566928" cy="164592"/>
          </a:xfrm>
          <a:prstGeom prst="ellipse">
            <a:avLst/>
          </a:prstGeom>
          <a:solidFill>
            <a:srgbClr val="A3FF3F"/>
          </a:solidFill>
          <a:ln w="12700">
            <a:solidFill>
              <a:srgbClr val="A3F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542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DATABASE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2BC"/>
                </a:solidFill>
              </a:rPr>
              <a:t>logical home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77056" y="2743200"/>
            <a:ext cx="512064" cy="0"/>
          </a:xfrm>
          <a:prstGeom prst="line">
            <a:avLst/>
          </a:prstGeom>
          <a:noFill/>
          <a:ln w="25400">
            <a:solidFill>
              <a:srgbClr val="A3FF3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26280" y="16002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0E1714"/>
          </a:solidFill>
          <a:ln w="15240">
            <a:solidFill>
              <a:srgbClr val="4AA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24728" y="187452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71032" y="192024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192024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92024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42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COLLECTION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2BC"/>
                </a:solidFill>
              </a:rPr>
              <a:t>group of documents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71816" y="2743200"/>
            <a:ext cx="512064" cy="0"/>
          </a:xfrm>
          <a:prstGeom prst="line">
            <a:avLst/>
          </a:prstGeom>
          <a:noFill/>
          <a:ln w="25400">
            <a:solidFill>
              <a:srgbClr val="A3FF3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16002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0E1714"/>
          </a:solidFill>
          <a:ln w="15240">
            <a:solidFill>
              <a:srgbClr val="FFA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9488" y="1874520"/>
            <a:ext cx="438912" cy="566928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9216" y="2057400"/>
            <a:ext cx="201168" cy="0"/>
          </a:xfrm>
          <a:prstGeom prst="line">
            <a:avLst/>
          </a:prstGeom>
          <a:noFill/>
          <a:ln w="19050">
            <a:solidFill>
              <a:srgbClr val="FFA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2167128"/>
            <a:ext cx="201168" cy="0"/>
          </a:xfrm>
          <a:prstGeom prst="line">
            <a:avLst/>
          </a:prstGeom>
          <a:noFill/>
          <a:ln w="19050">
            <a:solidFill>
              <a:srgbClr val="FFA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9216" y="2276856"/>
            <a:ext cx="137160" cy="0"/>
          </a:xfrm>
          <a:prstGeom prst="line">
            <a:avLst/>
          </a:prstGeom>
          <a:noFill/>
          <a:ln w="19050">
            <a:solidFill>
              <a:srgbClr val="FFA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2542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DOCUMENT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4108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2BC"/>
                </a:solidFill>
              </a:rPr>
              <a:t>business record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" y="4389120"/>
            <a:ext cx="10287000" cy="1325880"/>
          </a:xfrm>
          <a:prstGeom prst="roundRect">
            <a:avLst>
              <a:gd name="adj" fmla="val 9655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98448" y="470916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14301F"/>
          </a:solidFill>
          <a:ln w="15240">
            <a:solidFill>
              <a:srgbClr val="A3FF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4718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FF3F"/>
                </a:solidFill>
              </a:rPr>
              <a:t>Remember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18688" y="46725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Application requirements → Database → Collection → Document → Query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11680" y="5513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6C2BC"/>
                </a:solidFill>
              </a:rPr>
              <a:t>Next: move from the structure to the data itself — JSON and BSON.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</a:rPr>
              <a:t>The goal is developer fluency: explain it, build it, inspect 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Databases, Collections &amp; Documents</dc:title>
  <dc:subject>MongoDB Developer Udemy Learning Path</dc:subject>
  <dc:creator>OpenAI</dc:creator>
  <cp:lastModifiedBy>OpenAI</cp:lastModifiedBy>
  <cp:revision>1</cp:revision>
  <dcterms:created xsi:type="dcterms:W3CDTF">2026-09-28T04:07:17Z</dcterms:created>
  <dcterms:modified xsi:type="dcterms:W3CDTF">2026-09-28T04:07:17Z</dcterms:modified>
</cp:coreProperties>
</file>