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57D68D"/>
                </a:solidFill>
                <a:latin typeface="Aptos"/>
              </a:rPr>
              <a:t>Lesson 041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7899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500" b="1">
                <a:solidFill>
                  <a:srgbClr val="F8F9FA"/>
                </a:solidFill>
                <a:latin typeface="Aptos"/>
              </a:rPr>
              <a:t>Numeric Types, Shell Representation
and Language Defaults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017520"/>
            <a:ext cx="6858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B4BCC3"/>
                </a:solidFill>
                <a:latin typeface="Aptos"/>
              </a:rPr>
              <a:t>MongoDB Developer Learning 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0" y="3703320"/>
            <a:ext cx="1828800" cy="804672"/>
          </a:xfrm>
          <a:prstGeom prst="roundRect">
            <a:avLst/>
          </a:prstGeom>
          <a:solidFill>
            <a:srgbClr val="14181C"/>
          </a:solidFill>
          <a:ln w="1524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4928" y="3867911"/>
            <a:ext cx="14264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9FA"/>
                </a:solidFill>
                <a:latin typeface="Aptos"/>
              </a:rPr>
              <a:t>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81160" y="3703320"/>
            <a:ext cx="1828800" cy="804672"/>
          </a:xfrm>
          <a:prstGeom prst="roundRect">
            <a:avLst/>
          </a:prstGeom>
          <a:solidFill>
            <a:srgbClr val="14181C"/>
          </a:solidFill>
          <a:ln w="15240"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82328" y="3867911"/>
            <a:ext cx="14264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9FA"/>
                </a:solidFill>
                <a:latin typeface="Aptos"/>
              </a:rPr>
              <a:t>99.5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4754879"/>
            <a:ext cx="1828800" cy="804672"/>
          </a:xfrm>
          <a:prstGeom prst="roundRect">
            <a:avLst/>
          </a:prstGeom>
          <a:solidFill>
            <a:srgbClr val="14181C"/>
          </a:solidFill>
          <a:ln w="15240">
            <a:solidFill>
              <a:srgbClr val="9DE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4928" y="4919471"/>
            <a:ext cx="14264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9FA"/>
                </a:solidFill>
                <a:latin typeface="Aptos"/>
              </a:rPr>
              <a:t>NumberInt(100)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60" y="4754879"/>
            <a:ext cx="1828800" cy="804672"/>
          </a:xfrm>
          <a:prstGeom prst="roundRect">
            <a:avLst/>
          </a:prstGeom>
          <a:solidFill>
            <a:srgbClr val="14181C"/>
          </a:solidFill>
          <a:ln w="15240">
            <a:solidFill>
              <a:srgbClr val="F5C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82328" y="4919471"/>
            <a:ext cx="14264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9FA"/>
                </a:solidFill>
                <a:latin typeface="Aptos"/>
              </a:rPr>
              <a:t>$type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9893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4BCC3"/>
                </a:solidFill>
                <a:latin typeface="Aptos"/>
              </a:rPr>
              <a:t>Order Management example throughout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8F9FA"/>
                </a:solidFill>
                <a:latin typeface="Aptos"/>
              </a:rPr>
              <a:t>Why Numeric Types Matter in Order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51560" cy="54864"/>
          </a:xfrm>
          <a:prstGeom prst="rect">
            <a:avLst/>
          </a:prstGeom>
          <a:solidFill>
            <a:srgbClr val="57D6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4BCC3"/>
                </a:solidFill>
                <a:latin typeface="Aptos"/>
              </a:rPr>
              <a:t>The same-looking number can represent different BSON types and affect how applications interpret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383280" cy="1325880"/>
          </a:xfrm>
          <a:prstGeom prst="roundRect">
            <a:avLst/>
          </a:prstGeom>
          <a:solidFill>
            <a:srgbClr val="14181C"/>
          </a:solidFill>
          <a:ln w="1524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664207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7D68D"/>
                </a:solidFill>
                <a:latin typeface="Aptos"/>
              </a:rPr>
              <a:t>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1719072"/>
            <a:ext cx="25786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9FA"/>
                </a:solidFill>
                <a:latin typeface="Aptos"/>
              </a:rPr>
              <a:t>Quantity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176272"/>
            <a:ext cx="2578608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Whole-unit business data such as 1, 2, or 10.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54480"/>
            <a:ext cx="3383280" cy="1325880"/>
          </a:xfrm>
          <a:prstGeom prst="roundRect">
            <a:avLst/>
          </a:prstGeom>
          <a:solidFill>
            <a:srgbClr val="14181C"/>
          </a:solidFill>
          <a:ln w="1524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664207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7D68D"/>
                </a:solidFill>
                <a:latin typeface="Aptos"/>
              </a:rPr>
              <a:t>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65192" y="1719072"/>
            <a:ext cx="25786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9FA"/>
                </a:solidFill>
                <a:latin typeface="Aptos"/>
              </a:rPr>
              <a:t>Unit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65192" y="2176272"/>
            <a:ext cx="2578608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Money-like values that may need a deliberate numeric representation.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383280" cy="1325880"/>
          </a:xfrm>
          <a:prstGeom prst="roundRect">
            <a:avLst/>
          </a:prstGeom>
          <a:solidFill>
            <a:srgbClr val="14181C"/>
          </a:solidFill>
          <a:ln w="1524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664207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7D68D"/>
                </a:solidFill>
                <a:latin typeface="Aptos"/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1719072"/>
            <a:ext cx="25786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9FA"/>
                </a:solidFill>
                <a:latin typeface="Aptos"/>
              </a:rPr>
              <a:t>Discount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2176272"/>
            <a:ext cx="2578608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A numeric field whose representation should stay consistent.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7033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7D68D"/>
                </a:solidFill>
                <a:latin typeface="Aptos"/>
              </a:rPr>
              <a:t>Requirement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363931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7D68D"/>
                </a:solidFill>
                <a:latin typeface="Apto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370332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7D68D"/>
                </a:solidFill>
                <a:latin typeface="Aptos"/>
              </a:rPr>
              <a:t>BSON 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63931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7D68D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70332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7D68D"/>
                </a:solidFill>
                <a:latin typeface="Aptos"/>
              </a:rPr>
              <a:t>mongosh 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63931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7D68D"/>
                </a:solidFill>
                <a:latin typeface="Apto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70332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7D68D"/>
                </a:solidFill>
                <a:latin typeface="Aptos"/>
              </a:rPr>
              <a:t>Application value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508760" y="4754880"/>
            <a:ext cx="8458200" cy="0"/>
          </a:xfrm>
          <a:prstGeom prst="line">
            <a:avLst/>
          </a:prstGeom>
          <a:ln w="3175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828800" y="4983480"/>
            <a:ext cx="8595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8F9FA"/>
                </a:solidFill>
                <a:latin typeface="Aptos"/>
              </a:rPr>
              <a:t>Model the business meaning first; then verify the stored numeric type.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8F9FA"/>
                </a:solidFill>
                <a:latin typeface="Aptos"/>
              </a:rPr>
              <a:t>MongoDB Numeric Type Family —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51560" cy="54864"/>
          </a:xfrm>
          <a:prstGeom prst="rect">
            <a:avLst/>
          </a:prstGeom>
          <a:solidFill>
            <a:srgbClr val="57D6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4BCC3"/>
                </a:solidFill>
                <a:latin typeface="Aptos"/>
              </a:rPr>
              <a:t>This lesson introduces the family; later lessons go deeper into integer width and precision choices.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148840"/>
            <a:ext cx="2971800" cy="1005840"/>
          </a:xfrm>
          <a:prstGeom prst="roundRect">
            <a:avLst/>
          </a:prstGeom>
          <a:solidFill>
            <a:srgbClr val="14181C"/>
          </a:solidFill>
          <a:ln w="1524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36592" y="2258568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7D68D"/>
                </a:solidFill>
                <a:latin typeface="Aptos"/>
              </a:rPr>
              <a:t>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93792" y="2313432"/>
            <a:ext cx="21671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9FA"/>
                </a:solidFill>
                <a:latin typeface="Aptos"/>
              </a:rPr>
              <a:t>Numeric BSON 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93792" y="2770632"/>
            <a:ext cx="21671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Think in terms of stored BSON type, not only visual appearance.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5029200" cy="1417320"/>
          </a:xfrm>
          <a:prstGeom prst="roundRect">
            <a:avLst/>
          </a:prstGeom>
          <a:solidFill>
            <a:srgbClr val="14181C"/>
          </a:solidFill>
          <a:ln w="1524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527048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7D68D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1581912"/>
            <a:ext cx="42245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9FA"/>
                </a:solidFill>
                <a:latin typeface="Aptos"/>
              </a:rPr>
              <a:t>Integer family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2039112"/>
            <a:ext cx="4224528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Whole-number values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5029200" cy="1417320"/>
          </a:xfrm>
          <a:prstGeom prst="roundRect">
            <a:avLst/>
          </a:prstGeom>
          <a:solidFill>
            <a:srgbClr val="14181C"/>
          </a:solidFill>
          <a:ln w="1524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527048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7D68D"/>
                </a:solidFill>
                <a:latin typeface="Aptos"/>
              </a:rPr>
              <a:t>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3992" y="1581912"/>
            <a:ext cx="42245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9FA"/>
                </a:solidFill>
                <a:latin typeface="Aptos"/>
              </a:rPr>
              <a:t>Double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3992" y="2039112"/>
            <a:ext cx="4224528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Floating-point values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57600"/>
            <a:ext cx="5029200" cy="1417320"/>
          </a:xfrm>
          <a:prstGeom prst="roundRect">
            <a:avLst/>
          </a:prstGeom>
          <a:solidFill>
            <a:srgbClr val="14181C"/>
          </a:solidFill>
          <a:ln w="1524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3767328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7D68D"/>
                </a:solidFill>
                <a:latin typeface="Apto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822191"/>
            <a:ext cx="42245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9FA"/>
                </a:solidFill>
                <a:latin typeface="Aptos"/>
              </a:rPr>
              <a:t>Decimal128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4279392"/>
            <a:ext cx="4224528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High-precision decimal values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57600"/>
            <a:ext cx="5029200" cy="1417320"/>
          </a:xfrm>
          <a:prstGeom prst="roundRect">
            <a:avLst/>
          </a:prstGeom>
          <a:solidFill>
            <a:srgbClr val="14181C"/>
          </a:solidFill>
          <a:ln w="1524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3767328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7D68D"/>
                </a:solidFill>
                <a:latin typeface="Aptos"/>
              </a:rPr>
              <a:t>{}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3992" y="3822191"/>
            <a:ext cx="42245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9FA"/>
                </a:solidFill>
                <a:latin typeface="Aptos"/>
              </a:rPr>
              <a:t>Explicit wrappers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93992" y="4279392"/>
            <a:ext cx="4224528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Shell helpers that make intent visible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80644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B4BCC3"/>
                </a:solidFill>
                <a:latin typeface="Aptos"/>
              </a:rPr>
              <a:t>Key idea: visually similar literals can still resolve to different BSON numeric types.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8F9FA"/>
                </a:solidFill>
                <a:latin typeface="Aptos"/>
              </a:rPr>
              <a:t>How mongosh Represents Numeric Values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51560" cy="54864"/>
          </a:xfrm>
          <a:prstGeom prst="rect">
            <a:avLst/>
          </a:prstGeom>
          <a:solidFill>
            <a:srgbClr val="57D6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4BCC3"/>
                </a:solidFill>
                <a:latin typeface="Aptos"/>
              </a:rPr>
              <a:t>mongosh is a JavaScript shell, so JavaScript runtime behavior is visible alongside BSON behavior.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12080" cy="4480560"/>
          </a:xfrm>
          <a:prstGeom prst="roundRect">
            <a:avLst/>
          </a:prstGeom>
          <a:solidFill>
            <a:srgbClr val="14181C"/>
          </a:solidFill>
          <a:ln>
            <a:solidFill>
              <a:srgbClr val="5C6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DE8BE"/>
                </a:solidFill>
                <a:latin typeface="Aptos Mono"/>
              </a:rPr>
              <a:t>const a = 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67712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DE8BE"/>
                </a:solidFill>
                <a:latin typeface="Aptos Mono"/>
              </a:rPr>
              <a:t>const b = 99.5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43784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DE8BE"/>
                </a:solidFill>
                <a:latin typeface="Aptos Mono"/>
              </a:rPr>
              <a:t>typeof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19856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DE8BE"/>
                </a:solidFill>
                <a:latin typeface="Aptos Mono"/>
              </a:rPr>
              <a:t>typeof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95928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DE8BE"/>
                </a:solidFill>
                <a:latin typeface="Aptos Mono"/>
              </a:rPr>
              <a:t>NumberInt(100)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DE8BE"/>
                </a:solidFill>
                <a:latin typeface="Aptos Mono"/>
              </a:rPr>
              <a:t>NumberLong(100)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212080" cy="1078992"/>
          </a:xfrm>
          <a:prstGeom prst="roundRect">
            <a:avLst/>
          </a:prstGeom>
          <a:solidFill>
            <a:srgbClr val="14181C"/>
          </a:solidFill>
          <a:ln w="1524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18488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7D68D"/>
                </a:solidFill>
                <a:latin typeface="Aptos"/>
              </a:rPr>
              <a:t>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5431" y="1673351"/>
            <a:ext cx="44074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9FA"/>
                </a:solidFill>
                <a:latin typeface="Aptos"/>
              </a:rPr>
              <a:t>JavaScript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5431" y="2130552"/>
            <a:ext cx="4407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A numeric literal is first interpreted by the JavaScript runtime.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788920"/>
            <a:ext cx="5212080" cy="1078992"/>
          </a:xfrm>
          <a:prstGeom prst="roundRect">
            <a:avLst/>
          </a:prstGeom>
          <a:solidFill>
            <a:srgbClr val="14181C"/>
          </a:solidFill>
          <a:ln w="15240">
            <a:solidFill>
              <a:srgbClr val="F5C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1" y="2898648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5CB5C"/>
                </a:solidFill>
                <a:latin typeface="Aptos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5431" y="2953512"/>
            <a:ext cx="44074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9FA"/>
                </a:solidFill>
                <a:latin typeface="Aptos"/>
              </a:rPr>
              <a:t>BSON 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85431" y="3410712"/>
            <a:ext cx="4407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Stored documents can carry explicit BSON numeric types.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069080"/>
            <a:ext cx="5212080" cy="1078992"/>
          </a:xfrm>
          <a:prstGeom prst="roundRect">
            <a:avLst/>
          </a:prstGeom>
          <a:solidFill>
            <a:srgbClr val="14181C"/>
          </a:solidFill>
          <a:ln w="1524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1" y="4178808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7D68D"/>
                </a:solidFill>
                <a:latin typeface="Aptos"/>
              </a:rPr>
              <a:t>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431" y="4233672"/>
            <a:ext cx="44074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9FA"/>
                </a:solidFill>
                <a:latin typeface="Aptos"/>
              </a:rPr>
              <a:t>$type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431" y="4690872"/>
            <a:ext cx="4407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Use an aggregation expression to inspect the stored BSON type.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8F9FA"/>
                </a:solidFill>
                <a:latin typeface="Aptos"/>
              </a:rPr>
              <a:t>Inspect the Stored Type with $type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51560" cy="54864"/>
          </a:xfrm>
          <a:prstGeom prst="rect">
            <a:avLst/>
          </a:prstGeom>
          <a:solidFill>
            <a:srgbClr val="57D6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4BCC3"/>
                </a:solidFill>
                <a:latin typeface="Aptos"/>
              </a:rPr>
              <a:t>Do not infer BSON type from the number alone—ask MongoDB.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7D68D"/>
                </a:solidFill>
                <a:latin typeface="Aptos"/>
              </a:rPr>
              <a:t>Order item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3931920" cy="2423160"/>
          </a:xfrm>
          <a:prstGeom prst="roundRect">
            <a:avLst/>
          </a:prstGeom>
          <a:solidFill>
            <a:srgbClr val="14181C"/>
          </a:solidFill>
          <a:ln w="1524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892807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7D68D"/>
                </a:solidFill>
                <a:latin typeface="Aptos"/>
              </a:rPr>
              <a:t>[]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1947672"/>
            <a:ext cx="31272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9FA"/>
                </a:solidFill>
                <a:latin typeface="Aptos"/>
              </a:rPr>
              <a:t>items[]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2404872"/>
            <a:ext cx="3127248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quantity: 2
unitPrice: 1500.5
discount: 100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63440" y="2971800"/>
            <a:ext cx="1188720" cy="0"/>
          </a:xfrm>
          <a:prstGeom prst="line">
            <a:avLst/>
          </a:prstGeom>
          <a:ln w="3556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89320" y="1783080"/>
            <a:ext cx="5212080" cy="2423160"/>
          </a:xfrm>
          <a:prstGeom prst="roundRect">
            <a:avLst/>
          </a:prstGeom>
          <a:solidFill>
            <a:srgbClr val="14181C"/>
          </a:solidFill>
          <a:ln w="15240">
            <a:solidFill>
              <a:srgbClr val="F5C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53912" y="1892807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5CB5C"/>
                </a:solidFill>
                <a:latin typeface="Aptos"/>
              </a:rPr>
              <a:t>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1947672"/>
            <a:ext cx="44074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9FA"/>
                </a:solidFill>
                <a:latin typeface="Aptos"/>
              </a:rPr>
              <a:t>$type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404872"/>
            <a:ext cx="4407408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quantity → numeric BSON type
unitPrice → numeric BSON type
discount → numeric BSON 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DE8BE"/>
                </a:solidFill>
                <a:latin typeface="Aptos Mono"/>
              </a:rPr>
              <a:t>Example aggregation: {$project: {numericTypes: {$map: {input:"$items", as:"i", in:{quantity:{$type:"$$i.quantity"}, unitPrice:{$type:"$$i.unitPrice"}}}}}}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9788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B4BCC3"/>
                </a:solidFill>
                <a:latin typeface="Aptos"/>
              </a:rPr>
              <a:t>The demo uses this pattern to make the type visible before discussing deeper numeric choices.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8F9FA"/>
                </a:solidFill>
                <a:latin typeface="Aptos"/>
              </a:rPr>
              <a:t>Shell Literals vs Explicit Numeric Wrappers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51560" cy="54864"/>
          </a:xfrm>
          <a:prstGeom prst="rect">
            <a:avLst/>
          </a:prstGeom>
          <a:solidFill>
            <a:srgbClr val="57D6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4BCC3"/>
                </a:solidFill>
                <a:latin typeface="Aptos"/>
              </a:rPr>
              <a:t>Use explicit wrappers when you want the example to make BSON intent obvious.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2743200" cy="804672"/>
          </a:xfrm>
          <a:prstGeom prst="roundRect">
            <a:avLst/>
          </a:prstGeom>
          <a:solidFill>
            <a:srgbClr val="14181C"/>
          </a:solidFill>
          <a:ln w="15240"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490472"/>
            <a:ext cx="23408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9FA"/>
                </a:solidFill>
                <a:latin typeface="Aptos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1472184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7D68D"/>
                </a:solidFill>
                <a:latin typeface="Aptos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1444752"/>
            <a:ext cx="6766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8F9FA"/>
                </a:solidFill>
                <a:latin typeface="Aptos"/>
              </a:rPr>
              <a:t>plain JavaScript number literal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41448"/>
            <a:ext cx="2743200" cy="804672"/>
          </a:xfrm>
          <a:prstGeom prst="roundRect">
            <a:avLst/>
          </a:prstGeom>
          <a:solidFill>
            <a:srgbClr val="14181C"/>
          </a:solidFill>
          <a:ln w="15240">
            <a:solidFill>
              <a:srgbClr val="F5C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606040"/>
            <a:ext cx="23408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9FA"/>
                </a:solidFill>
                <a:latin typeface="Aptos"/>
              </a:rPr>
              <a:t>99.5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587752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7D68D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560320"/>
            <a:ext cx="6766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8F9FA"/>
                </a:solidFill>
                <a:latin typeface="Aptos"/>
              </a:rPr>
              <a:t>plain JavaScript floating-point literal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557015"/>
            <a:ext cx="2743200" cy="804672"/>
          </a:xfrm>
          <a:prstGeom prst="roundRect">
            <a:avLst/>
          </a:prstGeom>
          <a:solidFill>
            <a:srgbClr val="14181C"/>
          </a:solidFill>
          <a:ln w="1524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3721607"/>
            <a:ext cx="23408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9FA"/>
                </a:solidFill>
                <a:latin typeface="Aptos"/>
              </a:rPr>
              <a:t>NumberInt(100)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70332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7D68D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675887"/>
            <a:ext cx="6766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8F9FA"/>
                </a:solidFill>
                <a:latin typeface="Aptos"/>
              </a:rPr>
              <a:t>explicit integer representation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672584"/>
            <a:ext cx="2743200" cy="804672"/>
          </a:xfrm>
          <a:prstGeom prst="roundRect">
            <a:avLst/>
          </a:prstGeom>
          <a:solidFill>
            <a:srgbClr val="14181C"/>
          </a:solidFill>
          <a:ln w="15240">
            <a:solidFill>
              <a:srgbClr val="9DE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4837176"/>
            <a:ext cx="23408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9FA"/>
                </a:solidFill>
                <a:latin typeface="Aptos"/>
              </a:rPr>
              <a:t>NumberLong(100)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4818888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7D68D"/>
                </a:solidFill>
                <a:latin typeface="Apto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4791456"/>
            <a:ext cx="6766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8F9FA"/>
                </a:solidFill>
                <a:latin typeface="Aptos"/>
              </a:rPr>
              <a:t>explicit 64-bit integer representation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0644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B4BCC3"/>
                </a:solidFill>
                <a:latin typeface="Aptos"/>
              </a:rPr>
              <a:t>The wrapper names are especially useful during demos because they expose intent directly in mongosh.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8F9FA"/>
                </a:solidFill>
                <a:latin typeface="Aptos"/>
              </a:rPr>
              <a:t>Language Defaults: Separate Runtime Types from Stored BSON 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51560" cy="54864"/>
          </a:xfrm>
          <a:prstGeom prst="rect">
            <a:avLst/>
          </a:prstGeom>
          <a:solidFill>
            <a:srgbClr val="57D6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4BCC3"/>
                </a:solidFill>
                <a:latin typeface="Aptos"/>
              </a:rPr>
              <a:t>An application language may use one numeric representation while MongoDB stores another BSON type.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880360" cy="1508760"/>
          </a:xfrm>
          <a:prstGeom prst="roundRect">
            <a:avLst/>
          </a:prstGeom>
          <a:solidFill>
            <a:srgbClr val="14181C"/>
          </a:solidFill>
          <a:ln w="1524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38528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7D68D"/>
                </a:solidFill>
                <a:latin typeface="Aptos"/>
              </a:rPr>
              <a:t>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" y="1993392"/>
            <a:ext cx="20756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9FA"/>
                </a:solidFill>
                <a:latin typeface="Aptos"/>
              </a:rPr>
              <a:t>Application
runtime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2450592"/>
            <a:ext cx="2075688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JS Number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828800"/>
            <a:ext cx="2880360" cy="1508760"/>
          </a:xfrm>
          <a:prstGeom prst="roundRect">
            <a:avLst/>
          </a:prstGeom>
          <a:solidFill>
            <a:srgbClr val="14181C"/>
          </a:solidFill>
          <a:ln w="1524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1938528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7D68D"/>
                </a:solidFill>
                <a:latin typeface="Aptos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1993392"/>
            <a:ext cx="20756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9FA"/>
                </a:solidFill>
                <a:latin typeface="Aptos"/>
              </a:rPr>
              <a:t>Driver / BSON
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2450592"/>
            <a:ext cx="2075688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Conversion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828800"/>
            <a:ext cx="2880360" cy="1508760"/>
          </a:xfrm>
          <a:prstGeom prst="roundRect">
            <a:avLst/>
          </a:prstGeom>
          <a:solidFill>
            <a:srgbClr val="14181C"/>
          </a:solidFill>
          <a:ln w="1524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9831" y="1938528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7D68D"/>
                </a:solidFill>
                <a:latin typeface="Aptos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1993392"/>
            <a:ext cx="20756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9FA"/>
                </a:solidFill>
                <a:latin typeface="Aptos"/>
              </a:rPr>
              <a:t>MongoDB
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450592"/>
            <a:ext cx="2075688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BSON type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84448" y="2578608"/>
            <a:ext cx="530352" cy="0"/>
          </a:xfrm>
          <a:prstGeom prst="line">
            <a:avLst/>
          </a:prstGeom>
          <a:ln w="3429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059168" y="2578608"/>
            <a:ext cx="530352" cy="0"/>
          </a:xfrm>
          <a:prstGeom prst="line">
            <a:avLst/>
          </a:prstGeom>
          <a:ln w="3429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51560" y="4160520"/>
            <a:ext cx="9966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8F9FA"/>
                </a:solidFill>
                <a:latin typeface="Aptos"/>
              </a:rPr>
              <a:t>A field named unitPrice does not tell you its BSON type. The stored document does.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983480"/>
            <a:ext cx="9784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B4BCC3"/>
                </a:solidFill>
                <a:latin typeface="Aptos"/>
              </a:rPr>
              <a:t>Practice: inspect stored values with $type and make mappings explicit when numeric semantics matter.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8F9FA"/>
                </a:solidFill>
                <a:latin typeface="Aptos"/>
              </a:rPr>
              <a:t>Order Management: Where Numeric Values Appear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51560" cy="54864"/>
          </a:xfrm>
          <a:prstGeom prst="rect">
            <a:avLst/>
          </a:prstGeom>
          <a:solidFill>
            <a:srgbClr val="57D6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4BCC3"/>
                </a:solidFill>
                <a:latin typeface="Aptos"/>
              </a:rPr>
              <a:t>Identify numeric fields before deciding how the application should represent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657600" cy="4343400"/>
          </a:xfrm>
          <a:prstGeom prst="roundRect">
            <a:avLst/>
          </a:prstGeom>
          <a:solidFill>
            <a:srgbClr val="14181C"/>
          </a:solidFill>
          <a:ln w="1524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527048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7D68D"/>
                </a:solidFill>
                <a:latin typeface="Aptos"/>
              </a:rPr>
              <a:t>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1581912"/>
            <a:ext cx="28529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9FA"/>
                </a:solidFill>
                <a:latin typeface="Aptos"/>
              </a:rPr>
              <a:t>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039112"/>
            <a:ext cx="2852928" cy="3593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orderId: "ORD-4101"
status: "CONFIRMED"
items[]
  quantity
  unitPrice
  discount
payment
  amount
delivery
  expectedDate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554480"/>
            <a:ext cx="2926080" cy="1417320"/>
          </a:xfrm>
          <a:prstGeom prst="roundRect">
            <a:avLst/>
          </a:prstGeom>
          <a:solidFill>
            <a:srgbClr val="14181C"/>
          </a:solidFill>
          <a:ln w="1524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19472" y="1664207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7D68D"/>
                </a:solidFill>
                <a:latin typeface="Aptos"/>
              </a:rPr>
              <a:t>#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76672" y="1719072"/>
            <a:ext cx="21214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9FA"/>
                </a:solidFill>
                <a:latin typeface="Aptos"/>
              </a:rPr>
              <a:t>quantity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76672" y="2176272"/>
            <a:ext cx="2121408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1 / 2 / 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554480"/>
            <a:ext cx="2926080" cy="1417320"/>
          </a:xfrm>
          <a:prstGeom prst="roundRect">
            <a:avLst/>
          </a:prstGeom>
          <a:solidFill>
            <a:srgbClr val="14181C"/>
          </a:solidFill>
          <a:ln w="1524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1664207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7D68D"/>
                </a:solidFill>
                <a:latin typeface="Aptos"/>
              </a:rPr>
              <a:t>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22792" y="1719072"/>
            <a:ext cx="21214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9FA"/>
                </a:solidFill>
                <a:latin typeface="Aptos"/>
              </a:rPr>
              <a:t>unitPrice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2176272"/>
            <a:ext cx="2121408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75000 / 1500.5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3474720"/>
            <a:ext cx="2926080" cy="1417320"/>
          </a:xfrm>
          <a:prstGeom prst="roundRect">
            <a:avLst/>
          </a:prstGeom>
          <a:solidFill>
            <a:srgbClr val="14181C"/>
          </a:solidFill>
          <a:ln w="1524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9472" y="3584448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7D68D"/>
                </a:solidFill>
                <a:latin typeface="Aptos"/>
              </a:rPr>
              <a:t>$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6672" y="3639312"/>
            <a:ext cx="21214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9FA"/>
                </a:solidFill>
                <a:latin typeface="Aptos"/>
              </a:rPr>
              <a:t>discount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6672" y="4096511"/>
            <a:ext cx="2121408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5000 / 100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3474720"/>
            <a:ext cx="2926080" cy="1417320"/>
          </a:xfrm>
          <a:prstGeom prst="roundRect">
            <a:avLst/>
          </a:prstGeom>
          <a:solidFill>
            <a:srgbClr val="14181C"/>
          </a:solidFill>
          <a:ln w="15240">
            <a:solidFill>
              <a:srgbClr val="F5C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65592" y="3584448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5CB5C"/>
                </a:solidFill>
                <a:latin typeface="Aptos"/>
              </a:rPr>
              <a:t>$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22792" y="3639312"/>
            <a:ext cx="21214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9FA"/>
                </a:solidFill>
                <a:latin typeface="Aptos"/>
              </a:rPr>
              <a:t>amount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4096511"/>
            <a:ext cx="2121408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72900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5486400"/>
            <a:ext cx="5852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8F9FA"/>
                </a:solidFill>
                <a:latin typeface="Aptos"/>
              </a:rPr>
              <a:t>Same business object, multiple numeric semantics.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8F9FA"/>
                </a:solidFill>
                <a:latin typeface="Aptos"/>
              </a:rPr>
              <a:t>Demo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51560" cy="54864"/>
          </a:xfrm>
          <a:prstGeom prst="rect">
            <a:avLst/>
          </a:prstGeom>
          <a:solidFill>
            <a:srgbClr val="57D6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4BCC3"/>
                </a:solidFill>
                <a:latin typeface="Aptos"/>
              </a:rPr>
              <a:t>One script, from clean database to visible BSON numeric types.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325880"/>
            <a:ext cx="411480" cy="411480"/>
          </a:xfrm>
          <a:prstGeom prst="ellipse">
            <a:avLst/>
          </a:prstGeom>
          <a:solidFill>
            <a:srgbClr val="57D68D"/>
          </a:solidFill>
          <a:ln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80A0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07592"/>
            <a:ext cx="2743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9FA"/>
                </a:solidFill>
                <a:latin typeface="Aptos"/>
              </a:rPr>
              <a:t>Create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307592"/>
            <a:ext cx="7132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4BCC3"/>
                </a:solidFill>
                <a:latin typeface="Aptos"/>
              </a:rPr>
              <a:t>Start clean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32688" y="1737360"/>
            <a:ext cx="0" cy="384048"/>
          </a:xfrm>
          <a:prstGeom prst="line">
            <a:avLst/>
          </a:prstGeom>
          <a:ln w="2159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31520" y="2194560"/>
            <a:ext cx="411480" cy="411480"/>
          </a:xfrm>
          <a:prstGeom prst="ellipse">
            <a:avLst/>
          </a:prstGeom>
          <a:solidFill>
            <a:srgbClr val="57D68D"/>
          </a:solidFill>
          <a:ln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21991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80A0C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176272"/>
            <a:ext cx="2743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9FA"/>
                </a:solidFill>
                <a:latin typeface="Aptos"/>
              </a:rPr>
              <a:t>Insert 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176272"/>
            <a:ext cx="7132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4BCC3"/>
                </a:solidFill>
                <a:latin typeface="Aptos"/>
              </a:rPr>
              <a:t>Use quantity, price, discount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2688" y="2606040"/>
            <a:ext cx="0" cy="384048"/>
          </a:xfrm>
          <a:prstGeom prst="line">
            <a:avLst/>
          </a:prstGeom>
          <a:ln w="2159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31520" y="3063239"/>
            <a:ext cx="411480" cy="411480"/>
          </a:xfrm>
          <a:prstGeom prst="ellipse">
            <a:avLst/>
          </a:prstGeom>
          <a:solidFill>
            <a:srgbClr val="57D68D"/>
          </a:solidFill>
          <a:ln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90671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80A0C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044951"/>
            <a:ext cx="2743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9FA"/>
                </a:solidFill>
                <a:latin typeface="Aptos"/>
              </a:rPr>
              <a:t>Inspect with mongosh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044951"/>
            <a:ext cx="7132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4BCC3"/>
                </a:solidFill>
                <a:latin typeface="Aptos"/>
              </a:rPr>
              <a:t>Use typeof and direct reads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2688" y="3474720"/>
            <a:ext cx="0" cy="384048"/>
          </a:xfrm>
          <a:prstGeom prst="line">
            <a:avLst/>
          </a:prstGeom>
          <a:ln w="2159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31520" y="3931920"/>
            <a:ext cx="411480" cy="411480"/>
          </a:xfrm>
          <a:prstGeom prst="ellipse">
            <a:avLst/>
          </a:prstGeom>
          <a:solidFill>
            <a:srgbClr val="57D68D"/>
          </a:solidFill>
          <a:ln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95935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80A0C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913632"/>
            <a:ext cx="2743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9FA"/>
                </a:solidFill>
                <a:latin typeface="Aptos"/>
              </a:rPr>
              <a:t>Inspect BSON 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3913632"/>
            <a:ext cx="7132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4BCC3"/>
                </a:solidFill>
                <a:latin typeface="Aptos"/>
              </a:rPr>
              <a:t>Use $type + $map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2688" y="4343400"/>
            <a:ext cx="0" cy="384048"/>
          </a:xfrm>
          <a:prstGeom prst="line">
            <a:avLst/>
          </a:prstGeom>
          <a:ln w="2159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31520" y="4800600"/>
            <a:ext cx="411480" cy="411480"/>
          </a:xfrm>
          <a:prstGeom prst="ellipse">
            <a:avLst/>
          </a:prstGeom>
          <a:solidFill>
            <a:srgbClr val="57D68D"/>
          </a:solidFill>
          <a:ln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828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80A0C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782312"/>
            <a:ext cx="2743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9FA"/>
                </a:solidFill>
                <a:latin typeface="Aptos"/>
              </a:rPr>
              <a:t>Compare explicit wrappers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4782312"/>
            <a:ext cx="7132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4BCC3"/>
                </a:solidFill>
                <a:latin typeface="Aptos"/>
              </a:rPr>
              <a:t>Make intent visible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98932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57D68D"/>
                </a:solidFill>
                <a:latin typeface="Aptos"/>
              </a:rPr>
              <a:t>Outcome: you can explain what mongosh shows, what BSON stores, and where the application mapping begins.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8F9FA"/>
                </a:solidFill>
                <a:latin typeface="Aptos"/>
              </a:rPr>
              <a:t>Summary: Numbers Have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51560" cy="54864"/>
          </a:xfrm>
          <a:prstGeom prst="rect">
            <a:avLst/>
          </a:prstGeom>
          <a:solidFill>
            <a:srgbClr val="57D6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4BCC3"/>
                </a:solidFill>
                <a:latin typeface="Aptos"/>
              </a:rPr>
              <a:t>Business meaning → runtime representation → BSON storage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520440" cy="3246120"/>
          </a:xfrm>
          <a:prstGeom prst="roundRect">
            <a:avLst/>
          </a:prstGeom>
          <a:solidFill>
            <a:srgbClr val="14181C"/>
          </a:solidFill>
          <a:ln w="1524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527048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7D68D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6152" y="1581912"/>
            <a:ext cx="27157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9FA"/>
                </a:solidFill>
                <a:latin typeface="Aptos"/>
              </a:rPr>
              <a:t>1  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2039112"/>
            <a:ext cx="2715768" cy="2496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quantity
unitPrice
discount
amount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520440" cy="3246120"/>
          </a:xfrm>
          <a:prstGeom prst="roundRect">
            <a:avLst/>
          </a:prstGeom>
          <a:solidFill>
            <a:srgbClr val="14181C"/>
          </a:solidFill>
          <a:ln w="15240">
            <a:solidFill>
              <a:srgbClr val="F5C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527048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5CB5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65192" y="1581912"/>
            <a:ext cx="27157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9FA"/>
                </a:solidFill>
                <a:latin typeface="Aptos"/>
              </a:rPr>
              <a:t>2  RUNTIME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65192" y="2039112"/>
            <a:ext cx="2715768" cy="2496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JavaScript Number
shell literals
explicit wrappers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520440" cy="3246120"/>
          </a:xfrm>
          <a:prstGeom prst="roundRect">
            <a:avLst/>
          </a:prstGeom>
          <a:solidFill>
            <a:srgbClr val="14181C"/>
          </a:solidFill>
          <a:ln w="15240">
            <a:solidFill>
              <a:srgbClr val="9DE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1527048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9DE8BE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14232" y="1581912"/>
            <a:ext cx="27157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9FA"/>
                </a:solidFill>
                <a:latin typeface="Aptos"/>
              </a:rPr>
              <a:t>3  BSON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14232" y="2039112"/>
            <a:ext cx="2715768" cy="2496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$type
stored numeric type
consistent mapping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50791" y="2971800"/>
            <a:ext cx="265177" cy="0"/>
          </a:xfrm>
          <a:prstGeom prst="line">
            <a:avLst/>
          </a:prstGeom>
          <a:ln w="3175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99831" y="2971800"/>
            <a:ext cx="265177" cy="0"/>
          </a:xfrm>
          <a:prstGeom prst="line">
            <a:avLst/>
          </a:prstGeom>
          <a:ln w="3175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965960" y="5074920"/>
            <a:ext cx="1645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7D68D"/>
                </a:solidFill>
                <a:latin typeface="Aptos"/>
              </a:rPr>
              <a:t>Inspect 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507492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7D68D"/>
                </a:solidFill>
                <a:latin typeface="Aptos"/>
              </a:rPr>
              <a:t>Map deliberately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5074920"/>
            <a:ext cx="1965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7D68D"/>
                </a:solidFill>
                <a:latin typeface="Aptos"/>
              </a:rPr>
              <a:t>Verify with $type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B4BCC3"/>
                </a:solidFill>
                <a:latin typeface="Aptos"/>
              </a:rPr>
              <a:t>Later lessons: integer width → arithmetic → Decimal128 and price precision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