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91440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035 — Summarizing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881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Bring embedding and referencing together as a practical MongoDB relationship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4028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578608"/>
            <a:ext cx="23042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ONE-TO-ONE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246120"/>
            <a:ext cx="230428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Embedded / 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4028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578608"/>
            <a:ext cx="23042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ONE-TO-MANY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3246120"/>
            <a:ext cx="230428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Embedded /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24028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578608"/>
            <a:ext cx="23042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MANY-TO-MANY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246120"/>
            <a:ext cx="230428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Embedded /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224028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4584" y="2578608"/>
            <a:ext cx="23042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3246120"/>
            <a:ext cx="230428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Access • Growth •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AFBAB5"/>
                </a:solidFill>
                <a:latin typeface="Aptos"/>
              </a:rPr>
              <a:t>Example throughout: Avi • Bangalore, RR 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Start with the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65760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CARDINALITY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2560320"/>
            <a:ext cx="2971800" cy="65836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97479"/>
            <a:ext cx="7772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1 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679191"/>
            <a:ext cx="1737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One ↔ 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474720"/>
            <a:ext cx="2971800" cy="65836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611879"/>
            <a:ext cx="7772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1 :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3593591"/>
            <a:ext cx="1737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One ↔ many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389120"/>
            <a:ext cx="2971800" cy="65836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526280"/>
            <a:ext cx="7772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N :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4507992"/>
            <a:ext cx="1737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Many ↔ many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1600200"/>
            <a:ext cx="6967728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1920240"/>
            <a:ext cx="6263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3AEB5B"/>
                </a:solidFill>
                <a:latin typeface="Aptos"/>
              </a:rPr>
              <a:t>Then decide the storage shape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4608" y="2578608"/>
            <a:ext cx="283464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2743200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RELATIONSHIP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3081528"/>
            <a:ext cx="25603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What is related?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578608"/>
            <a:ext cx="283464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9016" y="2743200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3081528"/>
            <a:ext cx="25603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How is it read?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4608" y="3995928"/>
            <a:ext cx="283464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4160520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4498848"/>
            <a:ext cx="25603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How much can it grow?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995928"/>
            <a:ext cx="283464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4160520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4498848"/>
            <a:ext cx="25603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Who updates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One-to-One: Two Common Shapes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525780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EMBEDDED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14600"/>
            <a:ext cx="1463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71800"/>
            <a:ext cx="374903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3AEB5B"/>
                </a:solidFill>
                <a:latin typeface="Aptos"/>
              </a:rPr>
              <a:t>profile: { ...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03320"/>
            <a:ext cx="4343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Related data is tightly owned by Avi.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Usually read together.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Simple single-document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27632"/>
            <a:ext cx="525780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1920240"/>
            <a:ext cx="15087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56816"/>
            <a:ext cx="14356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1463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71800"/>
            <a:ext cx="3931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3AEB5B"/>
                </a:solidFill>
                <a:latin typeface="Aptos"/>
              </a:rPr>
              <a:t>profileId → separate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03320"/>
            <a:ext cx="4343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Profile has its own lifecycle.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Useful for independent access.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Shared identifier connects the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One-to-Many: Embed or Reference?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321808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" y="1920240"/>
            <a:ext cx="12344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1612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EMBED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4297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5F8F6"/>
                </a:solidFill>
                <a:latin typeface="Aptos"/>
              </a:rPr>
              <a:t>Avi → phones[]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526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Small or bounded list.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Read with Avi.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Child data naturally belongs to Avi.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Document growth is controlled.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321808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47104" y="1920240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56816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42032"/>
            <a:ext cx="4206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5F8F6"/>
                </a:solidFill>
                <a:latin typeface="Aptos"/>
              </a:rPr>
              <a:t>Avi ←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80"/>
            <a:ext cx="4526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Child count can grow independently.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Orders can be accessed alone.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Child lifecycle differs from Avi.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Parent document stays focused.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Many-to-Many: Control Duplication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627632"/>
            <a:ext cx="548640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3AEB5B"/>
                </a:solidFill>
                <a:latin typeface="Aptos"/>
              </a:rPr>
              <a:t>EMBEDDED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578608"/>
            <a:ext cx="182880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06624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Project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78608"/>
            <a:ext cx="160020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706624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MongoDB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401568"/>
            <a:ext cx="182880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9584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Project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401568"/>
            <a:ext cx="160020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529584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24528"/>
            <a:ext cx="182880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Project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224528"/>
            <a:ext cx="160020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352544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27632"/>
            <a:ext cx="516636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4526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3AEB5B"/>
                </a:solidFill>
                <a:latin typeface="Aptos"/>
              </a:rPr>
              <a:t>REFERENCE ENTITIES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06040"/>
            <a:ext cx="406908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Use references when the shared entity is reusable.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Keep a canonical copy of the related entity.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Use embedded arrays only when duplication is acceptable and bounded.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access pattern decides how much relationship data belongs in a parent.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A Simple Decision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240280"/>
            <a:ext cx="420624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21992"/>
            <a:ext cx="1783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CARDINALITY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852928"/>
            <a:ext cx="2304288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AFBAB5"/>
                </a:solidFill>
                <a:latin typeface="Aptos"/>
              </a:rPr>
              <a:t>1:1 • 1:N • N:N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6596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240280"/>
            <a:ext cx="420624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21992"/>
            <a:ext cx="1783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852928"/>
            <a:ext cx="2304288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AFBAB5"/>
                </a:solidFill>
                <a:latin typeface="Aptos"/>
              </a:rPr>
              <a:t>Together or separately?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96596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240280"/>
            <a:ext cx="420624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221992"/>
            <a:ext cx="1783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852928"/>
            <a:ext cx="2304288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AFBAB5"/>
                </a:solidFill>
                <a:latin typeface="Aptos"/>
              </a:rPr>
              <a:t>Bounded or independent?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965960"/>
            <a:ext cx="2578608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4584" y="2240280"/>
            <a:ext cx="420624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221992"/>
            <a:ext cx="1783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852928"/>
            <a:ext cx="2304288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AFBAB5"/>
                </a:solidFill>
                <a:latin typeface="Aptos"/>
              </a:rPr>
              <a:t>Same owner or separate?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617720"/>
            <a:ext cx="10378440" cy="1097280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19472"/>
            <a:ext cx="100126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3AEB5B"/>
                </a:solidFill>
                <a:latin typeface="Aptos"/>
              </a:rPr>
              <a:t>Model the document around real reads and writes — not around table-shaped thinking.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Consistency, Growth, and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64208"/>
            <a:ext cx="3493008" cy="443484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938528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9260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Where is the canonical value?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292608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Reference shared entities when one value must be maintained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64208"/>
            <a:ext cx="3493008" cy="443484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54296" y="1938528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975104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606040"/>
            <a:ext cx="29260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Can the relationship expand?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401568"/>
            <a:ext cx="292608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Separate independently growing children when parent growth becomes a concern.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664208"/>
            <a:ext cx="3493008" cy="443484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76488" y="1938528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1975104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606040"/>
            <a:ext cx="29260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Who owns the child?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3401568"/>
            <a:ext cx="292608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Embed naturally owned, co-read data; reference independently managed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Avi: Summarizing the Relationship Choices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64208"/>
            <a:ext cx="10972800" cy="434340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65960"/>
            <a:ext cx="914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3AEB5B"/>
                </a:solidFill>
                <a:latin typeface="Aptos"/>
              </a:rPr>
              <a:t>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965960"/>
            <a:ext cx="25603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Bangalore • RR Nagar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542032"/>
            <a:ext cx="2331720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660903"/>
            <a:ext cx="2148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542032"/>
            <a:ext cx="1115568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660903"/>
            <a:ext cx="111556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1:1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24327"/>
            <a:ext cx="54864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6"/>
                </a:solidFill>
                <a:latin typeface="Aptos"/>
              </a:rPr>
              <a:t>Embed or reference based on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255263"/>
            <a:ext cx="2331720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374135"/>
            <a:ext cx="2148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PHONES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3255263"/>
            <a:ext cx="1115568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3374135"/>
            <a:ext cx="111556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1:N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37559"/>
            <a:ext cx="54864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6"/>
                </a:solidFill>
                <a:latin typeface="Aptos"/>
              </a:rPr>
              <a:t>Embed when bounded and co-read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968496"/>
            <a:ext cx="2331720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087368"/>
            <a:ext cx="2148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3968496"/>
            <a:ext cx="1115568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4087368"/>
            <a:ext cx="111556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1:N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050791"/>
            <a:ext cx="54864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6"/>
                </a:solidFill>
                <a:latin typeface="Aptos"/>
              </a:rPr>
              <a:t>Reference when they grow independently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4681727"/>
            <a:ext cx="2331720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800599"/>
            <a:ext cx="2148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PROJECTS ↔ TECHNOLOGIES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4681727"/>
            <a:ext cx="1115568" cy="512064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4800599"/>
            <a:ext cx="111556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N:N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764023"/>
            <a:ext cx="54864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6"/>
                </a:solidFill>
                <a:latin typeface="Aptos"/>
              </a:rPr>
              <a:t>Reference reusable entities; embed only when duplication is manageable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Demo: One Relationship Map, Multiple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72768"/>
            <a:ext cx="6720840" cy="4590288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09928"/>
            <a:ext cx="639165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use lesson035_demo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db.people.insertOne({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phones: ["9876543210"],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profile: {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email: "avi@example.com"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db.orders.insertMany([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{ orderId: "O1001", customer: "Avi", total: 75000 },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{ orderId: "O1002", customer: "Avi", total: 2000 }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])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db.projects.insertOne({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name: "MongoDB API",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owner: "Avi",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technologies: ["MongoDB", "Java"]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71231" y="1572768"/>
            <a:ext cx="3950208" cy="45902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901952"/>
            <a:ext cx="3337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AEB5B"/>
                </a:solidFill>
                <a:latin typeface="Aptos"/>
              </a:rPr>
              <a:t>What the demo reinforces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7" y="2560320"/>
            <a:ext cx="306324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1:1 can be embedded.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1:N can be embedded or referenced.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N:N needs explicit thought about reuse and duplication.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same Avi example can illustrate different relationship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Summarizing 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28016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881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The relationship decision is driven by cardinality + access + growth +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34747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194560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CARDINALITY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FBAB5"/>
                </a:solidFill>
                <a:latin typeface="Aptos"/>
              </a:rPr>
              <a:t>1:1 • 1:N • N:N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9544" y="2560320"/>
            <a:ext cx="429768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12848"/>
            <a:ext cx="34747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194560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FBAB5"/>
                </a:solidFill>
                <a:latin typeface="Aptos"/>
              </a:rPr>
              <a:t>Together • Separate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44183" y="2560320"/>
            <a:ext cx="429768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12848"/>
            <a:ext cx="34747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194560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FBAB5"/>
                </a:solidFill>
                <a:latin typeface="Aptos"/>
              </a:rPr>
              <a:t>Bounded • Independent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78824" y="2560320"/>
            <a:ext cx="429768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212848"/>
            <a:ext cx="34747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2194560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FBAB5"/>
                </a:solidFill>
                <a:latin typeface="Aptos"/>
              </a:rPr>
              <a:t>Embed • Reference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160520"/>
            <a:ext cx="10698480" cy="1444752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462272"/>
            <a:ext cx="2880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EMBED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882896"/>
            <a:ext cx="2880360" cy="4297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80" b="1">
                <a:solidFill>
                  <a:srgbClr val="F5F8F6"/>
                </a:solidFill>
                <a:latin typeface="Aptos"/>
              </a:rPr>
              <a:t>bounded, co-read, owned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462272"/>
            <a:ext cx="2880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882896"/>
            <a:ext cx="2880360" cy="4297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80" b="1">
                <a:solidFill>
                  <a:srgbClr val="F5F8F6"/>
                </a:solidFill>
                <a:latin typeface="Aptos"/>
              </a:rPr>
              <a:t>shared, growing, independent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4462272"/>
            <a:ext cx="2880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8" y="4882896"/>
            <a:ext cx="2880360" cy="4297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80" b="1">
                <a:solidFill>
                  <a:srgbClr val="F5F8F6"/>
                </a:solidFill>
                <a:latin typeface="Aptos"/>
              </a:rPr>
              <a:t>test real application access patterns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6071616"/>
            <a:ext cx="10241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40707"/>
                </a:solidFill>
                <a:latin typeface="Aptos"/>
              </a:rPr>
              <a:t>Avi • Bangalore • RR Nagar  →  choose the relationship shape that matches the workload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